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5"/>
  </p:notesMasterIdLst>
  <p:sldIdLst>
    <p:sldId id="256" r:id="rId2"/>
    <p:sldId id="393" r:id="rId3"/>
    <p:sldId id="587" r:id="rId4"/>
    <p:sldId id="396" r:id="rId5"/>
    <p:sldId id="410" r:id="rId6"/>
    <p:sldId id="588" r:id="rId7"/>
    <p:sldId id="403" r:id="rId8"/>
    <p:sldId id="404" r:id="rId9"/>
    <p:sldId id="405" r:id="rId10"/>
    <p:sldId id="406" r:id="rId11"/>
    <p:sldId id="407" r:id="rId12"/>
    <p:sldId id="408" r:id="rId13"/>
    <p:sldId id="409" r:id="rId14"/>
    <p:sldId id="444" r:id="rId15"/>
    <p:sldId id="500" r:id="rId16"/>
    <p:sldId id="501" r:id="rId17"/>
    <p:sldId id="589" r:id="rId18"/>
    <p:sldId id="445" r:id="rId19"/>
    <p:sldId id="443" r:id="rId20"/>
    <p:sldId id="446" r:id="rId21"/>
    <p:sldId id="448" r:id="rId22"/>
    <p:sldId id="542" r:id="rId23"/>
    <p:sldId id="447" r:id="rId24"/>
    <p:sldId id="449" r:id="rId25"/>
    <p:sldId id="451" r:id="rId26"/>
    <p:sldId id="450" r:id="rId27"/>
    <p:sldId id="452" r:id="rId28"/>
    <p:sldId id="456" r:id="rId29"/>
    <p:sldId id="461" r:id="rId30"/>
    <p:sldId id="455" r:id="rId31"/>
    <p:sldId id="457" r:id="rId32"/>
    <p:sldId id="458" r:id="rId33"/>
    <p:sldId id="460" r:id="rId34"/>
    <p:sldId id="453" r:id="rId35"/>
    <p:sldId id="473" r:id="rId36"/>
    <p:sldId id="584" r:id="rId37"/>
    <p:sldId id="596" r:id="rId38"/>
    <p:sldId id="463" r:id="rId39"/>
    <p:sldId id="598" r:id="rId40"/>
    <p:sldId id="599" r:id="rId41"/>
    <p:sldId id="502" r:id="rId42"/>
    <p:sldId id="454" r:id="rId43"/>
    <p:sldId id="462" r:id="rId44"/>
    <p:sldId id="466" r:id="rId45"/>
    <p:sldId id="464" r:id="rId46"/>
    <p:sldId id="469" r:id="rId47"/>
    <p:sldId id="474" r:id="rId48"/>
    <p:sldId id="470" r:id="rId49"/>
    <p:sldId id="471" r:id="rId50"/>
    <p:sldId id="472" r:id="rId51"/>
    <p:sldId id="543" r:id="rId52"/>
    <p:sldId id="467" r:id="rId53"/>
    <p:sldId id="585" r:id="rId54"/>
    <p:sldId id="586" r:id="rId55"/>
    <p:sldId id="468" r:id="rId56"/>
    <p:sldId id="465" r:id="rId57"/>
    <p:sldId id="475" r:id="rId58"/>
    <p:sldId id="590" r:id="rId59"/>
    <p:sldId id="477" r:id="rId60"/>
    <p:sldId id="476" r:id="rId61"/>
    <p:sldId id="478" r:id="rId62"/>
    <p:sldId id="459" r:id="rId63"/>
    <p:sldId id="595" r:id="rId64"/>
    <p:sldId id="536" r:id="rId65"/>
    <p:sldId id="591" r:id="rId66"/>
    <p:sldId id="479" r:id="rId67"/>
    <p:sldId id="480" r:id="rId68"/>
    <p:sldId id="481" r:id="rId69"/>
    <p:sldId id="482" r:id="rId70"/>
    <p:sldId id="592" r:id="rId71"/>
    <p:sldId id="499" r:id="rId72"/>
    <p:sldId id="483" r:id="rId73"/>
    <p:sldId id="485" r:id="rId74"/>
    <p:sldId id="503" r:id="rId75"/>
    <p:sldId id="484" r:id="rId76"/>
    <p:sldId id="486" r:id="rId77"/>
    <p:sldId id="487" r:id="rId78"/>
    <p:sldId id="488" r:id="rId79"/>
    <p:sldId id="560" r:id="rId80"/>
    <p:sldId id="490" r:id="rId81"/>
    <p:sldId id="489" r:id="rId82"/>
    <p:sldId id="492" r:id="rId83"/>
    <p:sldId id="493" r:id="rId84"/>
    <p:sldId id="530" r:id="rId85"/>
    <p:sldId id="494" r:id="rId86"/>
    <p:sldId id="521" r:id="rId87"/>
    <p:sldId id="504" r:id="rId88"/>
    <p:sldId id="537" r:id="rId89"/>
    <p:sldId id="539" r:id="rId90"/>
    <p:sldId id="593" r:id="rId91"/>
    <p:sldId id="540" r:id="rId92"/>
    <p:sldId id="544" r:id="rId93"/>
    <p:sldId id="545" r:id="rId94"/>
    <p:sldId id="546" r:id="rId95"/>
    <p:sldId id="547" r:id="rId96"/>
    <p:sldId id="548" r:id="rId97"/>
    <p:sldId id="541" r:id="rId98"/>
    <p:sldId id="538" r:id="rId99"/>
    <p:sldId id="505" r:id="rId100"/>
    <p:sldId id="511" r:id="rId101"/>
    <p:sldId id="506" r:id="rId102"/>
    <p:sldId id="507" r:id="rId103"/>
    <p:sldId id="510" r:id="rId104"/>
    <p:sldId id="561" r:id="rId105"/>
    <p:sldId id="508" r:id="rId106"/>
    <p:sldId id="495" r:id="rId107"/>
    <p:sldId id="531" r:id="rId108"/>
    <p:sldId id="597" r:id="rId109"/>
    <p:sldId id="550" r:id="rId110"/>
    <p:sldId id="512" r:id="rId111"/>
    <p:sldId id="514" r:id="rId112"/>
    <p:sldId id="515" r:id="rId113"/>
    <p:sldId id="513" r:id="rId114"/>
    <p:sldId id="517" r:id="rId115"/>
    <p:sldId id="518" r:id="rId116"/>
    <p:sldId id="516" r:id="rId117"/>
    <p:sldId id="519" r:id="rId118"/>
    <p:sldId id="520" r:id="rId119"/>
    <p:sldId id="522" r:id="rId120"/>
    <p:sldId id="523" r:id="rId121"/>
    <p:sldId id="524" r:id="rId122"/>
    <p:sldId id="525" r:id="rId123"/>
    <p:sldId id="528" r:id="rId124"/>
    <p:sldId id="529" r:id="rId125"/>
    <p:sldId id="526" r:id="rId126"/>
    <p:sldId id="527" r:id="rId127"/>
    <p:sldId id="534" r:id="rId128"/>
    <p:sldId id="532" r:id="rId129"/>
    <p:sldId id="533" r:id="rId130"/>
    <p:sldId id="496" r:id="rId131"/>
    <p:sldId id="576" r:id="rId132"/>
    <p:sldId id="551" r:id="rId133"/>
    <p:sldId id="535" r:id="rId134"/>
    <p:sldId id="552" r:id="rId135"/>
    <p:sldId id="559" r:id="rId136"/>
    <p:sldId id="497" r:id="rId137"/>
    <p:sldId id="553" r:id="rId138"/>
    <p:sldId id="578" r:id="rId139"/>
    <p:sldId id="579" r:id="rId140"/>
    <p:sldId id="554" r:id="rId141"/>
    <p:sldId id="498" r:id="rId142"/>
    <p:sldId id="555" r:id="rId143"/>
    <p:sldId id="556" r:id="rId144"/>
    <p:sldId id="549" r:id="rId145"/>
    <p:sldId id="557" r:id="rId146"/>
    <p:sldId id="594" r:id="rId147"/>
    <p:sldId id="558" r:id="rId148"/>
    <p:sldId id="562" r:id="rId149"/>
    <p:sldId id="564" r:id="rId150"/>
    <p:sldId id="565" r:id="rId151"/>
    <p:sldId id="566" r:id="rId152"/>
    <p:sldId id="568" r:id="rId153"/>
    <p:sldId id="572" r:id="rId154"/>
    <p:sldId id="573" r:id="rId155"/>
    <p:sldId id="574" r:id="rId156"/>
    <p:sldId id="577" r:id="rId157"/>
    <p:sldId id="567" r:id="rId158"/>
    <p:sldId id="569" r:id="rId159"/>
    <p:sldId id="570" r:id="rId160"/>
    <p:sldId id="571" r:id="rId161"/>
    <p:sldId id="575" r:id="rId162"/>
    <p:sldId id="563" r:id="rId163"/>
    <p:sldId id="433" r:id="rId164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7183" autoAdjust="0"/>
  </p:normalViewPr>
  <p:slideViewPr>
    <p:cSldViewPr snapToGrid="0">
      <p:cViewPr varScale="1">
        <p:scale>
          <a:sx n="83" d="100"/>
          <a:sy n="83" d="100"/>
        </p:scale>
        <p:origin x="147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notesMaster" Target="notesMasters/notesMaster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672854EB-3B37-4123-9008-5E283480FB51}" type="datetimeFigureOut">
              <a:rPr lang="en-US"/>
              <a:pPr>
                <a:defRPr/>
              </a:pPr>
              <a:t>2026-05-05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2A92D38-67DD-44B3-BF48-DD2641D275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87B60F7-5B28-48BB-9992-6E431DDD8764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A92D38-67DD-44B3-BF48-DD2641D275B8}" type="slidenum">
              <a:rPr lang="en-US" altLang="en-US" smtClean="0"/>
              <a:pPr>
                <a:defRPr/>
              </a:pPr>
              <a:t>122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6642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F03DB9-06A2-47AC-817A-976F95BB3C20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6F191-9994-4ACB-B026-DDDC35EF2521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93646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EDC35-C09F-400D-A8F5-87343FD53545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‹#›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3556320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286BD7-45A0-46CE-BA81-24C4CAF5E5A3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34F43F-E638-40CD-9E5D-542C71E1FA94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011014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09CAC2-7755-40EA-A8B7-ABC1EDC6E1ED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A075EF-AB1F-45CC-8555-A2478FF5C9B0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893215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0782C1-3E7E-44ED-B80F-D0FAD32AC965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EDA562-D025-48C7-A7ED-B5CB3A090ADF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700995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2346F4-32DB-4CDB-81D4-5DEB0D63B0BA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5B317-0C43-46E8-B3AA-F5F151E46AAA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320061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7B7FC8-7431-4B7F-A5A0-C41651478BEE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16A8AA-85AA-4705-AD0D-4D52EF33EAE1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754738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6BB04-CACE-4440-9299-6A024C7823EC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79E1D-9AAB-4B43-951C-9409D75DC568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471535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ru-R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F7AD38-DB35-4145-99A9-DE4107C8D95F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2D9853-28B0-4993-9501-54D551A98260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916293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DE21DE-7688-4F42-957F-62DC9A7CB0DE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52A69-DBC0-41E3-B200-091690972856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598092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C961CB-E61A-468C-956F-66A37A01CB5B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E7C87-2EBB-4E8F-84C0-BED4345E0D47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616895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ru-RU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ru-RU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77214AD0-E58F-4005-AC78-0EA6117A0BB7}" type="datetime1">
              <a:rPr lang="ru-RU"/>
              <a:pPr>
                <a:defRPr/>
              </a:pPr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7DD0F67-C870-44C5-86D1-927338D0608F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sc.knu.ua/media/filer_public/d9/22/d922b015-ef5e-497a-a5b8-a430d1f35877/metodichka_po_diplomnim_robotam_2025_v2.pdf" TargetMode="External"/><Relationship Id="rId2" Type="http://schemas.openxmlformats.org/officeDocument/2006/relationships/hyperlink" Target="https://iss.csc.knu.ua/uk/study/thesisTopic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univ.kiev.ua/pdfs/official/Organization-of-the-educational-process.pdf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sc.knu.ua/media/filer_public/d9/22/d922b015-ef5e-497a-a5b8-a430d1f35877/metodichka_po_diplomnim_robotam_2025_v2.pdf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csc.knu.ua/media/filer_public/4f/74/4f7459c9-9e5a-4a77-b8f3-ef30a1f435d5/qualification_work.pdf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csc.knu.ua/media/filer_public/d9/22/d922b015-ef5e-497a-a5b8-a430d1f35877/metodichka_po_diplomnim_robotam_2025_v2.pdf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csc.knu.ua/media/filer_public/d9/22/d922b015-ef5e-497a-a5b8-a430d1f35877/metodichka_po_diplomnim_robotam_2025_v2.pdf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csc.knu.ua/media/filer_public/d9/22/d922b015-ef5e-497a-a5b8-a430d1f35877/metodichka_po_diplomnim_robotam_2025_v2.pdf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csc.knu.ua/media/filer_public/d9/22/d922b015-ef5e-497a-a5b8-a430d1f35877/metodichka_po_diplomnim_robotam_2025_v2.pdf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csc.knu.ua/media/filer_public/d9/22/d922b015-ef5e-497a-a5b8-a430d1f35877/metodichka_po_diplomnim_robotam_2025_v2.pdf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csc.knu.ua/media/filer_public/d9/22/d922b015-ef5e-497a-a5b8-a430d1f35877/metodichka_po_diplomnim_robotam_2025_v2.pdf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csc.knu.ua/media/filer_public/d9/22/d922b015-ef5e-497a-a5b8-a430d1f35877/metodichka_po_diplomnim_robotam_2025_v2.pdf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s://scholar.google.com/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vak.in.ua/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hyperlink" Target="https://csc.knu.ua/media/filer_public/d9/22/d922b015-ef5e-497a-a5b8-a430d1f35877/metodichka_po_diplomnim_robotam_2025_v2.pdf" TargetMode="Externa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hyperlink" Target="https://csc.knu.ua/media/filer_public/d9/22/d922b015-ef5e-497a-a5b8-a430d1f35877/metodichka_po_diplomnim_robotam_2025_v2.pdf" TargetMode="Externa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hyperlink" Target="https://csc.knu.ua/media/filer_public/d9/22/d922b015-ef5e-497a-a5b8-a430d1f35877/metodichka_po_diplomnim_robotam_2025_v2.pdf" TargetMode="Externa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hyperlink" Target="https://csc.knu.ua/media/filer_public/d9/22/d922b015-ef5e-497a-a5b8-a430d1f35877/metodichka_po_diplomnim_robotam_2025_v2.pdf" TargetMode="Externa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share.net/thecroaker/death-by-powerpoint" TargetMode="Externa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hyperlink" Target="https://csc.knu.ua/media/filer_public/d9/22/d922b015-ef5e-497a-a5b8-a430d1f35877/metodichka_po_diplomnim_robotam_2025_v2.pdf" TargetMode="Externa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mc.univ.kiev.ua/docs/Polojennya%20pro%20dyplomy%20z%20vidzn.doc" TargetMode="Externa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uk-UA" altLang="en-US"/>
              <a:t>Курсові та дипломні роботи</a:t>
            </a:r>
            <a:endParaRPr lang="ru-RU" altLang="en-US" sz="3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1431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uk-UA" dirty="0"/>
              <a:t>Що це таке, навіщо потрібно, </a:t>
            </a:r>
            <a:br>
              <a:rPr lang="uk-UA" dirty="0"/>
            </a:br>
            <a:r>
              <a:rPr lang="uk-UA" dirty="0"/>
              <a:t>та як в ньому не загубитись</a:t>
            </a:r>
            <a:endParaRPr lang="en-US" dirty="0">
              <a:solidFill>
                <a:schemeClr val="tx1"/>
              </a:solidFill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07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A41928-C4EA-4B00-BEFD-2370BFCEAF25}" type="slidenum">
              <a:rPr lang="ru-RU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ru-RU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en-US"/>
              <a:t>Про що будемо говорити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uk-UA" altLang="en-US" dirty="0"/>
              <a:t>Що таке курсові (чи дипломні) роботи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uk-UA" altLang="en-US" dirty="0"/>
              <a:t>Вибір керівника та теми роботи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uk-UA" altLang="en-US" dirty="0"/>
              <a:t>Виконання практичної частини роботи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uk-UA" altLang="en-US" dirty="0"/>
              <a:t>Підготовка текстової частини роботи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uk-UA" altLang="en-US" dirty="0"/>
              <a:t>Презентація та захист роботи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uk-UA" altLang="en-US" dirty="0"/>
              <a:t>Особливості випускних кваліфікаційних («дипломних») робіт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endParaRPr lang="uk-UA" altLang="en-US" dirty="0"/>
          </a:p>
          <a:p>
            <a:pPr marL="0" indent="0">
              <a:buNone/>
            </a:pPr>
            <a:r>
              <a:rPr lang="uk-UA" altLang="en-US" dirty="0"/>
              <a:t>Питання?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endParaRPr lang="en-US" altLang="en-US" dirty="0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655026-FEE1-4C0D-A113-D15C8BF569A3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en-US"/>
              <a:t>Додаткова інформація</a:t>
            </a:r>
            <a:endParaRPr lang="en-US" altLang="en-US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>
                <a:hlinkClick r:id="rId2"/>
              </a:rPr>
              <a:t>https://iss.csc.knu.ua/uk/study/thesisTopics.html</a:t>
            </a:r>
            <a:r>
              <a:rPr lang="uk-UA" altLang="en-US" dirty="0"/>
              <a:t> </a:t>
            </a:r>
          </a:p>
          <a:p>
            <a:pPr lvl="1"/>
            <a:r>
              <a:rPr lang="uk-UA" altLang="en-US" dirty="0"/>
              <a:t>Рекомендації щодо оформлення </a:t>
            </a:r>
            <a:r>
              <a:rPr lang="en-US" altLang="en-US" dirty="0">
                <a:hlinkClick r:id="rId3"/>
              </a:rPr>
              <a:t>https://csc.knu.ua/media/filer_public/d9/22/d922b015-ef5e-497a-a5b8-a430d1f35877/metodichka_po_diplomnim_robotam_2025_v2.pdf</a:t>
            </a:r>
            <a:r>
              <a:rPr lang="uk-UA" altLang="en-US" dirty="0"/>
              <a:t> </a:t>
            </a:r>
          </a:p>
          <a:p>
            <a:pPr lvl="1"/>
            <a:r>
              <a:rPr lang="uk-UA" altLang="en-US" dirty="0"/>
              <a:t>Перелік тем та керівників</a:t>
            </a:r>
          </a:p>
          <a:p>
            <a:r>
              <a:rPr lang="uk-UA" altLang="en-US" dirty="0"/>
              <a:t>Положення про організацію освітнього процесу </a:t>
            </a:r>
            <a:r>
              <a:rPr lang="en-US" altLang="en-US" dirty="0">
                <a:hlinkClick r:id="rId4"/>
              </a:rPr>
              <a:t>http://www.univ.kiev.ua/pdfs/official/Organization-of-the-educational-process.pdf</a:t>
            </a:r>
            <a:r>
              <a:rPr lang="uk-UA" altLang="en-US" dirty="0"/>
              <a:t> </a:t>
            </a: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A6E05C-A1BC-45A5-97BA-CBBED05E5292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3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altLang="en-US" dirty="0"/>
              <a:t>Частина </a:t>
            </a:r>
            <a:r>
              <a:rPr lang="en-US" altLang="en-US" dirty="0"/>
              <a:t>4</a:t>
            </a:r>
            <a:r>
              <a:rPr lang="uk-UA" altLang="en-US" dirty="0"/>
              <a:t>. Підготовка текстової частини роботи</a:t>
            </a:r>
            <a:endParaRPr lang="en-US" alt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uk-UA" dirty="0"/>
              <a:t>Бюрократія – наше все!</a:t>
            </a:r>
            <a:endParaRPr lang="en-US" dirty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A6383B-215A-4539-AA8D-C98B287BFA06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4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Послідовність кроків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uk-UA" dirty="0"/>
              <a:t>Загальна структура</a:t>
            </a:r>
          </a:p>
          <a:p>
            <a:r>
              <a:rPr lang="uk-UA" dirty="0"/>
              <a:t>Вступ</a:t>
            </a:r>
          </a:p>
          <a:p>
            <a:r>
              <a:rPr lang="uk-UA" dirty="0"/>
              <a:t>Змістові розділи</a:t>
            </a:r>
          </a:p>
          <a:p>
            <a:r>
              <a:rPr lang="uk-UA" dirty="0"/>
              <a:t>Висновки</a:t>
            </a:r>
          </a:p>
          <a:p>
            <a:r>
              <a:rPr lang="uk-UA" dirty="0"/>
              <a:t>Перелік джерел посилання</a:t>
            </a:r>
          </a:p>
          <a:p>
            <a:r>
              <a:rPr lang="uk-UA" dirty="0"/>
              <a:t>Додатки</a:t>
            </a:r>
          </a:p>
          <a:p>
            <a:r>
              <a:rPr lang="uk-UA" dirty="0"/>
              <a:t>Титульна сторінка, реферат, скорочення та умовні позначення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5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026820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en-US"/>
              <a:t>«Офіційне визначення»</a:t>
            </a:r>
            <a:endParaRPr lang="en-US" altLang="en-US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57200" y="3838575"/>
            <a:ext cx="8229600" cy="2287588"/>
          </a:xfrm>
        </p:spPr>
        <p:txBody>
          <a:bodyPr/>
          <a:lstStyle/>
          <a:p>
            <a:r>
              <a:rPr lang="uk-UA" altLang="en-US" dirty="0">
                <a:hlinkClick r:id="rId2"/>
              </a:rPr>
              <a:t>Методичні вказівки</a:t>
            </a:r>
            <a:r>
              <a:rPr lang="uk-UA" altLang="en-US" dirty="0"/>
              <a:t>, вступ, </a:t>
            </a:r>
            <a:r>
              <a:rPr lang="uk-UA" altLang="en-US" dirty="0" err="1"/>
              <a:t>стор</a:t>
            </a:r>
            <a:r>
              <a:rPr lang="uk-UA" altLang="en-US" dirty="0"/>
              <a:t>. 6</a:t>
            </a:r>
          </a:p>
          <a:p>
            <a:pPr lvl="1"/>
            <a:r>
              <a:rPr lang="uk-UA" altLang="en-US" dirty="0"/>
              <a:t>Далі детальніше</a:t>
            </a:r>
          </a:p>
          <a:p>
            <a:r>
              <a:rPr lang="uk-UA" altLang="en-US" dirty="0"/>
              <a:t>Варто знати визначення – іноді про це питають під час захисту робіт </a:t>
            </a:r>
            <a:r>
              <a:rPr lang="uk-UA" altLang="en-US" dirty="0">
                <a:sym typeface="Wingdings" panose="05000000000000000000" pitchFamily="2" charset="2"/>
              </a:rPr>
              <a:t></a:t>
            </a:r>
            <a:endParaRPr lang="en-US" altLang="en-US" dirty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8E3871-FDD9-4958-A847-C86969E4E3C2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6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8197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9988"/>
            <a:ext cx="9185275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en-US" dirty="0"/>
              <a:t>Важливі моменти – 2</a:t>
            </a:r>
            <a:endParaRPr lang="en-US" altLang="en-US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396910" y="3637607"/>
            <a:ext cx="8229600" cy="3014401"/>
          </a:xfrm>
        </p:spPr>
        <p:txBody>
          <a:bodyPr>
            <a:normAutofit fontScale="92500" lnSpcReduction="20000"/>
          </a:bodyPr>
          <a:lstStyle/>
          <a:p>
            <a:r>
              <a:rPr lang="uk-UA" altLang="en-US" dirty="0"/>
              <a:t>Самостійна робота</a:t>
            </a:r>
          </a:p>
          <a:p>
            <a:pPr lvl="1"/>
            <a:r>
              <a:rPr lang="uk-UA" altLang="en-US" dirty="0"/>
              <a:t>Більше самостійності, ніж інші завдання чи лабораторні</a:t>
            </a:r>
          </a:p>
          <a:p>
            <a:pPr lvl="1"/>
            <a:r>
              <a:rPr lang="uk-UA" altLang="en-US" dirty="0"/>
              <a:t>Більше свободи у виборі теми, технології реалізації, …</a:t>
            </a:r>
          </a:p>
          <a:p>
            <a:pPr lvl="1"/>
            <a:r>
              <a:rPr lang="uk-UA" altLang="en-US" b="1" dirty="0"/>
              <a:t>У випадку виконання роботи в команді треба презентувати індивідуальні результати</a:t>
            </a:r>
          </a:p>
          <a:p>
            <a:pPr lvl="1"/>
            <a:r>
              <a:rPr lang="uk-UA" altLang="en-US" b="1" dirty="0"/>
              <a:t>Без плагіату!</a:t>
            </a:r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5AEE15-BC4F-436E-8B84-81883AD92958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7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0725" y="1286189"/>
            <a:ext cx="88124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 </a:t>
            </a:r>
            <a:r>
              <a:rPr lang="uk-UA" dirty="0"/>
              <a:t>Кваліфікаційні та курсові роботи є невід’ємною частиною навчального процесу. У цих роботах студенти представляють </a:t>
            </a:r>
            <a:r>
              <a:rPr lang="uk-UA" b="1" u="sng" dirty="0">
                <a:solidFill>
                  <a:srgbClr val="FF0000"/>
                </a:solidFill>
              </a:rPr>
              <a:t>проведену самостійно</a:t>
            </a:r>
            <a:r>
              <a:rPr lang="uk-UA" dirty="0"/>
              <a:t> навчально-дослідницьку або навчально-практичну роботу. Ці роботи є</a:t>
            </a:r>
            <a:r>
              <a:rPr lang="en-US" dirty="0"/>
              <a:t> </a:t>
            </a:r>
            <a:r>
              <a:rPr lang="uk-UA" dirty="0"/>
              <a:t>навчальними аналогами наукових звітів, структура змісту та оформлення яких мають відповідати певним вимогам, зафіксованим у державних стандартах. Звідси, з погляду майбутньої професійної діяльності доцільно й корисно, щоб студенти вміли організовувати та оформлювати кваліфікаційні та курсові роботи згідно з вимогами існуючих стандартів.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226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en-US" dirty="0"/>
              <a:t>Важливі моменти – 3</a:t>
            </a:r>
            <a:endParaRPr lang="en-US" altLang="en-US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57200" y="3547068"/>
            <a:ext cx="8229600" cy="3044651"/>
          </a:xfrm>
        </p:spPr>
        <p:txBody>
          <a:bodyPr>
            <a:normAutofit fontScale="77500" lnSpcReduction="20000"/>
          </a:bodyPr>
          <a:lstStyle/>
          <a:p>
            <a:r>
              <a:rPr lang="uk-UA" altLang="en-US" dirty="0"/>
              <a:t>Дослідницька або практична робота</a:t>
            </a:r>
            <a:r>
              <a:rPr lang="en-US" altLang="en-US" dirty="0"/>
              <a:t> (</a:t>
            </a:r>
            <a:r>
              <a:rPr lang="uk-UA" altLang="en-US" dirty="0"/>
              <a:t>більше деталей </a:t>
            </a:r>
            <a:r>
              <a:rPr lang="uk-UA" altLang="en-US" dirty="0" err="1">
                <a:hlinkClick r:id="rId2"/>
              </a:rPr>
              <a:t>стор</a:t>
            </a:r>
            <a:r>
              <a:rPr lang="uk-UA" altLang="en-US" dirty="0">
                <a:hlinkClick r:id="rId2"/>
              </a:rPr>
              <a:t>. 5-6</a:t>
            </a:r>
            <a:r>
              <a:rPr lang="uk-UA" altLang="en-US" dirty="0"/>
              <a:t>)</a:t>
            </a:r>
          </a:p>
          <a:p>
            <a:pPr lvl="1"/>
            <a:r>
              <a:rPr lang="uk-UA" altLang="en-US" dirty="0"/>
              <a:t>Фокус або на науковій новизні (дослідницька)</a:t>
            </a:r>
          </a:p>
          <a:p>
            <a:pPr lvl="1"/>
            <a:r>
              <a:rPr lang="uk-UA" altLang="en-US" dirty="0"/>
              <a:t>Або на практичних результатах (практична)</a:t>
            </a:r>
          </a:p>
          <a:p>
            <a:pPr lvl="1"/>
            <a:r>
              <a:rPr lang="uk-UA" altLang="en-US" dirty="0"/>
              <a:t>Можливе поєднання</a:t>
            </a:r>
          </a:p>
          <a:p>
            <a:pPr lvl="1"/>
            <a:r>
              <a:rPr lang="uk-UA" altLang="en-US" dirty="0"/>
              <a:t>На кафедрі ІПС практична частина має суттєве значення – реалізована програма, можна продемонструвати</a:t>
            </a:r>
          </a:p>
          <a:p>
            <a:pPr lvl="1"/>
            <a:r>
              <a:rPr lang="uk-UA" altLang="en-US" dirty="0"/>
              <a:t>Деякі викладачі наполягають на присутності елементів наукової новизни у будь-якій роботі</a:t>
            </a:r>
          </a:p>
          <a:p>
            <a:pPr marL="457200" lvl="1" indent="0">
              <a:buNone/>
            </a:pPr>
            <a:endParaRPr lang="en-US" altLang="en-US" dirty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5AEE15-BC4F-436E-8B84-81883AD92958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8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0725" y="1286189"/>
            <a:ext cx="88124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 </a:t>
            </a:r>
            <a:r>
              <a:rPr lang="uk-UA" dirty="0"/>
              <a:t>Кваліфікаційні та курсові роботи є невід’ємною частиною навчального процесу. У цих роботах студенти представляють проведену самостійно </a:t>
            </a:r>
            <a:r>
              <a:rPr lang="uk-UA" b="1" u="sng" dirty="0">
                <a:solidFill>
                  <a:srgbClr val="FF0000"/>
                </a:solidFill>
              </a:rPr>
              <a:t>навчально-дослідницьку або навчально-практичну</a:t>
            </a:r>
            <a:r>
              <a:rPr lang="uk-UA" dirty="0"/>
              <a:t> роботу. Ці роботи є</a:t>
            </a:r>
            <a:r>
              <a:rPr lang="en-US" dirty="0"/>
              <a:t> </a:t>
            </a:r>
            <a:r>
              <a:rPr lang="uk-UA" dirty="0"/>
              <a:t>навчальними аналогами наукових звітів, структура змісту та оформлення яких мають відповідати певним вимогам, зафіксованим у державних стандартах. Звідси, з погляду майбутньої професійної діяльності доцільно й корисно, щоб студенти вміли організовувати та оформлювати кваліфікаційні та курсові роботи згідно з вимогами існуючих стандартів.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618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en-US" dirty="0"/>
              <a:t>Важливі моменти – 4</a:t>
            </a:r>
            <a:endParaRPr lang="en-US" altLang="en-US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57200" y="3486778"/>
            <a:ext cx="8229600" cy="3024554"/>
          </a:xfrm>
        </p:spPr>
        <p:txBody>
          <a:bodyPr>
            <a:normAutofit fontScale="92500" lnSpcReduction="10000"/>
          </a:bodyPr>
          <a:lstStyle/>
          <a:p>
            <a:r>
              <a:rPr lang="uk-UA" altLang="en-US" dirty="0"/>
              <a:t>Структура та оформлення тексту</a:t>
            </a:r>
          </a:p>
          <a:p>
            <a:pPr lvl="1"/>
            <a:r>
              <a:rPr lang="uk-UA" altLang="en-US" dirty="0"/>
              <a:t>Мають суттєве значення під час захисту, впливають на оцінку</a:t>
            </a:r>
          </a:p>
          <a:p>
            <a:pPr lvl="1"/>
            <a:r>
              <a:rPr lang="uk-UA" altLang="en-US" dirty="0"/>
              <a:t>Більша частина тексту методичних вказівок – саме про оформлення</a:t>
            </a:r>
          </a:p>
          <a:p>
            <a:pPr lvl="1"/>
            <a:r>
              <a:rPr lang="uk-UA" altLang="en-US" dirty="0"/>
              <a:t>Відносно прості правила – але їх багато, і треба неухильно дотримуватись</a:t>
            </a:r>
            <a:endParaRPr lang="en-US" altLang="en-US" dirty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5AEE15-BC4F-436E-8B84-81883AD92958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9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0725" y="1286189"/>
            <a:ext cx="88124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 </a:t>
            </a:r>
            <a:r>
              <a:rPr lang="uk-UA" dirty="0"/>
              <a:t>Кваліфікаційні та курсові роботи є невід’ємною частиною навчального процесу. У цих роботах студенти представляють проведену самостійно навчально-дослідницьку або навчально-практичну роботу. Ці роботи є</a:t>
            </a:r>
            <a:r>
              <a:rPr lang="en-US" dirty="0"/>
              <a:t> </a:t>
            </a:r>
            <a:r>
              <a:rPr lang="uk-UA" dirty="0"/>
              <a:t>навчальними аналогами наукових звітів, </a:t>
            </a:r>
            <a:r>
              <a:rPr lang="uk-UA" b="1" u="sng" dirty="0">
                <a:solidFill>
                  <a:srgbClr val="FF0000"/>
                </a:solidFill>
              </a:rPr>
              <a:t>структура змісту та оформлення</a:t>
            </a:r>
            <a:r>
              <a:rPr lang="uk-UA" dirty="0"/>
              <a:t> яких мають відповідати певним вимогам, зафіксованим у </a:t>
            </a:r>
            <a:r>
              <a:rPr lang="uk-UA" b="1" u="sng" dirty="0">
                <a:solidFill>
                  <a:srgbClr val="FF0000"/>
                </a:solidFill>
              </a:rPr>
              <a:t>державних стандартах</a:t>
            </a:r>
            <a:r>
              <a:rPr lang="uk-UA" dirty="0"/>
              <a:t>. Звідси, з погляду майбутньої професійної діяльності доцільно й корисно, щоб студенти вміли організовувати та оформлювати кваліфікаційні та курсові роботи згідно з вимогами існуючих стандартів.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528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en-US" dirty="0"/>
              <a:t>Важливі моменти – 5</a:t>
            </a:r>
            <a:endParaRPr lang="en-US" altLang="en-US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321547" y="3637502"/>
            <a:ext cx="8365253" cy="3220497"/>
          </a:xfrm>
        </p:spPr>
        <p:txBody>
          <a:bodyPr>
            <a:normAutofit fontScale="62500" lnSpcReduction="20000"/>
          </a:bodyPr>
          <a:lstStyle/>
          <a:p>
            <a:r>
              <a:rPr lang="uk-UA" altLang="en-US" dirty="0"/>
              <a:t>Чи справді навички оформлення тексту знадобляться в майбутньому?</a:t>
            </a:r>
          </a:p>
          <a:p>
            <a:pPr lvl="1"/>
            <a:r>
              <a:rPr lang="uk-UA" altLang="en-US" dirty="0"/>
              <a:t>Залежить від галузі діяльності</a:t>
            </a:r>
          </a:p>
          <a:p>
            <a:pPr lvl="1"/>
            <a:r>
              <a:rPr lang="uk-UA" altLang="en-US" dirty="0"/>
              <a:t>Наукова та освітня діяльність</a:t>
            </a:r>
          </a:p>
          <a:p>
            <a:pPr lvl="1"/>
            <a:r>
              <a:rPr lang="uk-UA" altLang="en-US" dirty="0"/>
              <a:t>Державні організації</a:t>
            </a:r>
          </a:p>
          <a:p>
            <a:pPr lvl="1"/>
            <a:r>
              <a:rPr lang="uk-UA" altLang="en-US" dirty="0"/>
              <a:t>Великі компанії</a:t>
            </a:r>
          </a:p>
          <a:p>
            <a:pPr lvl="1"/>
            <a:r>
              <a:rPr lang="uk-UA" altLang="en-US" dirty="0"/>
              <a:t>Формальні процеси розробки, вимоги та стандарти, </a:t>
            </a:r>
            <a:r>
              <a:rPr lang="en-US" altLang="en-US" dirty="0"/>
              <a:t>mission critical</a:t>
            </a:r>
            <a:r>
              <a:rPr lang="uk-UA" altLang="en-US" dirty="0"/>
              <a:t> галузі</a:t>
            </a:r>
          </a:p>
          <a:p>
            <a:pPr lvl="1"/>
            <a:r>
              <a:rPr lang="uk-UA" altLang="en-US" dirty="0"/>
              <a:t>Бюрократія знайдеться всюди </a:t>
            </a:r>
            <a:r>
              <a:rPr lang="uk-UA" altLang="en-US" dirty="0">
                <a:sym typeface="Wingdings" panose="05000000000000000000" pitchFamily="2" charset="2"/>
              </a:rPr>
              <a:t></a:t>
            </a:r>
          </a:p>
          <a:p>
            <a:r>
              <a:rPr lang="uk-UA" altLang="en-US" dirty="0"/>
              <a:t>Вміння чітко викладати думки, описувати отримані результати (</a:t>
            </a:r>
            <a:r>
              <a:rPr lang="en-US" altLang="en-US" dirty="0"/>
              <a:t>technical writing) </a:t>
            </a:r>
            <a:r>
              <a:rPr lang="uk-UA" altLang="en-US" dirty="0"/>
              <a:t>знадобиться в багатьох сферах</a:t>
            </a:r>
            <a:endParaRPr lang="en-US" altLang="en-US" dirty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5AEE15-BC4F-436E-8B84-81883AD92958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10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0725" y="1286189"/>
            <a:ext cx="88124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 </a:t>
            </a:r>
            <a:r>
              <a:rPr lang="uk-UA" dirty="0"/>
              <a:t>Кваліфікаційні та курсові роботи є невід’ємною частиною навчального процесу. У цих роботах студенти представляють проведену самостійно навчально-дослідницьку або навчально-практичну роботу. Ці роботи є</a:t>
            </a:r>
            <a:r>
              <a:rPr lang="en-US" dirty="0"/>
              <a:t> </a:t>
            </a:r>
            <a:r>
              <a:rPr lang="uk-UA" dirty="0"/>
              <a:t>навчальними аналогами наукових звітів, структура змісту та оформлення яких мають відповідати певним вимогам, зафіксованим у державних стандартах. Звідси, з погляду </a:t>
            </a:r>
            <a:r>
              <a:rPr lang="uk-UA" b="1" u="sng" dirty="0">
                <a:solidFill>
                  <a:srgbClr val="FF0000"/>
                </a:solidFill>
              </a:rPr>
              <a:t>майбутньої професійної діяльності</a:t>
            </a:r>
            <a:r>
              <a:rPr lang="uk-UA" b="1" dirty="0"/>
              <a:t> </a:t>
            </a:r>
            <a:r>
              <a:rPr lang="uk-UA" dirty="0"/>
              <a:t>доцільно й корисно, щоб студенти вміли організовувати та оформлювати кваліфікаційні та курсові роботи згідно з вимогами існуючих стандартів.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766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Чому так багато уваги приділяють оформленню?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dirty="0"/>
              <a:t>Бюрократичні традиції</a:t>
            </a:r>
          </a:p>
          <a:p>
            <a:r>
              <a:rPr lang="uk-UA" dirty="0"/>
              <a:t>Академічні традиції</a:t>
            </a:r>
          </a:p>
          <a:p>
            <a:pPr lvl="1"/>
            <a:r>
              <a:rPr lang="uk-UA" dirty="0"/>
              <a:t>Досвід наукових публікацій, захисту дисертацій, …</a:t>
            </a:r>
          </a:p>
          <a:p>
            <a:r>
              <a:rPr lang="uk-UA" dirty="0"/>
              <a:t>Естетичні традиції</a:t>
            </a:r>
          </a:p>
          <a:p>
            <a:pPr lvl="1"/>
            <a:r>
              <a:rPr lang="uk-UA" dirty="0"/>
              <a:t>Про смаки не сперечаються </a:t>
            </a:r>
            <a:r>
              <a:rPr lang="uk-UA" dirty="0">
                <a:sym typeface="Wingdings" panose="05000000000000000000" pitchFamily="2" charset="2"/>
              </a:rPr>
              <a:t></a:t>
            </a:r>
            <a:endParaRPr lang="uk-UA" dirty="0"/>
          </a:p>
          <a:p>
            <a:r>
              <a:rPr lang="uk-UA" dirty="0"/>
              <a:t>Простіше знайти помилку</a:t>
            </a:r>
          </a:p>
          <a:p>
            <a:pPr lvl="1"/>
            <a:r>
              <a:rPr lang="uk-UA" dirty="0"/>
              <a:t>Не всі викладачі орієнтуються в деталях кожної теми курсових чи дипломів</a:t>
            </a:r>
          </a:p>
          <a:p>
            <a:pPr lvl="1"/>
            <a:r>
              <a:rPr lang="uk-UA" dirty="0"/>
              <a:t>Але всі мали досвід оформлення документів</a:t>
            </a:r>
          </a:p>
          <a:p>
            <a:r>
              <a:rPr lang="uk-UA" dirty="0"/>
              <a:t>Вміння чітко виконувати детальні інструкції може бути корисним</a:t>
            </a:r>
          </a:p>
          <a:p>
            <a:r>
              <a:rPr lang="uk-UA" dirty="0"/>
              <a:t>Послідовне оформлення дозволяє фокусувати увагу на змістовних аспектах</a:t>
            </a:r>
          </a:p>
          <a:p>
            <a:pPr lvl="1"/>
            <a:r>
              <a:rPr lang="en-US" dirty="0"/>
              <a:t>~</a:t>
            </a:r>
            <a:r>
              <a:rPr lang="uk-UA" dirty="0"/>
              <a:t>Стилі кодування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11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190046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Академічний контекст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uk-UA" dirty="0"/>
              <a:t>Більшість викладачів є кандидатами або докторами наук</a:t>
            </a:r>
          </a:p>
          <a:p>
            <a:pPr lvl="1"/>
            <a:r>
              <a:rPr lang="uk-UA" dirty="0"/>
              <a:t>Захистили принаймні одну дисертацію</a:t>
            </a:r>
          </a:p>
          <a:p>
            <a:r>
              <a:rPr lang="uk-UA" dirty="0"/>
              <a:t>Певна прогресія: </a:t>
            </a:r>
          </a:p>
          <a:p>
            <a:pPr lvl="1"/>
            <a:r>
              <a:rPr lang="uk-UA" dirty="0"/>
              <a:t>Курсова</a:t>
            </a:r>
          </a:p>
          <a:p>
            <a:pPr lvl="1"/>
            <a:r>
              <a:rPr lang="uk-UA" dirty="0"/>
              <a:t>Диплом бакалавра </a:t>
            </a:r>
          </a:p>
          <a:p>
            <a:pPr lvl="1"/>
            <a:r>
              <a:rPr lang="uk-UA" dirty="0"/>
              <a:t>Диплом магістра</a:t>
            </a:r>
          </a:p>
          <a:p>
            <a:pPr lvl="1"/>
            <a:r>
              <a:rPr lang="uk-UA" dirty="0"/>
              <a:t>Дисертація кандидата наук (</a:t>
            </a:r>
            <a:r>
              <a:rPr lang="en-US" dirty="0"/>
              <a:t>PhD)</a:t>
            </a:r>
          </a:p>
          <a:p>
            <a:pPr lvl="1"/>
            <a:r>
              <a:rPr lang="uk-UA" dirty="0"/>
              <a:t>Дисертація доктора наук</a:t>
            </a:r>
          </a:p>
          <a:p>
            <a:r>
              <a:rPr lang="uk-UA" dirty="0"/>
              <a:t>Деякі викладачі висувають до курсових чи дипломів вимоги, які більш стосуються дисертацій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12</a:t>
            </a:fld>
            <a:endParaRPr lang="ru-RU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387" y="2880528"/>
            <a:ext cx="1920240" cy="192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26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Історичний контекст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Середньовіччя</a:t>
            </a:r>
          </a:p>
          <a:p>
            <a:r>
              <a:rPr lang="uk-UA" dirty="0"/>
              <a:t>Система гільдій</a:t>
            </a:r>
          </a:p>
          <a:p>
            <a:pPr lvl="1"/>
            <a:r>
              <a:rPr lang="uk-UA" dirty="0"/>
              <a:t>Університети – один з варіантів гільдій</a:t>
            </a:r>
          </a:p>
          <a:p>
            <a:r>
              <a:rPr lang="uk-UA" dirty="0"/>
              <a:t>Для отримання статусу майстра – виготовити «шедевр» (</a:t>
            </a:r>
            <a:r>
              <a:rPr lang="en-US" dirty="0"/>
              <a:t>masterpiece)</a:t>
            </a:r>
          </a:p>
          <a:p>
            <a:pPr lvl="1"/>
            <a:r>
              <a:rPr lang="uk-UA" dirty="0"/>
              <a:t>Оцінювання майстрами гільдії</a:t>
            </a:r>
          </a:p>
          <a:p>
            <a:r>
              <a:rPr lang="uk-UA" dirty="0"/>
              <a:t>В більшості галузей системи змінились</a:t>
            </a:r>
          </a:p>
          <a:p>
            <a:pPr lvl="1"/>
            <a:r>
              <a:rPr lang="uk-UA" dirty="0"/>
              <a:t>Але в університетах полюбляють традиції </a:t>
            </a:r>
            <a:r>
              <a:rPr lang="uk-UA" dirty="0">
                <a:sym typeface="Wingdings" panose="05000000000000000000" pitchFamily="2" charset="2"/>
              </a:rPr>
              <a:t></a:t>
            </a:r>
            <a:endParaRPr lang="uk-UA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13</a:t>
            </a:fld>
            <a:endParaRPr lang="ru-RU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914" y="1098409"/>
            <a:ext cx="2926080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34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Два найважливіші моменти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dirty="0"/>
              <a:t>Залишити досить часу на написання та оформлення тексту!</a:t>
            </a:r>
          </a:p>
          <a:p>
            <a:pPr lvl="1"/>
            <a:r>
              <a:rPr lang="uk-UA" dirty="0"/>
              <a:t>Зробити за ніч перед захистом не вийде </a:t>
            </a:r>
            <a:r>
              <a:rPr lang="uk-UA" dirty="0">
                <a:sym typeface="Wingdings" panose="05000000000000000000" pitchFamily="2" charset="2"/>
              </a:rPr>
              <a:t>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Навіть якщо сподіваєтесь що </a:t>
            </a:r>
            <a:r>
              <a:rPr lang="en-US" dirty="0">
                <a:sym typeface="Wingdings" panose="05000000000000000000" pitchFamily="2" charset="2"/>
              </a:rPr>
              <a:t>ChatGPT/Gemini/… </a:t>
            </a:r>
            <a:r>
              <a:rPr lang="uk-UA" dirty="0">
                <a:sym typeface="Wingdings" panose="05000000000000000000" pitchFamily="2" charset="2"/>
              </a:rPr>
              <a:t>допоможе</a:t>
            </a:r>
          </a:p>
          <a:p>
            <a:r>
              <a:rPr lang="uk-UA" dirty="0">
                <a:sym typeface="Wingdings" panose="05000000000000000000" pitchFamily="2" charset="2"/>
              </a:rPr>
              <a:t>Уважно читати рекомендації щодо оформлення та дотримуватись кожної деталі!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До цього зауваження частіше, ніж до змісту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У цих слайдах фокусується увага на найважливіших моментах, але вони не заміняють повного набору вимог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14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141074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Про що взагалі писати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dirty="0"/>
              <a:t>Фокус на тому, що зроблено саме Вами!</a:t>
            </a:r>
          </a:p>
          <a:p>
            <a:r>
              <a:rPr lang="uk-UA" dirty="0"/>
              <a:t>Мінімально потрібна інформація про існуючі підходи, технології, аналоги</a:t>
            </a:r>
          </a:p>
          <a:p>
            <a:pPr lvl="1"/>
            <a:r>
              <a:rPr lang="uk-UA" dirty="0"/>
              <a:t>Зазвичай виносять в розділ 1</a:t>
            </a:r>
          </a:p>
          <a:p>
            <a:r>
              <a:rPr lang="uk-UA" dirty="0"/>
              <a:t>Чітко сформулювати мету роботи та поставлені задачі</a:t>
            </a:r>
          </a:p>
          <a:p>
            <a:r>
              <a:rPr lang="uk-UA" dirty="0"/>
              <a:t>Описати досить детально окремі кроки вирішення поставлених задач</a:t>
            </a:r>
          </a:p>
          <a:p>
            <a:r>
              <a:rPr lang="uk-UA" dirty="0"/>
              <a:t>Важлива певна оцінка отриманих результатів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15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316752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uk-UA" altLang="en-US" dirty="0"/>
              <a:t>Аспекти, на які варто звернути увагу</a:t>
            </a:r>
            <a:endParaRPr lang="en-US" altLang="en-US" dirty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457200" y="1145512"/>
            <a:ext cx="8229600" cy="5536642"/>
          </a:xfrm>
        </p:spPr>
        <p:txBody>
          <a:bodyPr>
            <a:normAutofit fontScale="85000" lnSpcReduction="20000"/>
          </a:bodyPr>
          <a:lstStyle/>
          <a:p>
            <a:r>
              <a:rPr lang="uk-UA" altLang="en-US" dirty="0"/>
              <a:t>Аналіз актуального стану предметної галузі</a:t>
            </a:r>
          </a:p>
          <a:p>
            <a:pPr lvl="1"/>
            <a:r>
              <a:rPr lang="uk-UA" altLang="en-US" dirty="0"/>
              <a:t>Актуальні/важливі задачі</a:t>
            </a:r>
          </a:p>
          <a:p>
            <a:pPr lvl="1"/>
            <a:r>
              <a:rPr lang="uk-UA" altLang="en-US" dirty="0"/>
              <a:t>Аналоги/конкуренти</a:t>
            </a:r>
          </a:p>
          <a:p>
            <a:r>
              <a:rPr lang="uk-UA" altLang="en-US" dirty="0"/>
              <a:t>Формулювання вимог</a:t>
            </a:r>
          </a:p>
          <a:p>
            <a:r>
              <a:rPr lang="uk-UA" altLang="en-US" dirty="0"/>
              <a:t>Вибір технологій реалізації</a:t>
            </a:r>
          </a:p>
          <a:p>
            <a:r>
              <a:rPr lang="uk-UA" altLang="en-US" dirty="0"/>
              <a:t>Архітектура, </a:t>
            </a:r>
            <a:r>
              <a:rPr lang="uk-UA" altLang="en-US" dirty="0" err="1"/>
              <a:t>проєктування</a:t>
            </a:r>
            <a:endParaRPr lang="uk-UA" altLang="en-US" dirty="0"/>
          </a:p>
          <a:p>
            <a:r>
              <a:rPr lang="uk-UA" altLang="en-US" dirty="0"/>
              <a:t>Реалізація компонентів, тестування</a:t>
            </a:r>
          </a:p>
          <a:p>
            <a:r>
              <a:rPr lang="uk-UA" altLang="en-US" dirty="0"/>
              <a:t>Інтеграція компонентів, тестування</a:t>
            </a:r>
          </a:p>
          <a:p>
            <a:r>
              <a:rPr lang="uk-UA" altLang="en-US" dirty="0"/>
              <a:t>Розгортання, публікація</a:t>
            </a:r>
          </a:p>
          <a:p>
            <a:r>
              <a:rPr lang="uk-UA" altLang="en-US" dirty="0"/>
              <a:t>Оцінка отриманих результатів</a:t>
            </a:r>
          </a:p>
          <a:p>
            <a:pPr lvl="1"/>
            <a:r>
              <a:rPr lang="uk-UA" altLang="en-US" dirty="0"/>
              <a:t>Експерименти, виміри</a:t>
            </a:r>
          </a:p>
          <a:p>
            <a:pPr lvl="1"/>
            <a:r>
              <a:rPr lang="uk-UA" altLang="en-US" dirty="0"/>
              <a:t>Порівняння з аналогами</a:t>
            </a:r>
          </a:p>
          <a:p>
            <a:pPr lvl="1"/>
            <a:r>
              <a:rPr lang="uk-UA" altLang="en-US" dirty="0"/>
              <a:t>Відгуки користувачів</a:t>
            </a:r>
          </a:p>
          <a:p>
            <a:endParaRPr lang="uk-UA" altLang="en-US" dirty="0"/>
          </a:p>
          <a:p>
            <a:pPr lvl="1"/>
            <a:endParaRPr lang="en-US" altLang="en-US" dirty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CB4890-5126-454C-BC30-07BCF5C4FAD1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16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300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Обсяг та складність роботи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uk-UA" dirty="0"/>
              <a:t>Є обмеження на обсяг тексту (</a:t>
            </a:r>
            <a:r>
              <a:rPr lang="uk-UA" altLang="en-US" dirty="0">
                <a:hlinkClick r:id="rId2"/>
              </a:rPr>
              <a:t>Методичні вказівки</a:t>
            </a:r>
            <a:r>
              <a:rPr lang="uk-UA" dirty="0"/>
              <a:t>, розділ 2, </a:t>
            </a:r>
            <a:r>
              <a:rPr lang="uk-UA" dirty="0" err="1"/>
              <a:t>стор</a:t>
            </a:r>
            <a:r>
              <a:rPr lang="uk-UA" dirty="0"/>
              <a:t>. 11)</a:t>
            </a:r>
          </a:p>
          <a:p>
            <a:pPr lvl="1"/>
            <a:r>
              <a:rPr lang="uk-UA" dirty="0"/>
              <a:t>Курсові 20-40 </a:t>
            </a:r>
            <a:r>
              <a:rPr lang="uk-UA" dirty="0" err="1"/>
              <a:t>стор</a:t>
            </a:r>
            <a:r>
              <a:rPr lang="uk-UA" dirty="0"/>
              <a:t>. (за необхідності до 60)</a:t>
            </a:r>
          </a:p>
          <a:p>
            <a:pPr lvl="1"/>
            <a:r>
              <a:rPr lang="uk-UA" dirty="0"/>
              <a:t>Дипломні бакалавра 40-60 </a:t>
            </a:r>
            <a:r>
              <a:rPr lang="uk-UA" dirty="0" err="1"/>
              <a:t>стор</a:t>
            </a:r>
            <a:r>
              <a:rPr lang="uk-UA" dirty="0"/>
              <a:t>. (за необхідності до 80)</a:t>
            </a:r>
          </a:p>
          <a:p>
            <a:pPr lvl="1"/>
            <a:r>
              <a:rPr lang="uk-UA" dirty="0"/>
              <a:t>Дипломні магістра 50-70 </a:t>
            </a:r>
            <a:r>
              <a:rPr lang="uk-UA" dirty="0" err="1"/>
              <a:t>стор</a:t>
            </a:r>
            <a:r>
              <a:rPr lang="uk-UA" dirty="0"/>
              <a:t>. (за необхідності до 100)</a:t>
            </a:r>
          </a:p>
          <a:p>
            <a:r>
              <a:rPr lang="uk-UA" dirty="0"/>
              <a:t>Обмеження на обсяг та складність практичної частини формально не визначаються</a:t>
            </a:r>
          </a:p>
          <a:p>
            <a:pPr lvl="1"/>
            <a:r>
              <a:rPr lang="uk-UA" dirty="0"/>
              <a:t>Відповідальність керівника, кафедри, комісії на захисті</a:t>
            </a:r>
          </a:p>
          <a:p>
            <a:pPr lvl="1"/>
            <a:r>
              <a:rPr lang="uk-UA" dirty="0"/>
              <a:t>Більше ніж лабораторна робота</a:t>
            </a:r>
          </a:p>
          <a:p>
            <a:pPr lvl="1"/>
            <a:r>
              <a:rPr lang="uk-UA" dirty="0"/>
              <a:t>Менше ніж </a:t>
            </a:r>
            <a:r>
              <a:rPr lang="en-US" dirty="0"/>
              <a:t>Google/Facebook/…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Треба отримати та продемонструвати конкретні результати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17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031735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Коментарі щодо розміру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uk-UA" dirty="0"/>
              <a:t>Три значення</a:t>
            </a:r>
          </a:p>
          <a:p>
            <a:pPr lvl="1"/>
            <a:r>
              <a:rPr lang="uk-UA" dirty="0"/>
              <a:t>Мінімально можливе – для курсової не менше 20 сторінок</a:t>
            </a:r>
            <a:r>
              <a:rPr lang="ru-UA" dirty="0"/>
              <a:t> </a:t>
            </a:r>
            <a:r>
              <a:rPr lang="en-US" dirty="0"/>
              <a:t>/ </a:t>
            </a:r>
            <a:r>
              <a:rPr lang="uk-UA" dirty="0"/>
              <a:t>диплом бакалавра 40/ магістра 50</a:t>
            </a:r>
          </a:p>
          <a:p>
            <a:pPr lvl="1"/>
            <a:r>
              <a:rPr lang="uk-UA" dirty="0"/>
              <a:t>Максимально можливе за нормальних умов – для курсової не більше 40 сторінок / диплом бакалавра 60/ магістра 70</a:t>
            </a:r>
          </a:p>
          <a:p>
            <a:pPr lvl="1"/>
            <a:r>
              <a:rPr lang="uk-UA" dirty="0"/>
              <a:t>Максимально можливе за виняткових умов – для курсової не більше 60 сторінок / диплом бакалавра 80/ магістра 100</a:t>
            </a:r>
          </a:p>
          <a:p>
            <a:pPr lvl="1"/>
            <a:r>
              <a:rPr lang="uk-UA" dirty="0"/>
              <a:t>Не варто претендувати на виняткові умови без необхідності</a:t>
            </a:r>
          </a:p>
          <a:p>
            <a:r>
              <a:rPr lang="uk-UA" dirty="0"/>
              <a:t>Враховуються усі сторінки основного документа (титульна, реферат, зміст, література), але НЕ додатки</a:t>
            </a:r>
          </a:p>
          <a:p>
            <a:r>
              <a:rPr lang="uk-UA" dirty="0"/>
              <a:t>Вимірювати для правильно оформленої роботи!</a:t>
            </a:r>
          </a:p>
          <a:p>
            <a:pPr lvl="1"/>
            <a:r>
              <a:rPr lang="uk-UA" dirty="0"/>
              <a:t>Див. </a:t>
            </a:r>
            <a:r>
              <a:rPr lang="uk-UA" altLang="en-US" dirty="0">
                <a:hlinkClick r:id="rId2"/>
              </a:rPr>
              <a:t>Методичні вказівки</a:t>
            </a:r>
            <a:r>
              <a:rPr lang="uk-UA" altLang="en-US" dirty="0"/>
              <a:t>, розділ 3, </a:t>
            </a:r>
            <a:r>
              <a:rPr lang="uk-UA" altLang="en-US" dirty="0" err="1"/>
              <a:t>стор</a:t>
            </a:r>
            <a:r>
              <a:rPr lang="uk-UA" altLang="en-US" dirty="0"/>
              <a:t>. 18</a:t>
            </a:r>
          </a:p>
          <a:p>
            <a:pPr lvl="1"/>
            <a:r>
              <a:rPr lang="uk-UA" dirty="0"/>
              <a:t>Шрифт </a:t>
            </a:r>
            <a:r>
              <a:rPr lang="en-US" dirty="0"/>
              <a:t>Times New Roman, </a:t>
            </a:r>
            <a:r>
              <a:rPr lang="uk-UA" dirty="0"/>
              <a:t>розмір 14</a:t>
            </a:r>
          </a:p>
          <a:p>
            <a:pPr lvl="1"/>
            <a:r>
              <a:rPr lang="uk-UA" dirty="0"/>
              <a:t>Міжрядковий інтервал 1,5</a:t>
            </a:r>
          </a:p>
          <a:p>
            <a:pPr lvl="1"/>
            <a:r>
              <a:rPr lang="uk-UA" dirty="0"/>
              <a:t>Правильний розмір сторінки, береги (поля), абзацний відступ</a:t>
            </a:r>
          </a:p>
          <a:p>
            <a:pPr lvl="1"/>
            <a:r>
              <a:rPr lang="uk-UA" dirty="0"/>
              <a:t>Окремі розділи з нової сторінки, окремі підрозділи – без нової сторінки, пусті рядки між заголовком і текстом 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18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557975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Якщо не вкладаємось</a:t>
            </a:r>
            <a:br>
              <a:rPr lang="uk-UA" dirty="0"/>
            </a:br>
            <a:r>
              <a:rPr lang="uk-UA" sz="3600" dirty="0"/>
              <a:t>Надто мало (</a:t>
            </a:r>
            <a:r>
              <a:rPr lang="en-US" sz="3600" dirty="0"/>
              <a:t>&lt;20 </a:t>
            </a:r>
            <a:r>
              <a:rPr lang="uk-UA" sz="3600" dirty="0"/>
              <a:t>сторінок для курсових)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6818"/>
            <a:ext cx="8229600" cy="5441182"/>
          </a:xfrm>
        </p:spPr>
        <p:txBody>
          <a:bodyPr>
            <a:normAutofit fontScale="70000" lnSpcReduction="20000"/>
          </a:bodyPr>
          <a:lstStyle/>
          <a:p>
            <a:r>
              <a:rPr lang="uk-UA" dirty="0"/>
              <a:t>Не варто</a:t>
            </a:r>
          </a:p>
          <a:p>
            <a:pPr lvl="1"/>
            <a:r>
              <a:rPr lang="uk-UA" dirty="0"/>
              <a:t>Вставляти плагіат (</a:t>
            </a:r>
            <a:r>
              <a:rPr lang="uk-UA" dirty="0" err="1"/>
              <a:t>копіпаст</a:t>
            </a:r>
            <a:r>
              <a:rPr lang="uk-UA" dirty="0"/>
              <a:t> з інтернету, </a:t>
            </a:r>
            <a:r>
              <a:rPr lang="uk-UA" dirty="0" err="1"/>
              <a:t>вікіпедії</a:t>
            </a:r>
            <a:r>
              <a:rPr lang="uk-UA" dirty="0"/>
              <a:t>, …, включно з перекладеним)</a:t>
            </a:r>
          </a:p>
          <a:p>
            <a:pPr lvl="1"/>
            <a:r>
              <a:rPr lang="uk-UA" dirty="0"/>
              <a:t>Додавати «води» (багато тексту, мало змісту)</a:t>
            </a:r>
          </a:p>
          <a:p>
            <a:pPr lvl="1"/>
            <a:r>
              <a:rPr lang="uk-UA" dirty="0"/>
              <a:t>Додавати непов’язані з темою роботи матеріали</a:t>
            </a:r>
          </a:p>
          <a:p>
            <a:pPr lvl="1"/>
            <a:r>
              <a:rPr lang="uk-UA" dirty="0"/>
              <a:t>Додавати надто багато інформації про існуючі аналоги, використані методи, теорію, … (курсова – це не реферат!)</a:t>
            </a:r>
          </a:p>
          <a:p>
            <a:pPr lvl="1"/>
            <a:r>
              <a:rPr lang="uk-UA" dirty="0"/>
              <a:t>Генерувати «воду»/ «галюцинації» засобами ШІ</a:t>
            </a:r>
          </a:p>
          <a:p>
            <a:r>
              <a:rPr lang="uk-UA" dirty="0"/>
              <a:t>Варто</a:t>
            </a:r>
          </a:p>
          <a:p>
            <a:pPr lvl="1"/>
            <a:r>
              <a:rPr lang="uk-UA" dirty="0"/>
              <a:t>Подумати, що нового, цікавого, корисного зроблено в роботі</a:t>
            </a:r>
          </a:p>
          <a:p>
            <a:pPr lvl="1"/>
            <a:r>
              <a:rPr lang="uk-UA" dirty="0"/>
              <a:t>Детальніше описати кроки розробки</a:t>
            </a:r>
          </a:p>
          <a:p>
            <a:pPr lvl="1"/>
            <a:r>
              <a:rPr lang="uk-UA" dirty="0"/>
              <a:t>Додати більше результатів оцінки – експерименти, виміри, графіки, таблиці, …</a:t>
            </a:r>
          </a:p>
          <a:p>
            <a:pPr lvl="1"/>
            <a:r>
              <a:rPr lang="uk-UA" dirty="0"/>
              <a:t>Додати порівняння з аналогами</a:t>
            </a:r>
          </a:p>
          <a:p>
            <a:pPr lvl="1"/>
            <a:r>
              <a:rPr lang="uk-UA" dirty="0"/>
              <a:t>Додати графічного матеріалу – діаграми (зокрема </a:t>
            </a:r>
            <a:r>
              <a:rPr lang="en-US" dirty="0"/>
              <a:t>UML), </a:t>
            </a:r>
            <a:r>
              <a:rPr lang="uk-UA" dirty="0" err="1"/>
              <a:t>скріншоти</a:t>
            </a:r>
            <a:r>
              <a:rPr lang="uk-UA" dirty="0"/>
              <a:t> розробленого застосунку, графіки результатів вимірів, …</a:t>
            </a:r>
          </a:p>
          <a:p>
            <a:r>
              <a:rPr lang="uk-UA" dirty="0"/>
              <a:t>Не зловживати одним видом матеріалів</a:t>
            </a:r>
          </a:p>
          <a:p>
            <a:r>
              <a:rPr lang="uk-UA" dirty="0"/>
              <a:t>Порадитись з керівником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19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65251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Якщо не вкладаємось</a:t>
            </a:r>
            <a:br>
              <a:rPr lang="uk-UA" dirty="0"/>
            </a:br>
            <a:r>
              <a:rPr lang="uk-UA" sz="3600" dirty="0"/>
              <a:t>Надто багато (</a:t>
            </a:r>
            <a:r>
              <a:rPr lang="en-US" sz="3600" dirty="0"/>
              <a:t>&gt;40 </a:t>
            </a:r>
            <a:r>
              <a:rPr lang="uk-UA" sz="3600" dirty="0"/>
              <a:t>сторінок для курсових)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6866"/>
            <a:ext cx="8229600" cy="5315578"/>
          </a:xfrm>
        </p:spPr>
        <p:txBody>
          <a:bodyPr>
            <a:normAutofit fontScale="62500" lnSpcReduction="20000"/>
          </a:bodyPr>
          <a:lstStyle/>
          <a:p>
            <a:r>
              <a:rPr lang="uk-UA" dirty="0"/>
              <a:t>Така ситуація трапляється не так часто, і в певному сенсі це краще ніж надто мало </a:t>
            </a:r>
            <a:r>
              <a:rPr lang="uk-UA" dirty="0">
                <a:sym typeface="Wingdings" panose="05000000000000000000" pitchFamily="2" charset="2"/>
              </a:rPr>
              <a:t></a:t>
            </a:r>
            <a:endParaRPr lang="uk-UA" dirty="0"/>
          </a:p>
          <a:p>
            <a:r>
              <a:rPr lang="uk-UA" dirty="0"/>
              <a:t>Не варто</a:t>
            </a:r>
          </a:p>
          <a:p>
            <a:pPr lvl="1"/>
            <a:r>
              <a:rPr lang="uk-UA" dirty="0"/>
              <a:t>Викидати суттєві частини</a:t>
            </a:r>
          </a:p>
          <a:p>
            <a:pPr lvl="1"/>
            <a:r>
              <a:rPr lang="uk-UA" dirty="0"/>
              <a:t>Прибирати оцінки, експерименти, виміри, порівняння</a:t>
            </a:r>
          </a:p>
          <a:p>
            <a:pPr lvl="1"/>
            <a:r>
              <a:rPr lang="uk-UA" dirty="0"/>
              <a:t>Зменшувати розмір зображень до нечитабельних/незрозумілих</a:t>
            </a:r>
          </a:p>
          <a:p>
            <a:pPr lvl="1"/>
            <a:r>
              <a:rPr lang="uk-UA" dirty="0"/>
              <a:t>Використовувати скорочення, незрозумілі фрази, жаргон</a:t>
            </a:r>
          </a:p>
          <a:p>
            <a:pPr lvl="1"/>
            <a:r>
              <a:rPr lang="uk-UA" dirty="0"/>
              <a:t>Порушувати правила оформлення</a:t>
            </a:r>
          </a:p>
          <a:p>
            <a:r>
              <a:rPr lang="uk-UA" dirty="0"/>
              <a:t>Варто</a:t>
            </a:r>
          </a:p>
          <a:p>
            <a:pPr lvl="1"/>
            <a:r>
              <a:rPr lang="uk-UA" dirty="0"/>
              <a:t>Звернути увагу на теоретичну частину (розділ 1) – прибрати прості, очевидні, відомі речі, скоротити опис існуючих систем/підходів</a:t>
            </a:r>
          </a:p>
          <a:p>
            <a:pPr lvl="1"/>
            <a:r>
              <a:rPr lang="uk-UA" dirty="0"/>
              <a:t>Прибрати надлишкові технічні деталі</a:t>
            </a:r>
          </a:p>
          <a:p>
            <a:pPr lvl="1"/>
            <a:r>
              <a:rPr lang="uk-UA" dirty="0"/>
              <a:t>Більш </a:t>
            </a:r>
            <a:r>
              <a:rPr lang="uk-UA" dirty="0" err="1"/>
              <a:t>компактно</a:t>
            </a:r>
            <a:r>
              <a:rPr lang="uk-UA" dirty="0"/>
              <a:t> подати результати вимірів</a:t>
            </a:r>
          </a:p>
          <a:p>
            <a:pPr lvl="1"/>
            <a:r>
              <a:rPr lang="uk-UA" dirty="0"/>
              <a:t>Прибрати «воду» – сформулювати той самий зміст меншою кількістю слів</a:t>
            </a:r>
          </a:p>
          <a:p>
            <a:pPr lvl="1"/>
            <a:r>
              <a:rPr lang="uk-UA" dirty="0"/>
              <a:t>Прибрати не дуже потрібні зображення (надто прості чи надто складні схеми, надлишкові </a:t>
            </a:r>
            <a:r>
              <a:rPr lang="uk-UA" dirty="0" err="1"/>
              <a:t>скріншоти</a:t>
            </a:r>
            <a:r>
              <a:rPr lang="uk-UA" dirty="0"/>
              <a:t>, багато зображень в розділі 1 – теорія або існуючі аналоги)</a:t>
            </a:r>
          </a:p>
          <a:p>
            <a:r>
              <a:rPr lang="uk-UA" dirty="0"/>
              <a:t>Якщо справді зроблено щось дуже велике – можна до 60 сторінок</a:t>
            </a:r>
          </a:p>
          <a:p>
            <a:r>
              <a:rPr lang="uk-UA" dirty="0"/>
              <a:t>Порадитись з керівником!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20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58339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Залишити досить часу на текст!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26805"/>
            <a:ext cx="8229600" cy="387275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21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870769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Основний текст роботи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22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413293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Змістові розділи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uk-UA" dirty="0"/>
              <a:t>Обсяг – не менше 70% від загального тексту</a:t>
            </a:r>
          </a:p>
          <a:p>
            <a:pPr lvl="1"/>
            <a:r>
              <a:rPr lang="uk-UA" dirty="0"/>
              <a:t>Див. </a:t>
            </a:r>
            <a:r>
              <a:rPr lang="uk-UA" altLang="en-US" dirty="0">
                <a:hlinkClick r:id="rId2"/>
              </a:rPr>
              <a:t>Методичні вказівки</a:t>
            </a:r>
            <a:r>
              <a:rPr lang="uk-UA" altLang="en-US" dirty="0"/>
              <a:t>, розділ 2, </a:t>
            </a:r>
            <a:r>
              <a:rPr lang="uk-UA" altLang="en-US" dirty="0" err="1"/>
              <a:t>стор</a:t>
            </a:r>
            <a:r>
              <a:rPr lang="uk-UA" altLang="en-US" dirty="0"/>
              <a:t>. 11</a:t>
            </a:r>
          </a:p>
          <a:p>
            <a:pPr lvl="1"/>
            <a:r>
              <a:rPr lang="ru-RU" dirty="0"/>
              <a:t>15 </a:t>
            </a:r>
            <a:r>
              <a:rPr lang="ru-RU" dirty="0" err="1"/>
              <a:t>сторінок</a:t>
            </a:r>
            <a:r>
              <a:rPr lang="ru-RU" dirty="0"/>
              <a:t> для </a:t>
            </a:r>
            <a:r>
              <a:rPr lang="ru-RU" dirty="0" err="1"/>
              <a:t>курсових</a:t>
            </a:r>
            <a:r>
              <a:rPr lang="ru-RU" dirty="0"/>
              <a:t>, 25 для </a:t>
            </a:r>
            <a:r>
              <a:rPr lang="ru-RU" dirty="0" err="1"/>
              <a:t>дипломних</a:t>
            </a:r>
            <a:r>
              <a:rPr lang="ru-RU" dirty="0"/>
              <a:t> </a:t>
            </a:r>
            <a:r>
              <a:rPr lang="ru-RU" dirty="0" err="1"/>
              <a:t>бакалаврів</a:t>
            </a:r>
            <a:r>
              <a:rPr lang="ru-RU" dirty="0"/>
              <a:t> та 35 для </a:t>
            </a:r>
            <a:r>
              <a:rPr lang="ru-RU" dirty="0" err="1"/>
              <a:t>дипломів</a:t>
            </a:r>
            <a:r>
              <a:rPr lang="ru-RU" dirty="0"/>
              <a:t> </a:t>
            </a:r>
            <a:r>
              <a:rPr lang="ru-RU" dirty="0" err="1"/>
              <a:t>магістрів</a:t>
            </a:r>
            <a:endParaRPr lang="uk-UA" altLang="en-US" dirty="0"/>
          </a:p>
          <a:p>
            <a:pPr lvl="1"/>
            <a:r>
              <a:rPr lang="uk-UA" dirty="0"/>
              <a:t>Це включно з розділом 1 (теорія, існуючі аналоги, використані методи/підходи)</a:t>
            </a:r>
          </a:p>
          <a:p>
            <a:pPr lvl="1"/>
            <a:r>
              <a:rPr lang="uk-UA" dirty="0"/>
              <a:t>Але не включає усе інше (титульна сторінка, реферат, зміст, скорочення, вступ, висновки, література, додатки)</a:t>
            </a:r>
          </a:p>
          <a:p>
            <a:r>
              <a:rPr lang="uk-UA" dirty="0"/>
              <a:t>Зазвичай лише розділ 1 містить інформацію про те, що зроблено не автором роботи</a:t>
            </a:r>
          </a:p>
          <a:p>
            <a:pPr lvl="1"/>
            <a:r>
              <a:rPr lang="uk-UA" dirty="0"/>
              <a:t>Інші розділи – результати самостійної роботи</a:t>
            </a:r>
          </a:p>
          <a:p>
            <a:r>
              <a:rPr lang="uk-UA" dirty="0"/>
              <a:t>Розділи можна (і варто) ділити на підрозділи</a:t>
            </a:r>
          </a:p>
          <a:p>
            <a:pPr lvl="1"/>
            <a:r>
              <a:rPr lang="uk-UA" dirty="0"/>
              <a:t>Але не зловживати!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23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087838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Що варто виносити в окремі розділи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Окремі кроки роботи (вимоги, архітектура/</a:t>
            </a:r>
            <a:r>
              <a:rPr lang="uk-UA" dirty="0" err="1"/>
              <a:t>проєктування</a:t>
            </a:r>
            <a:r>
              <a:rPr lang="uk-UA" dirty="0"/>
              <a:t>, розробка, інтеграція, тестування, впровадження)</a:t>
            </a:r>
          </a:p>
          <a:p>
            <a:r>
              <a:rPr lang="uk-UA" dirty="0"/>
              <a:t>Окремі частини, компоненти, підсистеми</a:t>
            </a:r>
          </a:p>
          <a:p>
            <a:r>
              <a:rPr lang="uk-UA" dirty="0"/>
              <a:t>Якщо самостійно розроблено якусь нову теорію (нові визначення, теореми, …) – варто винести в окремий розділ (не розділ 1)</a:t>
            </a:r>
          </a:p>
          <a:p>
            <a:r>
              <a:rPr lang="uk-UA" dirty="0"/>
              <a:t>Результати – виміри, порівняння, 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24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4875771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Структура поділу на розділи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Не варто</a:t>
            </a:r>
          </a:p>
          <a:p>
            <a:pPr lvl="1"/>
            <a:r>
              <a:rPr lang="uk-UA" dirty="0"/>
              <a:t>Надто багато розділів (більше 7-10)</a:t>
            </a:r>
          </a:p>
          <a:p>
            <a:pPr lvl="1"/>
            <a:r>
              <a:rPr lang="uk-UA" dirty="0"/>
              <a:t>Надто мало розділів (1-2)</a:t>
            </a:r>
          </a:p>
          <a:p>
            <a:pPr lvl="1"/>
            <a:r>
              <a:rPr lang="uk-UA" dirty="0"/>
              <a:t>Розділи дуже різного розміру (3 розділи по 1 сторінці + 1 розділ на 30 сторінок)</a:t>
            </a:r>
          </a:p>
          <a:p>
            <a:r>
              <a:rPr lang="uk-UA" dirty="0"/>
              <a:t>Подумати щодо схеми підрозділів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25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702727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Правильні назви розділів/підрозділів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Відносно короткі, але змістовні</a:t>
            </a:r>
          </a:p>
          <a:p>
            <a:r>
              <a:rPr lang="uk-UA" dirty="0"/>
              <a:t>Відповідають суті розділу</a:t>
            </a:r>
          </a:p>
          <a:p>
            <a:r>
              <a:rPr lang="uk-UA" dirty="0"/>
              <a:t>Однакові у тексті та у змісті!</a:t>
            </a:r>
            <a:endParaRPr lang="en-US" dirty="0"/>
          </a:p>
          <a:p>
            <a:pPr lvl="1"/>
            <a:r>
              <a:rPr lang="uk-UA" dirty="0"/>
              <a:t>Як сама назва, так і стиль оформлення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26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3978407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Cohesion, Loose Coupling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Цей принцип стосується не лише архітектури/</a:t>
            </a:r>
            <a:r>
              <a:rPr lang="uk-UA" dirty="0" err="1"/>
              <a:t>проєктування</a:t>
            </a:r>
            <a:r>
              <a:rPr lang="uk-UA" dirty="0"/>
              <a:t>, але й написання документації</a:t>
            </a:r>
          </a:p>
          <a:p>
            <a:pPr lvl="1"/>
            <a:r>
              <a:rPr lang="uk-UA" dirty="0"/>
              <a:t>Зокрема, курсової</a:t>
            </a:r>
          </a:p>
          <a:p>
            <a:r>
              <a:rPr lang="uk-UA" dirty="0"/>
              <a:t>Теми, розглянуті в одному розділі/підрозділі, мають бути близько пов’язаними</a:t>
            </a:r>
          </a:p>
          <a:p>
            <a:r>
              <a:rPr lang="uk-UA" dirty="0"/>
              <a:t>Теми з різних розділів відносно чітко розділені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27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4597884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152" y="0"/>
            <a:ext cx="8229600" cy="1143000"/>
          </a:xfrm>
        </p:spPr>
        <p:txBody>
          <a:bodyPr/>
          <a:lstStyle/>
          <a:p>
            <a:r>
              <a:rPr lang="uk-UA" dirty="0"/>
              <a:t>Оформлення назв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4788"/>
            <a:ext cx="8229600" cy="5576834"/>
          </a:xfrm>
        </p:spPr>
        <p:txBody>
          <a:bodyPr>
            <a:normAutofit fontScale="55000" lnSpcReduction="20000"/>
          </a:bodyPr>
          <a:lstStyle/>
          <a:p>
            <a:r>
              <a:rPr lang="uk-UA" dirty="0"/>
              <a:t>Див. </a:t>
            </a:r>
            <a:r>
              <a:rPr lang="uk-UA" altLang="en-US" dirty="0">
                <a:hlinkClick r:id="rId2"/>
              </a:rPr>
              <a:t>Методичні вказівки</a:t>
            </a:r>
            <a:r>
              <a:rPr lang="uk-UA" altLang="en-US" dirty="0"/>
              <a:t>, розділ 3.2, </a:t>
            </a:r>
            <a:r>
              <a:rPr lang="uk-UA" altLang="en-US" dirty="0" err="1"/>
              <a:t>стор</a:t>
            </a:r>
            <a:r>
              <a:rPr lang="uk-UA" altLang="en-US" dirty="0"/>
              <a:t>. 18</a:t>
            </a:r>
          </a:p>
          <a:p>
            <a:r>
              <a:rPr lang="uk-UA" altLang="en-US" dirty="0"/>
              <a:t>Включає номер, не включає слово «розділ/підрозділ/…»</a:t>
            </a:r>
          </a:p>
          <a:p>
            <a:pPr lvl="1"/>
            <a:r>
              <a:rPr lang="uk-UA" altLang="en-US" strike="sngStrike" dirty="0"/>
              <a:t>Розділ 1. Про головне</a:t>
            </a:r>
          </a:p>
          <a:p>
            <a:pPr lvl="1"/>
            <a:r>
              <a:rPr lang="uk-UA" altLang="en-US" strike="sngStrike" dirty="0"/>
              <a:t>Про головне</a:t>
            </a:r>
          </a:p>
          <a:p>
            <a:pPr lvl="1"/>
            <a:r>
              <a:rPr lang="uk-UA" altLang="en-US" dirty="0"/>
              <a:t>1 ПРО ГОЛОВНЕ</a:t>
            </a:r>
          </a:p>
          <a:p>
            <a:r>
              <a:rPr lang="uk-UA" altLang="en-US" dirty="0"/>
              <a:t>Немає крапки після номеру, є крапки між частинами </a:t>
            </a:r>
          </a:p>
          <a:p>
            <a:pPr lvl="1"/>
            <a:r>
              <a:rPr lang="uk-UA" altLang="en-US" strike="sngStrike" dirty="0"/>
              <a:t>1. Про головне</a:t>
            </a:r>
          </a:p>
          <a:p>
            <a:pPr lvl="1"/>
            <a:r>
              <a:rPr lang="uk-UA" altLang="en-US" dirty="0"/>
              <a:t>1 ПРО ГОЛОВНЕ</a:t>
            </a:r>
          </a:p>
          <a:p>
            <a:pPr lvl="1"/>
            <a:r>
              <a:rPr lang="uk-UA" altLang="en-US" strike="sngStrike" dirty="0"/>
              <a:t>1.1. Найбільш важливе</a:t>
            </a:r>
          </a:p>
          <a:p>
            <a:pPr lvl="1"/>
            <a:r>
              <a:rPr lang="uk-UA" altLang="en-US" strike="sngStrike" dirty="0"/>
              <a:t>1 1 Найбільш важливе</a:t>
            </a:r>
          </a:p>
          <a:p>
            <a:pPr lvl="1"/>
            <a:r>
              <a:rPr lang="uk-UA" altLang="en-US" dirty="0"/>
              <a:t>1.1 Найбільш важливе</a:t>
            </a:r>
          </a:p>
          <a:p>
            <a:r>
              <a:rPr lang="uk-UA" altLang="en-US" dirty="0"/>
              <a:t>Немає крапки наприкінці, за необхідності крапка між реченнями (але не варто такі довгі назви)</a:t>
            </a:r>
          </a:p>
          <a:p>
            <a:pPr lvl="1"/>
            <a:r>
              <a:rPr lang="uk-UA" altLang="en-US" strike="sngStrike" dirty="0"/>
              <a:t>1 ПРО ГОЛОВНЕ.</a:t>
            </a:r>
          </a:p>
          <a:p>
            <a:pPr lvl="1"/>
            <a:r>
              <a:rPr lang="uk-UA" altLang="en-US" dirty="0"/>
              <a:t>1 ПРО ГОЛОВНЕ</a:t>
            </a:r>
          </a:p>
          <a:p>
            <a:pPr lvl="1"/>
            <a:r>
              <a:rPr lang="uk-UA" altLang="en-US" strike="sngStrike" dirty="0"/>
              <a:t>1.1.1.1 Дивний підпункт. Назва довша за вміст.</a:t>
            </a:r>
          </a:p>
          <a:p>
            <a:pPr lvl="1"/>
            <a:r>
              <a:rPr lang="uk-UA" altLang="en-US" strike="sngStrike" dirty="0"/>
              <a:t>1.1.1.1 Дивний підпункт Назва довша за вміст</a:t>
            </a:r>
          </a:p>
          <a:p>
            <a:pPr lvl="1"/>
            <a:r>
              <a:rPr lang="uk-UA" altLang="en-US" dirty="0"/>
              <a:t>1.1.1.1 Дивний підпункт. Назва довша за вміст</a:t>
            </a:r>
          </a:p>
          <a:p>
            <a:r>
              <a:rPr lang="uk-UA" altLang="en-US" dirty="0"/>
              <a:t>Розділи – по центру, великими літерами</a:t>
            </a:r>
          </a:p>
          <a:p>
            <a:r>
              <a:rPr lang="uk-UA" altLang="en-US" dirty="0"/>
              <a:t>Підрозділи (і менші одиниці – пункти, підпункти) – зліва, великі літери як у реченні (перше слово назви/речення, власні імена)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28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2219408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3820"/>
          </a:xfrm>
        </p:spPr>
        <p:txBody>
          <a:bodyPr/>
          <a:lstStyle/>
          <a:p>
            <a:r>
              <a:rPr lang="uk-UA" dirty="0"/>
              <a:t>Оформлення назв: розташування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345" y="703385"/>
            <a:ext cx="8229600" cy="4870119"/>
          </a:xfrm>
        </p:spPr>
        <p:txBody>
          <a:bodyPr>
            <a:normAutofit lnSpcReduction="10000"/>
          </a:bodyPr>
          <a:lstStyle/>
          <a:p>
            <a:r>
              <a:rPr lang="uk-UA" dirty="0"/>
              <a:t>Три різні схеми</a:t>
            </a:r>
          </a:p>
          <a:p>
            <a:pPr lvl="1"/>
            <a:r>
              <a:rPr lang="uk-UA" dirty="0"/>
              <a:t>Назви розділів, реферат, зміст, скорочення та умовні позначення, вступ, висновки, перелік джерел посилання: по центру, ВЕЛИКИМИ ЛІТЕРАМИ</a:t>
            </a:r>
          </a:p>
          <a:p>
            <a:pPr lvl="1"/>
            <a:endParaRPr lang="uk-UA" dirty="0"/>
          </a:p>
          <a:p>
            <a:pPr lvl="1"/>
            <a:r>
              <a:rPr lang="uk-UA" dirty="0"/>
              <a:t>Назви підрозділів, пунктів, підпунктів: по лівому боку, Як у реченні</a:t>
            </a:r>
          </a:p>
          <a:p>
            <a:pPr lvl="1"/>
            <a:endParaRPr lang="uk-UA" dirty="0"/>
          </a:p>
          <a:p>
            <a:pPr lvl="1"/>
            <a:r>
              <a:rPr lang="uk-UA" dirty="0"/>
              <a:t>Назви додатків: два рядки, по центру, спершу ДОДАТОК А, потім назва Як у реченні</a:t>
            </a:r>
          </a:p>
          <a:p>
            <a:pPr lvl="1"/>
            <a:endParaRPr lang="uk-UA" dirty="0"/>
          </a:p>
          <a:p>
            <a:pPr lvl="1"/>
            <a:endParaRPr lang="uk-UA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29</a:t>
            </a:fld>
            <a:endParaRPr lang="ru-RU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242" y="2753248"/>
            <a:ext cx="4389120" cy="5697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51" y="4198280"/>
            <a:ext cx="3017520" cy="53569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596" y="5410724"/>
            <a:ext cx="4114800" cy="96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830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Нумерація усього: розділи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383" y="1608909"/>
            <a:ext cx="8399417" cy="4525963"/>
          </a:xfrm>
        </p:spPr>
        <p:txBody>
          <a:bodyPr>
            <a:normAutofit fontScale="62500" lnSpcReduction="20000"/>
          </a:bodyPr>
          <a:lstStyle/>
          <a:p>
            <a:r>
              <a:rPr lang="uk-UA" dirty="0"/>
              <a:t>Номери розділів/підрозділів</a:t>
            </a:r>
          </a:p>
          <a:p>
            <a:pPr lvl="1"/>
            <a:r>
              <a:rPr lang="uk-UA" dirty="0"/>
              <a:t>Розділ 1, 2, 3, …</a:t>
            </a:r>
          </a:p>
          <a:p>
            <a:pPr lvl="1"/>
            <a:r>
              <a:rPr lang="uk-UA" dirty="0"/>
              <a:t>Підрозділ 1.1, 2.5</a:t>
            </a:r>
          </a:p>
          <a:p>
            <a:pPr lvl="1"/>
            <a:r>
              <a:rPr lang="uk-UA" dirty="0"/>
              <a:t>Пункт 1.1.1 (не зловживати)</a:t>
            </a:r>
          </a:p>
          <a:p>
            <a:pPr lvl="1"/>
            <a:r>
              <a:rPr lang="uk-UA" dirty="0"/>
              <a:t>Підпункт 1.1.1.1 (а може не варто? Можна переплутати з </a:t>
            </a:r>
            <a:r>
              <a:rPr lang="en-US" dirty="0"/>
              <a:t>IP </a:t>
            </a:r>
            <a:r>
              <a:rPr lang="uk-UA" dirty="0" err="1"/>
              <a:t>адресою</a:t>
            </a:r>
            <a:r>
              <a:rPr lang="uk-UA" dirty="0"/>
              <a:t> </a:t>
            </a:r>
            <a:r>
              <a:rPr lang="uk-UA" dirty="0">
                <a:sym typeface="Wingdings" panose="05000000000000000000" pitchFamily="2" charset="2"/>
              </a:rPr>
              <a:t></a:t>
            </a:r>
            <a:r>
              <a:rPr lang="uk-UA" dirty="0"/>
              <a:t>)</a:t>
            </a:r>
          </a:p>
          <a:p>
            <a:r>
              <a:rPr lang="uk-UA" dirty="0"/>
              <a:t>Нумеруються лише основні розділи</a:t>
            </a:r>
          </a:p>
          <a:p>
            <a:pPr lvl="1"/>
            <a:r>
              <a:rPr lang="uk-UA" dirty="0"/>
              <a:t>Без вступу та висновків</a:t>
            </a:r>
          </a:p>
          <a:p>
            <a:pPr lvl="1"/>
            <a:r>
              <a:rPr lang="uk-UA" dirty="0"/>
              <a:t>Без титульної сторінки, реферату, змісту, скорочень, літератури</a:t>
            </a:r>
          </a:p>
          <a:p>
            <a:pPr lvl="1"/>
            <a:r>
              <a:rPr lang="uk-UA" dirty="0"/>
              <a:t>У додатків – своя схема нумерації</a:t>
            </a:r>
          </a:p>
          <a:p>
            <a:r>
              <a:rPr lang="uk-UA" dirty="0"/>
              <a:t>Номери багатьох інших сутностей (рисунків, таблиць, формул) прив’язані до номерів розділів</a:t>
            </a:r>
          </a:p>
          <a:p>
            <a:pPr lvl="1"/>
            <a:r>
              <a:rPr lang="uk-UA" dirty="0"/>
              <a:t>Але не підрозділів!</a:t>
            </a:r>
          </a:p>
          <a:p>
            <a:pPr lvl="1"/>
            <a:r>
              <a:rPr lang="uk-UA" dirty="0"/>
              <a:t>Рис. 2.1 в розділі 2, або в підрозділі 2.3 (а не Рис. 2.3.1), або в пункті 2.3.2 ( а не Рис. 2.3.2.1), або в підпункті 2.3.4.5 (а не Рис. 2.3.4.5.1 – вже страшно </a:t>
            </a:r>
            <a:r>
              <a:rPr lang="uk-UA" dirty="0">
                <a:sym typeface="Wingdings" panose="05000000000000000000" pitchFamily="2" charset="2"/>
              </a:rPr>
              <a:t> )</a:t>
            </a:r>
            <a:r>
              <a:rPr lang="uk-UA" dirty="0"/>
              <a:t>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30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4287877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Нумерація усього: рисунки, таблиці, формули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Дві можливі схеми нумерації</a:t>
            </a:r>
          </a:p>
          <a:p>
            <a:pPr lvl="1"/>
            <a:r>
              <a:rPr lang="uk-UA" dirty="0"/>
              <a:t>Або «</a:t>
            </a:r>
            <a:r>
              <a:rPr lang="uk-UA" dirty="0" err="1"/>
              <a:t>наскрізно</a:t>
            </a:r>
            <a:r>
              <a:rPr lang="uk-UA" dirty="0"/>
              <a:t>» – починаємо з 1, далі 2, 3, … незалежно від розділу</a:t>
            </a:r>
          </a:p>
          <a:p>
            <a:pPr lvl="1"/>
            <a:r>
              <a:rPr lang="uk-UA" dirty="0"/>
              <a:t>Або по розділам – в розділі 1 маємо 1.1, потім 1.2, 1.3, … а далі в розділі 2 знову 2.1, 2.2, 2.3, …</a:t>
            </a:r>
          </a:p>
          <a:p>
            <a:r>
              <a:rPr lang="uk-UA" dirty="0"/>
              <a:t>Не можна нумерувати по підрозділам!</a:t>
            </a:r>
          </a:p>
          <a:p>
            <a:pPr lvl="1"/>
            <a:r>
              <a:rPr lang="uk-UA" strike="sngStrike" dirty="0"/>
              <a:t>Рис. 2.3.1 в підрозділі 2.3</a:t>
            </a:r>
          </a:p>
          <a:p>
            <a:pPr lvl="1"/>
            <a:r>
              <a:rPr lang="uk-UA" dirty="0"/>
              <a:t>Рис. 2.5 в підрозділі 2.3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31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3371775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Нумерація усього: додатки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5754"/>
            <a:ext cx="8229600" cy="5416061"/>
          </a:xfrm>
        </p:spPr>
        <p:txBody>
          <a:bodyPr>
            <a:normAutofit fontScale="70000" lnSpcReduction="20000"/>
          </a:bodyPr>
          <a:lstStyle/>
          <a:p>
            <a:r>
              <a:rPr lang="uk-UA" dirty="0"/>
              <a:t>Див. </a:t>
            </a:r>
            <a:r>
              <a:rPr lang="uk-UA" altLang="en-US" dirty="0">
                <a:hlinkClick r:id="rId2"/>
              </a:rPr>
              <a:t>Методичні вказівки</a:t>
            </a:r>
            <a:r>
              <a:rPr lang="uk-UA" altLang="en-US" dirty="0"/>
              <a:t>, розділ 3.16, </a:t>
            </a:r>
            <a:r>
              <a:rPr lang="uk-UA" altLang="en-US" dirty="0" err="1"/>
              <a:t>стор</a:t>
            </a:r>
            <a:r>
              <a:rPr lang="uk-UA" altLang="en-US" dirty="0"/>
              <a:t>. 31</a:t>
            </a:r>
          </a:p>
          <a:p>
            <a:r>
              <a:rPr lang="uk-UA" dirty="0"/>
              <a:t>Додаток А, Б, В</a:t>
            </a:r>
          </a:p>
          <a:p>
            <a:r>
              <a:rPr lang="uk-UA" dirty="0"/>
              <a:t>Зазвичай використовують літери української абетки</a:t>
            </a:r>
          </a:p>
          <a:p>
            <a:pPr lvl="1"/>
            <a:r>
              <a:rPr lang="uk-UA" dirty="0"/>
              <a:t>Окрім </a:t>
            </a:r>
            <a:r>
              <a:rPr lang="ru-RU" dirty="0"/>
              <a:t>Ґ, Є, З, І, Ї, Й, О, Ч, Ь (</a:t>
            </a:r>
            <a:r>
              <a:rPr lang="uk-UA" dirty="0"/>
              <a:t>тобто не використовуємо літери схожі на цифри, а також окремі «дивні» літери, які легко візуально сплутати з іншими</a:t>
            </a:r>
            <a:r>
              <a:rPr lang="ru-RU" dirty="0"/>
              <a:t>)</a:t>
            </a:r>
          </a:p>
          <a:p>
            <a:r>
              <a:rPr lang="uk-UA" dirty="0"/>
              <a:t>Можна використовувати латинські літери (окрім </a:t>
            </a:r>
            <a:r>
              <a:rPr lang="en-US" dirty="0"/>
              <a:t>I, O)</a:t>
            </a:r>
            <a:endParaRPr lang="uk-UA" dirty="0"/>
          </a:p>
          <a:p>
            <a:r>
              <a:rPr lang="uk-UA" dirty="0"/>
              <a:t>Якщо не вистачить літер – можна після усіх літер арабські цифри (А, Б, В, …, Ю, Я, 1, 2, 3, …)</a:t>
            </a:r>
          </a:p>
          <a:p>
            <a:pPr lvl="1"/>
            <a:r>
              <a:rPr lang="uk-UA" dirty="0"/>
              <a:t>Але тоді точно не влізти в обмеження по кількості сторінок </a:t>
            </a:r>
            <a:r>
              <a:rPr lang="uk-UA" dirty="0">
                <a:sym typeface="Wingdings" panose="05000000000000000000" pitchFamily="2" charset="2"/>
              </a:rPr>
              <a:t></a:t>
            </a:r>
            <a:endParaRPr lang="en-US" dirty="0"/>
          </a:p>
          <a:p>
            <a:r>
              <a:rPr lang="uk-UA" dirty="0"/>
              <a:t>Можуть мати свої підрозділи </a:t>
            </a:r>
            <a:r>
              <a:rPr lang="ru-UA" dirty="0"/>
              <a:t>А.1, Б.5</a:t>
            </a:r>
          </a:p>
          <a:p>
            <a:r>
              <a:rPr lang="uk-UA" dirty="0"/>
              <a:t>Нумерація  рисунків, таблиць, формул в рамках кожного додатку </a:t>
            </a:r>
          </a:p>
          <a:p>
            <a:pPr lvl="1"/>
            <a:r>
              <a:rPr lang="uk-UA" dirty="0"/>
              <a:t>«рис. А.1», «рівняння (Ф.1)» </a:t>
            </a:r>
          </a:p>
          <a:p>
            <a:r>
              <a:rPr lang="uk-UA" dirty="0"/>
              <a:t>Не варто зловживати!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32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4789660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Нумерація усього: сторінки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Наскрізна нумерація по всьому тексту</a:t>
            </a:r>
          </a:p>
          <a:p>
            <a:r>
              <a:rPr lang="uk-UA" dirty="0"/>
              <a:t>Титульна сторінка</a:t>
            </a:r>
          </a:p>
          <a:p>
            <a:pPr lvl="1"/>
            <a:r>
              <a:rPr lang="uk-UA" dirty="0"/>
              <a:t>Не ставимо номер сторінки</a:t>
            </a:r>
          </a:p>
          <a:p>
            <a:pPr lvl="1"/>
            <a:r>
              <a:rPr lang="uk-UA" dirty="0"/>
              <a:t>Але номер 1 вже зайнято</a:t>
            </a:r>
          </a:p>
          <a:p>
            <a:pPr lvl="1"/>
            <a:r>
              <a:rPr lang="uk-UA" dirty="0"/>
              <a:t>Наступна сторінка (реферат) має номер 2</a:t>
            </a:r>
          </a:p>
          <a:p>
            <a:r>
              <a:rPr lang="uk-UA" dirty="0"/>
              <a:t>Номери сторінок у правому верхньому кутку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33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404684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Стиль написання тексту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uk-UA" dirty="0"/>
              <a:t>Очікується науковий стиль</a:t>
            </a:r>
          </a:p>
          <a:p>
            <a:pPr lvl="1"/>
            <a:r>
              <a:rPr lang="uk-UA" dirty="0"/>
              <a:t>Не науково-популярний!</a:t>
            </a:r>
          </a:p>
          <a:p>
            <a:r>
              <a:rPr lang="uk-UA" dirty="0"/>
              <a:t>Не зловживати жаргоном</a:t>
            </a:r>
          </a:p>
          <a:p>
            <a:r>
              <a:rPr lang="uk-UA" dirty="0"/>
              <a:t>Наукове «ми» </a:t>
            </a:r>
          </a:p>
          <a:p>
            <a:pPr lvl="1"/>
            <a:r>
              <a:rPr lang="uk-UA" dirty="0"/>
              <a:t>Розглянемо, доведемо, побудуємо</a:t>
            </a:r>
          </a:p>
          <a:p>
            <a:r>
              <a:rPr lang="uk-UA" dirty="0"/>
              <a:t>Пасивний стан</a:t>
            </a:r>
          </a:p>
          <a:p>
            <a:pPr lvl="1"/>
            <a:r>
              <a:rPr lang="uk-UA" dirty="0"/>
              <a:t>В роботі розроблено, …</a:t>
            </a:r>
          </a:p>
          <a:p>
            <a:r>
              <a:rPr lang="uk-UA" dirty="0"/>
              <a:t>Уникати звернень до читача (більш характерно для маркетингових матеріалів)</a:t>
            </a:r>
          </a:p>
          <a:p>
            <a:pPr lvl="1"/>
            <a:r>
              <a:rPr lang="uk-UA" strike="sngStrike" dirty="0"/>
              <a:t>Ви можете використати цю технологію для …</a:t>
            </a:r>
          </a:p>
          <a:p>
            <a:pPr lvl="1"/>
            <a:r>
              <a:rPr lang="uk-UA" dirty="0"/>
              <a:t>Користувач може використати цю технологію для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34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7153604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Мова (не програмування)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Див. </a:t>
            </a:r>
            <a:r>
              <a:rPr lang="uk-UA" altLang="en-US" dirty="0">
                <a:hlinkClick r:id="rId2"/>
              </a:rPr>
              <a:t>Методичні вказівки</a:t>
            </a:r>
            <a:r>
              <a:rPr lang="uk-UA" altLang="en-US" dirty="0"/>
              <a:t>, розділ 1.1, </a:t>
            </a:r>
            <a:r>
              <a:rPr lang="uk-UA" altLang="en-US" dirty="0" err="1"/>
              <a:t>стор</a:t>
            </a:r>
            <a:r>
              <a:rPr lang="uk-UA" altLang="en-US" dirty="0"/>
              <a:t>. 6</a:t>
            </a:r>
            <a:endParaRPr lang="uk-UA" dirty="0"/>
          </a:p>
          <a:p>
            <a:r>
              <a:rPr lang="uk-UA" dirty="0"/>
              <a:t>Передбачається використання української мови (для громадян України)</a:t>
            </a:r>
          </a:p>
          <a:p>
            <a:r>
              <a:rPr lang="uk-UA" dirty="0"/>
              <a:t>Можна використовувати англійську, але тоді треба написати заяву декану</a:t>
            </a:r>
          </a:p>
          <a:p>
            <a:pPr lvl="1"/>
            <a:r>
              <a:rPr lang="uk-UA" dirty="0"/>
              <a:t>Якщо є бажання це робити, варто подумати завчасно</a:t>
            </a:r>
          </a:p>
          <a:p>
            <a:pPr lvl="1"/>
            <a:r>
              <a:rPr lang="uk-UA" dirty="0"/>
              <a:t>Особливо для дипломних робіт!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35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8778708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Мова (не програмування)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uk-UA" dirty="0"/>
              <a:t>За можливості використовувати україномовні терміни</a:t>
            </a:r>
          </a:p>
          <a:p>
            <a:r>
              <a:rPr lang="uk-UA" dirty="0"/>
              <a:t>Якщо україномовний термін не дуже популярний, або існує декілька варіантів – при першому використанні вказати англомовний варіант </a:t>
            </a:r>
          </a:p>
          <a:p>
            <a:r>
              <a:rPr lang="uk-UA" dirty="0"/>
              <a:t>Уникати </a:t>
            </a:r>
            <a:r>
              <a:rPr lang="uk-UA" dirty="0" err="1"/>
              <a:t>трансліту</a:t>
            </a:r>
            <a:r>
              <a:rPr lang="uk-UA" dirty="0"/>
              <a:t> (якщо це не прийняте слово в українському правописі) – краще писати англійською</a:t>
            </a:r>
          </a:p>
          <a:p>
            <a:r>
              <a:rPr lang="uk-UA" dirty="0"/>
              <a:t>Імена, назви компаній, технологій, інші власні назви – мовою оригіналу</a:t>
            </a:r>
          </a:p>
          <a:p>
            <a:pPr lvl="1"/>
            <a:r>
              <a:rPr lang="uk-UA"/>
              <a:t>Або можна </a:t>
            </a:r>
            <a:r>
              <a:rPr lang="uk-UA" dirty="0"/>
              <a:t>транслітерувати і вказувати мовою оригіналу при першому використанні (можна для імен, небажано для компаній</a:t>
            </a:r>
            <a:r>
              <a:rPr lang="uk-UA"/>
              <a:t>, технологій)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36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9725182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Мова (не програмування)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dirty="0"/>
              <a:t>Дотримуватись вимог нового правопису</a:t>
            </a:r>
          </a:p>
          <a:p>
            <a:r>
              <a:rPr lang="uk-UA" dirty="0"/>
              <a:t>Деякі типові моменти</a:t>
            </a:r>
          </a:p>
          <a:p>
            <a:pPr lvl="1"/>
            <a:r>
              <a:rPr lang="uk-UA" dirty="0"/>
              <a:t>«</a:t>
            </a:r>
            <a:r>
              <a:rPr lang="uk-UA" dirty="0" err="1"/>
              <a:t>Проєкт</a:t>
            </a:r>
            <a:r>
              <a:rPr lang="uk-UA" dirty="0"/>
              <a:t>», «</a:t>
            </a:r>
            <a:r>
              <a:rPr lang="uk-UA" dirty="0" err="1"/>
              <a:t>проєктування</a:t>
            </a:r>
            <a:r>
              <a:rPr lang="uk-UA" dirty="0"/>
              <a:t>»</a:t>
            </a:r>
          </a:p>
          <a:p>
            <a:pPr lvl="1"/>
            <a:r>
              <a:rPr lang="uk-UA" dirty="0"/>
              <a:t>«</a:t>
            </a:r>
            <a:r>
              <a:rPr lang="uk-UA" dirty="0" err="1"/>
              <a:t>Вебзастосунок</a:t>
            </a:r>
            <a:r>
              <a:rPr lang="uk-UA" dirty="0"/>
              <a:t>» (але «інтернет-ресурс» – не дуже послідовно, але такі вимоги)</a:t>
            </a:r>
            <a:endParaRPr lang="en-US" dirty="0"/>
          </a:p>
          <a:p>
            <a:r>
              <a:rPr lang="uk-UA" dirty="0"/>
              <a:t>В документі, відмічати мову як українська</a:t>
            </a:r>
          </a:p>
          <a:p>
            <a:pPr lvl="1"/>
            <a:r>
              <a:rPr lang="uk-UA" dirty="0"/>
              <a:t>Допомагає з автоматичною перевіркою правопису</a:t>
            </a:r>
          </a:p>
          <a:p>
            <a:pPr lvl="1"/>
            <a:r>
              <a:rPr lang="uk-UA" dirty="0"/>
              <a:t>Але не сподіватись лише на неї – залишити час вичитати самостійно, дати таку можливість керівнику (не </a:t>
            </a:r>
            <a:r>
              <a:rPr lang="uk-UA"/>
              <a:t>надсилати керівнику за хвилину-годину-день до дедлайну)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37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509659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Оформлення тексту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uk-UA" dirty="0"/>
              <a:t>Вирівнювання по ширині!</a:t>
            </a:r>
          </a:p>
          <a:p>
            <a:r>
              <a:rPr lang="uk-UA" dirty="0"/>
              <a:t>Можна робити переноси довгих слів, за правилами мови</a:t>
            </a:r>
          </a:p>
          <a:p>
            <a:r>
              <a:rPr lang="uk-UA" dirty="0"/>
              <a:t>Шрифт, міжрядкові відступи, абзацні відступи (горизонтальні та вертикальні)</a:t>
            </a:r>
          </a:p>
          <a:p>
            <a:r>
              <a:rPr lang="uk-UA" dirty="0"/>
              <a:t>Уникати маленьких фрагментів тексту зверху чи знизу сторінки</a:t>
            </a:r>
          </a:p>
          <a:p>
            <a:pPr lvl="1"/>
            <a:r>
              <a:rPr lang="uk-UA" dirty="0"/>
              <a:t>Не починати підрозділ так, що назва на одній сторінці, а текст на іншій</a:t>
            </a:r>
          </a:p>
          <a:p>
            <a:pPr lvl="1"/>
            <a:r>
              <a:rPr lang="uk-UA" dirty="0"/>
              <a:t>Або назва і лише один рядок тексту на сторінці</a:t>
            </a:r>
          </a:p>
          <a:p>
            <a:pPr lvl="1"/>
            <a:r>
              <a:rPr lang="uk-UA" dirty="0"/>
              <a:t>Не завершувати розділ так, щоб на останній сторінці був лише один рядок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38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8453805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Горизонтальні абзацні відступи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rmAutofit fontScale="77500" lnSpcReduction="20000"/>
          </a:bodyPr>
          <a:lstStyle/>
          <a:p>
            <a:r>
              <a:rPr lang="uk-UA" dirty="0"/>
              <a:t>Лише перший рядок кожного абзацу</a:t>
            </a:r>
          </a:p>
          <a:p>
            <a:r>
              <a:rPr lang="uk-UA" dirty="0"/>
              <a:t>Для підзаголовків (1.2, 1.2.3, 1.2.3.4) такий само</a:t>
            </a:r>
          </a:p>
          <a:p>
            <a:pPr lvl="1"/>
            <a:r>
              <a:rPr lang="uk-UA" dirty="0"/>
              <a:t>Для заголовків (1) – без відступу, вирівнювання по центру</a:t>
            </a:r>
          </a:p>
          <a:p>
            <a:r>
              <a:rPr lang="uk-UA" dirty="0"/>
              <a:t>Відступ 1,27 см </a:t>
            </a:r>
          </a:p>
          <a:p>
            <a:r>
              <a:rPr lang="uk-UA" dirty="0"/>
              <a:t>Перевірити, що випадково не застосовано інший відступ, або відступ для кожного рядку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39</a:t>
            </a:fld>
            <a:endParaRPr lang="ru-RU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87E800-73B9-3830-83F9-2F6FB5956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880" y="1902690"/>
            <a:ext cx="4321120" cy="3585174"/>
          </a:xfrm>
          <a:prstGeom prst="rect">
            <a:avLst/>
          </a:prstGeom>
        </p:spPr>
      </p:pic>
      <p:sp>
        <p:nvSpPr>
          <p:cNvPr id="7" name="Cloud 6">
            <a:extLst>
              <a:ext uri="{FF2B5EF4-FFF2-40B4-BE49-F238E27FC236}">
                <a16:creationId xmlns:a16="http://schemas.microsoft.com/office/drawing/2014/main" id="{CD25CF36-6506-04AB-C079-A70B7357208F}"/>
              </a:ext>
            </a:extLst>
          </p:cNvPr>
          <p:cNvSpPr/>
          <p:nvPr/>
        </p:nvSpPr>
        <p:spPr>
          <a:xfrm>
            <a:off x="4655128" y="4154125"/>
            <a:ext cx="1505528" cy="972055"/>
          </a:xfrm>
          <a:prstGeom prst="cloud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chemeClr val="tx1"/>
                </a:solidFill>
              </a:rPr>
              <a:t>Відступ абзацу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5DDDADC5-F6C4-3A11-33C8-FCB042A8A512}"/>
              </a:ext>
            </a:extLst>
          </p:cNvPr>
          <p:cNvSpPr/>
          <p:nvPr/>
        </p:nvSpPr>
        <p:spPr>
          <a:xfrm>
            <a:off x="4591221" y="2056352"/>
            <a:ext cx="2392219" cy="972055"/>
          </a:xfrm>
          <a:prstGeom prst="cloud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chemeClr val="tx1"/>
                </a:solidFill>
              </a:rPr>
              <a:t>Відступ підзаголовку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loud 9">
            <a:extLst>
              <a:ext uri="{FF2B5EF4-FFF2-40B4-BE49-F238E27FC236}">
                <a16:creationId xmlns:a16="http://schemas.microsoft.com/office/drawing/2014/main" id="{DFE395D0-2416-0B27-26F3-86B8BEBE3A92}"/>
              </a:ext>
            </a:extLst>
          </p:cNvPr>
          <p:cNvSpPr/>
          <p:nvPr/>
        </p:nvSpPr>
        <p:spPr>
          <a:xfrm>
            <a:off x="6411536" y="3377153"/>
            <a:ext cx="2496938" cy="972055"/>
          </a:xfrm>
          <a:prstGeom prst="cloud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400" dirty="0">
                <a:solidFill>
                  <a:schemeClr val="tx1"/>
                </a:solidFill>
              </a:rPr>
              <a:t>Назва підзаголовку теж неправильно…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265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Вертикальні абзацні відступи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rmAutofit fontScale="47500" lnSpcReduction="20000"/>
          </a:bodyPr>
          <a:lstStyle/>
          <a:p>
            <a:r>
              <a:rPr lang="uk-UA" dirty="0"/>
              <a:t>Між абзацами тексту – немає (відстань між рядками в одному абзаці така сама як мі сусідніми абзацами)</a:t>
            </a:r>
          </a:p>
          <a:p>
            <a:r>
              <a:rPr lang="uk-UA" dirty="0"/>
              <a:t>Для заголовків та підзаголовків</a:t>
            </a:r>
          </a:p>
          <a:p>
            <a:pPr lvl="1"/>
            <a:r>
              <a:rPr lang="uk-UA" dirty="0"/>
              <a:t>Вертикальні відступи перед та після заголовком </a:t>
            </a:r>
          </a:p>
          <a:p>
            <a:pPr lvl="1"/>
            <a:r>
              <a:rPr lang="uk-UA" dirty="0"/>
              <a:t>Немає відступу між рядками заголовку, між двома заголовками різних рівнів якщо між ними немає тексту</a:t>
            </a:r>
          </a:p>
          <a:p>
            <a:r>
              <a:rPr lang="uk-UA" dirty="0"/>
              <a:t>Як зробити </a:t>
            </a:r>
          </a:p>
          <a:p>
            <a:pPr lvl="1"/>
            <a:r>
              <a:rPr lang="uk-UA" dirty="0"/>
              <a:t>Або в параметрах абзацу відступ «до» та «після» не менше 8 пт (можна більше, максимум 18-24 пт)</a:t>
            </a:r>
          </a:p>
          <a:p>
            <a:pPr lvl="1"/>
            <a:r>
              <a:rPr lang="uk-UA" dirty="0"/>
              <a:t>Або просто один пустий рядок (не два! Оскільки в ньому вже включено 1,5 міжрядковий інтервал) </a:t>
            </a:r>
          </a:p>
          <a:p>
            <a:r>
              <a:rPr lang="uk-UA" dirty="0"/>
              <a:t>Перевірити, що випадково не застосовано відступ з попереднього/наступного абзацу, особливо близько до заголовків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40</a:t>
            </a:fld>
            <a:endParaRPr lang="ru-RU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756DCD-F534-131F-C875-507427F02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74872"/>
            <a:ext cx="4297680" cy="3622812"/>
          </a:xfrm>
          <a:prstGeom prst="rect">
            <a:avLst/>
          </a:prstGeom>
        </p:spPr>
      </p:pic>
      <p:sp>
        <p:nvSpPr>
          <p:cNvPr id="11" name="Cloud 10">
            <a:extLst>
              <a:ext uri="{FF2B5EF4-FFF2-40B4-BE49-F238E27FC236}">
                <a16:creationId xmlns:a16="http://schemas.microsoft.com/office/drawing/2014/main" id="{B8DB111E-4170-D9D6-C975-7FC7282268DA}"/>
              </a:ext>
            </a:extLst>
          </p:cNvPr>
          <p:cNvSpPr/>
          <p:nvPr/>
        </p:nvSpPr>
        <p:spPr>
          <a:xfrm>
            <a:off x="7018251" y="1263143"/>
            <a:ext cx="1942869" cy="972055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chemeClr val="tx1"/>
                </a:solidFill>
              </a:rPr>
              <a:t>Наче правильно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D9E148C1-8BDC-DE76-5B5D-28AAB9A5D0B8}"/>
              </a:ext>
            </a:extLst>
          </p:cNvPr>
          <p:cNvSpPr/>
          <p:nvPr/>
        </p:nvSpPr>
        <p:spPr>
          <a:xfrm>
            <a:off x="6468688" y="2576304"/>
            <a:ext cx="1942869" cy="972055"/>
          </a:xfrm>
          <a:prstGeom prst="clou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chemeClr val="tx1"/>
                </a:solidFill>
              </a:rPr>
              <a:t>Можливо забагато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4ADA9668-0E11-4CD6-4CF1-2D96C5C4F81C}"/>
              </a:ext>
            </a:extLst>
          </p:cNvPr>
          <p:cNvSpPr/>
          <p:nvPr/>
        </p:nvSpPr>
        <p:spPr>
          <a:xfrm>
            <a:off x="6862618" y="4220997"/>
            <a:ext cx="2201487" cy="972055"/>
          </a:xfrm>
          <a:prstGeom prst="cloud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600" dirty="0">
                <a:solidFill>
                  <a:schemeClr val="tx1"/>
                </a:solidFill>
              </a:rPr>
              <a:t>Зайвий вертикальний відступ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86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Спеціальні елементи тексту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41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3320175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Обов’язкові посилання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uk-UA" dirty="0"/>
              <a:t>На літературу (усі наведені джерела використано хоча б один раз, хоча можна і більше)</a:t>
            </a:r>
          </a:p>
          <a:p>
            <a:pPr lvl="1"/>
            <a:r>
              <a:rPr lang="uk-UA" dirty="0"/>
              <a:t>«Як сказано у роботі </a:t>
            </a:r>
            <a:r>
              <a:rPr lang="en-US" dirty="0"/>
              <a:t>[1]</a:t>
            </a:r>
            <a:r>
              <a:rPr lang="uk-UA" dirty="0"/>
              <a:t>»</a:t>
            </a:r>
            <a:endParaRPr lang="en-US" dirty="0"/>
          </a:p>
          <a:p>
            <a:r>
              <a:rPr lang="uk-UA" dirty="0"/>
              <a:t>На усі зображення (рисунки) та таблиці</a:t>
            </a:r>
          </a:p>
          <a:p>
            <a:pPr lvl="1"/>
            <a:r>
              <a:rPr lang="uk-UA" dirty="0"/>
              <a:t>«Як можна побачити на рис. 3.1»; «дані вимірів наведено в табл. 4.2» </a:t>
            </a:r>
          </a:p>
          <a:p>
            <a:pPr lvl="1"/>
            <a:r>
              <a:rPr lang="uk-UA" dirty="0"/>
              <a:t>Можна не скорочувати: «на рисунку 3.1», «в таблиці 4.2»</a:t>
            </a:r>
          </a:p>
          <a:p>
            <a:r>
              <a:rPr lang="uk-UA" dirty="0"/>
              <a:t>На формули, якщо вони мають номер</a:t>
            </a:r>
          </a:p>
          <a:p>
            <a:pPr lvl="1"/>
            <a:r>
              <a:rPr lang="uk-UA" dirty="0"/>
              <a:t>«З рівняння (3.5) видно»</a:t>
            </a:r>
          </a:p>
          <a:p>
            <a:pPr lvl="1"/>
            <a:r>
              <a:rPr lang="uk-UA" dirty="0"/>
              <a:t>Іншими словами, якщо формула лише використовується в одному місці в тексті – номер додавати не треба</a:t>
            </a:r>
          </a:p>
          <a:p>
            <a:pPr lvl="1"/>
            <a:r>
              <a:rPr lang="uk-UA" dirty="0"/>
              <a:t>Якщо номер формули є – має бути і посилання (зазвичай з іншої частини тексту)</a:t>
            </a:r>
          </a:p>
          <a:p>
            <a:r>
              <a:rPr lang="uk-UA" dirty="0"/>
              <a:t>На усі додатки, якщо вони є – а також на їх частини, за необхідності</a:t>
            </a:r>
          </a:p>
          <a:p>
            <a:pPr lvl="1"/>
            <a:r>
              <a:rPr lang="uk-UA" dirty="0"/>
              <a:t>«Деталі алгоритму наведено в додатку А»</a:t>
            </a:r>
          </a:p>
          <a:p>
            <a:r>
              <a:rPr lang="uk-UA" dirty="0"/>
              <a:t>На інші розділи/підрозділи – за необхідності (але зазвичай варто)</a:t>
            </a:r>
          </a:p>
          <a:p>
            <a:pPr lvl="1"/>
            <a:r>
              <a:rPr lang="uk-UA" dirty="0"/>
              <a:t>«Приклад використання розробленої підсистеми наведено в розділі 4.3»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42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0443275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Що потребує і не потребує посилань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Треба посилання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uk-UA" dirty="0"/>
              <a:t>Інформація взята з джерел</a:t>
            </a:r>
          </a:p>
          <a:p>
            <a:pPr lvl="1"/>
            <a:r>
              <a:rPr lang="uk-UA" dirty="0"/>
              <a:t>Підходи, методи</a:t>
            </a:r>
          </a:p>
          <a:p>
            <a:pPr lvl="1"/>
            <a:r>
              <a:rPr lang="uk-UA" dirty="0"/>
              <a:t>Технології, бібліотеки, інструменти, …</a:t>
            </a:r>
          </a:p>
          <a:p>
            <a:pPr lvl="1"/>
            <a:r>
              <a:rPr lang="uk-UA" dirty="0"/>
              <a:t>Дані</a:t>
            </a:r>
          </a:p>
          <a:p>
            <a:pPr lvl="1"/>
            <a:r>
              <a:rPr lang="uk-UA" dirty="0"/>
              <a:t>Зображення, таблиці</a:t>
            </a:r>
          </a:p>
          <a:p>
            <a:r>
              <a:rPr lang="uk-UA" dirty="0"/>
              <a:t>Текстові запозичення</a:t>
            </a:r>
          </a:p>
          <a:p>
            <a:pPr lvl="1"/>
            <a:r>
              <a:rPr lang="uk-UA" dirty="0"/>
              <a:t>Лише якщо необхідно точно навести висловлювання</a:t>
            </a:r>
          </a:p>
          <a:p>
            <a:pPr lvl="1"/>
            <a:r>
              <a:rPr lang="uk-UA" dirty="0"/>
              <a:t>Обмежена довжина</a:t>
            </a:r>
          </a:p>
          <a:p>
            <a:pPr lvl="1"/>
            <a:r>
              <a:rPr lang="uk-UA" dirty="0"/>
              <a:t>В більшості випадків варто переформулювати своїми словами</a:t>
            </a:r>
          </a:p>
          <a:p>
            <a:pPr lvl="1"/>
            <a:r>
              <a:rPr lang="uk-UA" dirty="0"/>
              <a:t>Автоматична перевірка на плагіат!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uk-UA" dirty="0"/>
              <a:t>Не треба посилання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uk-UA" dirty="0"/>
              <a:t>«Відомі речі» - те що вивчали в університеті</a:t>
            </a:r>
          </a:p>
          <a:p>
            <a:pPr lvl="1"/>
            <a:r>
              <a:rPr lang="uk-UA" dirty="0"/>
              <a:t>Мова С++</a:t>
            </a:r>
          </a:p>
          <a:p>
            <a:pPr lvl="1"/>
            <a:r>
              <a:rPr lang="uk-UA" dirty="0"/>
              <a:t>Похідна</a:t>
            </a:r>
          </a:p>
          <a:p>
            <a:pPr lvl="1"/>
            <a:r>
              <a:rPr lang="uk-UA" dirty="0"/>
              <a:t>Хеш таблиця</a:t>
            </a:r>
          </a:p>
          <a:p>
            <a:r>
              <a:rPr lang="uk-UA" dirty="0"/>
              <a:t>Матеріали, які не мають стосунку до теми роботи</a:t>
            </a:r>
            <a:endParaRPr lang="en-US" dirty="0"/>
          </a:p>
          <a:p>
            <a:pPr lvl="1"/>
            <a:r>
              <a:rPr lang="uk-UA" dirty="0"/>
              <a:t>Але їх  мабуть не варто включати до тексту взагалі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43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0630536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Оформлення списків/переліків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uk-UA" dirty="0"/>
              <a:t>Див. </a:t>
            </a:r>
            <a:r>
              <a:rPr lang="uk-UA" altLang="en-US" dirty="0">
                <a:hlinkClick r:id="rId2"/>
              </a:rPr>
              <a:t>Методичні вказівки</a:t>
            </a:r>
            <a:r>
              <a:rPr lang="uk-UA" altLang="en-US" dirty="0"/>
              <a:t>, розділ 3.9, </a:t>
            </a:r>
            <a:r>
              <a:rPr lang="uk-UA" altLang="en-US" dirty="0" err="1"/>
              <a:t>стор</a:t>
            </a:r>
            <a:r>
              <a:rPr lang="uk-UA" altLang="en-US" dirty="0"/>
              <a:t>. 25</a:t>
            </a:r>
          </a:p>
          <a:p>
            <a:r>
              <a:rPr lang="uk-UA" dirty="0"/>
              <a:t>Оформлюються за чіткими правилами, а не як захотілось</a:t>
            </a:r>
          </a:p>
          <a:p>
            <a:r>
              <a:rPr lang="uk-UA" dirty="0"/>
              <a:t>Три різновиди</a:t>
            </a:r>
          </a:p>
          <a:p>
            <a:pPr lvl="1"/>
            <a:r>
              <a:rPr lang="uk-UA" dirty="0"/>
              <a:t>Один рівень, немає посилань на окремі пункти – перелік без номерів, використовуються </a:t>
            </a:r>
            <a:r>
              <a:rPr lang="uk-UA" b="1" dirty="0"/>
              <a:t>тире </a:t>
            </a:r>
            <a:r>
              <a:rPr lang="uk-UA" dirty="0"/>
              <a:t>(а не інші символи)</a:t>
            </a:r>
          </a:p>
          <a:p>
            <a:pPr lvl="1"/>
            <a:r>
              <a:rPr lang="uk-UA" dirty="0"/>
              <a:t>Один рівень, є посилання на окремі пункти – нумерований перелік, літери української абетки</a:t>
            </a:r>
          </a:p>
          <a:p>
            <a:pPr lvl="1"/>
            <a:r>
              <a:rPr lang="uk-UA" dirty="0"/>
              <a:t>Багато рівнів – спершу літери, потім номери, потім тире</a:t>
            </a:r>
          </a:p>
          <a:p>
            <a:r>
              <a:rPr lang="uk-UA" dirty="0"/>
              <a:t>Літери та цифри відділяють дужками</a:t>
            </a:r>
          </a:p>
          <a:p>
            <a:r>
              <a:rPr lang="uk-UA" dirty="0"/>
              <a:t>Перед переліком – двокрапка</a:t>
            </a:r>
          </a:p>
          <a:p>
            <a:r>
              <a:rPr lang="uk-UA" dirty="0"/>
              <a:t>Якщо пункти – слова чи фрази (рекомендовано)</a:t>
            </a:r>
          </a:p>
          <a:p>
            <a:pPr lvl="1"/>
            <a:r>
              <a:rPr lang="uk-UA" dirty="0"/>
              <a:t>Після кожного пункту, окрім останнього (якщо багато рівнів – останнього в усьому переліку) – крапка з комою</a:t>
            </a:r>
          </a:p>
          <a:p>
            <a:pPr lvl="1"/>
            <a:r>
              <a:rPr lang="uk-UA" dirty="0"/>
              <a:t>Після останнього пункту – крапка </a:t>
            </a:r>
          </a:p>
          <a:p>
            <a:pPr lvl="1"/>
            <a:r>
              <a:rPr lang="uk-UA" dirty="0"/>
              <a:t>Пункти починаються з маленької літери</a:t>
            </a:r>
          </a:p>
          <a:p>
            <a:r>
              <a:rPr lang="uk-UA" dirty="0"/>
              <a:t>Якщо пункти – речення (не рекомендовано, хоча явно не заборонено)</a:t>
            </a:r>
          </a:p>
          <a:p>
            <a:pPr lvl="1"/>
            <a:r>
              <a:rPr lang="uk-UA" dirty="0"/>
              <a:t>Мабуть варто як в реченнях – починати з великої літери, завершувати крапкою</a:t>
            </a:r>
          </a:p>
          <a:p>
            <a:r>
              <a:rPr lang="uk-UA" dirty="0"/>
              <a:t>Не варто робити надто довгі пункти (кілька речень, цілі абзаци) – просто оформити такі фрагменти як звичайний текст</a:t>
            </a:r>
          </a:p>
          <a:p>
            <a:pPr lvl="1"/>
            <a:r>
              <a:rPr lang="uk-UA" dirty="0"/>
              <a:t>Можна короткий перелік, а потім звичайними абзацами пояснити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44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4179246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Особливі об’єкти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dirty="0"/>
              <a:t>Зображення (рисунки), таблиці, формули, фрагменти коду</a:t>
            </a:r>
          </a:p>
          <a:p>
            <a:r>
              <a:rPr lang="uk-UA" dirty="0"/>
              <a:t>Різні об’єкти оформлюються по-різному</a:t>
            </a:r>
          </a:p>
          <a:p>
            <a:r>
              <a:rPr lang="uk-UA" dirty="0"/>
              <a:t>Не варто заміняти один об’єкт іншим</a:t>
            </a:r>
          </a:p>
          <a:p>
            <a:pPr lvl="1"/>
            <a:r>
              <a:rPr lang="uk-UA" dirty="0"/>
              <a:t>Формула або код у вигляді рисунку</a:t>
            </a:r>
          </a:p>
          <a:p>
            <a:pPr lvl="1"/>
            <a:r>
              <a:rPr lang="uk-UA" dirty="0"/>
              <a:t>Формула (наприклад, матриця) у вигляді таблиці</a:t>
            </a:r>
          </a:p>
          <a:p>
            <a:r>
              <a:rPr lang="uk-UA" dirty="0"/>
              <a:t>Всі тексти українською мовою!</a:t>
            </a:r>
          </a:p>
          <a:p>
            <a:pPr lvl="1"/>
            <a:r>
              <a:rPr lang="uk-UA" dirty="0"/>
              <a:t>Якщо запозичено з якогось джерела – додати посилання, за необхідності перекласти, можна перемалювати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45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1568707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Рисунки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dirty="0"/>
              <a:t>Використовується термін саме «Рисунок», а не «Малюнок», «Зображення», «Діаграма», «Схема», «Графік» …</a:t>
            </a:r>
          </a:p>
          <a:p>
            <a:pPr lvl="1"/>
            <a:r>
              <a:rPr lang="uk-UA" dirty="0"/>
              <a:t>Можна окремо пояснити в назві: «Рисунок 3.1 – Діаграма класів системи»</a:t>
            </a:r>
          </a:p>
          <a:p>
            <a:r>
              <a:rPr lang="uk-UA" dirty="0"/>
              <a:t>Назва – знизу під зображенням, вирівнювання по центру </a:t>
            </a:r>
          </a:p>
          <a:p>
            <a:pPr lvl="1"/>
            <a:r>
              <a:rPr lang="uk-UA" dirty="0"/>
              <a:t>Не так як у таблицях!</a:t>
            </a:r>
          </a:p>
          <a:p>
            <a:r>
              <a:rPr lang="uk-UA" dirty="0"/>
              <a:t>Обов’язково номер і назва </a:t>
            </a:r>
          </a:p>
          <a:p>
            <a:pPr lvl="1"/>
            <a:r>
              <a:rPr lang="uk-UA" dirty="0"/>
              <a:t>В попередніх версіях дозволяли без назви, але не рекомендовано, і комісія завжди робила зауваження</a:t>
            </a:r>
          </a:p>
          <a:p>
            <a:r>
              <a:rPr lang="uk-UA" dirty="0"/>
              <a:t>Має бути обов’язково посилання з тексту (хоча б одне)</a:t>
            </a:r>
          </a:p>
          <a:p>
            <a:pPr lvl="1"/>
            <a:r>
              <a:rPr lang="uk-UA" dirty="0"/>
              <a:t>«На рис. 3.1 зображено …»</a:t>
            </a:r>
          </a:p>
          <a:p>
            <a:r>
              <a:rPr lang="uk-UA" dirty="0"/>
              <a:t>Рисунок розташовують одразу після абзацу, де вперше на нього посилаються</a:t>
            </a:r>
          </a:p>
          <a:p>
            <a:pPr lvl="1"/>
            <a:r>
              <a:rPr lang="uk-UA" dirty="0"/>
              <a:t>Якщо не вміщається внизу сторінки – з початку наступної сторінки, між ними можуть бути інші абзаци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46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5506203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Графіки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Оформлюються як рисунки</a:t>
            </a:r>
          </a:p>
          <a:p>
            <a:r>
              <a:rPr lang="uk-UA" dirty="0"/>
              <a:t>Обирати правильні (доцільні) типи графіків/діаграм</a:t>
            </a:r>
          </a:p>
          <a:p>
            <a:r>
              <a:rPr lang="uk-UA" dirty="0"/>
              <a:t>Обов’язково підписи під осями</a:t>
            </a:r>
          </a:p>
          <a:p>
            <a:pPr lvl="1"/>
            <a:r>
              <a:rPr lang="uk-UA" dirty="0"/>
              <a:t>Одиниці вимірювання</a:t>
            </a:r>
          </a:p>
          <a:p>
            <a:pPr lvl="1"/>
            <a:r>
              <a:rPr lang="uk-UA" dirty="0"/>
              <a:t>Великі значення – добре чи погано?</a:t>
            </a:r>
          </a:p>
          <a:p>
            <a:r>
              <a:rPr lang="uk-UA" dirty="0"/>
              <a:t>Різні лінії/набори даних можна розрізнити</a:t>
            </a:r>
          </a:p>
          <a:p>
            <a:pPr lvl="1"/>
            <a:r>
              <a:rPr lang="uk-UA" dirty="0"/>
              <a:t>Легенда з назвами</a:t>
            </a:r>
          </a:p>
          <a:p>
            <a:pPr lvl="1"/>
            <a:r>
              <a:rPr lang="uk-UA" dirty="0"/>
              <a:t>Не покладатись лише на кольори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47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1092490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Таблиці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dirty="0"/>
              <a:t>Назва – зверху, вирівняно наліво</a:t>
            </a:r>
          </a:p>
          <a:p>
            <a:pPr lvl="1"/>
            <a:r>
              <a:rPr lang="uk-UA" dirty="0"/>
              <a:t>Не так як рисунки!</a:t>
            </a:r>
          </a:p>
          <a:p>
            <a:r>
              <a:rPr lang="uk-UA" dirty="0"/>
              <a:t>Зрозумілі назви колонок та рядків (якщо треба)</a:t>
            </a:r>
          </a:p>
          <a:p>
            <a:r>
              <a:rPr lang="uk-UA" dirty="0"/>
              <a:t>Наводити одиниці вимірювання!</a:t>
            </a:r>
          </a:p>
          <a:p>
            <a:r>
              <a:rPr lang="uk-UA" dirty="0"/>
              <a:t>Кількість значимих цифр у результатах відповідає точності вимірів</a:t>
            </a:r>
          </a:p>
          <a:p>
            <a:pPr lvl="1"/>
            <a:r>
              <a:rPr lang="uk-UA" dirty="0"/>
              <a:t>Не варто наводити дані в стилі «1,2345678» - якщо не впевнені, що справді результати виміри точні до </a:t>
            </a:r>
            <a:r>
              <a:rPr lang="en-US" dirty="0"/>
              <a:t>1e-7</a:t>
            </a:r>
            <a:endParaRPr lang="uk-UA" dirty="0"/>
          </a:p>
          <a:p>
            <a:r>
              <a:rPr lang="uk-UA" dirty="0"/>
              <a:t>Не зловживати великими обсягами не дуже корисних даних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48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7827692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Формули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Наводяться посередині рядків </a:t>
            </a:r>
          </a:p>
          <a:p>
            <a:pPr lvl="1"/>
            <a:r>
              <a:rPr lang="en-US" dirty="0"/>
              <a:t>Inline</a:t>
            </a:r>
            <a:r>
              <a:rPr lang="uk-UA" dirty="0"/>
              <a:t> (в тексті)</a:t>
            </a:r>
            <a:r>
              <a:rPr lang="en-US" dirty="0"/>
              <a:t> </a:t>
            </a:r>
            <a:r>
              <a:rPr lang="uk-UA" dirty="0"/>
              <a:t>не передбачено</a:t>
            </a:r>
          </a:p>
          <a:p>
            <a:r>
              <a:rPr lang="uk-UA" dirty="0"/>
              <a:t>Формули є частиною речення</a:t>
            </a:r>
          </a:p>
          <a:p>
            <a:pPr lvl="1"/>
            <a:r>
              <a:rPr lang="uk-UA" dirty="0"/>
              <a:t>Після них може ставитись крапка або кома, якщо цього вимагають правила граматики</a:t>
            </a:r>
          </a:p>
          <a:p>
            <a:r>
              <a:rPr lang="uk-UA" dirty="0"/>
              <a:t>Нумеруються лише якщо є посилання на цю формулу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49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5063647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Фрагменти коду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1325"/>
          </a:xfrm>
        </p:spPr>
        <p:txBody>
          <a:bodyPr>
            <a:normAutofit fontScale="70000" lnSpcReduction="20000"/>
          </a:bodyPr>
          <a:lstStyle/>
          <a:p>
            <a:r>
              <a:rPr lang="uk-UA" dirty="0"/>
              <a:t>Правилами не передбачено </a:t>
            </a:r>
            <a:r>
              <a:rPr lang="uk-UA" dirty="0">
                <a:sym typeface="Wingdings" panose="05000000000000000000" pitchFamily="2" charset="2"/>
              </a:rPr>
              <a:t></a:t>
            </a:r>
          </a:p>
          <a:p>
            <a:r>
              <a:rPr lang="uk-UA" dirty="0">
                <a:sym typeface="Wingdings" panose="05000000000000000000" pitchFamily="2" charset="2"/>
              </a:rPr>
              <a:t>Зазвичай використовують </a:t>
            </a:r>
            <a:r>
              <a:rPr lang="uk-UA" dirty="0" err="1">
                <a:sym typeface="Wingdings" panose="05000000000000000000" pitchFamily="2" charset="2"/>
              </a:rPr>
              <a:t>моноширинний</a:t>
            </a:r>
            <a:r>
              <a:rPr lang="uk-UA" dirty="0">
                <a:sym typeface="Wingdings" panose="05000000000000000000" pitchFamily="2" charset="2"/>
              </a:rPr>
              <a:t> шрифт (</a:t>
            </a:r>
            <a:r>
              <a:rPr lang="ru-UA" dirty="0">
                <a:sym typeface="Wingdings" panose="05000000000000000000" pitchFamily="2" charset="2"/>
              </a:rPr>
              <a:t>наприклад, </a:t>
            </a:r>
            <a:r>
              <a:rPr lang="en-US" dirty="0">
                <a:sym typeface="Wingdings" panose="05000000000000000000" pitchFamily="2" charset="2"/>
              </a:rPr>
              <a:t>Courier New)</a:t>
            </a:r>
            <a:endParaRPr lang="uk-UA" dirty="0">
              <a:sym typeface="Wingdings" panose="05000000000000000000" pitchFamily="2" charset="2"/>
            </a:endParaRPr>
          </a:p>
          <a:p>
            <a:pPr lvl="1"/>
            <a:r>
              <a:rPr lang="uk-UA" dirty="0">
                <a:sym typeface="Wingdings" panose="05000000000000000000" pitchFamily="2" charset="2"/>
              </a:rPr>
              <a:t>Можна різні кольори (синтаксис)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Але має залишатись читабельним і в чорно-білій версії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uk-UA" dirty="0">
                <a:sym typeface="Wingdings" panose="05000000000000000000" pitchFamily="2" charset="2"/>
              </a:rPr>
              <a:t>Не варто зловживати надто великими фрагментами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Більше кількох рядків – винести в додатки</a:t>
            </a:r>
          </a:p>
          <a:p>
            <a:r>
              <a:rPr lang="uk-UA" dirty="0">
                <a:sym typeface="Wingdings" panose="05000000000000000000" pitchFamily="2" charset="2"/>
              </a:rPr>
              <a:t>Не варто наводити весь розроблений код (навіть в додатках)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Сучасні програми зазвичай містять досить багато коду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Якщо весь код вмістився в додатках – система надто проста?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Бажано навести посилання на </a:t>
            </a:r>
            <a:r>
              <a:rPr lang="uk-UA" dirty="0" err="1">
                <a:sym typeface="Wingdings" panose="05000000000000000000" pitchFamily="2" charset="2"/>
              </a:rPr>
              <a:t>репозиторій</a:t>
            </a:r>
            <a:r>
              <a:rPr lang="uk-UA" dirty="0">
                <a:sym typeface="Wingdings" panose="05000000000000000000" pitchFamily="2" charset="2"/>
              </a:rPr>
              <a:t> (якщо є така можливість)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В додатках – лише той код, який потрібен для розуміння тексту</a:t>
            </a:r>
          </a:p>
          <a:p>
            <a:r>
              <a:rPr lang="uk-UA" dirty="0">
                <a:sym typeface="Wingdings" panose="05000000000000000000" pitchFamily="2" charset="2"/>
              </a:rPr>
              <a:t>Пояснення до коду обов’язкові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Не варто пояснювати очевидні речі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50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16846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Посилання на використані джерела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В тексті – посилання </a:t>
            </a:r>
            <a:r>
              <a:rPr lang="en-US" dirty="0"/>
              <a:t>[1] [2]</a:t>
            </a:r>
            <a:endParaRPr lang="uk-UA" dirty="0"/>
          </a:p>
          <a:p>
            <a:r>
              <a:rPr lang="uk-UA" dirty="0"/>
              <a:t>Наприкінці – повний бібліографічний опис в «Переліку джерел посилання»</a:t>
            </a:r>
          </a:p>
          <a:p>
            <a:r>
              <a:rPr lang="uk-UA" dirty="0"/>
              <a:t>Всі посилання з переліку згадані хоча б раз в тексті</a:t>
            </a:r>
          </a:p>
          <a:p>
            <a:pPr lvl="1"/>
            <a:r>
              <a:rPr lang="uk-UA" dirty="0"/>
              <a:t>Порядок в переліку = порядок першої згадки в тексті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51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19701908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Вибір джерел для посилання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2256"/>
            <a:ext cx="8229600" cy="5273962"/>
          </a:xfrm>
        </p:spPr>
        <p:txBody>
          <a:bodyPr>
            <a:normAutofit fontScale="62500" lnSpcReduction="20000"/>
          </a:bodyPr>
          <a:lstStyle/>
          <a:p>
            <a:r>
              <a:rPr lang="uk-UA" dirty="0"/>
              <a:t>Не зловживати електронними джерелами</a:t>
            </a:r>
          </a:p>
          <a:p>
            <a:pPr lvl="1"/>
            <a:r>
              <a:rPr lang="uk-UA" dirty="0"/>
              <a:t>Шукати книги та наукові публікації</a:t>
            </a:r>
          </a:p>
          <a:p>
            <a:pPr lvl="1"/>
            <a:r>
              <a:rPr lang="en-US" dirty="0"/>
              <a:t>Google Scholar </a:t>
            </a:r>
            <a:r>
              <a:rPr lang="en-US" dirty="0">
                <a:hlinkClick r:id="rId2"/>
              </a:rPr>
              <a:t>https://scholar.google.com/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Amazon, Google Books, </a:t>
            </a:r>
            <a:r>
              <a:rPr lang="uk-UA" dirty="0"/>
              <a:t>просто пошук за запитом </a:t>
            </a:r>
            <a:r>
              <a:rPr lang="en-US" dirty="0"/>
              <a:t>&lt;topic&gt; books</a:t>
            </a:r>
          </a:p>
          <a:p>
            <a:pPr lvl="1"/>
            <a:r>
              <a:rPr lang="uk-UA" dirty="0"/>
              <a:t>Робити повне бібліографічне посилання, а не лише </a:t>
            </a:r>
            <a:r>
              <a:rPr lang="en-US" dirty="0"/>
              <a:t>URL</a:t>
            </a:r>
            <a:endParaRPr lang="uk-UA" dirty="0"/>
          </a:p>
          <a:p>
            <a:pPr lvl="1"/>
            <a:r>
              <a:rPr lang="uk-UA" dirty="0"/>
              <a:t>Дуже НЕ ВАРТО посилання на піратські версії книг </a:t>
            </a:r>
            <a:r>
              <a:rPr lang="uk-UA" dirty="0">
                <a:sym typeface="Wingdings" panose="05000000000000000000" pitchFamily="2" charset="2"/>
              </a:rPr>
              <a:t></a:t>
            </a:r>
            <a:endParaRPr lang="uk-UA" dirty="0"/>
          </a:p>
          <a:p>
            <a:r>
              <a:rPr lang="uk-UA" dirty="0"/>
              <a:t>Не робити посилання на </a:t>
            </a:r>
            <a:r>
              <a:rPr lang="uk-UA" dirty="0" err="1"/>
              <a:t>вікіпедію</a:t>
            </a:r>
            <a:endParaRPr lang="uk-UA" dirty="0"/>
          </a:p>
          <a:p>
            <a:pPr lvl="1"/>
            <a:r>
              <a:rPr lang="uk-UA" dirty="0"/>
              <a:t>Посилатись слід на першоджерела, а не на вторинні джерела, витяги, енциклопедії, …</a:t>
            </a:r>
          </a:p>
          <a:p>
            <a:pPr lvl="1"/>
            <a:r>
              <a:rPr lang="uk-UA" dirty="0"/>
              <a:t>Статті на </a:t>
            </a:r>
            <a:r>
              <a:rPr lang="uk-UA" dirty="0" err="1"/>
              <a:t>вікіпедії</a:t>
            </a:r>
            <a:r>
              <a:rPr lang="uk-UA" dirty="0"/>
              <a:t> швидко змінюються</a:t>
            </a:r>
          </a:p>
          <a:p>
            <a:pPr lvl="1"/>
            <a:r>
              <a:rPr lang="uk-UA" dirty="0"/>
              <a:t>Ніхто не гарантує точність/якість інформації</a:t>
            </a:r>
          </a:p>
          <a:p>
            <a:pPr lvl="1"/>
            <a:r>
              <a:rPr lang="uk-UA" dirty="0"/>
              <a:t>Зазвичай у статті на вікіпедії є посилання на першоджерела – варто вставити саме їх</a:t>
            </a:r>
          </a:p>
          <a:p>
            <a:r>
              <a:rPr lang="uk-UA" dirty="0"/>
              <a:t>Не варто посилання на </a:t>
            </a:r>
            <a:r>
              <a:rPr lang="uk-UA" dirty="0" err="1"/>
              <a:t>туторіали</a:t>
            </a:r>
            <a:r>
              <a:rPr lang="uk-UA" dirty="0"/>
              <a:t> – знайти більш інформативні, детальні та «серйозні» джерела</a:t>
            </a:r>
          </a:p>
          <a:p>
            <a:pPr lvl="1"/>
            <a:r>
              <a:rPr lang="uk-UA" dirty="0"/>
              <a:t>Можна лише якщо мова іде про те, що вказано саме в цьому </a:t>
            </a:r>
            <a:r>
              <a:rPr lang="uk-UA" dirty="0" err="1"/>
              <a:t>туторіалі</a:t>
            </a:r>
            <a:r>
              <a:rPr lang="uk-UA" dirty="0"/>
              <a:t> – наприклад, робота коментує що в </a:t>
            </a:r>
            <a:r>
              <a:rPr lang="uk-UA" dirty="0" err="1"/>
              <a:t>туторіалі</a:t>
            </a:r>
            <a:r>
              <a:rPr lang="uk-UA" dirty="0"/>
              <a:t> вказано застарілу інформацію і це по суті важливо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52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6321207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Види (корисних) посилань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uk-UA" dirty="0"/>
              <a:t>Загальні теми – книги, підручники (небажано електронні джерела, зовсім не бажано </a:t>
            </a:r>
            <a:r>
              <a:rPr lang="uk-UA" dirty="0" err="1"/>
              <a:t>вікіпедія</a:t>
            </a:r>
            <a:r>
              <a:rPr lang="uk-UA" dirty="0"/>
              <a:t> чи аналоги)</a:t>
            </a:r>
          </a:p>
          <a:p>
            <a:r>
              <a:rPr lang="uk-UA" dirty="0"/>
              <a:t>Наукові дослідження – наукові монографії, статті в наукових журналах, тези конференцій, </a:t>
            </a:r>
            <a:r>
              <a:rPr lang="uk-UA" dirty="0" err="1"/>
              <a:t>препрінти</a:t>
            </a:r>
            <a:r>
              <a:rPr lang="uk-UA" dirty="0"/>
              <a:t> (</a:t>
            </a:r>
            <a:r>
              <a:rPr lang="en-US" dirty="0">
                <a:hlinkClick r:id="rId2"/>
              </a:rPr>
              <a:t>https://arxiv.org/</a:t>
            </a:r>
            <a:r>
              <a:rPr lang="ru-UA" dirty="0"/>
              <a:t> </a:t>
            </a:r>
            <a:r>
              <a:rPr lang="uk-UA" dirty="0"/>
              <a:t>–</a:t>
            </a:r>
            <a:r>
              <a:rPr lang="ru-UA" dirty="0"/>
              <a:t> менш бажано)</a:t>
            </a:r>
          </a:p>
          <a:p>
            <a:r>
              <a:rPr lang="uk-UA" dirty="0"/>
              <a:t>Технології (мови програмування, бібліотеки/</a:t>
            </a:r>
            <a:r>
              <a:rPr lang="uk-UA" dirty="0" err="1"/>
              <a:t>фреймворки</a:t>
            </a:r>
            <a:r>
              <a:rPr lang="uk-UA" dirty="0"/>
              <a:t>, протоколи, …) – офіційна документація (зазвичай в електронному вигляді), книги</a:t>
            </a:r>
          </a:p>
          <a:p>
            <a:r>
              <a:rPr lang="uk-UA" dirty="0"/>
              <a:t>Продукти (аналоги) – офіційні сторінки</a:t>
            </a:r>
          </a:p>
          <a:p>
            <a:r>
              <a:rPr lang="uk-UA" dirty="0"/>
              <a:t>Інші види електронних джерел (</a:t>
            </a:r>
            <a:r>
              <a:rPr lang="uk-UA" dirty="0" err="1"/>
              <a:t>туторіали</a:t>
            </a:r>
            <a:r>
              <a:rPr lang="uk-UA" dirty="0"/>
              <a:t>, блог пости, відео, сайти питань-відповідей, …) – тільки якщо вони містять якусь ключову інформацію, якої немає в інших джерелах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53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41609753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Джерела «за царя Гороха»?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uk-UA" dirty="0"/>
              <a:t>У більшості джерел бажано вказувати рік публікації (можна точніше – місяць, точну дату, якщо відомо)</a:t>
            </a:r>
          </a:p>
          <a:p>
            <a:pPr lvl="1"/>
            <a:r>
              <a:rPr lang="uk-UA" dirty="0"/>
              <a:t>В електронних джерелах часто вказують дату доступу до сайту – але якщо відома дата публікації, теж варто вказати</a:t>
            </a:r>
          </a:p>
          <a:p>
            <a:r>
              <a:rPr lang="uk-UA" dirty="0"/>
              <a:t>Рекомендовано серед переліку джерел посилань мати відносно недавні</a:t>
            </a:r>
          </a:p>
          <a:p>
            <a:pPr lvl="1"/>
            <a:r>
              <a:rPr lang="uk-UA" dirty="0"/>
              <a:t>Наукові публікації – останній рік-два</a:t>
            </a:r>
          </a:p>
          <a:p>
            <a:pPr lvl="1"/>
            <a:r>
              <a:rPr lang="uk-UA" dirty="0"/>
              <a:t>Книги – останні 5 років (приблизно)</a:t>
            </a:r>
          </a:p>
          <a:p>
            <a:pPr lvl="1"/>
            <a:r>
              <a:rPr lang="uk-UA" dirty="0"/>
              <a:t>В деяких галузях зміни швидше (наприклад, машинне навчання/ «штучний інтелект», </a:t>
            </a:r>
            <a:r>
              <a:rPr lang="en-US" dirty="0"/>
              <a:t>web frontend, </a:t>
            </a:r>
            <a:r>
              <a:rPr lang="en-US" dirty="0" err="1"/>
              <a:t>blockchain</a:t>
            </a:r>
            <a:r>
              <a:rPr lang="en-US" dirty="0"/>
              <a:t>, …) – </a:t>
            </a:r>
            <a:r>
              <a:rPr lang="uk-UA" dirty="0"/>
              <a:t>відповідно посилання мають бути новішими</a:t>
            </a:r>
          </a:p>
          <a:p>
            <a:r>
              <a:rPr lang="uk-UA" dirty="0"/>
              <a:t>Не всі джерела обов’язково мають бути новими</a:t>
            </a:r>
          </a:p>
          <a:p>
            <a:pPr lvl="1"/>
            <a:r>
              <a:rPr lang="uk-UA" dirty="0"/>
              <a:t>Класичні книги без нових видань (наприклад </a:t>
            </a:r>
            <a:r>
              <a:rPr lang="en-US" dirty="0" err="1"/>
              <a:t>GoF</a:t>
            </a:r>
            <a:r>
              <a:rPr lang="en-US" dirty="0"/>
              <a:t> </a:t>
            </a:r>
            <a:r>
              <a:rPr lang="uk-UA" dirty="0"/>
              <a:t>1995 року)</a:t>
            </a:r>
          </a:p>
          <a:p>
            <a:pPr lvl="1"/>
            <a:r>
              <a:rPr lang="uk-UA" dirty="0"/>
              <a:t>Стабільні технології (</a:t>
            </a:r>
            <a:r>
              <a:rPr lang="en-US" dirty="0"/>
              <a:t>IPv4 – RFC 791, 1981 </a:t>
            </a:r>
            <a:r>
              <a:rPr lang="uk-UA" dirty="0"/>
              <a:t>року)</a:t>
            </a:r>
          </a:p>
          <a:p>
            <a:pPr lvl="1"/>
            <a:r>
              <a:rPr lang="uk-UA" dirty="0"/>
              <a:t>Перша публікація щодо якоїсь теми (хоча в багатьох випадках можливо краще буде послатись на більш сучасні публікації </a:t>
            </a:r>
            <a:r>
              <a:rPr lang="uk-UA"/>
              <a:t>чи книги/підручники)</a:t>
            </a:r>
            <a:endParaRPr lang="uk-UA" dirty="0"/>
          </a:p>
          <a:p>
            <a:pPr lvl="1"/>
            <a:r>
              <a:rPr lang="uk-UA" dirty="0"/>
              <a:t>Але дуже не бажано, щоб суттєвий відсоток посилань були дуже давніми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54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39920434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Кількість посилань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Немає чітких обмежень, але є певні очікування</a:t>
            </a:r>
          </a:p>
          <a:p>
            <a:r>
              <a:rPr lang="uk-UA" dirty="0" err="1"/>
              <a:t>Пропорційно</a:t>
            </a:r>
            <a:r>
              <a:rPr lang="uk-UA" dirty="0"/>
              <a:t> обсягу роботи (менше для курсових, більше для дипломів бакалаврів, ще більше для дипломів магістрів)</a:t>
            </a:r>
          </a:p>
          <a:p>
            <a:r>
              <a:rPr lang="uk-UA" dirty="0"/>
              <a:t>Менше 10 – мабуть, замало</a:t>
            </a:r>
          </a:p>
          <a:p>
            <a:r>
              <a:rPr lang="uk-UA" dirty="0"/>
              <a:t>Більше 50? – може бути забагато</a:t>
            </a:r>
          </a:p>
          <a:p>
            <a:pPr lvl="1"/>
            <a:r>
              <a:rPr lang="uk-UA" dirty="0"/>
              <a:t>Привід уважно подивитись перелік, знайти там щось неправильне чи недоцільне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55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1153159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Оформлення переліку джерел посилання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dirty="0"/>
              <a:t>Чіткі правила</a:t>
            </a:r>
          </a:p>
          <a:p>
            <a:pPr lvl="1"/>
            <a:r>
              <a:rPr lang="uk-UA" dirty="0"/>
              <a:t>ДСТУ 8302:2015</a:t>
            </a:r>
          </a:p>
          <a:p>
            <a:pPr lvl="1"/>
            <a:r>
              <a:rPr lang="uk-UA" dirty="0"/>
              <a:t>В попередніх версіях рекомендували інший стандарт - ДСТУ ГОСТ 7.1:2006; вони пов’язані, але не однакові – треба дотримуватись сучасного!</a:t>
            </a:r>
          </a:p>
          <a:p>
            <a:r>
              <a:rPr lang="uk-UA" dirty="0"/>
              <a:t>Правил багато і вони складні</a:t>
            </a:r>
          </a:p>
          <a:p>
            <a:pPr lvl="1"/>
            <a:r>
              <a:rPr lang="uk-UA" dirty="0"/>
              <a:t>Залежить від типу джерела</a:t>
            </a:r>
          </a:p>
          <a:p>
            <a:pPr lvl="1"/>
            <a:r>
              <a:rPr lang="uk-UA" dirty="0"/>
              <a:t>Багато даних</a:t>
            </a:r>
          </a:p>
          <a:p>
            <a:r>
              <a:rPr lang="uk-UA" dirty="0"/>
              <a:t>Деякі сайти для спрощення створення таких записів</a:t>
            </a:r>
          </a:p>
          <a:p>
            <a:pPr lvl="1"/>
            <a:r>
              <a:rPr lang="uk-UA" dirty="0"/>
              <a:t>Наприклад, </a:t>
            </a:r>
            <a:r>
              <a:rPr lang="en-US" dirty="0">
                <a:hlinkClick r:id="rId2"/>
              </a:rPr>
              <a:t>https://vak.in.ua/</a:t>
            </a:r>
            <a:r>
              <a:rPr lang="uk-UA" dirty="0"/>
              <a:t> </a:t>
            </a:r>
          </a:p>
          <a:p>
            <a:pPr lvl="1"/>
            <a:r>
              <a:rPr lang="uk-UA" dirty="0"/>
              <a:t>Хоча окремі моменти можуть не відповідати стандарту</a:t>
            </a:r>
          </a:p>
          <a:p>
            <a:r>
              <a:rPr lang="uk-UA" dirty="0"/>
              <a:t>Якщо немає дуже помітних помилок, то дрібні невідповідності правилам можуть і пропустити</a:t>
            </a:r>
          </a:p>
          <a:p>
            <a:pPr lvl="1"/>
            <a:r>
              <a:rPr lang="uk-UA" dirty="0"/>
              <a:t>А можуть не пропустити…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56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473252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Порядок джерел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dirty="0"/>
              <a:t>Джерела в переліку в порядку першого використання в тексті</a:t>
            </a:r>
          </a:p>
          <a:p>
            <a:pPr lvl="1"/>
            <a:r>
              <a:rPr lang="uk-UA" dirty="0"/>
              <a:t>Можуть бути інші посилання, які не впливають на порядок</a:t>
            </a:r>
          </a:p>
          <a:p>
            <a:pPr lvl="1"/>
            <a:r>
              <a:rPr lang="uk-UA" dirty="0"/>
              <a:t>На усі джерела хоча б одне посилання!</a:t>
            </a:r>
          </a:p>
          <a:p>
            <a:r>
              <a:rPr lang="uk-UA" dirty="0"/>
              <a:t>Приклади </a:t>
            </a:r>
          </a:p>
          <a:p>
            <a:pPr lvl="1"/>
            <a:r>
              <a:rPr lang="en-US" dirty="0"/>
              <a:t>[1] [2] [3]</a:t>
            </a:r>
            <a:r>
              <a:rPr lang="uk-UA" dirty="0"/>
              <a:t> – правильно</a:t>
            </a:r>
          </a:p>
          <a:p>
            <a:pPr lvl="1"/>
            <a:r>
              <a:rPr lang="en-US" dirty="0"/>
              <a:t>[1] [2]</a:t>
            </a:r>
            <a:r>
              <a:rPr lang="uk-UA" dirty="0"/>
              <a:t> </a:t>
            </a:r>
            <a:r>
              <a:rPr lang="en-US" dirty="0"/>
              <a:t>[1] [3] [2] </a:t>
            </a:r>
            <a:r>
              <a:rPr lang="uk-UA" dirty="0"/>
              <a:t>– правильно</a:t>
            </a:r>
            <a:r>
              <a:rPr lang="en-US" dirty="0"/>
              <a:t> (</a:t>
            </a:r>
            <a:r>
              <a:rPr lang="uk-UA" dirty="0"/>
              <a:t>лише перше посилання впливає на порядок, інші в довільному порядку)</a:t>
            </a:r>
          </a:p>
          <a:p>
            <a:pPr lvl="1"/>
            <a:r>
              <a:rPr lang="en-US" dirty="0"/>
              <a:t>[3] [2] [1] – </a:t>
            </a:r>
            <a:r>
              <a:rPr lang="uk-UA" dirty="0"/>
              <a:t>неправильно, порядок має бути за першим посиланням</a:t>
            </a:r>
          </a:p>
          <a:p>
            <a:pPr lvl="1"/>
            <a:r>
              <a:rPr lang="en-US" dirty="0"/>
              <a:t>[1] [3] – </a:t>
            </a:r>
            <a:r>
              <a:rPr lang="uk-UA" dirty="0"/>
              <a:t>неправильно, відсутнє посилання на </a:t>
            </a:r>
            <a:r>
              <a:rPr lang="en-US" dirty="0"/>
              <a:t>[2] </a:t>
            </a:r>
            <a:endParaRPr lang="uk-UA" dirty="0"/>
          </a:p>
          <a:p>
            <a:r>
              <a:rPr lang="uk-UA" dirty="0"/>
              <a:t>Ускладнює вставку додаткових посилань, особливо на початку</a:t>
            </a:r>
          </a:p>
          <a:p>
            <a:pPr lvl="1"/>
            <a:r>
              <a:rPr lang="uk-UA" dirty="0"/>
              <a:t>Варто одразу подумати, які посилання потрібні</a:t>
            </a:r>
          </a:p>
          <a:p>
            <a:pPr lvl="1"/>
            <a:r>
              <a:rPr lang="uk-UA" dirty="0"/>
              <a:t>Можна спершу використати іншу схему іменування і потім замінити</a:t>
            </a:r>
          </a:p>
          <a:p>
            <a:pPr lvl="1"/>
            <a:r>
              <a:rPr lang="uk-UA" dirty="0"/>
              <a:t>Можна використати автоматичні засоби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57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7896288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Посилання – більш складні варіанти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uk-UA" dirty="0"/>
              <a:t>Посилання одразу на декілька джерел </a:t>
            </a:r>
            <a:r>
              <a:rPr lang="en-US" dirty="0"/>
              <a:t>[2; 5]</a:t>
            </a:r>
            <a:endParaRPr lang="uk-UA" dirty="0"/>
          </a:p>
          <a:p>
            <a:r>
              <a:rPr lang="uk-UA" dirty="0"/>
              <a:t>Посилання на діапазон джерел </a:t>
            </a:r>
            <a:r>
              <a:rPr lang="en-US" dirty="0"/>
              <a:t>[2 – 5] </a:t>
            </a:r>
            <a:endParaRPr lang="uk-UA" dirty="0"/>
          </a:p>
          <a:p>
            <a:pPr lvl="1"/>
            <a:r>
              <a:rPr lang="uk-UA" dirty="0"/>
              <a:t>Лише якщо всі джерела діапазону мають сенс в цьому місці!</a:t>
            </a:r>
          </a:p>
          <a:p>
            <a:r>
              <a:rPr lang="uk-UA" dirty="0"/>
              <a:t>Не зловживати</a:t>
            </a:r>
            <a:r>
              <a:rPr lang="en-US" dirty="0"/>
              <a:t> </a:t>
            </a:r>
            <a:r>
              <a:rPr lang="uk-UA" dirty="0"/>
              <a:t>забагато посилань одразу</a:t>
            </a:r>
          </a:p>
          <a:p>
            <a:pPr lvl="1"/>
            <a:r>
              <a:rPr lang="uk-UA" dirty="0"/>
              <a:t>Не варто: «в роботах </a:t>
            </a:r>
            <a:r>
              <a:rPr lang="en-US" dirty="0"/>
              <a:t>[3 – 10] </a:t>
            </a:r>
            <a:r>
              <a:rPr lang="uk-UA" dirty="0"/>
              <a:t>описано аналогічні застосунки»</a:t>
            </a:r>
          </a:p>
          <a:p>
            <a:pPr lvl="1"/>
            <a:r>
              <a:rPr lang="uk-UA" dirty="0"/>
              <a:t>Краще: «в роботі </a:t>
            </a:r>
            <a:r>
              <a:rPr lang="en-US" dirty="0"/>
              <a:t>[3] </a:t>
            </a:r>
            <a:r>
              <a:rPr lang="uk-UA" dirty="0"/>
              <a:t>описано застосунок </a:t>
            </a:r>
            <a:r>
              <a:rPr lang="en-US" dirty="0"/>
              <a:t>App1, </a:t>
            </a:r>
            <a:r>
              <a:rPr lang="uk-UA" dirty="0"/>
              <a:t>який відрізняється … В роботах </a:t>
            </a:r>
            <a:r>
              <a:rPr lang="en-US" dirty="0"/>
              <a:t>[4; 5] </a:t>
            </a:r>
            <a:r>
              <a:rPr lang="uk-UA" dirty="0"/>
              <a:t>вирішено цю проблему, натомість …»</a:t>
            </a:r>
          </a:p>
          <a:p>
            <a:r>
              <a:rPr lang="uk-UA" dirty="0"/>
              <a:t>Посилання на частину роботи </a:t>
            </a:r>
            <a:r>
              <a:rPr lang="en-US" dirty="0"/>
              <a:t>[7, c. 123]</a:t>
            </a:r>
          </a:p>
          <a:p>
            <a:pPr lvl="1"/>
            <a:r>
              <a:rPr lang="uk-UA" dirty="0"/>
              <a:t>Неправильно робити дві частини однієї роботи двома різними джерелами!</a:t>
            </a:r>
          </a:p>
          <a:p>
            <a:r>
              <a:rPr lang="uk-UA" dirty="0"/>
              <a:t>Можна поєднувати [3 с. 124; 4 с. 211; 5 с. 5 – 10]</a:t>
            </a:r>
          </a:p>
          <a:p>
            <a:pPr lvl="1"/>
            <a:r>
              <a:rPr lang="uk-UA" dirty="0"/>
              <a:t>Не зловживати!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58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2148719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Спеціальні елементи структури курсової/дипломної роботи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59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0341894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Оформлення спеціальних елементів структури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uk-UA" dirty="0"/>
              <a:t>Титульна сторінка, реферат, зміст, перелік скорочень, вступ, висновки</a:t>
            </a:r>
          </a:p>
          <a:p>
            <a:r>
              <a:rPr lang="uk-UA" dirty="0"/>
              <a:t>Більшість з них на початку тексту</a:t>
            </a:r>
          </a:p>
          <a:p>
            <a:pPr lvl="1"/>
            <a:r>
              <a:rPr lang="uk-UA" dirty="0"/>
              <a:t>Але оформлювати варто наприкінці роботи над текстом – щоб не перероблювати</a:t>
            </a:r>
          </a:p>
          <a:p>
            <a:pPr lvl="1"/>
            <a:r>
              <a:rPr lang="uk-UA" dirty="0"/>
              <a:t>Можна зробити заготовку у вільній формі на початку роботи, а потім оформити відповідно до вимог</a:t>
            </a:r>
          </a:p>
          <a:p>
            <a:pPr lvl="1"/>
            <a:r>
              <a:rPr lang="uk-UA" dirty="0"/>
              <a:t>Якщо щось змінилось – не забути виправити (наприклад, кількість сторінок чи інших елементів в рефераті)</a:t>
            </a:r>
          </a:p>
          <a:p>
            <a:r>
              <a:rPr lang="uk-UA" dirty="0"/>
              <a:t>Відносно мало тексту, але всі слова важливі</a:t>
            </a:r>
          </a:p>
          <a:p>
            <a:pPr lvl="1"/>
            <a:r>
              <a:rPr lang="uk-UA" dirty="0"/>
              <a:t>Ці частини дивляться в першу чергу</a:t>
            </a:r>
          </a:p>
          <a:p>
            <a:pPr lvl="1"/>
            <a:r>
              <a:rPr lang="uk-UA" dirty="0"/>
              <a:t>Варто виділити досить часу на написання та покращення (а не </a:t>
            </a:r>
            <a:r>
              <a:rPr lang="uk-UA" dirty="0" err="1"/>
              <a:t>пропорційно</a:t>
            </a:r>
            <a:r>
              <a:rPr lang="uk-UA" dirty="0"/>
              <a:t> обсягу)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60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1497571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Принцип </a:t>
            </a:r>
            <a:r>
              <a:rPr lang="en-US" dirty="0"/>
              <a:t>DRY? </a:t>
            </a:r>
            <a:r>
              <a:rPr lang="uk-UA" dirty="0"/>
              <a:t>Не чули…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Багато елементів повторюється кілька разів – реферат, вступ, основна частина, висновки</a:t>
            </a:r>
          </a:p>
          <a:p>
            <a:pPr lvl="1"/>
            <a:r>
              <a:rPr lang="uk-UA" dirty="0"/>
              <a:t>Об’єкт</a:t>
            </a:r>
          </a:p>
          <a:p>
            <a:pPr lvl="1"/>
            <a:r>
              <a:rPr lang="uk-UA" dirty="0"/>
              <a:t>Мета та завдання</a:t>
            </a:r>
          </a:p>
          <a:p>
            <a:pPr lvl="1"/>
            <a:r>
              <a:rPr lang="uk-UA" dirty="0"/>
              <a:t>Результати</a:t>
            </a:r>
          </a:p>
          <a:p>
            <a:r>
              <a:rPr lang="uk-UA" dirty="0"/>
              <a:t>Треба писати всюди – бо такі вимоги</a:t>
            </a:r>
          </a:p>
          <a:p>
            <a:pPr lvl="1"/>
            <a:r>
              <a:rPr lang="uk-UA" dirty="0"/>
              <a:t>Тому варто писати наприкінці, коли менше шансів, що воно зміниться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61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6736465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Титульна сторінка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Все чітко за зразком (кожен символ важливий)</a:t>
            </a:r>
          </a:p>
          <a:p>
            <a:r>
              <a:rPr lang="uk-UA" dirty="0"/>
              <a:t>На одній сторінці!</a:t>
            </a:r>
          </a:p>
          <a:p>
            <a:r>
              <a:rPr lang="uk-UA" dirty="0"/>
              <a:t>Перевірити рік (в кількох місцях), назву роботи, спеціальність, </a:t>
            </a:r>
            <a:r>
              <a:rPr lang="uk-UA"/>
              <a:t>освітню програму, </a:t>
            </a:r>
            <a:r>
              <a:rPr lang="uk-UA" dirty="0"/>
              <a:t>назву кафедри, посаду керівника, …</a:t>
            </a:r>
          </a:p>
          <a:p>
            <a:r>
              <a:rPr lang="uk-UA" dirty="0"/>
              <a:t>Номер сторінки не ставиться, але наступна сторінка починається з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62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6114081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Про формат імен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Часто міняється</a:t>
            </a:r>
          </a:p>
          <a:p>
            <a:r>
              <a:rPr lang="uk-UA" dirty="0"/>
              <a:t>(начебто) останні вимоги</a:t>
            </a:r>
          </a:p>
          <a:p>
            <a:pPr lvl="1"/>
            <a:r>
              <a:rPr lang="uk-UA" dirty="0"/>
              <a:t>На титульній сторінці для студента та керівника, в заголовку відгука та рецензії для студента «Прізвище Ім’я </a:t>
            </a:r>
            <a:r>
              <a:rPr lang="uk-UA" dirty="0" err="1"/>
              <a:t>Побатькові</a:t>
            </a:r>
            <a:r>
              <a:rPr lang="uk-UA" dirty="0"/>
              <a:t>» (Антоненко Богдан Вікторович)</a:t>
            </a:r>
          </a:p>
          <a:p>
            <a:pPr lvl="1"/>
            <a:r>
              <a:rPr lang="uk-UA" dirty="0"/>
              <a:t>В більшості інших місць «Ім’я ПРІЗВИЩЕ» (Богдан АНТОНЕНКО)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63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2316500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Формулювання теми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uk-UA" dirty="0"/>
              <a:t>Досить чітке і детальне</a:t>
            </a:r>
          </a:p>
          <a:p>
            <a:pPr lvl="1"/>
            <a:r>
              <a:rPr lang="uk-UA" dirty="0"/>
              <a:t>Яка задача вирішується</a:t>
            </a:r>
          </a:p>
          <a:p>
            <a:pPr lvl="1"/>
            <a:r>
              <a:rPr lang="uk-UA" dirty="0"/>
              <a:t>Що відрізняє від аналогів</a:t>
            </a:r>
          </a:p>
          <a:p>
            <a:r>
              <a:rPr lang="uk-UA" dirty="0"/>
              <a:t>Має відповідати суті виконаної роботи</a:t>
            </a:r>
          </a:p>
          <a:p>
            <a:r>
              <a:rPr lang="uk-UA" dirty="0"/>
              <a:t>Не варто виносити дрібні деталі у формулювання теми</a:t>
            </a:r>
          </a:p>
          <a:p>
            <a:pPr lvl="1"/>
            <a:r>
              <a:rPr lang="uk-UA" dirty="0"/>
              <a:t>Особливо якщо ще не впевнені, що буде саме так</a:t>
            </a:r>
          </a:p>
          <a:p>
            <a:r>
              <a:rPr lang="uk-UA" dirty="0"/>
              <a:t>Щодо остаточного формулювання – порадитись з керівником!</a:t>
            </a:r>
          </a:p>
          <a:p>
            <a:r>
              <a:rPr lang="uk-UA" dirty="0"/>
              <a:t>Під час оформлення – перевірити, що всюди однаково!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64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7206224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Невизначеність – чи починати назву зі слова «Розробка»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dirty="0"/>
              <a:t>«Розробка застосунку для пошуку покемонів» чи «Застосунок пошуку покемонів»?</a:t>
            </a:r>
          </a:p>
          <a:p>
            <a:r>
              <a:rPr lang="uk-UA" dirty="0"/>
              <a:t>Формальних вимог немає</a:t>
            </a:r>
          </a:p>
          <a:p>
            <a:pPr lvl="1"/>
            <a:r>
              <a:rPr lang="uk-UA" dirty="0"/>
              <a:t>На відміну від деяких інших університетів, де використання «Розробка» офіційно заборонено</a:t>
            </a:r>
          </a:p>
          <a:p>
            <a:pPr lvl="1"/>
            <a:r>
              <a:rPr lang="uk-UA" dirty="0"/>
              <a:t>Викладач з такого університету може бути в комісії</a:t>
            </a:r>
          </a:p>
          <a:p>
            <a:pPr lvl="1"/>
            <a:r>
              <a:rPr lang="uk-UA" dirty="0"/>
              <a:t>На кафедрі ІПС теми можуть бути не лише «Розробка», а й «Дослідження»</a:t>
            </a:r>
          </a:p>
          <a:p>
            <a:r>
              <a:rPr lang="uk-UA" dirty="0"/>
              <a:t>Проте можна і не включати</a:t>
            </a:r>
          </a:p>
          <a:p>
            <a:pPr lvl="1"/>
            <a:r>
              <a:rPr lang="uk-UA" dirty="0"/>
              <a:t>Лише якщо «Розробка», якщо «Дослідження», «Порівняння» тощо – краще включити</a:t>
            </a:r>
          </a:p>
          <a:p>
            <a:pPr lvl="1"/>
            <a:r>
              <a:rPr lang="uk-UA" dirty="0"/>
              <a:t>Назва буде коротша</a:t>
            </a:r>
          </a:p>
          <a:p>
            <a:pPr lvl="1"/>
            <a:r>
              <a:rPr lang="uk-UA" dirty="0"/>
              <a:t>Не буде зауважень від тих, хто звик до назв без «Розробка»</a:t>
            </a:r>
          </a:p>
          <a:p>
            <a:pPr lvl="1"/>
            <a:r>
              <a:rPr lang="uk-UA" dirty="0"/>
              <a:t>Але можуть бути зауваження від тих, хто звик до назв з «Розробка»</a:t>
            </a:r>
          </a:p>
          <a:p>
            <a:pPr lvl="1"/>
            <a:r>
              <a:rPr lang="uk-UA" dirty="0"/>
              <a:t>Всім одразу не сподобаєшся </a:t>
            </a:r>
            <a:r>
              <a:rPr lang="uk-UA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65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4317010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Реферат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uk-UA" dirty="0"/>
              <a:t>Короткий опис на 1 сторінку (дозволяється на 2, але особливо для курсових так не варто)</a:t>
            </a:r>
          </a:p>
          <a:p>
            <a:r>
              <a:rPr lang="uk-UA" dirty="0"/>
              <a:t>Строго за схемою</a:t>
            </a:r>
          </a:p>
          <a:p>
            <a:r>
              <a:rPr lang="uk-UA" dirty="0"/>
              <a:t>Обсяг – перевірити за останньою версією</a:t>
            </a:r>
          </a:p>
          <a:p>
            <a:r>
              <a:rPr lang="uk-UA" dirty="0"/>
              <a:t>Ключові слова </a:t>
            </a:r>
          </a:p>
          <a:p>
            <a:r>
              <a:rPr lang="uk-UA" dirty="0"/>
              <a:t>Об’єкт роботи</a:t>
            </a:r>
          </a:p>
          <a:p>
            <a:r>
              <a:rPr lang="uk-UA" dirty="0"/>
              <a:t>Мета роботи</a:t>
            </a:r>
          </a:p>
          <a:p>
            <a:r>
              <a:rPr lang="uk-UA" dirty="0"/>
              <a:t>Методи, інструментальні засоби</a:t>
            </a:r>
          </a:p>
          <a:p>
            <a:r>
              <a:rPr lang="uk-UA" dirty="0"/>
              <a:t>Результати</a:t>
            </a:r>
          </a:p>
          <a:p>
            <a:r>
              <a:rPr lang="uk-UA" dirty="0"/>
              <a:t>Впровадження, зв’язок з іншими роботами, сфера застосування, рекомендації щодо подальшого розвитку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66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6069963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Ключові слова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Зазвичай основні моменти, що відрізняють від інших схожих робіт</a:t>
            </a:r>
          </a:p>
          <a:p>
            <a:pPr lvl="1"/>
            <a:r>
              <a:rPr lang="uk-UA" dirty="0"/>
              <a:t>Галузь</a:t>
            </a:r>
          </a:p>
          <a:p>
            <a:pPr lvl="1"/>
            <a:r>
              <a:rPr lang="uk-UA" dirty="0"/>
              <a:t>Ключові технології та/або підходи</a:t>
            </a:r>
          </a:p>
          <a:p>
            <a:r>
              <a:rPr lang="uk-UA" dirty="0"/>
              <a:t>Оформлення</a:t>
            </a:r>
          </a:p>
          <a:p>
            <a:pPr lvl="1"/>
            <a:r>
              <a:rPr lang="uk-UA" dirty="0"/>
              <a:t>ВЕЛИКИМИ ЛІТЕРАМИ</a:t>
            </a:r>
          </a:p>
          <a:p>
            <a:pPr lvl="1"/>
            <a:r>
              <a:rPr lang="uk-UA" dirty="0"/>
              <a:t>Через кому (це дозволяє використовувати фрази замість одного слова)</a:t>
            </a:r>
          </a:p>
          <a:p>
            <a:pPr lvl="1"/>
            <a:r>
              <a:rPr lang="uk-UA" dirty="0"/>
              <a:t>Алфавітний порядок (а не в порядку важливості)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67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9448653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Об’єкт (та предмет) роботи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uk-UA" dirty="0"/>
              <a:t>Вимагається лише об’єкт</a:t>
            </a:r>
          </a:p>
          <a:p>
            <a:pPr lvl="1"/>
            <a:r>
              <a:rPr lang="uk-UA" dirty="0"/>
              <a:t>Що досліджувалось / розроблялось / покращувалось в роботі</a:t>
            </a:r>
          </a:p>
          <a:p>
            <a:r>
              <a:rPr lang="uk-UA" dirty="0"/>
              <a:t>Іноді пишуть (чи навіть вимагають) ще предмет</a:t>
            </a:r>
          </a:p>
          <a:p>
            <a:pPr lvl="1"/>
            <a:r>
              <a:rPr lang="uk-UA" dirty="0"/>
              <a:t>Предмет – це ті аспекти об’єкта, яким присвячена саме ця робота</a:t>
            </a:r>
          </a:p>
          <a:p>
            <a:pPr lvl="1"/>
            <a:r>
              <a:rPr lang="uk-UA" dirty="0"/>
              <a:t>Вимоги до дисертацій, в курсових чи дипломних цієї вимоги немає, але навести не заборонено</a:t>
            </a:r>
          </a:p>
          <a:p>
            <a:r>
              <a:rPr lang="uk-UA" dirty="0"/>
              <a:t>Варто порадитись з керівником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68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338236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Мета та завдання роботи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dirty="0"/>
              <a:t>Мета – одне відносно коротке речення, що треба було зробити</a:t>
            </a:r>
          </a:p>
          <a:p>
            <a:pPr lvl="1"/>
            <a:r>
              <a:rPr lang="uk-UA" dirty="0"/>
              <a:t>В рефераті та вступі</a:t>
            </a:r>
          </a:p>
          <a:p>
            <a:r>
              <a:rPr lang="uk-UA" dirty="0"/>
              <a:t>Завдання – перелік з конкретних завдань, що сприяють досягненню мети</a:t>
            </a:r>
          </a:p>
          <a:p>
            <a:pPr lvl="1"/>
            <a:r>
              <a:rPr lang="uk-UA" dirty="0"/>
              <a:t>Лише у вступі</a:t>
            </a:r>
          </a:p>
          <a:p>
            <a:r>
              <a:rPr lang="uk-UA" dirty="0"/>
              <a:t>В основних розділах варто посилатись на завдання</a:t>
            </a:r>
          </a:p>
          <a:p>
            <a:pPr lvl="1"/>
            <a:r>
              <a:rPr lang="uk-UA" dirty="0"/>
              <a:t>Одна з можливих схем розділів: 1 розділ = 1 пункт з переліку завдань</a:t>
            </a:r>
          </a:p>
          <a:p>
            <a:r>
              <a:rPr lang="uk-UA" dirty="0"/>
              <a:t>У висновку варто показати, що усі завдання вирішено</a:t>
            </a:r>
          </a:p>
          <a:p>
            <a:r>
              <a:rPr lang="uk-UA" dirty="0"/>
              <a:t>В теорії </a:t>
            </a:r>
            <a:r>
              <a:rPr lang="uk-UA" dirty="0" err="1"/>
              <a:t>формулюються</a:t>
            </a:r>
            <a:r>
              <a:rPr lang="uk-UA" dirty="0"/>
              <a:t> на початку роботи</a:t>
            </a:r>
          </a:p>
          <a:p>
            <a:pPr lvl="1"/>
            <a:r>
              <a:rPr lang="uk-UA" dirty="0"/>
              <a:t>На практиці пишуться наприкінці, коли зрозуміло, що вийшло зробити</a:t>
            </a:r>
          </a:p>
          <a:p>
            <a:r>
              <a:rPr lang="uk-UA" dirty="0"/>
              <a:t>Порадитись з керівником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69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92560388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Мета – рекомендація щодо формулювання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dirty="0"/>
              <a:t>Не варто формулювати мету в стилі «розробити застосунок»</a:t>
            </a:r>
          </a:p>
          <a:p>
            <a:r>
              <a:rPr lang="uk-UA" dirty="0"/>
              <a:t>Краще «покращити …», «підвищити ефективність …»</a:t>
            </a:r>
          </a:p>
          <a:p>
            <a:r>
              <a:rPr lang="uk-UA" dirty="0"/>
              <a:t>Розробити застосунок – має бути способом досягнення мети</a:t>
            </a:r>
          </a:p>
          <a:p>
            <a:pPr lvl="1"/>
            <a:r>
              <a:rPr lang="uk-UA" dirty="0"/>
              <a:t>Варто винести в одне чи декілька завдань</a:t>
            </a:r>
          </a:p>
          <a:p>
            <a:r>
              <a:rPr lang="uk-UA" dirty="0"/>
              <a:t>Показати що мета досягнення</a:t>
            </a:r>
          </a:p>
          <a:p>
            <a:pPr lvl="1"/>
            <a:r>
              <a:rPr lang="uk-UA" dirty="0"/>
              <a:t>Не просто сказати це, а довести конкретними вимірами, експериментами тощо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70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73845328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Методи та інструменти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uk-UA" dirty="0"/>
              <a:t>Які існуючі методи, підходи, технології/інструменти використано в роботі</a:t>
            </a:r>
          </a:p>
          <a:p>
            <a:r>
              <a:rPr lang="uk-UA" dirty="0"/>
              <a:t>Реферат – коротко</a:t>
            </a:r>
          </a:p>
          <a:p>
            <a:r>
              <a:rPr lang="uk-UA" dirty="0"/>
              <a:t>Вступ – більш детально</a:t>
            </a:r>
          </a:p>
          <a:p>
            <a:r>
              <a:rPr lang="uk-UA" dirty="0"/>
              <a:t>В основних розділах – коротка інформація</a:t>
            </a:r>
          </a:p>
          <a:p>
            <a:pPr lvl="1"/>
            <a:r>
              <a:rPr lang="uk-UA" dirty="0"/>
              <a:t>Або в 1 розділі по всім використаним технологіям</a:t>
            </a:r>
          </a:p>
          <a:p>
            <a:pPr lvl="1"/>
            <a:r>
              <a:rPr lang="uk-UA" dirty="0"/>
              <a:t>Або в тих розділах, де вперше згадується</a:t>
            </a:r>
          </a:p>
          <a:p>
            <a:pPr lvl="1"/>
            <a:r>
              <a:rPr lang="uk-UA" dirty="0"/>
              <a:t>Не зловживати великим обсягом! (це не реферат)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71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6729898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Результати роботи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Дуже важливий розділ</a:t>
            </a:r>
          </a:p>
          <a:p>
            <a:pPr lvl="1"/>
            <a:r>
              <a:rPr lang="uk-UA" dirty="0"/>
              <a:t>Багато викладачів спершу дивиться саме результати</a:t>
            </a:r>
          </a:p>
          <a:p>
            <a:r>
              <a:rPr lang="uk-UA" dirty="0"/>
              <a:t>Реферат – коротко</a:t>
            </a:r>
          </a:p>
          <a:p>
            <a:r>
              <a:rPr lang="uk-UA" dirty="0"/>
              <a:t>Основні розділи – дуже детально</a:t>
            </a:r>
          </a:p>
          <a:p>
            <a:pPr lvl="1"/>
            <a:r>
              <a:rPr lang="uk-UA" dirty="0"/>
              <a:t>По суті вся робота має описувати саме Ваші результати!</a:t>
            </a:r>
          </a:p>
          <a:p>
            <a:r>
              <a:rPr lang="uk-UA" dirty="0"/>
              <a:t>Висновки – короткий підсумок</a:t>
            </a:r>
          </a:p>
          <a:p>
            <a:r>
              <a:rPr lang="uk-UA" dirty="0"/>
              <a:t>У вступі не наводяться!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72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33525163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Новизна та значимість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Чому те, що було зроблено, комусь потрібно</a:t>
            </a:r>
          </a:p>
          <a:p>
            <a:r>
              <a:rPr lang="uk-UA" dirty="0"/>
              <a:t>Реферат – коротко</a:t>
            </a:r>
          </a:p>
          <a:p>
            <a:r>
              <a:rPr lang="uk-UA" dirty="0"/>
              <a:t>Вступ – детальніше, не всі аспекти</a:t>
            </a:r>
          </a:p>
          <a:p>
            <a:r>
              <a:rPr lang="uk-UA" dirty="0"/>
              <a:t>В основних розділах – можливо, підрозділи, або останній розділ</a:t>
            </a:r>
          </a:p>
          <a:p>
            <a:r>
              <a:rPr lang="uk-UA" dirty="0"/>
              <a:t>Висновки – підсумок, не всі аспекти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73</a:t>
            </a:fld>
            <a:endParaRPr lang="ru-RU" altLang="en-US"/>
          </a:p>
        </p:txBody>
      </p:sp>
      <p:pic>
        <p:nvPicPr>
          <p:cNvPr id="1026" name="Picture 2" descr="Icono de puntero Intro sobre fondo blanco — Foto de stock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697" y="3068917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howcase - Efficiency and Developmen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9760" y="4697604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1217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Новизна та значимість</a:t>
            </a:r>
            <a:br>
              <a:rPr lang="uk-UA" dirty="0"/>
            </a:br>
            <a:r>
              <a:rPr lang="uk-UA" dirty="0"/>
              <a:t>Окремі аспекти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72389"/>
          </a:xfrm>
        </p:spPr>
        <p:txBody>
          <a:bodyPr>
            <a:normAutofit fontScale="70000" lnSpcReduction="20000"/>
          </a:bodyPr>
          <a:lstStyle/>
          <a:p>
            <a:r>
              <a:rPr lang="uk-UA" dirty="0"/>
              <a:t>Актуальність</a:t>
            </a:r>
          </a:p>
          <a:p>
            <a:pPr lvl="1"/>
            <a:r>
              <a:rPr lang="uk-UA" dirty="0"/>
              <a:t>Чому ця галузь взагалі важлива (без прив’язки до результатів конкретно цієї роботи)</a:t>
            </a:r>
          </a:p>
          <a:p>
            <a:r>
              <a:rPr lang="uk-UA" dirty="0"/>
              <a:t>(Наукова) новизна</a:t>
            </a:r>
          </a:p>
          <a:p>
            <a:pPr lvl="1"/>
            <a:r>
              <a:rPr lang="uk-UA" dirty="0"/>
              <a:t>Що нового в отриманих результатах</a:t>
            </a:r>
          </a:p>
          <a:p>
            <a:pPr lvl="1"/>
            <a:r>
              <a:rPr lang="uk-UA" dirty="0"/>
              <a:t>Потрібно порівняння з аналогами</a:t>
            </a:r>
          </a:p>
          <a:p>
            <a:r>
              <a:rPr lang="uk-UA" dirty="0"/>
              <a:t>(Практична) значимість</a:t>
            </a:r>
          </a:p>
          <a:p>
            <a:pPr lvl="1"/>
            <a:r>
              <a:rPr lang="uk-UA" dirty="0"/>
              <a:t>Чи можна це якось використати на практиці</a:t>
            </a:r>
          </a:p>
          <a:p>
            <a:r>
              <a:rPr lang="uk-UA" dirty="0"/>
              <a:t>Сфери потенційного застосування</a:t>
            </a:r>
          </a:p>
          <a:p>
            <a:r>
              <a:rPr lang="uk-UA" dirty="0"/>
              <a:t>Рекомендації щодо використання результатів</a:t>
            </a:r>
          </a:p>
          <a:p>
            <a:r>
              <a:rPr lang="uk-UA" dirty="0"/>
              <a:t>Реальні впровадження</a:t>
            </a:r>
          </a:p>
          <a:p>
            <a:r>
              <a:rPr lang="uk-UA" dirty="0"/>
              <a:t>Зв’язки з іншими роботами</a:t>
            </a:r>
          </a:p>
          <a:p>
            <a:pPr lvl="1"/>
            <a:r>
              <a:rPr lang="uk-UA" dirty="0"/>
              <a:t>Зокрема, якщо над одним </a:t>
            </a:r>
            <a:r>
              <a:rPr lang="uk-UA" dirty="0" err="1"/>
              <a:t>проєктом</a:t>
            </a:r>
            <a:r>
              <a:rPr lang="uk-UA" dirty="0"/>
              <a:t> працюють кілька студентів</a:t>
            </a:r>
          </a:p>
          <a:p>
            <a:pPr lvl="1"/>
            <a:r>
              <a:rPr lang="uk-UA" dirty="0"/>
              <a:t>Також з курсовими/дипломними роботами попередніх років</a:t>
            </a:r>
          </a:p>
          <a:p>
            <a:r>
              <a:rPr lang="uk-UA" dirty="0"/>
              <a:t>Публікації, апробації (=конференції)</a:t>
            </a:r>
          </a:p>
          <a:p>
            <a:r>
              <a:rPr lang="uk-UA" dirty="0"/>
              <a:t>Подальші напрямки розвитку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74</a:t>
            </a:fld>
            <a:endParaRPr lang="ru-RU" altLang="en-US"/>
          </a:p>
        </p:txBody>
      </p:sp>
      <p:pic>
        <p:nvPicPr>
          <p:cNvPr id="5" name="Picture 2" descr="Icono de puntero Intro sobre fondo blanco — Foto de stock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0891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cono de puntero Intro sobre fondo blanco — Foto de stock ...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9" r="12088"/>
          <a:stretch/>
        </p:blipFill>
        <p:spPr bwMode="auto">
          <a:xfrm>
            <a:off x="100484" y="5068539"/>
            <a:ext cx="703384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Showcase - Efficiency and Developmen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16145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Showcase - Efficiency and Developmen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09965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cono de puntero Intro sobre fondo blanco — Foto de stock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05" y="4005089"/>
            <a:ext cx="54864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Showcase - Efficiency and Developmen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735" y="4297345"/>
            <a:ext cx="54864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Showcase - Efficiency and Developmen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03" y="4660760"/>
            <a:ext cx="54864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Showcase - Efficiency and Developmen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294" y="3949002"/>
            <a:ext cx="54864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Icono de puntero Intro sobre fondo blanco — Foto de stock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689" y="5915950"/>
            <a:ext cx="54864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Showcase - Efficiency and Developmen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39" y="6309360"/>
            <a:ext cx="54864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811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Зміст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uk-UA" dirty="0"/>
              <a:t>Див. </a:t>
            </a:r>
            <a:r>
              <a:rPr lang="uk-UA" altLang="en-US" dirty="0">
                <a:hlinkClick r:id="rId2"/>
              </a:rPr>
              <a:t>Методичні вказівки</a:t>
            </a:r>
            <a:r>
              <a:rPr lang="uk-UA" altLang="en-US" dirty="0"/>
              <a:t>, розділ 2.3, </a:t>
            </a:r>
            <a:r>
              <a:rPr lang="uk-UA" altLang="en-US" dirty="0" err="1"/>
              <a:t>стор</a:t>
            </a:r>
            <a:r>
              <a:rPr lang="uk-UA" altLang="en-US" dirty="0"/>
              <a:t>. 13</a:t>
            </a:r>
          </a:p>
          <a:p>
            <a:pPr lvl="1"/>
            <a:r>
              <a:rPr lang="uk-UA" dirty="0"/>
              <a:t>Приклад: зміст того ж документа, </a:t>
            </a:r>
            <a:r>
              <a:rPr lang="uk-UA" dirty="0" err="1"/>
              <a:t>стор</a:t>
            </a:r>
            <a:r>
              <a:rPr lang="uk-UA" dirty="0"/>
              <a:t>. 3</a:t>
            </a:r>
          </a:p>
          <a:p>
            <a:r>
              <a:rPr lang="uk-UA" dirty="0"/>
              <a:t>Перелік розділів (та інших елементів), підрозділів, пунктів, підпунктів</a:t>
            </a:r>
          </a:p>
          <a:p>
            <a:r>
              <a:rPr lang="uk-UA" dirty="0"/>
              <a:t>Номери сторінок</a:t>
            </a:r>
          </a:p>
          <a:p>
            <a:r>
              <a:rPr lang="uk-UA" dirty="0"/>
              <a:t>Зазвичай генерується автоматично</a:t>
            </a:r>
          </a:p>
          <a:p>
            <a:pPr lvl="1"/>
            <a:r>
              <a:rPr lang="uk-UA" dirty="0"/>
              <a:t>Бажано щоб у файлі це були посилання – можна </a:t>
            </a:r>
            <a:r>
              <a:rPr lang="uk-UA" dirty="0" err="1"/>
              <a:t>клікнути</a:t>
            </a:r>
            <a:r>
              <a:rPr lang="uk-UA" dirty="0"/>
              <a:t> та перейти</a:t>
            </a:r>
          </a:p>
          <a:p>
            <a:r>
              <a:rPr lang="uk-UA" dirty="0"/>
              <a:t>Така ж схема іменування, як і в назвах!</a:t>
            </a:r>
          </a:p>
          <a:p>
            <a:pPr lvl="1"/>
            <a:r>
              <a:rPr lang="uk-UA" dirty="0"/>
              <a:t>Але розділи Як речення, а не ВЕЛИКИМИ ЛІТЕРАМИ</a:t>
            </a:r>
          </a:p>
          <a:p>
            <a:pPr lvl="1"/>
            <a:r>
              <a:rPr lang="uk-UA" dirty="0"/>
              <a:t>Як це зробити в </a:t>
            </a:r>
            <a:r>
              <a:rPr lang="en-US" dirty="0"/>
              <a:t>Word:</a:t>
            </a:r>
            <a:r>
              <a:rPr lang="uk-UA" dirty="0"/>
              <a:t> набрати заголовок Як речення, і застосувати </a:t>
            </a:r>
            <a:r>
              <a:rPr lang="en-US" dirty="0"/>
              <a:t>“Change Case”</a:t>
            </a:r>
            <a:r>
              <a:rPr lang="uk-UA" dirty="0"/>
              <a:t> (тоді в тексті буде ВЕЛИКИМИ ЛІТЕРАМИ, а в змісті Як речення)</a:t>
            </a:r>
          </a:p>
          <a:p>
            <a:pPr lvl="1"/>
            <a:r>
              <a:rPr lang="uk-UA" dirty="0"/>
              <a:t>Неправильно вручну набирати ВЕЛИКИМИ ЛІТЕРАМИ (тоді в змісті буде так само)</a:t>
            </a:r>
          </a:p>
          <a:p>
            <a:pPr lvl="1"/>
            <a:r>
              <a:rPr lang="uk-UA" dirty="0"/>
              <a:t>Підрозділи (та більш дрібні елементи) Як речення</a:t>
            </a:r>
          </a:p>
          <a:p>
            <a:r>
              <a:rPr lang="uk-UA" dirty="0"/>
              <a:t>Бажано вмістити на 1 сторінку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75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1632258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Перелік скорочень та умовних позначень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uk-UA" dirty="0"/>
              <a:t>Див. </a:t>
            </a:r>
            <a:r>
              <a:rPr lang="uk-UA" altLang="en-US" dirty="0">
                <a:hlinkClick r:id="rId2"/>
              </a:rPr>
              <a:t>Методичні вказівки</a:t>
            </a:r>
            <a:r>
              <a:rPr lang="uk-UA" altLang="en-US" dirty="0"/>
              <a:t>, розділ 2.4, </a:t>
            </a:r>
            <a:r>
              <a:rPr lang="uk-UA" altLang="en-US" dirty="0" err="1"/>
              <a:t>стор</a:t>
            </a:r>
            <a:r>
              <a:rPr lang="uk-UA" altLang="en-US" dirty="0"/>
              <a:t>. 13-14</a:t>
            </a:r>
          </a:p>
          <a:p>
            <a:pPr lvl="1"/>
            <a:r>
              <a:rPr lang="uk-UA" dirty="0"/>
              <a:t>Приклад: додаток В, </a:t>
            </a:r>
            <a:r>
              <a:rPr lang="uk-UA" dirty="0" err="1"/>
              <a:t>стор</a:t>
            </a:r>
            <a:r>
              <a:rPr lang="uk-UA" dirty="0"/>
              <a:t>. 46</a:t>
            </a:r>
          </a:p>
          <a:p>
            <a:pPr lvl="1"/>
            <a:r>
              <a:rPr lang="uk-UA" dirty="0"/>
              <a:t>Знайдіть помилки в прикладі </a:t>
            </a:r>
            <a:r>
              <a:rPr lang="uk-UA" dirty="0">
                <a:sym typeface="Wingdings" panose="05000000000000000000" pitchFamily="2" charset="2"/>
              </a:rPr>
              <a:t></a:t>
            </a:r>
            <a:endParaRPr lang="uk-UA" dirty="0"/>
          </a:p>
          <a:p>
            <a:r>
              <a:rPr lang="uk-UA" dirty="0"/>
              <a:t>Назва «СКОРОЧЕННЯ ТА УМОВНІ ПОЗНАКИ»</a:t>
            </a:r>
          </a:p>
          <a:p>
            <a:r>
              <a:rPr lang="uk-UA" dirty="0"/>
              <a:t>Не обов’язково, але у більшості випадків корисно</a:t>
            </a:r>
          </a:p>
          <a:p>
            <a:r>
              <a:rPr lang="uk-UA" dirty="0"/>
              <a:t>Перелік за алфавітом</a:t>
            </a:r>
          </a:p>
          <a:p>
            <a:pPr lvl="1"/>
            <a:r>
              <a:rPr lang="uk-UA" dirty="0"/>
              <a:t>Спершу кирилиця, потім латиниця? </a:t>
            </a:r>
          </a:p>
          <a:p>
            <a:r>
              <a:rPr lang="uk-UA" dirty="0"/>
              <a:t>Фокус на нових, незвичних чи не дуже розповсюджених</a:t>
            </a:r>
          </a:p>
          <a:p>
            <a:pPr lvl="1"/>
            <a:r>
              <a:rPr lang="uk-UA" dirty="0"/>
              <a:t>Відкрито до інтерпретації, що включати а що не варто</a:t>
            </a:r>
          </a:p>
          <a:p>
            <a:pPr lvl="1"/>
            <a:r>
              <a:rPr lang="uk-UA" dirty="0"/>
              <a:t>Але погано, коли наведено очевидні речі і не наведено щось цікаве</a:t>
            </a:r>
          </a:p>
          <a:p>
            <a:r>
              <a:rPr lang="uk-UA" dirty="0"/>
              <a:t>Обов’язково треба, якщо є різні інтерпретації скорочення</a:t>
            </a:r>
          </a:p>
          <a:p>
            <a:r>
              <a:rPr lang="uk-UA" dirty="0"/>
              <a:t>В основному тексті обов’язково розшифрувати та пояснити під час першого використання</a:t>
            </a:r>
          </a:p>
          <a:p>
            <a:pPr lvl="1"/>
            <a:r>
              <a:rPr lang="uk-UA" dirty="0"/>
              <a:t>Не вважати, що якщо є в переліку скорочень – то в основному тексті можна не пояснювати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76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19819491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Вступ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Див. </a:t>
            </a:r>
            <a:r>
              <a:rPr lang="uk-UA" altLang="en-US" dirty="0">
                <a:hlinkClick r:id="rId2"/>
              </a:rPr>
              <a:t>Методичні вказівки</a:t>
            </a:r>
            <a:r>
              <a:rPr lang="uk-UA" altLang="en-US" dirty="0"/>
              <a:t>, розділ 2.5, </a:t>
            </a:r>
            <a:r>
              <a:rPr lang="uk-UA" altLang="en-US" dirty="0" err="1"/>
              <a:t>стор</a:t>
            </a:r>
            <a:r>
              <a:rPr lang="uk-UA" altLang="en-US" dirty="0"/>
              <a:t>. 14-15</a:t>
            </a:r>
          </a:p>
          <a:p>
            <a:pPr lvl="1"/>
            <a:r>
              <a:rPr lang="uk-UA" dirty="0"/>
              <a:t>Приклад: додаток Г, </a:t>
            </a:r>
            <a:r>
              <a:rPr lang="uk-UA" dirty="0" err="1"/>
              <a:t>стор</a:t>
            </a:r>
            <a:r>
              <a:rPr lang="uk-UA" dirty="0"/>
              <a:t>. 47</a:t>
            </a:r>
          </a:p>
          <a:p>
            <a:pPr lvl="1"/>
            <a:r>
              <a:rPr lang="uk-UA" dirty="0"/>
              <a:t>Знайдіть помилки в прикладі </a:t>
            </a:r>
            <a:r>
              <a:rPr lang="uk-UA" dirty="0">
                <a:sym typeface="Wingdings" panose="05000000000000000000" pitchFamily="2" charset="2"/>
              </a:rPr>
              <a:t></a:t>
            </a:r>
          </a:p>
          <a:p>
            <a:r>
              <a:rPr lang="uk-UA" dirty="0">
                <a:sym typeface="Wingdings" panose="05000000000000000000" pitchFamily="2" charset="2"/>
              </a:rPr>
              <a:t>Обсяг від 1 до 3 сторінок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1 сторінки зазвичай замало</a:t>
            </a:r>
          </a:p>
          <a:p>
            <a:r>
              <a:rPr lang="uk-UA" dirty="0">
                <a:sym typeface="Wingdings" panose="05000000000000000000" pitchFamily="2" charset="2"/>
              </a:rPr>
              <a:t>Фіксована схема 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Аналогічно реферату, але трохи інші пункти</a:t>
            </a:r>
          </a:p>
          <a:p>
            <a:r>
              <a:rPr lang="uk-UA" dirty="0">
                <a:sym typeface="Wingdings" panose="05000000000000000000" pitchFamily="2" charset="2"/>
              </a:rPr>
              <a:t>Більше деталей, ніж в рефераті</a:t>
            </a:r>
            <a:endParaRPr lang="uk-UA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77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6401026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Висновки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Див. </a:t>
            </a:r>
            <a:r>
              <a:rPr lang="uk-UA" altLang="en-US" dirty="0">
                <a:hlinkClick r:id="rId2"/>
              </a:rPr>
              <a:t>Методичні вказівки</a:t>
            </a:r>
            <a:r>
              <a:rPr lang="uk-UA" altLang="en-US" dirty="0"/>
              <a:t>, розділ 2.7, </a:t>
            </a:r>
            <a:r>
              <a:rPr lang="uk-UA" altLang="en-US" dirty="0" err="1"/>
              <a:t>стор</a:t>
            </a:r>
            <a:r>
              <a:rPr lang="uk-UA" altLang="en-US" dirty="0"/>
              <a:t>. 16</a:t>
            </a:r>
            <a:endParaRPr lang="uk-UA" dirty="0"/>
          </a:p>
          <a:p>
            <a:r>
              <a:rPr lang="uk-UA" dirty="0"/>
              <a:t>Дуже важливий розділ</a:t>
            </a:r>
          </a:p>
          <a:p>
            <a:pPr lvl="1"/>
            <a:r>
              <a:rPr lang="uk-UA" dirty="0"/>
              <a:t>Багато викладачів спершу дивляться саме висновки</a:t>
            </a:r>
          </a:p>
          <a:p>
            <a:r>
              <a:rPr lang="uk-UA" dirty="0"/>
              <a:t>Отримані результати</a:t>
            </a:r>
          </a:p>
          <a:p>
            <a:r>
              <a:rPr lang="uk-UA" dirty="0"/>
              <a:t>Новизна та значимість</a:t>
            </a:r>
          </a:p>
          <a:p>
            <a:pPr lvl="1"/>
            <a:r>
              <a:rPr lang="uk-UA" dirty="0"/>
              <a:t>Зокрема, впровадження та можливість подальшого розвитку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78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08340674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Не треба висновки до кожного розділу!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В деяких документах вимагають висновки після кожного розділу</a:t>
            </a:r>
          </a:p>
          <a:p>
            <a:r>
              <a:rPr lang="uk-UA" dirty="0"/>
              <a:t>В курсових та дипломних роботах такої вимоги немає</a:t>
            </a:r>
          </a:p>
          <a:p>
            <a:pPr lvl="1"/>
            <a:r>
              <a:rPr lang="uk-UA" dirty="0"/>
              <a:t>Деякі викладачі вважають це грубою помилкою</a:t>
            </a:r>
          </a:p>
          <a:p>
            <a:r>
              <a:rPr lang="uk-UA" dirty="0"/>
              <a:t>Можна написати певний підсумок наприкінці розділу, але не виділяти в окремий підрозділ і не писати «висновки до розділу 1»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79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113173658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Питання?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80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779012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altLang="en-US" dirty="0"/>
              <a:t>Частина 5. Презентація та захист роботи</a:t>
            </a:r>
            <a:endParaRPr lang="en-US" alt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A6383B-215A-4539-AA8D-C98B287BFA06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81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73575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Послідовність кроків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dirty="0"/>
              <a:t>Підготувати слайди</a:t>
            </a:r>
          </a:p>
          <a:p>
            <a:r>
              <a:rPr lang="uk-UA" dirty="0"/>
              <a:t>Бути готовими до демонстрації програми</a:t>
            </a:r>
          </a:p>
          <a:p>
            <a:r>
              <a:rPr lang="uk-UA" dirty="0"/>
              <a:t>Потренуватись із виступом</a:t>
            </a:r>
          </a:p>
          <a:p>
            <a:r>
              <a:rPr lang="uk-UA" dirty="0" err="1"/>
              <a:t>Передзахист</a:t>
            </a:r>
            <a:r>
              <a:rPr lang="uk-UA" dirty="0"/>
              <a:t> = попередній захист</a:t>
            </a:r>
          </a:p>
          <a:p>
            <a:pPr lvl="1"/>
            <a:r>
              <a:rPr lang="uk-UA" dirty="0"/>
              <a:t>Для курсових іноді не проводять</a:t>
            </a:r>
          </a:p>
          <a:p>
            <a:pPr lvl="1"/>
            <a:r>
              <a:rPr lang="uk-UA" dirty="0"/>
              <a:t>Для дипломних обов’язково</a:t>
            </a:r>
          </a:p>
          <a:p>
            <a:r>
              <a:rPr lang="uk-UA" dirty="0"/>
              <a:t>Захист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82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88275715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Презентація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dirty="0"/>
              <a:t>Зазвичай готують презентацію (слайди)</a:t>
            </a:r>
          </a:p>
          <a:p>
            <a:pPr lvl="1"/>
            <a:r>
              <a:rPr lang="en-US" dirty="0"/>
              <a:t>PowerPoint </a:t>
            </a:r>
            <a:r>
              <a:rPr lang="uk-UA" dirty="0"/>
              <a:t>або аналоги на інших платформах</a:t>
            </a:r>
          </a:p>
          <a:p>
            <a:pPr lvl="1"/>
            <a:r>
              <a:rPr lang="en-US" dirty="0"/>
              <a:t>Google Slides</a:t>
            </a:r>
          </a:p>
          <a:p>
            <a:pPr lvl="1"/>
            <a:r>
              <a:rPr lang="en-US" dirty="0" err="1"/>
              <a:t>LaTeX</a:t>
            </a:r>
            <a:r>
              <a:rPr lang="en-US" dirty="0"/>
              <a:t> + PDF</a:t>
            </a:r>
          </a:p>
          <a:p>
            <a:r>
              <a:rPr lang="uk-UA" dirty="0"/>
              <a:t>Корисно підготувати кілька різних версій (наприклад, </a:t>
            </a:r>
            <a:r>
              <a:rPr lang="ru-UA" dirty="0"/>
              <a:t>.</a:t>
            </a:r>
            <a:r>
              <a:rPr lang="en-US" dirty="0" err="1"/>
              <a:t>ppt</a:t>
            </a:r>
            <a:r>
              <a:rPr lang="en-US" dirty="0"/>
              <a:t>, .</a:t>
            </a:r>
            <a:r>
              <a:rPr lang="en-US" dirty="0" err="1"/>
              <a:t>pptx</a:t>
            </a:r>
            <a:r>
              <a:rPr lang="en-US" dirty="0"/>
              <a:t>, .pdf)</a:t>
            </a:r>
          </a:p>
          <a:p>
            <a:pPr lvl="1"/>
            <a:r>
              <a:rPr lang="uk-UA" dirty="0"/>
              <a:t>Більш актуально під час захисту в аудиторії (на комп’ютері, з якого показують, не всі потрібні засоби встановлені)</a:t>
            </a:r>
          </a:p>
          <a:p>
            <a:pPr lvl="1"/>
            <a:r>
              <a:rPr lang="uk-UA" dirty="0"/>
              <a:t>Менш актуально для онлайн-захисту, але може знадобитись</a:t>
            </a:r>
          </a:p>
          <a:p>
            <a:pPr marL="457200" lvl="1" indent="0">
              <a:buNone/>
            </a:pPr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83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15192597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Виступ / розповідь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«Презентація – це не слайди»</a:t>
            </a:r>
          </a:p>
          <a:p>
            <a:pPr lvl="1"/>
            <a:r>
              <a:rPr lang="uk-UA" dirty="0"/>
              <a:t>Слайди допомагають усній розповіді</a:t>
            </a:r>
          </a:p>
          <a:p>
            <a:pPr lvl="1"/>
            <a:r>
              <a:rPr lang="uk-UA" dirty="0"/>
              <a:t>Має бути відповідність між слайдами та словами</a:t>
            </a:r>
          </a:p>
          <a:p>
            <a:pPr lvl="1"/>
            <a:r>
              <a:rPr lang="uk-UA" dirty="0"/>
              <a:t>Але це не має бути просто читання зі слайдів</a:t>
            </a:r>
          </a:p>
          <a:p>
            <a:r>
              <a:rPr lang="uk-UA" dirty="0"/>
              <a:t>Важливо підготувати виступ, а не лише слайди</a:t>
            </a:r>
          </a:p>
          <a:p>
            <a:pPr lvl="1"/>
            <a:r>
              <a:rPr lang="uk-UA" dirty="0"/>
              <a:t>Можливо, окремо написати текст</a:t>
            </a:r>
          </a:p>
          <a:p>
            <a:r>
              <a:rPr lang="uk-UA" dirty="0"/>
              <a:t>Варто потренуватись з виступом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84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172799084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Часові обмеження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dirty="0"/>
              <a:t>Студентів багато</a:t>
            </a:r>
          </a:p>
          <a:p>
            <a:pPr lvl="1"/>
            <a:r>
              <a:rPr lang="uk-UA" dirty="0"/>
              <a:t>Особливо бакалаврів</a:t>
            </a:r>
          </a:p>
          <a:p>
            <a:r>
              <a:rPr lang="uk-UA" dirty="0"/>
              <a:t>Викладачі хочуть всіх заслухати</a:t>
            </a:r>
          </a:p>
          <a:p>
            <a:pPr lvl="1"/>
            <a:r>
              <a:rPr lang="uk-UA" dirty="0"/>
              <a:t>Треба ще час на питання, коментарі, зауваження</a:t>
            </a:r>
          </a:p>
          <a:p>
            <a:r>
              <a:rPr lang="uk-UA" dirty="0"/>
              <a:t>Тому час кожного виступу дуже обмежений!</a:t>
            </a:r>
          </a:p>
          <a:p>
            <a:pPr lvl="1"/>
            <a:r>
              <a:rPr lang="uk-UA" dirty="0"/>
              <a:t>Орієнтуватись на 5 хвилин для бакалаврів, 5-7 хвилин для магістрів</a:t>
            </a:r>
          </a:p>
          <a:p>
            <a:pPr lvl="1"/>
            <a:r>
              <a:rPr lang="uk-UA" dirty="0"/>
              <a:t>Якщо перебільшити – можуть зупинити</a:t>
            </a:r>
          </a:p>
          <a:p>
            <a:pPr lvl="1"/>
            <a:r>
              <a:rPr lang="uk-UA" dirty="0"/>
              <a:t>Може негативно позначитись на оцінці</a:t>
            </a:r>
          </a:p>
          <a:p>
            <a:r>
              <a:rPr lang="uk-UA" dirty="0"/>
              <a:t>Потренуватись з виступом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85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39255517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Залишити досить часу на підготовку презентації!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26805"/>
            <a:ext cx="8229600" cy="387275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86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93083619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Як будувати слайди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Фокус на тому, що зробили саме Ви!</a:t>
            </a:r>
          </a:p>
          <a:p>
            <a:pPr lvl="1"/>
            <a:r>
              <a:rPr lang="uk-UA" dirty="0"/>
              <a:t>Не перетворювати на лекцію про більш-менш відомі речі</a:t>
            </a:r>
          </a:p>
          <a:p>
            <a:r>
              <a:rPr lang="uk-UA" dirty="0"/>
              <a:t>Деякі важливі пункти варто включити</a:t>
            </a:r>
          </a:p>
          <a:p>
            <a:pPr lvl="1"/>
            <a:r>
              <a:rPr lang="uk-UA" dirty="0"/>
              <a:t>Актуальність</a:t>
            </a:r>
          </a:p>
          <a:p>
            <a:pPr lvl="1"/>
            <a:r>
              <a:rPr lang="uk-UA" dirty="0"/>
              <a:t>Мета та завдання</a:t>
            </a:r>
          </a:p>
          <a:p>
            <a:pPr lvl="1"/>
            <a:r>
              <a:rPr lang="uk-UA" dirty="0"/>
              <a:t>Опис програмної реалізації</a:t>
            </a:r>
          </a:p>
          <a:p>
            <a:pPr lvl="1"/>
            <a:r>
              <a:rPr lang="uk-UA" dirty="0"/>
              <a:t>Оцінки, виміри, порівняння</a:t>
            </a:r>
          </a:p>
          <a:p>
            <a:pPr lvl="1"/>
            <a:r>
              <a:rPr lang="uk-UA" dirty="0"/>
              <a:t>Висновки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87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87703853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Використані технології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dirty="0"/>
              <a:t>Варто навести на окремому слайді перелік використаних технологій</a:t>
            </a:r>
          </a:p>
          <a:p>
            <a:r>
              <a:rPr lang="uk-UA" dirty="0"/>
              <a:t>Не варто обмежуватись лише іконками/логотипами (особливо якщо в них немає назви)</a:t>
            </a:r>
          </a:p>
          <a:p>
            <a:pPr lvl="1"/>
            <a:r>
              <a:rPr lang="uk-UA" dirty="0"/>
              <a:t>Навіть якщо говорите назву голосом – не завжди сприймається на слух</a:t>
            </a:r>
          </a:p>
          <a:p>
            <a:r>
              <a:rPr lang="uk-UA" dirty="0"/>
              <a:t>Рекомендована інформація на слайдах</a:t>
            </a:r>
          </a:p>
          <a:p>
            <a:pPr lvl="1"/>
            <a:r>
              <a:rPr lang="uk-UA" dirty="0"/>
              <a:t>Назва технології</a:t>
            </a:r>
          </a:p>
          <a:p>
            <a:pPr lvl="1"/>
            <a:r>
              <a:rPr lang="uk-UA" dirty="0"/>
              <a:t>Використана версія</a:t>
            </a:r>
          </a:p>
          <a:p>
            <a:pPr lvl="1"/>
            <a:r>
              <a:rPr lang="uk-UA" dirty="0"/>
              <a:t>Короткий опис призначення (особливо якщо не дуже відома технологія, або кілька схожих технологій)</a:t>
            </a:r>
          </a:p>
          <a:p>
            <a:pPr lvl="1"/>
            <a:r>
              <a:rPr lang="uk-UA" dirty="0"/>
              <a:t>За бажання – логотип</a:t>
            </a:r>
          </a:p>
          <a:p>
            <a:r>
              <a:rPr lang="uk-UA" dirty="0"/>
              <a:t>Говорити голосом не обов’язково – на цьому можна зекономити час виступу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88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200244702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Архітектура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uk-UA" dirty="0"/>
              <a:t>Бажано навести опис архітектури</a:t>
            </a:r>
          </a:p>
          <a:p>
            <a:pPr lvl="1"/>
            <a:r>
              <a:rPr lang="en-US" dirty="0"/>
              <a:t>UML </a:t>
            </a:r>
            <a:r>
              <a:rPr lang="uk-UA" dirty="0"/>
              <a:t>діаграма</a:t>
            </a:r>
          </a:p>
          <a:p>
            <a:pPr lvl="1"/>
            <a:r>
              <a:rPr lang="uk-UA" dirty="0"/>
              <a:t>Або схожа графічна нотація</a:t>
            </a:r>
          </a:p>
          <a:p>
            <a:r>
              <a:rPr lang="uk-UA" dirty="0"/>
              <a:t>Не надто деталізована</a:t>
            </a:r>
          </a:p>
          <a:p>
            <a:pPr lvl="1"/>
            <a:r>
              <a:rPr lang="uk-UA" dirty="0"/>
              <a:t>Не надто багато елементів</a:t>
            </a:r>
          </a:p>
          <a:p>
            <a:pPr lvl="1"/>
            <a:r>
              <a:rPr lang="uk-UA" dirty="0"/>
              <a:t>Не надто дрібний шрифт</a:t>
            </a:r>
          </a:p>
          <a:p>
            <a:r>
              <a:rPr lang="uk-UA" dirty="0"/>
              <a:t>Можливо, декілька окремих діаграм</a:t>
            </a:r>
          </a:p>
          <a:p>
            <a:pPr lvl="1"/>
            <a:r>
              <a:rPr lang="uk-UA" dirty="0"/>
              <a:t>Взаємодія з фізичними пристроями</a:t>
            </a:r>
          </a:p>
          <a:p>
            <a:pPr lvl="1"/>
            <a:r>
              <a:rPr lang="uk-UA" dirty="0"/>
              <a:t>Розподіл по мережі</a:t>
            </a:r>
          </a:p>
          <a:p>
            <a:pPr lvl="1"/>
            <a:r>
              <a:rPr lang="uk-UA" dirty="0"/>
              <a:t>Логічні компоненти</a:t>
            </a:r>
          </a:p>
          <a:p>
            <a:pPr lvl="1"/>
            <a:r>
              <a:rPr lang="uk-UA" dirty="0"/>
              <a:t>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89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250607712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Архітектура – що НЕ ВАРТО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uk-UA" dirty="0"/>
              <a:t>«Використана архітектура клієнт-сервер» і все, без конкретних деталей</a:t>
            </a:r>
          </a:p>
          <a:p>
            <a:pPr lvl="1"/>
            <a:r>
              <a:rPr lang="uk-UA" dirty="0"/>
              <a:t>Ще гірше – зображення цієї архітектури, що не стосується Вашої роботи</a:t>
            </a:r>
          </a:p>
          <a:p>
            <a:r>
              <a:rPr lang="uk-UA" dirty="0"/>
              <a:t>Треба показати саме компоненти і взаємодію того, що Ви зробили</a:t>
            </a:r>
          </a:p>
          <a:p>
            <a:r>
              <a:rPr lang="uk-UA" dirty="0"/>
              <a:t>Деякі викладачі не люблять слово «архітектура» в назві слайдів</a:t>
            </a:r>
          </a:p>
          <a:p>
            <a:pPr lvl="1"/>
            <a:r>
              <a:rPr lang="uk-UA" dirty="0"/>
              <a:t>Бо це досить загальний термін, який включає багато аспектів, і показати усі на одному слайді не вийде</a:t>
            </a:r>
          </a:p>
          <a:p>
            <a:pPr lvl="1"/>
            <a:r>
              <a:rPr lang="uk-UA" dirty="0"/>
              <a:t>Краще конкретизувати що зображено «Основні частини», «Діаграма компонентів», «Структурна схема»</a:t>
            </a:r>
          </a:p>
          <a:p>
            <a:pPr lvl="1"/>
            <a:r>
              <a:rPr lang="uk-UA" dirty="0"/>
              <a:t>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90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407683417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Ключові деталі реалізації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Не варто наводити надто багато технічних деталей</a:t>
            </a:r>
          </a:p>
          <a:p>
            <a:r>
              <a:rPr lang="uk-UA" dirty="0"/>
              <a:t>Але й не варто пропускати цей момент</a:t>
            </a:r>
          </a:p>
          <a:p>
            <a:pPr lvl="1"/>
            <a:r>
              <a:rPr lang="uk-UA" dirty="0"/>
              <a:t>Інакше виникають сумніви, чи було щось реалізовано взагалі</a:t>
            </a:r>
          </a:p>
          <a:p>
            <a:r>
              <a:rPr lang="uk-UA" dirty="0"/>
              <a:t>Варто зупинитись на нових, цікавих, нестандартних моментах</a:t>
            </a:r>
          </a:p>
          <a:p>
            <a:pPr lvl="1"/>
            <a:r>
              <a:rPr lang="uk-UA" dirty="0"/>
              <a:t>Те що відрізняє від схожих робіт</a:t>
            </a:r>
          </a:p>
          <a:p>
            <a:pPr lvl="1"/>
            <a:r>
              <a:rPr lang="uk-UA" dirty="0"/>
              <a:t>Обґрунтування прийнятих рішень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91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364198822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Приклад ключових деталей:</a:t>
            </a:r>
            <a:br>
              <a:rPr lang="uk-UA" dirty="0"/>
            </a:br>
            <a:r>
              <a:rPr lang="uk-UA" sz="3600" dirty="0"/>
              <a:t>Вибір технологій/алгоритмів/підходів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dirty="0"/>
              <a:t>Які є варіанти вирішення певного завдання?</a:t>
            </a:r>
          </a:p>
          <a:p>
            <a:pPr lvl="1"/>
            <a:r>
              <a:rPr lang="uk-UA" dirty="0"/>
              <a:t>Їх переваги та недоліки</a:t>
            </a:r>
          </a:p>
          <a:p>
            <a:r>
              <a:rPr lang="uk-UA" dirty="0"/>
              <a:t>Яке рішення було обрано?</a:t>
            </a:r>
          </a:p>
          <a:p>
            <a:pPr lvl="1"/>
            <a:r>
              <a:rPr lang="uk-UA" dirty="0"/>
              <a:t>Чому?</a:t>
            </a:r>
          </a:p>
          <a:p>
            <a:r>
              <a:rPr lang="uk-UA" dirty="0"/>
              <a:t>Чи розглядались варіанти комбінації різних рішень?</a:t>
            </a:r>
          </a:p>
          <a:p>
            <a:r>
              <a:rPr lang="uk-UA" dirty="0"/>
              <a:t>Чи можна за результатами роботи підтвердити, що було зроблено правильний вибір?</a:t>
            </a:r>
          </a:p>
          <a:p>
            <a:pPr lvl="1"/>
            <a:r>
              <a:rPr lang="uk-UA" dirty="0"/>
              <a:t>Або навпаки, що було б краще обрати щось інше?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92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233467872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338"/>
            <a:ext cx="8229600" cy="1347300"/>
          </a:xfrm>
        </p:spPr>
        <p:txBody>
          <a:bodyPr/>
          <a:lstStyle/>
          <a:p>
            <a:r>
              <a:rPr lang="uk-UA" dirty="0"/>
              <a:t>Приклад ключових деталей:</a:t>
            </a:r>
            <a:br>
              <a:rPr lang="uk-UA" dirty="0"/>
            </a:br>
            <a:r>
              <a:rPr lang="uk-UA" sz="3600" dirty="0"/>
              <a:t>Запропонований алгоритм/схема поєднання існуючих алгоритмів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9574"/>
            <a:ext cx="8229600" cy="4136589"/>
          </a:xfrm>
        </p:spPr>
        <p:txBody>
          <a:bodyPr>
            <a:normAutofit/>
          </a:bodyPr>
          <a:lstStyle/>
          <a:p>
            <a:r>
              <a:rPr lang="uk-UA" dirty="0"/>
              <a:t>Чому не можна використати існуючі рішення?</a:t>
            </a:r>
          </a:p>
          <a:p>
            <a:r>
              <a:rPr lang="uk-UA" dirty="0"/>
              <a:t>Навести схему</a:t>
            </a:r>
          </a:p>
          <a:p>
            <a:pPr lvl="1"/>
            <a:r>
              <a:rPr lang="uk-UA" dirty="0"/>
              <a:t>Блок-схема</a:t>
            </a:r>
          </a:p>
          <a:p>
            <a:pPr lvl="1"/>
            <a:r>
              <a:rPr lang="en-US" dirty="0"/>
              <a:t>UML </a:t>
            </a:r>
            <a:r>
              <a:rPr lang="uk-UA" dirty="0"/>
              <a:t>діаграма</a:t>
            </a:r>
          </a:p>
          <a:p>
            <a:r>
              <a:rPr lang="uk-UA" dirty="0"/>
              <a:t>Порівняти з аналогами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93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415583336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Приклад ключових деталей:</a:t>
            </a:r>
            <a:br>
              <a:rPr lang="uk-UA" dirty="0"/>
            </a:br>
            <a:r>
              <a:rPr lang="uk-UA" dirty="0"/>
              <a:t>Архітектура нейронної мережі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uk-UA" dirty="0"/>
              <a:t>З яких елементів складається?</a:t>
            </a:r>
          </a:p>
          <a:p>
            <a:pPr lvl="1"/>
            <a:r>
              <a:rPr lang="uk-UA" dirty="0"/>
              <a:t>Скільки шарів?</a:t>
            </a:r>
          </a:p>
          <a:p>
            <a:pPr lvl="1"/>
            <a:r>
              <a:rPr lang="uk-UA" dirty="0"/>
              <a:t>Як пов’язані елементи?</a:t>
            </a:r>
          </a:p>
          <a:p>
            <a:pPr lvl="1"/>
            <a:r>
              <a:rPr lang="uk-UA" dirty="0"/>
              <a:t>Які функції активації?</a:t>
            </a:r>
          </a:p>
          <a:p>
            <a:r>
              <a:rPr lang="uk-UA" dirty="0"/>
              <a:t>Як проводиться тренування?</a:t>
            </a:r>
          </a:p>
          <a:p>
            <a:pPr lvl="1"/>
            <a:r>
              <a:rPr lang="uk-UA" dirty="0"/>
              <a:t>Який алгоритм налаштування параметрів?</a:t>
            </a:r>
          </a:p>
          <a:p>
            <a:pPr lvl="1"/>
            <a:r>
              <a:rPr lang="uk-UA" dirty="0"/>
              <a:t>Скільки ітерацій/епох/…?</a:t>
            </a:r>
          </a:p>
          <a:p>
            <a:pPr lvl="1"/>
            <a:r>
              <a:rPr lang="uk-UA" dirty="0"/>
              <a:t>Критерій зупинки тренування, збіжність?</a:t>
            </a:r>
            <a:endParaRPr lang="en-US" dirty="0"/>
          </a:p>
          <a:p>
            <a:r>
              <a:rPr lang="uk-UA" dirty="0"/>
              <a:t>Чому обрана саме така архітектура?</a:t>
            </a:r>
          </a:p>
          <a:p>
            <a:pPr lvl="1"/>
            <a:r>
              <a:rPr lang="uk-UA" dirty="0" err="1"/>
              <a:t>Валідація</a:t>
            </a:r>
            <a:r>
              <a:rPr lang="uk-UA" dirty="0"/>
              <a:t> </a:t>
            </a:r>
            <a:r>
              <a:rPr lang="uk-UA" dirty="0" err="1"/>
              <a:t>гіперпараметрів</a:t>
            </a:r>
            <a:r>
              <a:rPr lang="uk-UA" dirty="0"/>
              <a:t>?</a:t>
            </a:r>
          </a:p>
          <a:p>
            <a:pPr lvl="1"/>
            <a:r>
              <a:rPr lang="uk-UA" dirty="0"/>
              <a:t>Чи можна отримати аналогічні результати з простішою структурою мережі?</a:t>
            </a:r>
          </a:p>
          <a:p>
            <a:r>
              <a:rPr lang="uk-UA" dirty="0"/>
              <a:t>Порівняння з аналогами в публікаціях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94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321705571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Приклад ключових деталей:</a:t>
            </a:r>
            <a:br>
              <a:rPr lang="uk-UA" dirty="0"/>
            </a:br>
            <a:r>
              <a:rPr lang="uk-UA" dirty="0"/>
              <a:t>Збір, обробка даних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dirty="0"/>
              <a:t>Звідки взято дані для тренування/тестування/… ?</a:t>
            </a:r>
          </a:p>
          <a:p>
            <a:pPr lvl="1"/>
            <a:r>
              <a:rPr lang="uk-UA" dirty="0"/>
              <a:t>Відомий </a:t>
            </a:r>
            <a:r>
              <a:rPr lang="uk-UA" dirty="0" err="1"/>
              <a:t>датасет</a:t>
            </a:r>
            <a:r>
              <a:rPr lang="uk-UA" dirty="0"/>
              <a:t>?</a:t>
            </a:r>
          </a:p>
          <a:p>
            <a:pPr lvl="1"/>
            <a:r>
              <a:rPr lang="uk-UA" dirty="0"/>
              <a:t>Взято з попередніх робіт, </a:t>
            </a:r>
            <a:r>
              <a:rPr lang="uk-UA" dirty="0" err="1"/>
              <a:t>проєктів</a:t>
            </a:r>
            <a:r>
              <a:rPr lang="uk-UA" dirty="0"/>
              <a:t>, …?</a:t>
            </a:r>
          </a:p>
          <a:p>
            <a:pPr lvl="1"/>
            <a:r>
              <a:rPr lang="uk-UA" dirty="0"/>
              <a:t>Зібрано власноруч? Як саме?</a:t>
            </a:r>
          </a:p>
          <a:p>
            <a:pPr lvl="1"/>
            <a:r>
              <a:rPr lang="uk-UA" dirty="0"/>
              <a:t>Згенеровано випадковим чином?</a:t>
            </a:r>
          </a:p>
          <a:p>
            <a:r>
              <a:rPr lang="uk-UA" dirty="0"/>
              <a:t>Попередня обробка даних</a:t>
            </a:r>
          </a:p>
          <a:p>
            <a:pPr lvl="1"/>
            <a:r>
              <a:rPr lang="uk-UA" dirty="0"/>
              <a:t>Зведення до стандартної форми</a:t>
            </a:r>
          </a:p>
          <a:p>
            <a:pPr lvl="1"/>
            <a:r>
              <a:rPr lang="uk-UA" dirty="0"/>
              <a:t>Фільтрація неправильних даних</a:t>
            </a:r>
          </a:p>
          <a:p>
            <a:r>
              <a:rPr lang="uk-UA" dirty="0"/>
              <a:t>Розподіл на </a:t>
            </a:r>
            <a:r>
              <a:rPr lang="en-US" dirty="0"/>
              <a:t>training set / validation set / testing 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95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93847393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Приклад ключових деталей:</a:t>
            </a:r>
            <a:br>
              <a:rPr lang="uk-UA" dirty="0"/>
            </a:br>
            <a:r>
              <a:rPr lang="uk-UA" dirty="0"/>
              <a:t>Продуктивність, оптимізація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dirty="0"/>
              <a:t>Які вимоги до швидкодії/використання ресурсів/ефективності?</a:t>
            </a:r>
          </a:p>
          <a:p>
            <a:r>
              <a:rPr lang="uk-UA" dirty="0"/>
              <a:t>Чому виникла необхідність оптимізувати реалізацію/підвищувати ефективність?</a:t>
            </a:r>
          </a:p>
          <a:p>
            <a:r>
              <a:rPr lang="uk-UA" dirty="0"/>
              <a:t>Як саме досягли більшої ефективності?</a:t>
            </a:r>
          </a:p>
          <a:p>
            <a:pPr lvl="1"/>
            <a:r>
              <a:rPr lang="uk-UA" dirty="0"/>
              <a:t>Паралельні реалізації</a:t>
            </a:r>
          </a:p>
          <a:p>
            <a:pPr lvl="1"/>
            <a:r>
              <a:rPr lang="uk-UA" dirty="0"/>
              <a:t>Розподілені реалізації</a:t>
            </a:r>
          </a:p>
          <a:p>
            <a:pPr lvl="1"/>
            <a:r>
              <a:rPr lang="uk-UA" dirty="0"/>
              <a:t>Використання більш ефективних алгоритмів</a:t>
            </a:r>
          </a:p>
          <a:p>
            <a:pPr lvl="1"/>
            <a:r>
              <a:rPr lang="uk-UA" dirty="0"/>
              <a:t>Використання більш ефективних засобів реалізації</a:t>
            </a:r>
          </a:p>
          <a:p>
            <a:pPr lvl="1"/>
            <a:r>
              <a:rPr lang="uk-UA" dirty="0" err="1"/>
              <a:t>Кешування</a:t>
            </a:r>
            <a:endParaRPr lang="uk-UA" dirty="0"/>
          </a:p>
          <a:p>
            <a:pPr lvl="1"/>
            <a:r>
              <a:rPr lang="uk-UA" dirty="0" err="1"/>
              <a:t>Низькорівневі</a:t>
            </a:r>
            <a:r>
              <a:rPr lang="uk-UA" dirty="0"/>
              <a:t> оптимізації</a:t>
            </a:r>
          </a:p>
          <a:p>
            <a:r>
              <a:rPr lang="uk-UA" dirty="0"/>
              <a:t>Чи підтверджують експерименти/виміри, що було досягнуто більшої ефективності</a:t>
            </a:r>
          </a:p>
          <a:p>
            <a:pPr lvl="1"/>
            <a:r>
              <a:rPr lang="uk-UA" dirty="0"/>
              <a:t>Чи у всіх ситуаціях?</a:t>
            </a:r>
          </a:p>
          <a:p>
            <a:pPr lvl="1"/>
            <a:r>
              <a:rPr lang="uk-UA" dirty="0"/>
              <a:t>Чи є </a:t>
            </a:r>
            <a:r>
              <a:rPr lang="en-US" dirty="0"/>
              <a:t>trade-offs?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96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404090233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Експерименти, виміри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6334"/>
            <a:ext cx="8229600" cy="4809829"/>
          </a:xfrm>
        </p:spPr>
        <p:txBody>
          <a:bodyPr>
            <a:normAutofit fontScale="70000" lnSpcReduction="20000"/>
          </a:bodyPr>
          <a:lstStyle/>
          <a:p>
            <a:r>
              <a:rPr lang="uk-UA" dirty="0"/>
              <a:t>Обов’язково навести результати на слайдах</a:t>
            </a:r>
          </a:p>
          <a:p>
            <a:pPr lvl="1"/>
            <a:r>
              <a:rPr lang="uk-UA" dirty="0"/>
              <a:t>Але в такому вигляді, щоб було зрозуміло</a:t>
            </a:r>
          </a:p>
          <a:p>
            <a:r>
              <a:rPr lang="uk-UA" dirty="0"/>
              <a:t>Не варто</a:t>
            </a:r>
          </a:p>
          <a:p>
            <a:pPr lvl="1"/>
            <a:r>
              <a:rPr lang="uk-UA" dirty="0"/>
              <a:t>Таблиця з сотнями комірок</a:t>
            </a:r>
          </a:p>
          <a:p>
            <a:pPr lvl="1"/>
            <a:r>
              <a:rPr lang="uk-UA" dirty="0" err="1"/>
              <a:t>Скріншот</a:t>
            </a:r>
            <a:r>
              <a:rPr lang="uk-UA" dirty="0"/>
              <a:t> з програми, де виводить результати</a:t>
            </a:r>
          </a:p>
          <a:p>
            <a:pPr lvl="1"/>
            <a:r>
              <a:rPr lang="uk-UA" dirty="0"/>
              <a:t>Незрозумілий графік</a:t>
            </a:r>
          </a:p>
          <a:p>
            <a:pPr lvl="1"/>
            <a:r>
              <a:rPr lang="uk-UA" dirty="0"/>
              <a:t>«Виміри показали що моя програма краща» (без конкретних даних)</a:t>
            </a:r>
          </a:p>
          <a:p>
            <a:r>
              <a:rPr lang="uk-UA" dirty="0"/>
              <a:t>Варто</a:t>
            </a:r>
          </a:p>
          <a:p>
            <a:pPr lvl="1"/>
            <a:r>
              <a:rPr lang="uk-UA" dirty="0"/>
              <a:t>Графік з чітко зрозумілими лініями, осями, одиницями вимірювання</a:t>
            </a:r>
          </a:p>
          <a:p>
            <a:pPr lvl="1"/>
            <a:r>
              <a:rPr lang="uk-UA" dirty="0"/>
              <a:t>Таблиця з обмеженою кількістю ключових результатів, одиниці виміру, доцільна точність (не 1.23456789)</a:t>
            </a:r>
          </a:p>
          <a:p>
            <a:pPr lvl="1"/>
            <a:r>
              <a:rPr lang="uk-UA" dirty="0"/>
              <a:t>Конкретні результати в тексті («у випадку А реалізована програма працює швидше в </a:t>
            </a:r>
            <a:r>
              <a:rPr lang="uk-UA" b="1" dirty="0"/>
              <a:t>2,4 рази</a:t>
            </a:r>
            <a:r>
              <a:rPr lang="uk-UA" dirty="0"/>
              <a:t>, при цьому точність падає не більше ніж на </a:t>
            </a:r>
            <a:r>
              <a:rPr lang="uk-UA" b="1" dirty="0"/>
              <a:t>10%</a:t>
            </a:r>
            <a:r>
              <a:rPr lang="uk-UA" dirty="0"/>
              <a:t>»)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97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154216955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Порівняння з аналогами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dirty="0"/>
              <a:t>Часто наводять у вигляді таблиці порівняння окремих можливостей</a:t>
            </a:r>
          </a:p>
          <a:p>
            <a:r>
              <a:rPr lang="uk-UA" dirty="0"/>
              <a:t>Варто описати, звідки взято дані</a:t>
            </a:r>
          </a:p>
          <a:p>
            <a:pPr lvl="1"/>
            <a:r>
              <a:rPr lang="uk-UA" dirty="0"/>
              <a:t>Отримано самостійно</a:t>
            </a:r>
          </a:p>
          <a:p>
            <a:pPr lvl="1"/>
            <a:r>
              <a:rPr lang="uk-UA" dirty="0"/>
              <a:t>Взято з джерел</a:t>
            </a:r>
          </a:p>
          <a:p>
            <a:pPr lvl="1"/>
            <a:r>
              <a:rPr lang="uk-UA" dirty="0"/>
              <a:t>Наскільки сумісні різні пункти (чи не порівнюються в різних ситуаціях?)</a:t>
            </a:r>
          </a:p>
          <a:p>
            <a:r>
              <a:rPr lang="uk-UA" dirty="0"/>
              <a:t>Можна навести двічі</a:t>
            </a:r>
          </a:p>
          <a:p>
            <a:pPr lvl="1"/>
            <a:r>
              <a:rPr lang="uk-UA" dirty="0"/>
              <a:t>На початку без розробленої системи</a:t>
            </a:r>
          </a:p>
          <a:p>
            <a:pPr lvl="1"/>
            <a:r>
              <a:rPr lang="uk-UA" dirty="0"/>
              <a:t>Наприкінці додати розроблену систему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98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104413922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z="4000" dirty="0"/>
              <a:t>Наскільки детально описувати те, що використали (а не зробили самі)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dirty="0"/>
              <a:t>Чітко сформулювати на початку, що саме зробили Ви</a:t>
            </a:r>
          </a:p>
          <a:p>
            <a:pPr lvl="1"/>
            <a:r>
              <a:rPr lang="uk-UA" dirty="0"/>
              <a:t>Особливо якщо є близькі роботи – цього чи попередніх років</a:t>
            </a:r>
          </a:p>
          <a:p>
            <a:pPr lvl="1"/>
            <a:r>
              <a:rPr lang="uk-UA" dirty="0"/>
              <a:t>Або якщо можливі питання</a:t>
            </a:r>
          </a:p>
          <a:p>
            <a:pPr lvl="1"/>
            <a:r>
              <a:rPr lang="uk-UA" dirty="0"/>
              <a:t>Краще чесно сформулювати свій внесок, ніж отримати питання та зауваження</a:t>
            </a:r>
          </a:p>
          <a:p>
            <a:r>
              <a:rPr lang="uk-UA" dirty="0"/>
              <a:t>Назвати використані підходи, технології, інструменти</a:t>
            </a:r>
          </a:p>
          <a:p>
            <a:pPr lvl="1"/>
            <a:r>
              <a:rPr lang="uk-UA" dirty="0"/>
              <a:t>Можливо, які їх особливості використали</a:t>
            </a:r>
          </a:p>
          <a:p>
            <a:pPr lvl="1"/>
            <a:r>
              <a:rPr lang="uk-UA" dirty="0"/>
              <a:t>Не варто зупинятись детально!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99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369721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100</a:t>
            </a:fld>
            <a:endParaRPr lang="ru-RU" altLang="en-US"/>
          </a:p>
        </p:txBody>
      </p:sp>
      <p:pic>
        <p:nvPicPr>
          <p:cNvPr id="2050" name="Picture 2" descr="Впихнуть &quot;невпихуемое&quot;. - YouTub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963"/>
          <a:stretch/>
        </p:blipFill>
        <p:spPr bwMode="auto">
          <a:xfrm>
            <a:off x="40642" y="1146763"/>
            <a:ext cx="9103358" cy="368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013577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«Кожен студент хоче трохи побути лектором…»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Типовий </a:t>
            </a:r>
            <a:r>
              <a:rPr lang="uk-UA" dirty="0" err="1"/>
              <a:t>антипатерн</a:t>
            </a:r>
            <a:endParaRPr lang="uk-UA" dirty="0"/>
          </a:p>
          <a:p>
            <a:pPr lvl="1"/>
            <a:r>
              <a:rPr lang="uk-UA" dirty="0"/>
              <a:t>Студент починає детально розповідати про використані технології, математичні основи, теорію, …</a:t>
            </a:r>
          </a:p>
          <a:p>
            <a:pPr lvl="1"/>
            <a:r>
              <a:rPr lang="uk-UA" dirty="0"/>
              <a:t>Час завершується</a:t>
            </a:r>
          </a:p>
          <a:p>
            <a:pPr lvl="1"/>
            <a:r>
              <a:rPr lang="uk-UA" dirty="0"/>
              <a:t>Модератор: «Ви перевершили свій час, у Вас 1 хвилина, переходьте до висновків»</a:t>
            </a:r>
          </a:p>
          <a:p>
            <a:pPr lvl="1"/>
            <a:r>
              <a:rPr lang="uk-UA" dirty="0"/>
              <a:t>Студент: «Так я ж ще не почав…»</a:t>
            </a:r>
          </a:p>
          <a:p>
            <a:pPr lvl="1"/>
            <a:r>
              <a:rPr lang="uk-UA" dirty="0"/>
              <a:t>Результат захисту виходить не таким, як хотілося б студенту…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101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24836234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z="3600" dirty="0"/>
              <a:t>«Але мені потрібно пояснити основи, щоб зрозуміли мої результати…»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uk-UA" dirty="0"/>
              <a:t>Дві можливі ситуації</a:t>
            </a:r>
          </a:p>
          <a:p>
            <a:r>
              <a:rPr lang="uk-UA" dirty="0"/>
              <a:t>1. Викладач (член комісії, інші присутні) вже знає цю тему </a:t>
            </a:r>
          </a:p>
          <a:p>
            <a:pPr lvl="1"/>
            <a:r>
              <a:rPr lang="uk-UA" dirty="0"/>
              <a:t>Тоді слухати детальне пояснення буде нецікаво</a:t>
            </a:r>
          </a:p>
          <a:p>
            <a:pPr lvl="1"/>
            <a:r>
              <a:rPr lang="uk-UA" dirty="0"/>
              <a:t>Більше шансів питань щодо деталей (відповіді на які студент може не знати, або забути від хвилювання)</a:t>
            </a:r>
          </a:p>
          <a:p>
            <a:r>
              <a:rPr lang="uk-UA" dirty="0"/>
              <a:t>2. Викладач не знає цієї теми</a:t>
            </a:r>
          </a:p>
          <a:p>
            <a:pPr lvl="1"/>
            <a:r>
              <a:rPr lang="uk-UA" dirty="0"/>
              <a:t>Не усі викладачі детально розбираються в усьому</a:t>
            </a:r>
          </a:p>
          <a:p>
            <a:pPr lvl="1"/>
            <a:r>
              <a:rPr lang="uk-UA" dirty="0"/>
              <a:t>Але не хочеться цього показувати </a:t>
            </a:r>
            <a:r>
              <a:rPr lang="uk-UA" dirty="0">
                <a:sym typeface="Wingdings" panose="05000000000000000000" pitchFamily="2" charset="2"/>
              </a:rPr>
              <a:t></a:t>
            </a:r>
            <a:endParaRPr lang="uk-UA" dirty="0"/>
          </a:p>
          <a:p>
            <a:pPr lvl="1"/>
            <a:r>
              <a:rPr lang="uk-UA" dirty="0"/>
              <a:t>За обмежений час все одно не вийде пояснити детально</a:t>
            </a:r>
          </a:p>
          <a:p>
            <a:pPr lvl="1"/>
            <a:r>
              <a:rPr lang="uk-UA" dirty="0"/>
              <a:t>Більше шансів питань «не по темі» – наприклад, почули знайоме слово, хоча в цьому контексті воно використовується у зовсім іншому значенні</a:t>
            </a:r>
          </a:p>
          <a:p>
            <a:r>
              <a:rPr lang="uk-UA" dirty="0"/>
              <a:t>Тому варто назвати використані засоби, але не пояснювати</a:t>
            </a:r>
          </a:p>
          <a:p>
            <a:pPr lvl="1"/>
            <a:r>
              <a:rPr lang="uk-UA" dirty="0"/>
              <a:t>Викладачі зроблять вигляд, що все зрозуміли – навіть якщо це не так </a:t>
            </a:r>
            <a:r>
              <a:rPr lang="uk-UA" dirty="0">
                <a:sym typeface="Wingdings" panose="05000000000000000000" pitchFamily="2" charset="2"/>
              </a:rPr>
              <a:t>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Можливо, менше питань «не по темі»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102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39358359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«Тобто все, що ми робили, нікому не потрібно?..»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646985" cy="4525963"/>
          </a:xfrm>
        </p:spPr>
        <p:txBody>
          <a:bodyPr>
            <a:normAutofit fontScale="92500" lnSpcReduction="10000"/>
          </a:bodyPr>
          <a:lstStyle/>
          <a:p>
            <a:r>
              <a:rPr lang="uk-UA" dirty="0"/>
              <a:t>Коротка відповідь – «так» </a:t>
            </a:r>
            <a:r>
              <a:rPr lang="uk-UA" dirty="0">
                <a:sym typeface="Wingdings" panose="05000000000000000000" pitchFamily="2" charset="2"/>
              </a:rPr>
              <a:t>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Але </a:t>
            </a:r>
            <a:r>
              <a:rPr lang="en-US" dirty="0">
                <a:sym typeface="Wingdings" panose="05000000000000000000" pitchFamily="2" charset="2"/>
              </a:rPr>
              <a:t>“devil in details”</a:t>
            </a:r>
          </a:p>
          <a:p>
            <a:r>
              <a:rPr lang="uk-UA" dirty="0">
                <a:sym typeface="Wingdings" panose="05000000000000000000" pitchFamily="2" charset="2"/>
              </a:rPr>
              <a:t>Стандартна рекомендація – принцип айсберга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Лише невелика частина того, що Ви знаєте, потрапляє на слайди</a:t>
            </a:r>
          </a:p>
          <a:p>
            <a:r>
              <a:rPr lang="uk-UA" dirty="0">
                <a:sym typeface="Wingdings" panose="05000000000000000000" pitchFamily="2" charset="2"/>
              </a:rPr>
              <a:t>Можуть виникнути питання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Треба буде готовими коротко відповісти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Та/або зробити посилання на повний текст роботи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103</a:t>
            </a:fld>
            <a:endParaRPr lang="ru-RU" altLang="en-US"/>
          </a:p>
        </p:txBody>
      </p:sp>
      <p:pic>
        <p:nvPicPr>
          <p:cNvPr id="4098" name="Picture 2" descr="But What About Greenland? - Wait But Wh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866" y="1920506"/>
            <a:ext cx="2170134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520746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Приклад розподілу часу на виступ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dirty="0"/>
              <a:t>Титульний слайд, мета, завдання, актуальність – 1 хвилина (не більше 1,5 хвилини)</a:t>
            </a:r>
          </a:p>
          <a:p>
            <a:r>
              <a:rPr lang="uk-UA" dirty="0"/>
              <a:t>Що реалізовано, вимоги – 0,5-1 хв.</a:t>
            </a:r>
          </a:p>
          <a:p>
            <a:r>
              <a:rPr lang="uk-UA" dirty="0"/>
              <a:t>Архітектура, використані технології – 0,5-1 хв.</a:t>
            </a:r>
          </a:p>
          <a:p>
            <a:r>
              <a:rPr lang="uk-UA" dirty="0"/>
              <a:t>Ключові особливості реалізації, проведені експерименти/виміри – 1-2 хв.</a:t>
            </a:r>
          </a:p>
          <a:p>
            <a:r>
              <a:rPr lang="uk-UA" dirty="0"/>
              <a:t>Відео демонстрація – 1 хв.</a:t>
            </a:r>
          </a:p>
          <a:p>
            <a:r>
              <a:rPr lang="uk-UA" dirty="0"/>
              <a:t>Висновки, подальші плани – 0,5 хв.</a:t>
            </a:r>
          </a:p>
          <a:p>
            <a:r>
              <a:rPr lang="uk-UA" dirty="0"/>
              <a:t>Загалом – 4,5-7 хв.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104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169550305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Cheat/</a:t>
            </a:r>
            <a:r>
              <a:rPr lang="en-US" dirty="0" err="1"/>
              <a:t>Lifehack</a:t>
            </a:r>
            <a:r>
              <a:rPr lang="en-US" dirty="0"/>
              <a:t>: </a:t>
            </a:r>
            <a:r>
              <a:rPr lang="uk-UA" dirty="0"/>
              <a:t>додаткові слайди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dirty="0"/>
              <a:t>Розрахувати основні слайди на 5-7 хвилин</a:t>
            </a:r>
          </a:p>
          <a:p>
            <a:r>
              <a:rPr lang="uk-UA" dirty="0"/>
              <a:t>Але підготувати додаткові слайди з деталями</a:t>
            </a:r>
          </a:p>
          <a:p>
            <a:pPr lvl="1"/>
            <a:r>
              <a:rPr lang="uk-UA" dirty="0"/>
              <a:t>Наприклад, після останнього слайду (можна додати кілька пустих, щоб випадково не заскочити)</a:t>
            </a:r>
          </a:p>
          <a:p>
            <a:pPr lvl="1"/>
            <a:r>
              <a:rPr lang="uk-UA" dirty="0"/>
              <a:t>Або окремі документи  і додати посилання (складніше, не рекомендовано)</a:t>
            </a:r>
          </a:p>
          <a:p>
            <a:r>
              <a:rPr lang="uk-UA" dirty="0"/>
              <a:t>Якщо виникнуть питання – можна буде їх показати</a:t>
            </a:r>
          </a:p>
          <a:p>
            <a:pPr lvl="1"/>
            <a:r>
              <a:rPr lang="uk-UA" dirty="0"/>
              <a:t>Хтось навіть не зрозуміє, що цього раніше не було </a:t>
            </a:r>
            <a:r>
              <a:rPr lang="uk-UA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105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99439748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Оформлення слайдів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Загальні рекомендації щодо оформлення слайдів</a:t>
            </a:r>
          </a:p>
          <a:p>
            <a:pPr lvl="1"/>
            <a:r>
              <a:rPr lang="uk-UA" dirty="0"/>
              <a:t>Класика: </a:t>
            </a:r>
            <a:r>
              <a:rPr lang="en-US" dirty="0">
                <a:hlinkClick r:id="rId2"/>
              </a:rPr>
              <a:t>https://www.slideshare.net/thecroaker/death-by-powerpoint</a:t>
            </a:r>
            <a:r>
              <a:rPr lang="uk-UA" dirty="0"/>
              <a:t> </a:t>
            </a:r>
          </a:p>
          <a:p>
            <a:pPr lvl="1"/>
            <a:r>
              <a:rPr lang="uk-UA" dirty="0"/>
              <a:t>Проте враховувати обмежений час</a:t>
            </a:r>
          </a:p>
          <a:p>
            <a:r>
              <a:rPr lang="uk-UA" dirty="0"/>
              <a:t>Немає чітких вимог</a:t>
            </a:r>
          </a:p>
          <a:p>
            <a:pPr lvl="1"/>
            <a:r>
              <a:rPr lang="uk-UA" dirty="0"/>
              <a:t>Але не варто робити «надто екзотично»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106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8141993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Номери слайдів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dirty="0"/>
              <a:t>Обов’язково потрібні!</a:t>
            </a:r>
          </a:p>
          <a:p>
            <a:r>
              <a:rPr lang="uk-UA" dirty="0"/>
              <a:t>Великі і помітні</a:t>
            </a:r>
          </a:p>
          <a:p>
            <a:pPr lvl="1"/>
            <a:r>
              <a:rPr lang="uk-UA" dirty="0"/>
              <a:t>Зазвичай внизу справа</a:t>
            </a:r>
          </a:p>
          <a:p>
            <a:pPr lvl="1"/>
            <a:r>
              <a:rPr lang="uk-UA" dirty="0"/>
              <a:t>Інші позиції – менш звичні, можуть не помітити</a:t>
            </a:r>
          </a:p>
          <a:p>
            <a:pPr lvl="1"/>
            <a:r>
              <a:rPr lang="uk-UA" dirty="0"/>
              <a:t>Особливо якщо є фон, зображення, …</a:t>
            </a:r>
          </a:p>
          <a:p>
            <a:r>
              <a:rPr lang="uk-UA" dirty="0"/>
              <a:t>Навіщо?</a:t>
            </a:r>
          </a:p>
          <a:p>
            <a:pPr lvl="1"/>
            <a:r>
              <a:rPr lang="uk-UA" dirty="0"/>
              <a:t>У викладачів можуть виникнути питання до слайдів</a:t>
            </a:r>
          </a:p>
          <a:p>
            <a:pPr lvl="1"/>
            <a:r>
              <a:rPr lang="uk-UA" dirty="0"/>
              <a:t>Вони попросять «перейдіть будь ласка на слайд 9»</a:t>
            </a:r>
          </a:p>
          <a:p>
            <a:pPr lvl="1"/>
            <a:r>
              <a:rPr lang="uk-UA" dirty="0"/>
              <a:t>Але якщо номерів слайдів немає – будуть вважати, що на це питання не відповіли (і відповідно знизять оцінку)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107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240306774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Номери слайдів</a:t>
            </a:r>
            <a:br>
              <a:rPr lang="uk-UA" dirty="0"/>
            </a:br>
            <a:r>
              <a:rPr lang="uk-UA" dirty="0"/>
              <a:t>Додаткові рекомендації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uk-UA" dirty="0"/>
              <a:t>Номери слайдів в форматі з двох чисел 2</a:t>
            </a:r>
            <a:r>
              <a:rPr lang="en-US" dirty="0"/>
              <a:t>/15 (</a:t>
            </a:r>
            <a:r>
              <a:rPr lang="uk-UA" dirty="0"/>
              <a:t>номер поточного слайду та загальна кількість слайдів)</a:t>
            </a:r>
          </a:p>
          <a:p>
            <a:pPr lvl="1"/>
            <a:r>
              <a:rPr lang="uk-UA" dirty="0"/>
              <a:t>Дозволяє зрозуміти </a:t>
            </a:r>
            <a:r>
              <a:rPr lang="uk-UA" strike="sngStrike" dirty="0"/>
              <a:t>як довго ще мучитись</a:t>
            </a:r>
            <a:r>
              <a:rPr lang="uk-UA" dirty="0"/>
              <a:t> прогрес доповіді, чи встигаєте за часом</a:t>
            </a:r>
          </a:p>
          <a:p>
            <a:pPr lvl="1"/>
            <a:r>
              <a:rPr lang="uk-UA" dirty="0"/>
              <a:t>Якщо є «запасні слайди» – не варто включати в загальну кількість</a:t>
            </a:r>
          </a:p>
          <a:p>
            <a:r>
              <a:rPr lang="uk-UA" dirty="0"/>
              <a:t>Може бути корисно – назву роботи (дрібним але читабельним шрифтом) на кожному слайді (внизу, зверху, в рамці)</a:t>
            </a:r>
          </a:p>
          <a:p>
            <a:pPr lvl="1"/>
            <a:r>
              <a:rPr lang="uk-UA" dirty="0"/>
              <a:t>Щоб не забули про що взагалі </a:t>
            </a:r>
            <a:r>
              <a:rPr lang="uk-UA" dirty="0">
                <a:sym typeface="Wingdings" panose="05000000000000000000" pitchFamily="2" charset="2"/>
              </a:rPr>
              <a:t></a:t>
            </a:r>
          </a:p>
          <a:p>
            <a:pPr lvl="1"/>
            <a:r>
              <a:rPr lang="uk-UA" dirty="0"/>
              <a:t>Назва має бути змістовною та правильною, інакше це лише підвищить шанс питань про правильність назви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108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134944022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Помилки на слайдах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dirty="0"/>
              <a:t>Часто трапляються прикрі помилки</a:t>
            </a:r>
          </a:p>
          <a:p>
            <a:pPr lvl="1"/>
            <a:r>
              <a:rPr lang="uk-UA" dirty="0"/>
              <a:t>Орфографічні</a:t>
            </a:r>
          </a:p>
          <a:p>
            <a:pPr lvl="1"/>
            <a:r>
              <a:rPr lang="uk-UA" dirty="0"/>
              <a:t>Неправильний переклад, кальки з інших мов</a:t>
            </a:r>
          </a:p>
          <a:p>
            <a:pPr lvl="1"/>
            <a:r>
              <a:rPr lang="uk-UA" dirty="0"/>
              <a:t>Неправильна чи недоцільна побудова фраз</a:t>
            </a:r>
          </a:p>
          <a:p>
            <a:pPr lvl="1"/>
            <a:r>
              <a:rPr lang="uk-UA" dirty="0"/>
              <a:t>Неправильні терміни</a:t>
            </a:r>
          </a:p>
          <a:p>
            <a:r>
              <a:rPr lang="uk-UA" dirty="0"/>
              <a:t>Іноді через те, що слайди складаються чи редагуються в останній момент</a:t>
            </a:r>
          </a:p>
          <a:p>
            <a:r>
              <a:rPr lang="uk-UA" dirty="0"/>
              <a:t>Негативно впливає на враження від роботи</a:t>
            </a:r>
          </a:p>
          <a:p>
            <a:pPr lvl="1"/>
            <a:r>
              <a:rPr lang="uk-UA" dirty="0"/>
              <a:t>І часто на оцінку…</a:t>
            </a:r>
          </a:p>
          <a:p>
            <a:r>
              <a:rPr lang="uk-UA" dirty="0"/>
              <a:t>Варто зробити слайди завчасно</a:t>
            </a:r>
          </a:p>
          <a:p>
            <a:pPr lvl="1"/>
            <a:r>
              <a:rPr lang="uk-UA" dirty="0"/>
              <a:t>Кілька разів перевірити</a:t>
            </a:r>
          </a:p>
          <a:p>
            <a:pPr lvl="1"/>
            <a:r>
              <a:rPr lang="uk-UA" dirty="0"/>
              <a:t>Завчасно надіслати керівнику</a:t>
            </a:r>
          </a:p>
          <a:p>
            <a:pPr lvl="1"/>
            <a:r>
              <a:rPr lang="uk-UA" dirty="0"/>
              <a:t>Не нехтувати автоматичними засобами перевірки – але й не сподіватись лише на них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109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281042892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Стиль слайдів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Фокус не на тому, щоб було красиво – а щоб було зрозуміло</a:t>
            </a:r>
          </a:p>
          <a:p>
            <a:r>
              <a:rPr lang="uk-UA" dirty="0"/>
              <a:t>Можна використовувати кольори, зображення, анімації, різні стилі</a:t>
            </a:r>
          </a:p>
          <a:p>
            <a:pPr lvl="1"/>
            <a:r>
              <a:rPr lang="uk-UA" dirty="0"/>
              <a:t>Але не зловживати</a:t>
            </a:r>
          </a:p>
          <a:p>
            <a:pPr lvl="1"/>
            <a:r>
              <a:rPr lang="uk-UA" dirty="0"/>
              <a:t>Пам’ятати про обмежений час</a:t>
            </a:r>
          </a:p>
          <a:p>
            <a:pPr lvl="1"/>
            <a:r>
              <a:rPr lang="uk-UA" dirty="0"/>
              <a:t>Важливіше, щоб всі все зрозуміли – оформлення має цьому сприяти, а не заважати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110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5827704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>
                <a:solidFill>
                  <a:schemeClr val="bg1"/>
                </a:solidFill>
              </a:rPr>
              <a:t>Антипатерн</a:t>
            </a:r>
            <a:r>
              <a:rPr lang="uk-UA" dirty="0">
                <a:solidFill>
                  <a:schemeClr val="bg1"/>
                </a:solidFill>
              </a:rPr>
              <a:t>: «білим по білому»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dirty="0">
                <a:solidFill>
                  <a:schemeClr val="bg1"/>
                </a:solidFill>
              </a:rPr>
              <a:t>Використання близьких кольорів для фону та тексту</a:t>
            </a:r>
          </a:p>
          <a:p>
            <a:pPr lvl="1"/>
            <a:r>
              <a:rPr lang="uk-UA" dirty="0">
                <a:solidFill>
                  <a:schemeClr val="bg1"/>
                </a:solidFill>
              </a:rPr>
              <a:t>Іноді виникає через конфлікт загального стилю та наповнення конкретного слайду</a:t>
            </a:r>
          </a:p>
          <a:p>
            <a:pPr lvl="1"/>
            <a:r>
              <a:rPr lang="uk-UA" dirty="0">
                <a:solidFill>
                  <a:schemeClr val="bg1"/>
                </a:solidFill>
              </a:rPr>
              <a:t>Іноді через копіювання з інших джерел</a:t>
            </a:r>
          </a:p>
          <a:p>
            <a:r>
              <a:rPr lang="uk-UA" dirty="0">
                <a:solidFill>
                  <a:schemeClr val="bg1"/>
                </a:solidFill>
              </a:rPr>
              <a:t>Краще використовувати максимально контрастні кольори</a:t>
            </a:r>
          </a:p>
          <a:p>
            <a:pPr lvl="1"/>
            <a:r>
              <a:rPr lang="uk-UA" dirty="0">
                <a:solidFill>
                  <a:schemeClr val="bg1"/>
                </a:solidFill>
              </a:rPr>
              <a:t>На жаль, не у всіх викладачів ідеальний зір…</a:t>
            </a:r>
          </a:p>
          <a:p>
            <a:pPr lvl="1"/>
            <a:r>
              <a:rPr lang="uk-UA" dirty="0">
                <a:solidFill>
                  <a:schemeClr val="bg1"/>
                </a:solidFill>
              </a:rPr>
              <a:t>Особливо актуально для захисту в аудиторії</a:t>
            </a:r>
          </a:p>
          <a:p>
            <a:pPr lvl="1"/>
            <a:r>
              <a:rPr lang="uk-UA" dirty="0">
                <a:solidFill>
                  <a:schemeClr val="bg1"/>
                </a:solidFill>
              </a:rPr>
              <a:t>Але також для онлайн-захисту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111</a:t>
            </a:fld>
            <a:endParaRPr lang="ru-RU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71789" y="6350558"/>
            <a:ext cx="2988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Питання: що це за слайд?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558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>
                <a:solidFill>
                  <a:schemeClr val="bg1">
                    <a:lumMod val="95000"/>
                  </a:schemeClr>
                </a:solidFill>
              </a:rPr>
              <a:t>Антипатерн</a:t>
            </a:r>
            <a:r>
              <a:rPr lang="uk-UA" dirty="0">
                <a:solidFill>
                  <a:schemeClr val="bg1">
                    <a:lumMod val="95000"/>
                  </a:schemeClr>
                </a:solidFill>
              </a:rPr>
              <a:t>: «білим по білому»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dirty="0">
                <a:solidFill>
                  <a:schemeClr val="bg1">
                    <a:lumMod val="95000"/>
                  </a:schemeClr>
                </a:solidFill>
              </a:rPr>
              <a:t>Використання близьких кольорів для фону та тексту</a:t>
            </a:r>
          </a:p>
          <a:p>
            <a:pPr lvl="1"/>
            <a:r>
              <a:rPr lang="uk-UA" dirty="0">
                <a:solidFill>
                  <a:schemeClr val="bg1">
                    <a:lumMod val="95000"/>
                  </a:schemeClr>
                </a:solidFill>
              </a:rPr>
              <a:t>Іноді виникає через конфлікт загального стилю та наповнення конкретного слайду</a:t>
            </a:r>
          </a:p>
          <a:p>
            <a:pPr lvl="1"/>
            <a:r>
              <a:rPr lang="uk-UA" dirty="0">
                <a:solidFill>
                  <a:schemeClr val="bg1">
                    <a:lumMod val="95000"/>
                  </a:schemeClr>
                </a:solidFill>
              </a:rPr>
              <a:t>Іноді через копіювання з інших джерел</a:t>
            </a:r>
          </a:p>
          <a:p>
            <a:r>
              <a:rPr lang="uk-UA" dirty="0">
                <a:solidFill>
                  <a:schemeClr val="bg1">
                    <a:lumMod val="95000"/>
                  </a:schemeClr>
                </a:solidFill>
              </a:rPr>
              <a:t>Краще використовувати максимально контрастні кольори</a:t>
            </a:r>
          </a:p>
          <a:p>
            <a:pPr lvl="1"/>
            <a:r>
              <a:rPr lang="uk-UA" dirty="0">
                <a:solidFill>
                  <a:schemeClr val="bg1">
                    <a:lumMod val="95000"/>
                  </a:schemeClr>
                </a:solidFill>
              </a:rPr>
              <a:t>На жаль, не у всіх викладачів ідеальний зір…</a:t>
            </a:r>
          </a:p>
          <a:p>
            <a:pPr lvl="1"/>
            <a:r>
              <a:rPr lang="uk-UA" dirty="0">
                <a:solidFill>
                  <a:schemeClr val="bg1">
                    <a:lumMod val="95000"/>
                  </a:schemeClr>
                </a:solidFill>
              </a:rPr>
              <a:t>Особливо актуально для захисту в аудиторії</a:t>
            </a:r>
          </a:p>
          <a:p>
            <a:pPr lvl="1"/>
            <a:r>
              <a:rPr lang="uk-UA" dirty="0">
                <a:solidFill>
                  <a:schemeClr val="bg1">
                    <a:lumMod val="95000"/>
                  </a:schemeClr>
                </a:solidFill>
              </a:rPr>
              <a:t>Але також для онлайн-захисту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112</a:t>
            </a:fld>
            <a:endParaRPr lang="ru-RU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71789" y="6350558"/>
            <a:ext cx="159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А так краще?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023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Антипатерн</a:t>
            </a:r>
            <a:r>
              <a:rPr lang="uk-UA" dirty="0"/>
              <a:t>: «білим по білому»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dirty="0"/>
              <a:t>Використання близьких кольорів для фону та тексту</a:t>
            </a:r>
          </a:p>
          <a:p>
            <a:pPr lvl="1"/>
            <a:r>
              <a:rPr lang="uk-UA" dirty="0"/>
              <a:t>Іноді виникає через конфлікт загального стилю та наповнення конкретного слайду</a:t>
            </a:r>
          </a:p>
          <a:p>
            <a:pPr lvl="1"/>
            <a:r>
              <a:rPr lang="uk-UA" dirty="0"/>
              <a:t>Іноді через копіювання з інших джерел</a:t>
            </a:r>
          </a:p>
          <a:p>
            <a:r>
              <a:rPr lang="uk-UA" dirty="0"/>
              <a:t>Краще використовувати максимально контрастні кольори</a:t>
            </a:r>
          </a:p>
          <a:p>
            <a:pPr lvl="1"/>
            <a:r>
              <a:rPr lang="uk-UA" dirty="0"/>
              <a:t>На жаль, не у всіх викладачів ідеальний зір…</a:t>
            </a:r>
          </a:p>
          <a:p>
            <a:pPr lvl="1"/>
            <a:r>
              <a:rPr lang="uk-UA" dirty="0"/>
              <a:t>Особливо актуально для захисту в аудиторії</a:t>
            </a:r>
          </a:p>
          <a:p>
            <a:pPr lvl="1"/>
            <a:r>
              <a:rPr lang="uk-UA" dirty="0"/>
              <a:t>Але також для онлайн-захисту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113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55486795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z="800" dirty="0" err="1"/>
              <a:t>Антипатерн</a:t>
            </a:r>
            <a:r>
              <a:rPr lang="uk-UA" sz="800" dirty="0"/>
              <a:t> «продаю лінзи, недорого»</a:t>
            </a:r>
            <a:endParaRPr lang="en-US" sz="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800" dirty="0"/>
              <a:t>Розмір тексту має бути таким, щоб його можна було прочитати</a:t>
            </a:r>
          </a:p>
          <a:p>
            <a:r>
              <a:rPr lang="uk-UA" sz="800" dirty="0"/>
              <a:t>Захист в аудиторії</a:t>
            </a:r>
          </a:p>
          <a:p>
            <a:pPr lvl="1"/>
            <a:r>
              <a:rPr lang="uk-UA" sz="800" dirty="0"/>
              <a:t>Поганий </a:t>
            </a:r>
            <a:r>
              <a:rPr lang="uk-UA" sz="800" dirty="0" err="1"/>
              <a:t>проєктор</a:t>
            </a:r>
            <a:endParaRPr lang="uk-UA" sz="800" dirty="0"/>
          </a:p>
          <a:p>
            <a:pPr lvl="1"/>
            <a:r>
              <a:rPr lang="uk-UA" sz="800" dirty="0"/>
              <a:t>Викладач далеко в аудиторії</a:t>
            </a:r>
          </a:p>
          <a:p>
            <a:pPr lvl="1"/>
            <a:r>
              <a:rPr lang="uk-UA" sz="800" dirty="0"/>
              <a:t>Умови освітлення</a:t>
            </a:r>
          </a:p>
          <a:p>
            <a:r>
              <a:rPr lang="uk-UA" sz="800" dirty="0"/>
              <a:t>Захист онлайн</a:t>
            </a:r>
          </a:p>
          <a:p>
            <a:pPr lvl="1"/>
            <a:r>
              <a:rPr lang="uk-UA" sz="800" dirty="0"/>
              <a:t>Різні пристрої, дрібний екран</a:t>
            </a:r>
          </a:p>
          <a:p>
            <a:pPr lvl="1"/>
            <a:r>
              <a:rPr lang="uk-UA" sz="800" dirty="0"/>
              <a:t>Залежно від системи відео-конференцій, частина екрану зайнято службовою інформацією</a:t>
            </a:r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114</a:t>
            </a:fld>
            <a:endParaRPr lang="ru-RU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71789" y="6350558"/>
            <a:ext cx="2988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Питання: що це за слайд?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97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z="2000" dirty="0" err="1"/>
              <a:t>Антипатерн</a:t>
            </a:r>
            <a:r>
              <a:rPr lang="uk-UA" sz="2000" dirty="0"/>
              <a:t> «продаю лінзи, недорого»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000" dirty="0"/>
              <a:t>Розмір тексту має бути таким, щоб його можна було прочитати</a:t>
            </a:r>
          </a:p>
          <a:p>
            <a:r>
              <a:rPr lang="uk-UA" sz="2000" dirty="0"/>
              <a:t>Захист в аудиторії</a:t>
            </a:r>
          </a:p>
          <a:p>
            <a:pPr lvl="1"/>
            <a:r>
              <a:rPr lang="uk-UA" sz="2000" dirty="0"/>
              <a:t>Поганий </a:t>
            </a:r>
            <a:r>
              <a:rPr lang="uk-UA" sz="2000" dirty="0" err="1"/>
              <a:t>проєктор</a:t>
            </a:r>
            <a:endParaRPr lang="uk-UA" sz="2000" dirty="0"/>
          </a:p>
          <a:p>
            <a:pPr lvl="1"/>
            <a:r>
              <a:rPr lang="uk-UA" sz="2000" dirty="0"/>
              <a:t>Викладач далеко в аудиторії</a:t>
            </a:r>
          </a:p>
          <a:p>
            <a:pPr lvl="1"/>
            <a:r>
              <a:rPr lang="uk-UA" sz="2000" dirty="0"/>
              <a:t>Умови освітлення</a:t>
            </a:r>
          </a:p>
          <a:p>
            <a:r>
              <a:rPr lang="uk-UA" sz="2000" dirty="0"/>
              <a:t>Захист онлайн</a:t>
            </a:r>
          </a:p>
          <a:p>
            <a:pPr lvl="1"/>
            <a:r>
              <a:rPr lang="uk-UA" sz="2000" dirty="0"/>
              <a:t>Різні пристрої, дрібний екран</a:t>
            </a:r>
          </a:p>
          <a:p>
            <a:pPr lvl="1"/>
            <a:r>
              <a:rPr lang="uk-UA" sz="2000" dirty="0"/>
              <a:t>Залежно від системи відео-конференцій, частина екрану зайнято службовою інформацією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115</a:t>
            </a:fld>
            <a:endParaRPr lang="ru-RU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71789" y="6350558"/>
            <a:ext cx="159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А так краще?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55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Антипатерн</a:t>
            </a:r>
            <a:r>
              <a:rPr lang="uk-UA" dirty="0"/>
              <a:t> «продаю лінзи, недорого»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dirty="0"/>
              <a:t>Розмір тексту має бути таким, щоб його можна було прочитати</a:t>
            </a:r>
          </a:p>
          <a:p>
            <a:r>
              <a:rPr lang="uk-UA" dirty="0"/>
              <a:t>Захист в аудиторії</a:t>
            </a:r>
          </a:p>
          <a:p>
            <a:pPr lvl="1"/>
            <a:r>
              <a:rPr lang="uk-UA" dirty="0"/>
              <a:t>Поганий </a:t>
            </a:r>
            <a:r>
              <a:rPr lang="uk-UA" dirty="0" err="1"/>
              <a:t>проєктор</a:t>
            </a:r>
            <a:endParaRPr lang="uk-UA" dirty="0"/>
          </a:p>
          <a:p>
            <a:pPr lvl="1"/>
            <a:r>
              <a:rPr lang="uk-UA" dirty="0"/>
              <a:t>Викладач далеко в аудиторії</a:t>
            </a:r>
          </a:p>
          <a:p>
            <a:pPr lvl="1"/>
            <a:r>
              <a:rPr lang="uk-UA" dirty="0"/>
              <a:t>Умови освітлення</a:t>
            </a:r>
          </a:p>
          <a:p>
            <a:r>
              <a:rPr lang="uk-UA" dirty="0"/>
              <a:t>Захист онлайн</a:t>
            </a:r>
          </a:p>
          <a:p>
            <a:pPr lvl="1"/>
            <a:r>
              <a:rPr lang="uk-UA" dirty="0"/>
              <a:t>Різні пристрої, дрібний екран</a:t>
            </a:r>
          </a:p>
          <a:p>
            <a:pPr lvl="1"/>
            <a:r>
              <a:rPr lang="uk-UA" dirty="0"/>
              <a:t>Залежно від системи відео-конференцій, частина екрану зайнято службовою інформацією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116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69154355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Особливо актуально для зображень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117</a:t>
            </a:fld>
            <a:endParaRPr lang="ru-RU" altLang="en-US"/>
          </a:p>
        </p:txBody>
      </p:sp>
      <p:pic>
        <p:nvPicPr>
          <p:cNvPr id="5122" name="Picture 2" descr="This one’s my favorite.&#10;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635" y="1652483"/>
            <a:ext cx="6076950" cy="456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84540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Особливо актуально для зображень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uk-UA" dirty="0"/>
              <a:t>Не завжди можна просто скопіювати зображення (схему, діаграму, модель) з тексту в слайди</a:t>
            </a:r>
          </a:p>
          <a:p>
            <a:r>
              <a:rPr lang="uk-UA" dirty="0"/>
              <a:t>Іноді діаграми містять багато дрібних деталей</a:t>
            </a:r>
          </a:p>
          <a:p>
            <a:pPr lvl="1"/>
            <a:r>
              <a:rPr lang="uk-UA" dirty="0"/>
              <a:t>В тексті це може бути корисно (а може</a:t>
            </a:r>
            <a:r>
              <a:rPr lang="en-US" dirty="0"/>
              <a:t> </a:t>
            </a:r>
            <a:r>
              <a:rPr lang="uk-UA" dirty="0"/>
              <a:t>й не бути – </a:t>
            </a:r>
            <a:r>
              <a:rPr lang="en-US" dirty="0"/>
              <a:t>essential vs. accidental complexity)</a:t>
            </a:r>
          </a:p>
          <a:p>
            <a:pPr lvl="1"/>
            <a:r>
              <a:rPr lang="uk-UA" dirty="0"/>
              <a:t>Але на слайдах багато з цього не буде видно</a:t>
            </a:r>
          </a:p>
          <a:p>
            <a:pPr lvl="1"/>
            <a:r>
              <a:rPr lang="uk-UA" dirty="0"/>
              <a:t>Також пояснювати детально не вистачить часу</a:t>
            </a:r>
          </a:p>
          <a:p>
            <a:r>
              <a:rPr lang="uk-UA" dirty="0"/>
              <a:t>Краще підготувати окремо спрощену схему для слайдів</a:t>
            </a:r>
          </a:p>
          <a:p>
            <a:pPr lvl="1"/>
            <a:r>
              <a:rPr lang="uk-UA" dirty="0"/>
              <a:t>І можливо послатись на більш детальне зображення в тексті роботи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118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78499529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Антипатерн</a:t>
            </a:r>
            <a:r>
              <a:rPr lang="uk-UA" dirty="0"/>
              <a:t> «</a:t>
            </a:r>
            <a:r>
              <a:rPr lang="uk-UA" dirty="0" err="1"/>
              <a:t>Студєнт</a:t>
            </a:r>
            <a:r>
              <a:rPr lang="uk-UA" dirty="0"/>
              <a:t> </a:t>
            </a:r>
            <a:r>
              <a:rPr lang="uk-UA" dirty="0" err="1"/>
              <a:t>нє</a:t>
            </a:r>
            <a:r>
              <a:rPr lang="uk-UA" dirty="0"/>
              <a:t> </a:t>
            </a:r>
            <a:r>
              <a:rPr lang="uk-UA" dirty="0" err="1"/>
              <a:t>чітатєль</a:t>
            </a:r>
            <a:r>
              <a:rPr lang="uk-UA" dirty="0"/>
              <a:t>, </a:t>
            </a:r>
            <a:r>
              <a:rPr lang="uk-UA" dirty="0" err="1"/>
              <a:t>студєнт</a:t>
            </a:r>
            <a:r>
              <a:rPr lang="uk-UA" dirty="0"/>
              <a:t> </a:t>
            </a:r>
            <a:r>
              <a:rPr lang="uk-UA" dirty="0" err="1"/>
              <a:t>пісатєль</a:t>
            </a:r>
            <a:r>
              <a:rPr lang="uk-UA" dirty="0"/>
              <a:t>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119</a:t>
            </a:fld>
            <a:endParaRPr lang="ru-RU" altLang="en-US"/>
          </a:p>
        </p:txBody>
      </p:sp>
      <p:pic>
        <p:nvPicPr>
          <p:cNvPr id="6146" name="Picture 2" descr="Don’t worry: knowing the&#10;language doesn’t really help.&#10;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923" y="1511805"/>
            <a:ext cx="6942186" cy="5212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62190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Антипатерн</a:t>
            </a:r>
            <a:r>
              <a:rPr lang="uk-UA" dirty="0"/>
              <a:t> «</a:t>
            </a:r>
            <a:r>
              <a:rPr lang="uk-UA" dirty="0" err="1"/>
              <a:t>Студєнт</a:t>
            </a:r>
            <a:r>
              <a:rPr lang="uk-UA" dirty="0"/>
              <a:t> </a:t>
            </a:r>
            <a:r>
              <a:rPr lang="uk-UA" dirty="0" err="1"/>
              <a:t>нє</a:t>
            </a:r>
            <a:r>
              <a:rPr lang="uk-UA" dirty="0"/>
              <a:t> </a:t>
            </a:r>
            <a:r>
              <a:rPr lang="uk-UA" dirty="0" err="1"/>
              <a:t>чітатєль</a:t>
            </a:r>
            <a:r>
              <a:rPr lang="uk-UA" dirty="0"/>
              <a:t>, </a:t>
            </a:r>
            <a:r>
              <a:rPr lang="uk-UA" dirty="0" err="1"/>
              <a:t>студєнт</a:t>
            </a:r>
            <a:r>
              <a:rPr lang="uk-UA" dirty="0"/>
              <a:t> </a:t>
            </a:r>
            <a:r>
              <a:rPr lang="uk-UA" dirty="0" err="1"/>
              <a:t>пісатєль</a:t>
            </a:r>
            <a:r>
              <a:rPr lang="uk-UA" dirty="0"/>
              <a:t>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Погано, коли надто багато тексту на слайдах</a:t>
            </a:r>
          </a:p>
          <a:p>
            <a:pPr lvl="1"/>
            <a:r>
              <a:rPr lang="uk-UA" dirty="0"/>
              <a:t>Повні речення, абзаци, розділи, …</a:t>
            </a:r>
          </a:p>
          <a:p>
            <a:pPr lvl="1"/>
            <a:r>
              <a:rPr lang="uk-UA" dirty="0"/>
              <a:t>Непотрібні фрази</a:t>
            </a:r>
          </a:p>
          <a:p>
            <a:r>
              <a:rPr lang="uk-UA" dirty="0"/>
              <a:t>Важко встигнути все прочитати</a:t>
            </a:r>
          </a:p>
          <a:p>
            <a:r>
              <a:rPr lang="uk-UA" dirty="0"/>
              <a:t>Не варто просто копіювати текст з курсової</a:t>
            </a:r>
          </a:p>
          <a:p>
            <a:r>
              <a:rPr lang="uk-UA" dirty="0"/>
              <a:t>На слайдах – ключові моменти</a:t>
            </a:r>
          </a:p>
          <a:p>
            <a:pPr lvl="1"/>
            <a:r>
              <a:rPr lang="uk-UA" dirty="0"/>
              <a:t>Деталі сказати голосом</a:t>
            </a:r>
          </a:p>
          <a:p>
            <a:pPr lvl="1"/>
            <a:r>
              <a:rPr lang="uk-UA" dirty="0"/>
              <a:t>Та/або зробити посилання на текст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120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4668520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Self-referential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43495" cy="4525963"/>
          </a:xfrm>
        </p:spPr>
        <p:txBody>
          <a:bodyPr>
            <a:normAutofit fontScale="70000" lnSpcReduction="20000"/>
          </a:bodyPr>
          <a:lstStyle/>
          <a:p>
            <a:r>
              <a:rPr lang="uk-UA" dirty="0"/>
              <a:t>В цих слайдах іноді порушені рекомендації</a:t>
            </a:r>
          </a:p>
          <a:p>
            <a:pPr lvl="1"/>
            <a:r>
              <a:rPr lang="uk-UA" dirty="0"/>
              <a:t>Надто багато тексту</a:t>
            </a:r>
          </a:p>
          <a:p>
            <a:pPr lvl="1"/>
            <a:r>
              <a:rPr lang="uk-UA" dirty="0"/>
              <a:t>Надто дрібний текст</a:t>
            </a:r>
          </a:p>
          <a:p>
            <a:r>
              <a:rPr lang="uk-UA" dirty="0"/>
              <a:t>Бо вони розраховані також як довідковий матеріал</a:t>
            </a:r>
          </a:p>
          <a:p>
            <a:r>
              <a:rPr lang="uk-UA" dirty="0"/>
              <a:t>Було б правильно окремо зробити слайди (нормальні) і окремо текстові рекомендації</a:t>
            </a:r>
          </a:p>
          <a:p>
            <a:pPr lvl="1"/>
            <a:r>
              <a:rPr lang="uk-UA" dirty="0"/>
              <a:t>На жаль, на це не має часу</a:t>
            </a:r>
          </a:p>
          <a:p>
            <a:pPr lvl="1"/>
            <a:r>
              <a:rPr lang="uk-UA" dirty="0"/>
              <a:t>Але у курсових є текст!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z="2000" smtClean="0"/>
              <a:pPr>
                <a:defRPr/>
              </a:pPr>
              <a:t>121</a:t>
            </a:fld>
            <a:endParaRPr lang="ru-RU" altLang="en-US" sz="2000" dirty="0"/>
          </a:p>
        </p:txBody>
      </p:sp>
      <p:pic>
        <p:nvPicPr>
          <p:cNvPr id="7170" name="Picture 2" descr="Do As I Say Not As I Do (Yellow Warning Sign) | Zazz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429743"/>
            <a:ext cx="4876800" cy="487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07785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Зворотній </a:t>
            </a:r>
            <a:r>
              <a:rPr lang="uk-UA" dirty="0" err="1"/>
              <a:t>антипатерн</a:t>
            </a:r>
            <a:r>
              <a:rPr lang="uk-UA" dirty="0"/>
              <a:t> «школа телепатії»/</a:t>
            </a:r>
            <a:r>
              <a:rPr lang="ru-UA" dirty="0"/>
              <a:t> </a:t>
            </a:r>
            <a:r>
              <a:rPr lang="uk-UA" dirty="0"/>
              <a:t>«коротко і неясно»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65820"/>
            <a:ext cx="8229600" cy="11354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122</a:t>
            </a:fld>
            <a:endParaRPr lang="ru-RU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361740" y="1457011"/>
            <a:ext cx="3878664" cy="22106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3600" dirty="0"/>
              <a:t>Прийшов</a:t>
            </a:r>
            <a:endParaRPr lang="en-US" sz="3600" dirty="0"/>
          </a:p>
        </p:txBody>
      </p:sp>
      <p:sp>
        <p:nvSpPr>
          <p:cNvPr id="7" name="Rectangle 6"/>
          <p:cNvSpPr/>
          <p:nvPr/>
        </p:nvSpPr>
        <p:spPr>
          <a:xfrm>
            <a:off x="4513384" y="1468735"/>
            <a:ext cx="3878664" cy="22106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3600" dirty="0"/>
              <a:t>Побачив</a:t>
            </a:r>
            <a:endParaRPr lang="en-US" sz="3600" dirty="0"/>
          </a:p>
        </p:txBody>
      </p:sp>
      <p:sp>
        <p:nvSpPr>
          <p:cNvPr id="8" name="Rectangle 7"/>
          <p:cNvSpPr/>
          <p:nvPr/>
        </p:nvSpPr>
        <p:spPr>
          <a:xfrm>
            <a:off x="324896" y="3841819"/>
            <a:ext cx="3878664" cy="22106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3600" dirty="0"/>
              <a:t>Переміг</a:t>
            </a:r>
            <a:endParaRPr lang="en-US" sz="3600" dirty="0"/>
          </a:p>
        </p:txBody>
      </p:sp>
      <p:sp>
        <p:nvSpPr>
          <p:cNvPr id="9" name="Rectangle 8"/>
          <p:cNvSpPr/>
          <p:nvPr/>
        </p:nvSpPr>
        <p:spPr>
          <a:xfrm>
            <a:off x="4486588" y="3853542"/>
            <a:ext cx="3878664" cy="22106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3600" dirty="0"/>
              <a:t>Дякую за увагу!</a:t>
            </a:r>
          </a:p>
          <a:p>
            <a:pPr algn="ctr"/>
            <a:r>
              <a:rPr lang="uk-UA" sz="3600" dirty="0"/>
              <a:t>Питання?</a:t>
            </a:r>
            <a:endParaRPr lang="en-US" sz="3600" dirty="0"/>
          </a:p>
        </p:txBody>
      </p:sp>
      <p:sp>
        <p:nvSpPr>
          <p:cNvPr id="10" name="TextBox 9"/>
          <p:cNvSpPr txBox="1"/>
          <p:nvPr/>
        </p:nvSpPr>
        <p:spPr>
          <a:xfrm>
            <a:off x="3848519" y="3305908"/>
            <a:ext cx="30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1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030308" y="3317631"/>
            <a:ext cx="30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2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890387" y="5658893"/>
            <a:ext cx="30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3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040368" y="5608653"/>
            <a:ext cx="30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10643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Зворотній </a:t>
            </a:r>
            <a:r>
              <a:rPr lang="uk-UA" dirty="0" err="1"/>
              <a:t>антипатерн</a:t>
            </a:r>
            <a:r>
              <a:rPr lang="uk-UA" dirty="0"/>
              <a:t> «школа телепатії»/</a:t>
            </a:r>
            <a:r>
              <a:rPr lang="ru-UA" dirty="0"/>
              <a:t> </a:t>
            </a:r>
            <a:r>
              <a:rPr lang="uk-UA" dirty="0"/>
              <a:t>«коротко і неясно»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uk-UA" dirty="0"/>
              <a:t>На слайдах мінімум інформації</a:t>
            </a:r>
          </a:p>
          <a:p>
            <a:r>
              <a:rPr lang="uk-UA" dirty="0"/>
              <a:t>Вся інформація говориться голосом</a:t>
            </a:r>
          </a:p>
          <a:p>
            <a:pPr lvl="1"/>
            <a:r>
              <a:rPr lang="uk-UA" dirty="0"/>
              <a:t>І не сприймається</a:t>
            </a:r>
          </a:p>
          <a:p>
            <a:pPr lvl="1"/>
            <a:r>
              <a:rPr lang="uk-UA" dirty="0"/>
              <a:t>Слухачі могли на секунду відволіктися</a:t>
            </a:r>
          </a:p>
          <a:p>
            <a:pPr lvl="1"/>
            <a:r>
              <a:rPr lang="uk-UA" dirty="0"/>
              <a:t>Для онлайн-виступу – тимчасові технічні проблеми</a:t>
            </a:r>
          </a:p>
          <a:p>
            <a:r>
              <a:rPr lang="uk-UA" dirty="0"/>
              <a:t>Ключові моменти мають бути на слайдах</a:t>
            </a:r>
          </a:p>
          <a:p>
            <a:pPr lvl="1"/>
            <a:r>
              <a:rPr lang="uk-UA" dirty="0"/>
              <a:t>Мета, поставлені завдання</a:t>
            </a:r>
          </a:p>
          <a:p>
            <a:pPr lvl="1"/>
            <a:r>
              <a:rPr lang="uk-UA" dirty="0"/>
              <a:t>Назви технологій, засобів, аналогів</a:t>
            </a:r>
          </a:p>
          <a:p>
            <a:pPr lvl="1"/>
            <a:r>
              <a:rPr lang="uk-UA" dirty="0"/>
              <a:t>Ключові деталі реалізації (що відрізняє від аналогів)</a:t>
            </a:r>
          </a:p>
          <a:p>
            <a:pPr lvl="1"/>
            <a:r>
              <a:rPr lang="uk-UA" dirty="0"/>
              <a:t>Виміри, числа, порівняння</a:t>
            </a:r>
          </a:p>
          <a:p>
            <a:pPr lvl="1"/>
            <a:r>
              <a:rPr lang="uk-UA" dirty="0"/>
              <a:t>Отримані результати, висновки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123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34446920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Антипатерн</a:t>
            </a:r>
            <a:r>
              <a:rPr lang="uk-UA" dirty="0"/>
              <a:t> «знайти 10 відмінностей»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Інформація на слайді не відповідає тому, що розповідається голосом під час демонстрації цього слайду</a:t>
            </a:r>
          </a:p>
          <a:p>
            <a:pPr lvl="1"/>
            <a:r>
              <a:rPr lang="uk-UA" dirty="0"/>
              <a:t>Тому незрозуміло, що правильно</a:t>
            </a:r>
          </a:p>
          <a:p>
            <a:pPr lvl="1"/>
            <a:r>
              <a:rPr lang="uk-UA" dirty="0"/>
              <a:t>Чи що важливо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124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264554352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Антипатерн</a:t>
            </a:r>
            <a:r>
              <a:rPr lang="uk-UA" dirty="0"/>
              <a:t> «Студент все ж читач»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Замість розповіді, студент читає</a:t>
            </a:r>
          </a:p>
          <a:p>
            <a:pPr lvl="1"/>
            <a:r>
              <a:rPr lang="uk-UA" dirty="0"/>
              <a:t>Або зі слайдів</a:t>
            </a:r>
          </a:p>
          <a:p>
            <a:pPr lvl="1"/>
            <a:r>
              <a:rPr lang="uk-UA" dirty="0"/>
              <a:t>Або з іншого тексту</a:t>
            </a:r>
          </a:p>
          <a:p>
            <a:pPr lvl="1"/>
            <a:r>
              <a:rPr lang="uk-UA" dirty="0"/>
              <a:t>Але це дуже помітно і справляє негативне враження</a:t>
            </a:r>
          </a:p>
          <a:p>
            <a:r>
              <a:rPr lang="uk-UA" dirty="0"/>
              <a:t>Слайди і розповідь мають доповнювати одне одного, а не дублюватись</a:t>
            </a:r>
          </a:p>
          <a:p>
            <a:r>
              <a:rPr lang="uk-UA" dirty="0"/>
              <a:t>Читати слайди усі вміють – не треба це робити за викладачів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125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281112981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Зворотній </a:t>
            </a:r>
            <a:r>
              <a:rPr lang="uk-UA" dirty="0" err="1"/>
              <a:t>антипатерн</a:t>
            </a:r>
            <a:r>
              <a:rPr lang="uk-UA" dirty="0"/>
              <a:t> «</a:t>
            </a:r>
            <a:r>
              <a:rPr lang="en-US" dirty="0"/>
              <a:t>Silence is golden</a:t>
            </a:r>
            <a:r>
              <a:rPr lang="uk-UA" dirty="0"/>
              <a:t>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Студент забуває, що треба сказати</a:t>
            </a:r>
          </a:p>
          <a:p>
            <a:pPr lvl="1"/>
            <a:r>
              <a:rPr lang="uk-UA" dirty="0"/>
              <a:t>Плутається</a:t>
            </a:r>
          </a:p>
          <a:p>
            <a:pPr lvl="1"/>
            <a:r>
              <a:rPr lang="uk-UA" dirty="0"/>
              <a:t>Або просто мовчить</a:t>
            </a:r>
          </a:p>
          <a:p>
            <a:r>
              <a:rPr lang="uk-UA" dirty="0"/>
              <a:t>Часто виникає, коли на слайдах недостатньо інформації</a:t>
            </a:r>
          </a:p>
          <a:p>
            <a:r>
              <a:rPr lang="uk-UA" dirty="0"/>
              <a:t>Справляє дуже негативне враження</a:t>
            </a:r>
          </a:p>
          <a:p>
            <a:pPr lvl="1"/>
            <a:r>
              <a:rPr lang="uk-UA" dirty="0"/>
              <a:t>Можуть навіть припинити виступ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126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322944794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Як не забути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dirty="0"/>
              <a:t>Різні фактори можуть впливати на якість виступу</a:t>
            </a:r>
          </a:p>
          <a:p>
            <a:pPr lvl="1"/>
            <a:r>
              <a:rPr lang="uk-UA" dirty="0"/>
              <a:t>Хвилювання</a:t>
            </a:r>
          </a:p>
          <a:p>
            <a:pPr lvl="1"/>
            <a:r>
              <a:rPr lang="uk-UA" dirty="0"/>
              <a:t>Ефект виступу перед аудиторією</a:t>
            </a:r>
          </a:p>
          <a:p>
            <a:pPr lvl="1"/>
            <a:r>
              <a:rPr lang="uk-UA" dirty="0"/>
              <a:t>Підготовка усього в останній момент</a:t>
            </a:r>
          </a:p>
          <a:p>
            <a:pPr lvl="1"/>
            <a:r>
              <a:rPr lang="uk-UA" dirty="0"/>
              <a:t>Недосипання</a:t>
            </a:r>
          </a:p>
          <a:p>
            <a:pPr lvl="1"/>
            <a:r>
              <a:rPr lang="uk-UA" dirty="0"/>
              <a:t>Негативні враження від захисту попередніх студентів</a:t>
            </a:r>
          </a:p>
          <a:p>
            <a:r>
              <a:rPr lang="uk-UA" dirty="0"/>
              <a:t>Треба бути до цього готовими!</a:t>
            </a:r>
          </a:p>
          <a:p>
            <a:r>
              <a:rPr lang="uk-UA" dirty="0"/>
              <a:t>Важливо потренуватись із виступом</a:t>
            </a:r>
          </a:p>
          <a:p>
            <a:r>
              <a:rPr lang="uk-UA" dirty="0"/>
              <a:t>Якщо боїтесь, що </a:t>
            </a:r>
            <a:r>
              <a:rPr lang="uk-UA" dirty="0" err="1"/>
              <a:t>забудете</a:t>
            </a:r>
            <a:r>
              <a:rPr lang="uk-UA" dirty="0"/>
              <a:t> – підготувати окремо текст виступу</a:t>
            </a:r>
          </a:p>
          <a:p>
            <a:pPr lvl="1"/>
            <a:r>
              <a:rPr lang="uk-UA" dirty="0"/>
              <a:t>Не співпадає з текстом на слайдах!</a:t>
            </a:r>
          </a:p>
          <a:p>
            <a:pPr lvl="1"/>
            <a:r>
              <a:rPr lang="uk-UA" dirty="0"/>
              <a:t>Намагатись не читати з нього (принаймні не постійно)</a:t>
            </a:r>
          </a:p>
          <a:p>
            <a:pPr lvl="1"/>
            <a:r>
              <a:rPr lang="uk-UA" dirty="0"/>
              <a:t>Але за необхідності можна подивитись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127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1086176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Текст чи картинки?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Лише текст – некрасиво і нецікаво</a:t>
            </a:r>
          </a:p>
          <a:p>
            <a:r>
              <a:rPr lang="uk-UA" dirty="0"/>
              <a:t>Лише зображення – незрозуміло</a:t>
            </a:r>
          </a:p>
          <a:p>
            <a:r>
              <a:rPr lang="uk-UA" dirty="0"/>
              <a:t>Варто комбінувати</a:t>
            </a:r>
          </a:p>
          <a:p>
            <a:pPr lvl="1"/>
            <a:r>
              <a:rPr lang="uk-UA" dirty="0"/>
              <a:t>На окремих слайдах</a:t>
            </a:r>
          </a:p>
          <a:p>
            <a:pPr lvl="1"/>
            <a:r>
              <a:rPr lang="uk-UA" dirty="0"/>
              <a:t>На одному слайді (але не перевантажувати)</a:t>
            </a:r>
          </a:p>
          <a:p>
            <a:pPr lvl="1"/>
            <a:r>
              <a:rPr lang="uk-UA" dirty="0"/>
              <a:t>Підписи до зображень (але читабельні)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128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427727475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Анімації?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uk-UA" dirty="0"/>
              <a:t>Іноді ними зловживають</a:t>
            </a:r>
          </a:p>
          <a:p>
            <a:pPr lvl="1"/>
            <a:r>
              <a:rPr lang="uk-UA" dirty="0"/>
              <a:t>Наприклад, кожен рядок з’являється послідовно</a:t>
            </a:r>
          </a:p>
          <a:p>
            <a:pPr lvl="1"/>
            <a:r>
              <a:rPr lang="uk-UA" dirty="0"/>
              <a:t>Або довга анімація з послідовною появою, рухами, поворотами, …</a:t>
            </a:r>
          </a:p>
          <a:p>
            <a:r>
              <a:rPr lang="uk-UA" dirty="0"/>
              <a:t>Краще, щоб уся інформація була одразу на слайді</a:t>
            </a:r>
          </a:p>
          <a:p>
            <a:pPr lvl="1"/>
            <a:r>
              <a:rPr lang="uk-UA" dirty="0"/>
              <a:t>Сприяє кращому розумінню</a:t>
            </a:r>
          </a:p>
          <a:p>
            <a:pPr lvl="1"/>
            <a:r>
              <a:rPr lang="uk-UA" dirty="0"/>
              <a:t>Якщо викладач відволікся на секунду – не пропустив щось важливе</a:t>
            </a:r>
          </a:p>
          <a:p>
            <a:r>
              <a:rPr lang="uk-UA" dirty="0"/>
              <a:t>Можна додати невеликі анімації для додаткових схем</a:t>
            </a:r>
          </a:p>
          <a:p>
            <a:pPr lvl="1"/>
            <a:r>
              <a:rPr lang="uk-UA" dirty="0"/>
              <a:t>Але час обмежений – може, варто витратити на щось інше?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129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291671242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Демонстрація роботи програми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На кафедрі інтелектуальних програмних систем очікується, що усі курсові чи дипломні роботи мають суттєву програмну складову</a:t>
            </a:r>
          </a:p>
          <a:p>
            <a:r>
              <a:rPr lang="uk-UA" dirty="0"/>
              <a:t>Іноді виникають сумніви у її якості</a:t>
            </a:r>
          </a:p>
          <a:p>
            <a:pPr lvl="1"/>
            <a:r>
              <a:rPr lang="uk-UA" dirty="0"/>
              <a:t>Або навіть в тому, що вона є</a:t>
            </a:r>
          </a:p>
          <a:p>
            <a:r>
              <a:rPr lang="uk-UA" dirty="0"/>
              <a:t>Можуть попросити показати</a:t>
            </a:r>
          </a:p>
          <a:p>
            <a:pPr lvl="1"/>
            <a:r>
              <a:rPr lang="uk-UA" dirty="0"/>
              <a:t>Що може бути складно, якщо до цього не готувались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130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90269167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Репозиторій</a:t>
            </a:r>
            <a:r>
              <a:rPr lang="uk-UA" dirty="0"/>
              <a:t> з кодом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Вимагається під час захисту</a:t>
            </a:r>
          </a:p>
          <a:p>
            <a:r>
              <a:rPr lang="uk-UA" dirty="0"/>
              <a:t>Бажано щоб там були всі потрібні дані</a:t>
            </a:r>
          </a:p>
          <a:p>
            <a:pPr lvl="1"/>
            <a:r>
              <a:rPr lang="uk-UA" dirty="0"/>
              <a:t>Код</a:t>
            </a:r>
          </a:p>
          <a:p>
            <a:pPr lvl="1"/>
            <a:r>
              <a:rPr lang="uk-UA" dirty="0"/>
              <a:t>Інструкції щодо розгортання</a:t>
            </a:r>
          </a:p>
          <a:p>
            <a:pPr lvl="1"/>
            <a:r>
              <a:rPr lang="uk-UA" dirty="0"/>
              <a:t>Результати вимірів, дані тощо</a:t>
            </a:r>
          </a:p>
          <a:p>
            <a:pPr lvl="1"/>
            <a:r>
              <a:rPr lang="uk-UA" dirty="0"/>
              <a:t>Посилання на розгорнуті версії, інсталятори тощо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131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367658329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Як підготуватись до демонстрації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5948"/>
            <a:ext cx="8229600" cy="4890216"/>
          </a:xfrm>
        </p:spPr>
        <p:txBody>
          <a:bodyPr>
            <a:normAutofit fontScale="62500" lnSpcReduction="20000"/>
          </a:bodyPr>
          <a:lstStyle/>
          <a:p>
            <a:r>
              <a:rPr lang="uk-UA" dirty="0"/>
              <a:t>Записати відео</a:t>
            </a:r>
          </a:p>
          <a:p>
            <a:pPr lvl="1"/>
            <a:r>
              <a:rPr lang="uk-UA" dirty="0"/>
              <a:t>Якісь прості сценарії</a:t>
            </a:r>
          </a:p>
          <a:p>
            <a:pPr lvl="1"/>
            <a:r>
              <a:rPr lang="uk-UA" dirty="0"/>
              <a:t>Демонструють основні можливості та переваги</a:t>
            </a:r>
          </a:p>
          <a:p>
            <a:pPr lvl="1"/>
            <a:r>
              <a:rPr lang="uk-UA" dirty="0"/>
              <a:t>Можливо, вставити додаткові пояснення</a:t>
            </a:r>
          </a:p>
          <a:p>
            <a:r>
              <a:rPr lang="uk-UA" dirty="0"/>
              <a:t>Підготуватись до швидкого запуску відео</a:t>
            </a:r>
          </a:p>
          <a:p>
            <a:pPr lvl="1"/>
            <a:r>
              <a:rPr lang="uk-UA" dirty="0"/>
              <a:t>Вбудовано в слайди</a:t>
            </a:r>
          </a:p>
          <a:p>
            <a:pPr lvl="1"/>
            <a:r>
              <a:rPr lang="uk-UA" dirty="0"/>
              <a:t>Завчасно підготувати в окремому вікні/вкладці</a:t>
            </a:r>
          </a:p>
          <a:p>
            <a:pPr lvl="1"/>
            <a:r>
              <a:rPr lang="uk-UA" dirty="0"/>
              <a:t>Протестувати, що запускається</a:t>
            </a:r>
          </a:p>
          <a:p>
            <a:r>
              <a:rPr lang="uk-UA" dirty="0"/>
              <a:t>Під час демонстрації відео – коментувати словами</a:t>
            </a:r>
          </a:p>
          <a:p>
            <a:pPr lvl="1"/>
            <a:r>
              <a:rPr lang="uk-UA" dirty="0"/>
              <a:t>Не варто мовчати</a:t>
            </a:r>
          </a:p>
          <a:p>
            <a:pPr lvl="1"/>
            <a:r>
              <a:rPr lang="uk-UA" dirty="0"/>
              <a:t>Не варто програвати записаний звук</a:t>
            </a:r>
          </a:p>
          <a:p>
            <a:pPr lvl="1"/>
            <a:r>
              <a:rPr lang="uk-UA" dirty="0"/>
              <a:t>Потренуватись, щоб не порушувалась синхронізація</a:t>
            </a:r>
          </a:p>
          <a:p>
            <a:r>
              <a:rPr lang="uk-UA" dirty="0"/>
              <a:t>За можливості, підготувати програму для демонстрації «</a:t>
            </a:r>
            <a:r>
              <a:rPr lang="uk-UA" dirty="0" err="1"/>
              <a:t>вживу</a:t>
            </a:r>
            <a:r>
              <a:rPr lang="uk-UA" dirty="0"/>
              <a:t>»</a:t>
            </a:r>
          </a:p>
          <a:p>
            <a:pPr lvl="1"/>
            <a:r>
              <a:rPr lang="uk-UA" dirty="0"/>
              <a:t>Запустити, налаштувати, відкрити потрібні дані</a:t>
            </a:r>
          </a:p>
          <a:p>
            <a:r>
              <a:rPr lang="uk-UA" dirty="0"/>
              <a:t>Якщо програма запущена на зовні доступному сервері – надати посилання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132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184475965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Тренуватись!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dirty="0"/>
              <a:t>З першого разу важко провести якісний виступ</a:t>
            </a:r>
          </a:p>
          <a:p>
            <a:r>
              <a:rPr lang="uk-UA" dirty="0"/>
              <a:t>Тому варто кілька разів тренуватись</a:t>
            </a:r>
          </a:p>
          <a:p>
            <a:r>
              <a:rPr lang="uk-UA" dirty="0"/>
              <a:t>За можливості – з аудиторією (друзів, родичів, кота/собаку/папугу/…)</a:t>
            </a:r>
          </a:p>
          <a:p>
            <a:r>
              <a:rPr lang="uk-UA" dirty="0"/>
              <a:t>Якщо немає можливості – перед дзеркалом</a:t>
            </a:r>
          </a:p>
          <a:p>
            <a:r>
              <a:rPr lang="uk-UA" dirty="0"/>
              <a:t>Записати виступ, потім проаналізувати</a:t>
            </a:r>
          </a:p>
          <a:p>
            <a:r>
              <a:rPr lang="uk-UA" dirty="0"/>
              <a:t>Перевірити час виступу</a:t>
            </a:r>
          </a:p>
          <a:p>
            <a:r>
              <a:rPr lang="uk-UA" dirty="0"/>
              <a:t>Подивитись, на яких моментах виникають проблеми, зупинки, забуваєте щось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133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259234856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«Але ж це займає багато часу…»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Trade-off </a:t>
            </a:r>
            <a:r>
              <a:rPr lang="uk-UA" dirty="0"/>
              <a:t>між витраченим на підготовку часом та отриманим результатом</a:t>
            </a:r>
          </a:p>
          <a:p>
            <a:r>
              <a:rPr lang="uk-UA" dirty="0"/>
              <a:t>«В теорії», працювали два семестри над курсовою</a:t>
            </a:r>
          </a:p>
          <a:p>
            <a:pPr lvl="1"/>
            <a:r>
              <a:rPr lang="uk-UA" dirty="0"/>
              <a:t>На дипломом, можливо, більше </a:t>
            </a:r>
          </a:p>
          <a:p>
            <a:r>
              <a:rPr lang="uk-UA" dirty="0"/>
              <a:t>Диплом є завершенням чотирьох років навчання</a:t>
            </a:r>
          </a:p>
          <a:p>
            <a:r>
              <a:rPr lang="uk-UA" dirty="0"/>
              <a:t>Чи варто економити кілька годин і в результаті звести нанівець усю попередню роботу?</a:t>
            </a:r>
          </a:p>
          <a:p>
            <a:pPr lvl="1"/>
            <a:r>
              <a:rPr lang="uk-UA" dirty="0"/>
              <a:t>Кожен вирішує самостійно…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134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381221600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Особливості колективної роботи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Можлива ситуація, коли кілька студентів разом працюють над одним </a:t>
            </a:r>
            <a:r>
              <a:rPr lang="uk-UA" dirty="0" err="1"/>
              <a:t>проєктом</a:t>
            </a:r>
            <a:endParaRPr lang="uk-UA" dirty="0"/>
          </a:p>
          <a:p>
            <a:pPr lvl="1"/>
            <a:r>
              <a:rPr lang="uk-UA" dirty="0"/>
              <a:t>Для курсових – офіційно дозволено</a:t>
            </a:r>
          </a:p>
          <a:p>
            <a:pPr lvl="1"/>
            <a:r>
              <a:rPr lang="uk-UA" dirty="0"/>
              <a:t>Для дипломів – начебто не дозволено, але іноді все одно роблять</a:t>
            </a:r>
          </a:p>
          <a:p>
            <a:r>
              <a:rPr lang="uk-UA" dirty="0"/>
              <a:t>Проте кожен студент має описати власні результати</a:t>
            </a:r>
            <a:endParaRPr lang="en-US" dirty="0"/>
          </a:p>
          <a:p>
            <a:pPr lvl="1"/>
            <a:r>
              <a:rPr lang="uk-UA" dirty="0"/>
              <a:t>Менше посилатись на роботи інших студентів</a:t>
            </a:r>
          </a:p>
          <a:p>
            <a:r>
              <a:rPr lang="uk-UA" dirty="0"/>
              <a:t>Варто домовитись щодо порядку виступів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135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35425894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Процедура захисту курсових/дипломів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dirty="0"/>
              <a:t>Виступ студента</a:t>
            </a:r>
          </a:p>
          <a:p>
            <a:pPr lvl="1"/>
            <a:r>
              <a:rPr lang="uk-UA" dirty="0"/>
              <a:t>Обмежений час 5-7 хвилин</a:t>
            </a:r>
          </a:p>
          <a:p>
            <a:r>
              <a:rPr lang="uk-UA" dirty="0"/>
              <a:t>Запитання та коментарі від викладачів / комісії / всіх присутніх</a:t>
            </a:r>
          </a:p>
          <a:p>
            <a:pPr lvl="1"/>
            <a:r>
              <a:rPr lang="uk-UA" dirty="0"/>
              <a:t>Можуть затягнутись, хоча модератор зазвичай зупиняє</a:t>
            </a:r>
          </a:p>
          <a:p>
            <a:r>
              <a:rPr lang="uk-UA" dirty="0"/>
              <a:t>Після виступів усіх студентів – обговорення комісії/викладачів кафедри</a:t>
            </a:r>
          </a:p>
          <a:p>
            <a:pPr lvl="1"/>
            <a:r>
              <a:rPr lang="uk-UA" dirty="0"/>
              <a:t>Студенти не присутні</a:t>
            </a:r>
          </a:p>
          <a:p>
            <a:r>
              <a:rPr lang="uk-UA" dirty="0"/>
              <a:t>Оголошення результатів</a:t>
            </a:r>
          </a:p>
          <a:p>
            <a:pPr lvl="1"/>
            <a:r>
              <a:rPr lang="uk-UA" dirty="0"/>
              <a:t>Можливо, апеляція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136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73945969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Попередній захист (</a:t>
            </a:r>
            <a:r>
              <a:rPr lang="uk-UA" dirty="0" err="1"/>
              <a:t>передзахист</a:t>
            </a:r>
            <a:r>
              <a:rPr lang="uk-UA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uk-UA" dirty="0"/>
              <a:t>Проводиться, щоб перевірити ступінь готовності студентів до захисту</a:t>
            </a:r>
          </a:p>
          <a:p>
            <a:r>
              <a:rPr lang="uk-UA" dirty="0"/>
              <a:t>За деякий час до захисту</a:t>
            </a:r>
          </a:p>
          <a:p>
            <a:pPr lvl="1"/>
            <a:r>
              <a:rPr lang="uk-UA" dirty="0"/>
              <a:t>Щоб був час врахувати зауваження</a:t>
            </a:r>
          </a:p>
          <a:p>
            <a:r>
              <a:rPr lang="uk-UA" dirty="0"/>
              <a:t>За участі більшості викладачів кафедри</a:t>
            </a:r>
          </a:p>
          <a:p>
            <a:r>
              <a:rPr lang="uk-UA" dirty="0"/>
              <a:t>Процедура максимально наближена до захисту</a:t>
            </a:r>
          </a:p>
          <a:p>
            <a:pPr lvl="1"/>
            <a:r>
              <a:rPr lang="uk-UA" dirty="0"/>
              <a:t>Потрібен текст роботи, слайди презентації, виступ</a:t>
            </a:r>
          </a:p>
          <a:p>
            <a:pPr lvl="1"/>
            <a:r>
              <a:rPr lang="uk-UA" dirty="0"/>
              <a:t>Обмеження часу</a:t>
            </a:r>
          </a:p>
          <a:p>
            <a:r>
              <a:rPr lang="uk-UA" dirty="0"/>
              <a:t>Для дипломних робіт – обов’язково</a:t>
            </a:r>
          </a:p>
          <a:p>
            <a:r>
              <a:rPr lang="uk-UA" dirty="0"/>
              <a:t>Для курсових робіт – іноді не проводять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137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357115720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337" y="274638"/>
            <a:ext cx="8821783" cy="1143000"/>
          </a:xfrm>
        </p:spPr>
        <p:txBody>
          <a:bodyPr/>
          <a:lstStyle/>
          <a:p>
            <a:r>
              <a:rPr lang="uk-UA" sz="3200" dirty="0"/>
              <a:t>Чи можна на попередній захист надавати незавершену роботу (текст, слайди, реалізація)?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uk-UA" dirty="0"/>
              <a:t>В теорії – не можна</a:t>
            </a:r>
          </a:p>
          <a:p>
            <a:pPr lvl="1"/>
            <a:r>
              <a:rPr lang="uk-UA" dirty="0"/>
              <a:t>Приймається рішення про допуск до захисту</a:t>
            </a:r>
          </a:p>
          <a:p>
            <a:pPr lvl="1"/>
            <a:r>
              <a:rPr lang="uk-UA" dirty="0"/>
              <a:t>Робота не завершена до попереднього захисту – на наступний рік</a:t>
            </a:r>
          </a:p>
          <a:p>
            <a:pPr lvl="1"/>
            <a:r>
              <a:rPr lang="uk-UA" dirty="0"/>
              <a:t>Кафедра не зацікавлена випускати на захист неготові роботи, оскільки тоді буде соромно перед комісією (де не лише викладачі кафедри)</a:t>
            </a:r>
          </a:p>
          <a:p>
            <a:r>
              <a:rPr lang="uk-UA" dirty="0"/>
              <a:t>На практиці – незначні недоліки можуть дозволити виправити</a:t>
            </a:r>
          </a:p>
          <a:p>
            <a:pPr lvl="1"/>
            <a:r>
              <a:rPr lang="uk-UA" dirty="0"/>
              <a:t>Є трохи часу (текст до перевірки на плагіат, слайди та реалізацію до захисту)</a:t>
            </a:r>
          </a:p>
          <a:p>
            <a:pPr lvl="1"/>
            <a:r>
              <a:rPr lang="uk-UA" dirty="0"/>
              <a:t>Але кафедра має бути впевненою що студент встигне</a:t>
            </a:r>
          </a:p>
          <a:p>
            <a:pPr lvl="1"/>
            <a:r>
              <a:rPr lang="uk-UA" dirty="0"/>
              <a:t>Що саме вважати «незначними недоліками» – залежить від присутніх викладачів, виступу студента, пояснень керівника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138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424150227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337" y="274638"/>
            <a:ext cx="8821783" cy="1143000"/>
          </a:xfrm>
        </p:spPr>
        <p:txBody>
          <a:bodyPr/>
          <a:lstStyle/>
          <a:p>
            <a:r>
              <a:rPr lang="uk-UA" sz="3200" dirty="0"/>
              <a:t>Чи </a:t>
            </a:r>
            <a:r>
              <a:rPr lang="uk-UA" sz="3200" b="1" i="1" dirty="0"/>
              <a:t>варто</a:t>
            </a:r>
            <a:r>
              <a:rPr lang="uk-UA" sz="3200" dirty="0"/>
              <a:t> на попередній захист надавати незавершену роботу (текст, слайди, реалізація)?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uk-UA" dirty="0"/>
              <a:t>Попередній захист – шанс отримати коментарі, їх врахувати і покращити результат на основному захисті</a:t>
            </a:r>
          </a:p>
          <a:p>
            <a:pPr lvl="1"/>
            <a:r>
              <a:rPr lang="uk-UA" dirty="0"/>
              <a:t>В ідеалі коментарі є новими для студента і дозволяють врахувати аспекти, про які раніше не думали</a:t>
            </a:r>
          </a:p>
          <a:p>
            <a:r>
              <a:rPr lang="uk-UA" dirty="0"/>
              <a:t>Якщо на попередній захист виноситься робота, в якій є відомі і очевидні недоліки – скоріш за все, будуть коментарі щодо них і не буде «цікавих» коментарів, які дали б можливість покращити роботу</a:t>
            </a:r>
          </a:p>
          <a:p>
            <a:r>
              <a:rPr lang="uk-UA" dirty="0"/>
              <a:t>Питання поваги до викладачів</a:t>
            </a:r>
          </a:p>
          <a:p>
            <a:r>
              <a:rPr lang="uk-UA" dirty="0"/>
              <a:t>Іноді на попередньому захисті присутні викладачі, які будуть в складі комісії</a:t>
            </a:r>
          </a:p>
          <a:p>
            <a:pPr lvl="1"/>
            <a:r>
              <a:rPr lang="uk-UA" dirty="0"/>
              <a:t>Негативне враження легко сформувати і потім важко виправити…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139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79848241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Особливості дистанційного режиму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32196"/>
          </a:xfrm>
        </p:spPr>
        <p:txBody>
          <a:bodyPr>
            <a:normAutofit fontScale="77500" lnSpcReduction="20000"/>
          </a:bodyPr>
          <a:lstStyle/>
          <a:p>
            <a:r>
              <a:rPr lang="uk-UA" dirty="0"/>
              <a:t>Використання однієї із систем </a:t>
            </a:r>
            <a:r>
              <a:rPr lang="uk-UA" dirty="0" err="1"/>
              <a:t>відеоконференцій</a:t>
            </a:r>
            <a:endParaRPr lang="uk-UA" dirty="0"/>
          </a:p>
          <a:p>
            <a:pPr lvl="1"/>
            <a:r>
              <a:rPr lang="uk-UA" dirty="0"/>
              <a:t>Мають повідомити завчасно, що саме використовують</a:t>
            </a:r>
          </a:p>
          <a:p>
            <a:pPr lvl="1"/>
            <a:r>
              <a:rPr lang="uk-UA" dirty="0"/>
              <a:t>Підготуватись – встановити, налаштувати, перевірити</a:t>
            </a:r>
          </a:p>
          <a:p>
            <a:r>
              <a:rPr lang="uk-UA" dirty="0"/>
              <a:t>Якісний інтернет</a:t>
            </a:r>
          </a:p>
          <a:p>
            <a:pPr lvl="1"/>
            <a:r>
              <a:rPr lang="uk-UA" dirty="0"/>
              <a:t>За можливості – резервний варіант</a:t>
            </a:r>
          </a:p>
          <a:p>
            <a:r>
              <a:rPr lang="uk-UA" dirty="0"/>
              <a:t>Демонстрація слайдів зі свого екрану</a:t>
            </a:r>
          </a:p>
          <a:p>
            <a:pPr lvl="1"/>
            <a:r>
              <a:rPr lang="uk-UA" dirty="0"/>
              <a:t>Вміти це робити</a:t>
            </a:r>
          </a:p>
          <a:p>
            <a:pPr lvl="1"/>
            <a:r>
              <a:rPr lang="uk-UA" dirty="0"/>
              <a:t>Прибрати непотрібні програми, зображення, …</a:t>
            </a:r>
          </a:p>
          <a:p>
            <a:r>
              <a:rPr lang="uk-UA" dirty="0"/>
              <a:t>Під час виступу – вимагають вмикати камеру</a:t>
            </a:r>
          </a:p>
          <a:p>
            <a:pPr lvl="1"/>
            <a:r>
              <a:rPr lang="uk-UA" dirty="0"/>
              <a:t>Бути готовими – перевірити камеру, як вмикати/вимикати</a:t>
            </a:r>
          </a:p>
          <a:p>
            <a:pPr lvl="1"/>
            <a:r>
              <a:rPr lang="uk-UA" dirty="0"/>
              <a:t>Відповідний фон </a:t>
            </a:r>
          </a:p>
          <a:p>
            <a:pPr lvl="1"/>
            <a:r>
              <a:rPr lang="uk-UA" dirty="0"/>
              <a:t>Відповідний зовнішній вигляд</a:t>
            </a:r>
          </a:p>
          <a:p>
            <a:pPr lvl="1"/>
            <a:r>
              <a:rPr lang="uk-UA" dirty="0"/>
              <a:t>Відсутність сторонніх шумів, відволікаючих факторів,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140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313839443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Питання під час захисту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Задають викладачі з комісії та усі присутні</a:t>
            </a:r>
          </a:p>
          <a:p>
            <a:r>
              <a:rPr lang="uk-UA" dirty="0"/>
              <a:t>Можуть бути дуже різними</a:t>
            </a:r>
          </a:p>
          <a:p>
            <a:r>
              <a:rPr lang="uk-UA" dirty="0"/>
              <a:t>Треба вміти відповідати коротко і по суті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141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6736260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Деякі типові питання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Деталі теорії, математичних основ, використаних підходів</a:t>
            </a:r>
          </a:p>
          <a:p>
            <a:pPr lvl="1"/>
            <a:r>
              <a:rPr lang="uk-UA" dirty="0"/>
              <a:t>Часто задають викладачі, що читають відповідні предмети</a:t>
            </a:r>
          </a:p>
          <a:p>
            <a:r>
              <a:rPr lang="uk-UA" dirty="0"/>
              <a:t>Порівняння з аналогами</a:t>
            </a:r>
          </a:p>
          <a:p>
            <a:r>
              <a:rPr lang="uk-UA" dirty="0"/>
              <a:t>В чому новизна та/	або практичне значення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142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82032685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Питання «не по темі»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Іноді викладачі задають питання, які начебто не стосуються теми роботи</a:t>
            </a:r>
          </a:p>
          <a:p>
            <a:pPr lvl="1"/>
            <a:r>
              <a:rPr lang="uk-UA" dirty="0"/>
              <a:t>Іноді не розібрались в темі</a:t>
            </a:r>
          </a:p>
          <a:p>
            <a:pPr lvl="1"/>
            <a:r>
              <a:rPr lang="uk-UA" dirty="0"/>
              <a:t>Іноді пропустили частину виступу</a:t>
            </a:r>
          </a:p>
          <a:p>
            <a:pPr lvl="1"/>
            <a:r>
              <a:rPr lang="uk-UA" dirty="0"/>
              <a:t>Іноді «думають про своє»</a:t>
            </a:r>
          </a:p>
          <a:p>
            <a:r>
              <a:rPr lang="uk-UA" dirty="0"/>
              <a:t>Треба вміти відповідати на такі питання </a:t>
            </a:r>
            <a:r>
              <a:rPr lang="uk-UA" dirty="0" err="1"/>
              <a:t>коректно</a:t>
            </a:r>
            <a:endParaRPr lang="uk-UA" dirty="0"/>
          </a:p>
          <a:p>
            <a:pPr lvl="1"/>
            <a:r>
              <a:rPr lang="uk-UA" dirty="0"/>
              <a:t>Коротко пояснити, що саме зроблено</a:t>
            </a:r>
          </a:p>
          <a:p>
            <a:pPr lvl="1"/>
            <a:r>
              <a:rPr lang="uk-UA" dirty="0"/>
              <a:t>Не варто зосереджувати увагу на тому, що питання не зовсім правильне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143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54517332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Схожі слова, різні значення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uk-UA" dirty="0"/>
              <a:t>Оптимізація – знаходження мінімуму/максимуму або підвищення ефективності</a:t>
            </a:r>
          </a:p>
          <a:p>
            <a:r>
              <a:rPr lang="uk-UA" dirty="0"/>
              <a:t>Регулярні вирази – математичне визначення або засіб в сучасних мовах (більш потужний)</a:t>
            </a:r>
          </a:p>
          <a:p>
            <a:r>
              <a:rPr lang="uk-UA" dirty="0"/>
              <a:t>Логіка – висловлювання, предикати, операції або бізнес логіка</a:t>
            </a:r>
          </a:p>
          <a:p>
            <a:r>
              <a:rPr lang="uk-UA" dirty="0"/>
              <a:t>Детерміновані/недетерміновані – автомати, моделі, виконання програм, стратегії</a:t>
            </a:r>
          </a:p>
          <a:p>
            <a:r>
              <a:rPr lang="uk-UA" dirty="0"/>
              <a:t>Агенти – </a:t>
            </a:r>
            <a:r>
              <a:rPr lang="uk-UA" dirty="0" err="1"/>
              <a:t>мультагентне</a:t>
            </a:r>
            <a:r>
              <a:rPr lang="uk-UA" dirty="0"/>
              <a:t> моделювання або засіб програмування або архітектура ШІ або </a:t>
            </a:r>
            <a:r>
              <a:rPr lang="en-US" dirty="0"/>
              <a:t>user agent = web browser </a:t>
            </a:r>
            <a:r>
              <a:rPr lang="uk-UA" dirty="0"/>
              <a:t>або …</a:t>
            </a:r>
          </a:p>
          <a:p>
            <a:r>
              <a:rPr lang="uk-UA" dirty="0"/>
              <a:t>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144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1117501580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Рекомендації щодо виступу та спілкування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uk-UA" dirty="0"/>
              <a:t>Не варто перебивати викладача, навіть якщо здається, що питання вже зрозуміле (чи зрозуміло що неправильне)</a:t>
            </a:r>
          </a:p>
          <a:p>
            <a:pPr lvl="1"/>
            <a:r>
              <a:rPr lang="uk-UA" dirty="0"/>
              <a:t>Краще витратити час щоб подумати над відповіддю</a:t>
            </a:r>
          </a:p>
          <a:p>
            <a:r>
              <a:rPr lang="uk-UA" dirty="0"/>
              <a:t>Якщо щось в питанні незрозуміло чи недочули – краще перепитати, але ввічливо</a:t>
            </a:r>
          </a:p>
          <a:p>
            <a:r>
              <a:rPr lang="uk-UA" dirty="0"/>
              <a:t>На жаль, не всі викладачі завжди поводяться </a:t>
            </a:r>
            <a:r>
              <a:rPr lang="uk-UA" dirty="0" err="1"/>
              <a:t>коректно</a:t>
            </a:r>
            <a:r>
              <a:rPr lang="en-US" dirty="0"/>
              <a:t> (</a:t>
            </a:r>
            <a:r>
              <a:rPr lang="uk-UA" dirty="0"/>
              <a:t>тобто той самий викладач може сам/сама перебивати студентів, і при цьому дуже негативно реагувати якщо студенти перебиватимуть його/її)</a:t>
            </a:r>
          </a:p>
          <a:p>
            <a:pPr lvl="1"/>
            <a:r>
              <a:rPr lang="uk-UA" dirty="0"/>
              <a:t>Але не треба робити так само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145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253233720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Чи варто сперечатись з викладачами на захисті?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uk-UA" dirty="0"/>
              <a:t>Дуже спірне питання </a:t>
            </a:r>
            <a:r>
              <a:rPr lang="uk-UA" dirty="0">
                <a:sym typeface="Wingdings" panose="05000000000000000000" pitchFamily="2" charset="2"/>
              </a:rPr>
              <a:t></a:t>
            </a:r>
          </a:p>
          <a:p>
            <a:r>
              <a:rPr lang="uk-UA" dirty="0">
                <a:sym typeface="Wingdings" panose="05000000000000000000" pitchFamily="2" charset="2"/>
              </a:rPr>
              <a:t>З одного боку, бажано не створити враження «нічого не знає, але з викладачами сперечається»</a:t>
            </a:r>
          </a:p>
          <a:p>
            <a:r>
              <a:rPr lang="uk-UA" dirty="0">
                <a:sym typeface="Wingdings" panose="05000000000000000000" pitchFamily="2" charset="2"/>
              </a:rPr>
              <a:t>З іншого боку, варто вміти захищати свою точку зору</a:t>
            </a:r>
          </a:p>
          <a:p>
            <a:r>
              <a:rPr lang="uk-UA" dirty="0">
                <a:sym typeface="Wingdings" panose="05000000000000000000" pitchFamily="2" charset="2"/>
              </a:rPr>
              <a:t>Рекомендації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Трохи подумати, а не відповідати одразу «на емоціях» (поки викладач говорить, якщо треба трохи більше часу – почати говорити з менш спірних частин і паралельно думати над іншим, якщо вмієте такий </a:t>
            </a:r>
            <a:r>
              <a:rPr lang="en-US" dirty="0">
                <a:sym typeface="Wingdings" panose="05000000000000000000" pitchFamily="2" charset="2"/>
              </a:rPr>
              <a:t>multitasking )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Фокусуватись на фактах, а не враженнях, точках зору, емоціях, вподобаннях тощо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Спробувати відповідати «</a:t>
            </a:r>
            <a:r>
              <a:rPr lang="uk-UA" dirty="0" err="1">
                <a:sym typeface="Wingdings" panose="05000000000000000000" pitchFamily="2" charset="2"/>
              </a:rPr>
              <a:t>дипломатично</a:t>
            </a:r>
            <a:r>
              <a:rPr lang="uk-UA" dirty="0">
                <a:sym typeface="Wingdings" panose="05000000000000000000" pitchFamily="2" charset="2"/>
              </a:rPr>
              <a:t>» – «Це важливе питання, дякую, на жаль під час роботи не було розглянуто в повній мірі, врахую в подальшій роботі, дякую за цікаву ідею» замість </a:t>
            </a:r>
            <a:r>
              <a:rPr lang="uk-UA" strike="sngStrike" dirty="0">
                <a:sym typeface="Wingdings" panose="05000000000000000000" pitchFamily="2" charset="2"/>
              </a:rPr>
              <a:t>«Звісно я цього не робив, Ви що доповідь не слухали»</a:t>
            </a:r>
            <a:r>
              <a:rPr lang="uk-UA" dirty="0">
                <a:sym typeface="Wingdings" panose="05000000000000000000" pitchFamily="2" charset="2"/>
              </a:rPr>
              <a:t>; «Така точка зору справді доцільна, особливо у випадках А В С, проте проти неї можна висловити такі контраргументи 1) 2) 3) і до того ж наш випадок відрізняється тим-то» замість </a:t>
            </a:r>
            <a:r>
              <a:rPr lang="uk-UA" strike="sngStrike" dirty="0">
                <a:sym typeface="Wingdings" panose="05000000000000000000" pitchFamily="2" charset="2"/>
              </a:rPr>
              <a:t>«Це повна маячня, звісно такого не може бути, Ви взагалі в цій темі не орієнтуєтесь»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Залишатись в рамках ввічливості – навіть якщо (здається що) викладач виходить за ці рамки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146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55879088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Питання?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147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75115004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altLang="en-US" dirty="0"/>
              <a:t>Частина 6. Особливості випускних кваліфікаційних («дипломних») робіт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uk-UA" dirty="0"/>
              <a:t>Друга спроба, тепер все серйозно</a:t>
            </a:r>
            <a:endParaRPr lang="en-US" dirty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A6383B-215A-4539-AA8D-C98B287BFA06}" type="slidenum">
              <a:rPr lang="ru-RU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148</a:t>
            </a:fld>
            <a:endParaRPr lang="ru-RU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76655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Дипломні порівняно з курсовими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uk-UA" dirty="0"/>
              <a:t>Більше обсяг тексту – більш серйозні задачі</a:t>
            </a:r>
          </a:p>
          <a:p>
            <a:r>
              <a:rPr lang="uk-UA" dirty="0"/>
              <a:t>Раніше фіксується тема (за кілька місяців до захисту)</a:t>
            </a:r>
          </a:p>
          <a:p>
            <a:pPr lvl="1"/>
            <a:r>
              <a:rPr lang="uk-UA" dirty="0"/>
              <a:t>Останнім часом дозволяють змінювати за результатом попереднього захисту (через кілька днів після нього), але не пізніше, точно до перевірки на плагіат</a:t>
            </a:r>
          </a:p>
          <a:p>
            <a:r>
              <a:rPr lang="uk-UA" dirty="0"/>
              <a:t>Обов’язково </a:t>
            </a:r>
            <a:r>
              <a:rPr lang="uk-UA" dirty="0" err="1"/>
              <a:t>передзахист</a:t>
            </a:r>
            <a:r>
              <a:rPr lang="uk-UA" dirty="0"/>
              <a:t> за участі викладачів кафедри</a:t>
            </a:r>
          </a:p>
          <a:p>
            <a:r>
              <a:rPr lang="uk-UA" dirty="0"/>
              <a:t>Перевірка на плагіат</a:t>
            </a:r>
          </a:p>
          <a:p>
            <a:r>
              <a:rPr lang="uk-UA" dirty="0"/>
              <a:t>Відгук керівника, рецензія викладача не з цієї кафедри</a:t>
            </a:r>
          </a:p>
          <a:p>
            <a:r>
              <a:rPr lang="uk-UA" dirty="0"/>
              <a:t>Захист перед комісією, в складі якої представники нашої та інших кафедр/університетів</a:t>
            </a:r>
          </a:p>
          <a:p>
            <a:r>
              <a:rPr lang="uk-UA" dirty="0"/>
              <a:t>Спеціальні вимоги на диплом з відзнакою («червоний диплом»)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149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341342255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Щодо назви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dirty="0"/>
              <a:t>Офіційна назва – «кваліфікаційна (випускна) робота»</a:t>
            </a:r>
          </a:p>
          <a:p>
            <a:r>
              <a:rPr lang="uk-UA" dirty="0"/>
              <a:t>Неофіційно часто називають «дипломна робота»</a:t>
            </a:r>
          </a:p>
          <a:p>
            <a:pPr lvl="1"/>
            <a:r>
              <a:rPr lang="uk-UA" dirty="0"/>
              <a:t>Але в офіційних ситуаціях краще використовувати термін «кваліфікаційна робота»</a:t>
            </a:r>
          </a:p>
          <a:p>
            <a:pPr lvl="1"/>
            <a:r>
              <a:rPr lang="uk-UA" dirty="0"/>
              <a:t>Текст, відгук/рецензія, слайди, виступ на захисті</a:t>
            </a:r>
          </a:p>
          <a:p>
            <a:r>
              <a:rPr lang="uk-UA" dirty="0"/>
              <a:t>(В цих слайдах для простоти використовується термін «дипломна» – не варто так робити в офіційних документах)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150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206005961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Дипломна робота на основі курсової?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dirty="0"/>
              <a:t>Так можна (і часто роблять)</a:t>
            </a:r>
          </a:p>
          <a:p>
            <a:r>
              <a:rPr lang="uk-UA" dirty="0"/>
              <a:t>Мають бути суттєві нові результати</a:t>
            </a:r>
          </a:p>
          <a:p>
            <a:pPr lvl="1"/>
            <a:r>
              <a:rPr lang="uk-UA" dirty="0"/>
              <a:t>Нова назва, яка суттєво відрізняється (не просто переставити слова)</a:t>
            </a:r>
          </a:p>
          <a:p>
            <a:r>
              <a:rPr lang="uk-UA" dirty="0"/>
              <a:t>Курсові не всі дивились, тому можуть пропустити схожість</a:t>
            </a:r>
          </a:p>
          <a:p>
            <a:pPr lvl="1"/>
            <a:r>
              <a:rPr lang="uk-UA" dirty="0"/>
              <a:t>Але якщо знайдуть – це вважається «</a:t>
            </a:r>
            <a:r>
              <a:rPr lang="uk-UA" dirty="0" err="1"/>
              <a:t>самоплагіатом</a:t>
            </a:r>
            <a:r>
              <a:rPr lang="uk-UA" dirty="0"/>
              <a:t>» </a:t>
            </a:r>
          </a:p>
          <a:p>
            <a:pPr lvl="1"/>
            <a:r>
              <a:rPr lang="uk-UA" dirty="0"/>
              <a:t>Може бути підставою для скасування диплому, навіть якщо буде знайдено після отримання диплому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151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3987812222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Перевірка на плагіат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dirty="0"/>
              <a:t>Процедура:</a:t>
            </a:r>
          </a:p>
          <a:p>
            <a:pPr lvl="1"/>
            <a:r>
              <a:rPr lang="uk-UA" dirty="0"/>
              <a:t>Студенти надсилають готовий текст відповідальному за перевірку на кафедрі</a:t>
            </a:r>
          </a:p>
          <a:p>
            <a:pPr lvl="1"/>
            <a:r>
              <a:rPr lang="uk-UA" dirty="0"/>
              <a:t>Відповідальний передає текст в систему</a:t>
            </a:r>
          </a:p>
          <a:p>
            <a:pPr lvl="1"/>
            <a:r>
              <a:rPr lang="uk-UA" dirty="0"/>
              <a:t>Система генерує звіт, зокрема відсоток схожості</a:t>
            </a:r>
          </a:p>
          <a:p>
            <a:pPr lvl="1"/>
            <a:r>
              <a:rPr lang="uk-UA" dirty="0"/>
              <a:t>Звіт та заготовка довідки надсилається керівнику</a:t>
            </a:r>
          </a:p>
          <a:p>
            <a:pPr lvl="1"/>
            <a:r>
              <a:rPr lang="uk-UA" dirty="0"/>
              <a:t>Керівник заповнює довідку</a:t>
            </a:r>
          </a:p>
          <a:p>
            <a:r>
              <a:rPr lang="uk-UA" dirty="0"/>
              <a:t>Відсоток схожості не більше 30%</a:t>
            </a:r>
          </a:p>
          <a:p>
            <a:pPr lvl="1"/>
            <a:r>
              <a:rPr lang="uk-UA" dirty="0"/>
              <a:t>Інакше не допускається до захисту</a:t>
            </a:r>
          </a:p>
          <a:p>
            <a:pPr lvl="1"/>
            <a:r>
              <a:rPr lang="uk-UA" dirty="0"/>
              <a:t>Можна </a:t>
            </a:r>
            <a:r>
              <a:rPr lang="uk-UA" dirty="0" err="1"/>
              <a:t>внести</a:t>
            </a:r>
            <a:r>
              <a:rPr lang="uk-UA" dirty="0"/>
              <a:t> зміни і повторно пройти перевірку (повторна перевірка є платною)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152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171181652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Особливості перевірки на плагіат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uk-UA" dirty="0"/>
              <a:t>Надсилається або у форматі </a:t>
            </a:r>
            <a:r>
              <a:rPr lang="en-US" dirty="0"/>
              <a:t>.</a:t>
            </a:r>
            <a:r>
              <a:rPr lang="en-US" dirty="0" err="1"/>
              <a:t>docx</a:t>
            </a:r>
            <a:endParaRPr lang="en-US" dirty="0"/>
          </a:p>
          <a:p>
            <a:r>
              <a:rPr lang="uk-UA" dirty="0"/>
              <a:t>Або </a:t>
            </a:r>
            <a:r>
              <a:rPr lang="uk-UA" dirty="0" err="1"/>
              <a:t>якщ</a:t>
            </a:r>
            <a:r>
              <a:rPr lang="ru-UA" dirty="0"/>
              <a:t>о </a:t>
            </a:r>
            <a:r>
              <a:rPr lang="en-US" dirty="0"/>
              <a:t>.pdf – </a:t>
            </a:r>
            <a:r>
              <a:rPr lang="uk-UA" dirty="0"/>
              <a:t>то видалити титульну сторінку, перелік джерел посилання, додатки</a:t>
            </a:r>
          </a:p>
          <a:p>
            <a:r>
              <a:rPr lang="uk-UA" dirty="0"/>
              <a:t>Не можна вносити зміни після проходження перевірки!</a:t>
            </a:r>
          </a:p>
          <a:p>
            <a:pPr lvl="1"/>
            <a:r>
              <a:rPr lang="uk-UA" dirty="0"/>
              <a:t>Тому треба завчасно узгодити з керівником остаточний варіант тексту</a:t>
            </a:r>
          </a:p>
          <a:p>
            <a:pPr lvl="1"/>
            <a:r>
              <a:rPr lang="uk-UA" dirty="0"/>
              <a:t>Тобто починати надсилати текст керівнику не за кілька хвилин до </a:t>
            </a:r>
            <a:r>
              <a:rPr lang="uk-UA" dirty="0" err="1"/>
              <a:t>дедлайну</a:t>
            </a:r>
            <a:r>
              <a:rPr lang="uk-UA" dirty="0"/>
              <a:t> перевірки на плагіат </a:t>
            </a:r>
            <a:r>
              <a:rPr lang="uk-UA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153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2096324550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Як не стати плагіатором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dirty="0"/>
              <a:t>Якщо писати </a:t>
            </a:r>
            <a:r>
              <a:rPr lang="uk-UA" b="1" dirty="0"/>
              <a:t>весь</a:t>
            </a:r>
            <a:r>
              <a:rPr lang="uk-UA" dirty="0"/>
              <a:t> текст самостійно – відсоток схожості зазвичай буде низьким, не більше 5-10%</a:t>
            </a:r>
          </a:p>
          <a:p>
            <a:r>
              <a:rPr lang="uk-UA" dirty="0"/>
              <a:t>Типове джерело плагіату – оглядова інформація</a:t>
            </a:r>
          </a:p>
          <a:p>
            <a:pPr lvl="1"/>
            <a:r>
              <a:rPr lang="uk-UA" dirty="0"/>
              <a:t>Часто студенти копіюють в ці розділи інформацію з сайтів, документації, </a:t>
            </a:r>
            <a:r>
              <a:rPr lang="uk-UA" dirty="0" err="1"/>
              <a:t>вікіпедії</a:t>
            </a:r>
            <a:r>
              <a:rPr lang="uk-UA" dirty="0"/>
              <a:t>, …</a:t>
            </a:r>
          </a:p>
          <a:p>
            <a:pPr lvl="1"/>
            <a:r>
              <a:rPr lang="uk-UA" dirty="0"/>
              <a:t>Так робити не можна! </a:t>
            </a:r>
          </a:p>
          <a:p>
            <a:pPr lvl="1"/>
            <a:r>
              <a:rPr lang="uk-UA" dirty="0"/>
              <a:t>Не треба копіювати – треба своїми слова сформулювати те, що актуально саме для цієї роботи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154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1666966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«Війни роботів»: </a:t>
            </a:r>
            <a:br>
              <a:rPr lang="uk-UA" dirty="0"/>
            </a:br>
            <a:r>
              <a:rPr lang="uk-UA" dirty="0" err="1"/>
              <a:t>антиплагіат</a:t>
            </a:r>
            <a:r>
              <a:rPr lang="uk-UA" dirty="0"/>
              <a:t> проти </a:t>
            </a:r>
            <a:r>
              <a:rPr lang="uk-UA" dirty="0" err="1"/>
              <a:t>автоперекладу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92486"/>
          </a:xfrm>
        </p:spPr>
        <p:txBody>
          <a:bodyPr>
            <a:normAutofit fontScale="77500" lnSpcReduction="20000"/>
          </a:bodyPr>
          <a:lstStyle/>
          <a:p>
            <a:r>
              <a:rPr lang="uk-UA" dirty="0"/>
              <a:t>Іноді студенти намагаються «обдурити» систему перевірки</a:t>
            </a:r>
          </a:p>
          <a:p>
            <a:pPr lvl="1"/>
            <a:r>
              <a:rPr lang="uk-UA" dirty="0"/>
              <a:t>Копіюють не україномовний текст, а англомовний пропущений наприклад через </a:t>
            </a:r>
            <a:r>
              <a:rPr lang="en-US" dirty="0"/>
              <a:t>Google Translate</a:t>
            </a:r>
          </a:p>
          <a:p>
            <a:r>
              <a:rPr lang="uk-UA" dirty="0"/>
              <a:t>Такі спроби система перевірки іноді не розпізнає</a:t>
            </a:r>
          </a:p>
          <a:p>
            <a:r>
              <a:rPr lang="uk-UA" dirty="0"/>
              <a:t>Але якщо хтось таке саме робив раніше для того самого тексту – в базі вже є україномовна версія і її знайдуть</a:t>
            </a:r>
          </a:p>
          <a:p>
            <a:pPr lvl="1"/>
            <a:r>
              <a:rPr lang="uk-UA" dirty="0"/>
              <a:t>Додатковий «бонус» – пояснити чому копіювали текст з якогось невідомого регіонального університету </a:t>
            </a:r>
            <a:r>
              <a:rPr lang="uk-UA" dirty="0">
                <a:sym typeface="Wingdings" panose="05000000000000000000" pitchFamily="2" charset="2"/>
              </a:rPr>
              <a:t></a:t>
            </a:r>
          </a:p>
          <a:p>
            <a:r>
              <a:rPr lang="uk-UA" dirty="0">
                <a:sym typeface="Wingdings" panose="05000000000000000000" pitchFamily="2" charset="2"/>
              </a:rPr>
              <a:t>Навіть якщо система не знайшла плагіат – він залишається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Можуть знайти пізніше (може Ви плануєте кар’єру політика…)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Може бути підставою для скасування диплому навіть після його отримання!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155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2957613786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«Війни роботів»: </a:t>
            </a:r>
            <a:br>
              <a:rPr lang="uk-UA" dirty="0"/>
            </a:br>
            <a:r>
              <a:rPr lang="uk-UA" dirty="0" err="1"/>
              <a:t>антиплагіат</a:t>
            </a:r>
            <a:r>
              <a:rPr lang="uk-UA" dirty="0"/>
              <a:t> проти </a:t>
            </a:r>
            <a:r>
              <a:rPr lang="en-US" dirty="0" err="1"/>
              <a:t>ChatGPT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92486"/>
          </a:xfrm>
        </p:spPr>
        <p:txBody>
          <a:bodyPr>
            <a:normAutofit fontScale="77500" lnSpcReduction="20000"/>
          </a:bodyPr>
          <a:lstStyle/>
          <a:p>
            <a:r>
              <a:rPr lang="uk-UA" dirty="0"/>
              <a:t>Зараз з’являються нові засоби для швидкої генерації великих обсягів текстів</a:t>
            </a:r>
          </a:p>
          <a:p>
            <a:pPr lvl="1"/>
            <a:r>
              <a:rPr lang="uk-UA" dirty="0"/>
              <a:t>Правильний стиль</a:t>
            </a:r>
          </a:p>
          <a:p>
            <a:pPr lvl="1"/>
            <a:r>
              <a:rPr lang="uk-UA" dirty="0"/>
              <a:t>На перший погляд все правильно</a:t>
            </a:r>
          </a:p>
          <a:p>
            <a:pPr lvl="1"/>
            <a:r>
              <a:rPr lang="uk-UA" dirty="0"/>
              <a:t>Можуть бути «цікаві» помилки в деталях</a:t>
            </a:r>
          </a:p>
          <a:p>
            <a:r>
              <a:rPr lang="uk-UA" dirty="0"/>
              <a:t>Як це буде сприймати система перевірки на плагіат – такого досвіду поки не було</a:t>
            </a:r>
          </a:p>
          <a:p>
            <a:pPr lvl="1"/>
            <a:r>
              <a:rPr lang="uk-UA" dirty="0"/>
              <a:t>«Хоч у чомусь ми будемо першими» </a:t>
            </a:r>
            <a:r>
              <a:rPr lang="uk-UA" dirty="0">
                <a:sym typeface="Wingdings" panose="05000000000000000000" pitchFamily="2" charset="2"/>
              </a:rPr>
              <a:t></a:t>
            </a:r>
          </a:p>
          <a:p>
            <a:r>
              <a:rPr lang="uk-UA" dirty="0">
                <a:sym typeface="Wingdings" panose="05000000000000000000" pitchFamily="2" charset="2"/>
              </a:rPr>
              <a:t>Навіть якщо спеціальних засобів проти генерованого тексту ще немає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Сучасні моделі генерують текст на основі величезної кількості опрацьованих текстів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Багато з них є в базі перевірки на плагіат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Генератор може повторювати фрагменти тексту майже дослівно – і той хто ним скористається про це не знає…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156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3685961541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Відгук та  рецензія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uk-UA" dirty="0"/>
              <a:t>Як має бути</a:t>
            </a:r>
          </a:p>
          <a:p>
            <a:pPr lvl="1"/>
            <a:r>
              <a:rPr lang="uk-UA" dirty="0"/>
              <a:t>Студенти готують роботу завчасно</a:t>
            </a:r>
          </a:p>
          <a:p>
            <a:pPr lvl="1"/>
            <a:r>
              <a:rPr lang="uk-UA" dirty="0"/>
              <a:t>Десь за місяць до захисту вже все готово (реалізація, виміри, повністю текст, …)</a:t>
            </a:r>
          </a:p>
          <a:p>
            <a:pPr lvl="1"/>
            <a:r>
              <a:rPr lang="uk-UA" dirty="0"/>
              <a:t>Кілька тижнів студенти працюють з керівником, враховують зауваження</a:t>
            </a:r>
          </a:p>
          <a:p>
            <a:pPr lvl="1"/>
            <a:r>
              <a:rPr lang="uk-UA" dirty="0"/>
              <a:t>За кілька тижнів до захисту фіксується версія тексту (і робиться перевірка на плагіат)</a:t>
            </a:r>
          </a:p>
          <a:p>
            <a:pPr lvl="1"/>
            <a:r>
              <a:rPr lang="uk-UA" dirty="0"/>
              <a:t>Ця версія надсилається рецензенту</a:t>
            </a:r>
          </a:p>
          <a:p>
            <a:pPr lvl="1"/>
            <a:r>
              <a:rPr lang="uk-UA" dirty="0"/>
              <a:t>Рецензент уважно читає, за потреби звертається до студента за поясненнями/додатковими матеріалами</a:t>
            </a:r>
          </a:p>
          <a:p>
            <a:pPr lvl="1"/>
            <a:r>
              <a:rPr lang="uk-UA" dirty="0"/>
              <a:t>Рецензент готує текст рецензії, формулює своє враження, зауваження тощо</a:t>
            </a:r>
          </a:p>
          <a:p>
            <a:pPr lvl="1"/>
            <a:r>
              <a:rPr lang="uk-UA" dirty="0"/>
              <a:t>Паралельно керівник готує текст відгуку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157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347918138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Відгук та  рецензія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uk-UA" dirty="0"/>
              <a:t>Як буває насправді</a:t>
            </a:r>
          </a:p>
          <a:p>
            <a:pPr lvl="1"/>
            <a:r>
              <a:rPr lang="uk-UA" dirty="0"/>
              <a:t>Все готово за </a:t>
            </a:r>
            <a:r>
              <a:rPr lang="uk-UA" b="1" i="1" dirty="0"/>
              <a:t>місяць</a:t>
            </a:r>
            <a:r>
              <a:rPr lang="uk-UA" dirty="0"/>
              <a:t> до захисту??? З якого </a:t>
            </a:r>
            <a:r>
              <a:rPr lang="uk-UA" dirty="0" err="1"/>
              <a:t>дуба</a:t>
            </a:r>
            <a:r>
              <a:rPr lang="uk-UA" dirty="0"/>
              <a:t> впали? </a:t>
            </a:r>
            <a:r>
              <a:rPr lang="uk-UA" dirty="0">
                <a:sym typeface="Wingdings" panose="05000000000000000000" pitchFamily="2" charset="2"/>
              </a:rPr>
              <a:t> Більшість студентів за місяць до захисту ще не починали нічого робити!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Все робиться в останній момент: текст за хвилини до </a:t>
            </a:r>
            <a:r>
              <a:rPr lang="uk-UA" dirty="0" err="1">
                <a:sym typeface="Wingdings" panose="05000000000000000000" pitchFamily="2" charset="2"/>
              </a:rPr>
              <a:t>дедлайну</a:t>
            </a:r>
            <a:r>
              <a:rPr lang="uk-UA" dirty="0">
                <a:sym typeface="Wingdings" panose="05000000000000000000" pitchFamily="2" charset="2"/>
              </a:rPr>
              <a:t> перевірки на плагіат, рецензії та відгуки перед самим захистом, слайди/демонстрація за хвилини до свого виступу поки виступають колеги …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Зазвичай кількість студентів досить велика – часу підготувати усім рецензію просто не вистачає</a:t>
            </a:r>
          </a:p>
          <a:p>
            <a:r>
              <a:rPr lang="uk-UA" dirty="0">
                <a:sym typeface="Wingdings" panose="05000000000000000000" pitchFamily="2" charset="2"/>
              </a:rPr>
              <a:t>Тому студентів «просять» підготувати «заготовки» відгуків/рецензій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По суті готовий текст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Викладачі за бажання вносять зміни</a:t>
            </a:r>
          </a:p>
          <a:p>
            <a:pPr lvl="1"/>
            <a:r>
              <a:rPr lang="uk-UA" dirty="0">
                <a:sym typeface="Wingdings" panose="05000000000000000000" pitchFamily="2" charset="2"/>
              </a:rPr>
              <a:t>Треба надіслати керівнику не в останній момент – треба ще перевірити, домовитись </a:t>
            </a:r>
            <a:r>
              <a:rPr lang="uk-UA">
                <a:sym typeface="Wingdings" panose="05000000000000000000" pitchFamily="2" charset="2"/>
              </a:rPr>
              <a:t>з рецензентом, …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uk-UA" dirty="0">
                <a:sym typeface="Wingdings" panose="05000000000000000000" pitchFamily="2" charset="2"/>
              </a:rPr>
              <a:t>Готові відгук та рецензію надсилає на кафедру керівник, а не студент!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158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3589945915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Оформлення відгуків/рецензій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Зразки: </a:t>
            </a:r>
            <a:r>
              <a:rPr lang="uk-UA" altLang="en-US" dirty="0">
                <a:hlinkClick r:id="rId2"/>
              </a:rPr>
              <a:t>Методичні вказівки</a:t>
            </a:r>
            <a:r>
              <a:rPr lang="uk-UA" altLang="en-US" dirty="0"/>
              <a:t>, додаток Е (1 зразок відгуку, 1 зразок рецензії)</a:t>
            </a:r>
          </a:p>
          <a:p>
            <a:pPr lvl="1"/>
            <a:r>
              <a:rPr lang="uk-UA" altLang="en-US" dirty="0"/>
              <a:t>Раніше був інший зразок рецензії в суттєво іншому стилі</a:t>
            </a:r>
          </a:p>
          <a:p>
            <a:pPr lvl="1"/>
            <a:r>
              <a:rPr lang="uk-UA" altLang="en-US" dirty="0"/>
              <a:t>Зараз його прибрали, використовувати не варто</a:t>
            </a:r>
          </a:p>
          <a:p>
            <a:r>
              <a:rPr lang="uk-UA" dirty="0"/>
              <a:t>Формально пишуться у вільній формі</a:t>
            </a:r>
          </a:p>
          <a:p>
            <a:r>
              <a:rPr lang="uk-UA" dirty="0"/>
              <a:t>Але усі ключові моменти мають бути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159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2829357809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Вимоги до рецензента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Не викладач нашої кафедри!</a:t>
            </a:r>
          </a:p>
          <a:p>
            <a:r>
              <a:rPr lang="uk-UA" dirty="0"/>
              <a:t>Або викладач іншої кафедри, іншого факультету, іншого університету…</a:t>
            </a:r>
          </a:p>
          <a:p>
            <a:pPr lvl="1"/>
            <a:r>
              <a:rPr lang="uk-UA" dirty="0"/>
              <a:t>Працює за схожою спеціальністю</a:t>
            </a:r>
          </a:p>
          <a:p>
            <a:pPr lvl="1"/>
            <a:r>
              <a:rPr lang="uk-UA" dirty="0"/>
              <a:t>Кандидат (включно з </a:t>
            </a:r>
            <a:r>
              <a:rPr lang="en-US" dirty="0"/>
              <a:t>PhD)</a:t>
            </a:r>
            <a:r>
              <a:rPr lang="uk-UA" dirty="0"/>
              <a:t> або доктор наук</a:t>
            </a:r>
          </a:p>
          <a:p>
            <a:r>
              <a:rPr lang="uk-UA" dirty="0"/>
              <a:t>Або особа, що посідає керівну посаду в своїй організації (зокрема, компанії з розробки ПЗ)</a:t>
            </a:r>
          </a:p>
          <a:p>
            <a:pPr lvl="1"/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160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332195041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Диплом з відзнакою </a:t>
            </a:r>
            <a:br>
              <a:rPr lang="uk-UA" dirty="0"/>
            </a:br>
            <a:r>
              <a:rPr lang="uk-UA" dirty="0"/>
              <a:t>(«червоний диплом»)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dirty="0"/>
              <a:t>"</a:t>
            </a:r>
            <a:r>
              <a:rPr lang="uk-UA" dirty="0">
                <a:hlinkClick r:id="rId2"/>
              </a:rPr>
              <a:t>Положення про диплом із відзнакою Київського національного університету імені Тараса Шевченка</a:t>
            </a:r>
            <a:r>
              <a:rPr lang="uk-UA" dirty="0"/>
              <a:t>" </a:t>
            </a:r>
          </a:p>
          <a:p>
            <a:r>
              <a:rPr lang="uk-UA" dirty="0"/>
              <a:t>Гарні оцінки</a:t>
            </a:r>
          </a:p>
          <a:p>
            <a:r>
              <a:rPr lang="uk-UA" dirty="0"/>
              <a:t>Додаткові умови</a:t>
            </a:r>
          </a:p>
          <a:p>
            <a:pPr lvl="1"/>
            <a:r>
              <a:rPr lang="uk-UA" dirty="0"/>
              <a:t>Зазвичай публікація наукової статті або виступ на науковій конференції</a:t>
            </a:r>
          </a:p>
          <a:p>
            <a:r>
              <a:rPr lang="uk-UA" dirty="0"/>
              <a:t>Треба думати завчасно</a:t>
            </a:r>
          </a:p>
          <a:p>
            <a:pPr lvl="1"/>
            <a:r>
              <a:rPr lang="uk-UA" dirty="0"/>
              <a:t>Підготовка, рецензування, публікація статті займає багато часу – кілька місяців, іноді більше року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161</a:t>
            </a:fld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457390821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Питання?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162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86232303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Висновки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Курсові (та дипломні) роботи – складно, але цікаво</a:t>
            </a:r>
          </a:p>
          <a:p>
            <a:r>
              <a:rPr lang="uk-UA" dirty="0"/>
              <a:t>Демонстрація знань, вміння самостійно працювати над складними </a:t>
            </a:r>
            <a:r>
              <a:rPr lang="uk-UA"/>
              <a:t>проєктами</a:t>
            </a:r>
            <a:r>
              <a:rPr lang="uk-UA" dirty="0"/>
              <a:t>, презентувати результати</a:t>
            </a:r>
          </a:p>
          <a:p>
            <a:r>
              <a:rPr lang="uk-UA" dirty="0"/>
              <a:t>Важливість оформлення та презентації результатів</a:t>
            </a:r>
          </a:p>
          <a:p>
            <a:r>
              <a:rPr lang="uk-UA" dirty="0"/>
              <a:t>Не варто робити усе в останній момент!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D15E06-CF86-4378-BEE4-8505B716D4D2}" type="slidenum">
              <a:rPr lang="ru-RU" altLang="en-US" smtClean="0"/>
              <a:pPr>
                <a:defRPr/>
              </a:pPr>
              <a:t>163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815182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coursework-diploma45</Template>
  <TotalTime>1036</TotalTime>
  <Words>10829</Words>
  <Application>Microsoft Office PowerPoint</Application>
  <PresentationFormat>On-screen Show (4:3)</PresentationFormat>
  <Paragraphs>1510</Paragraphs>
  <Slides>163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163</vt:i4>
      </vt:variant>
    </vt:vector>
  </HeadingPairs>
  <TitlesOfParts>
    <vt:vector size="167" baseType="lpstr">
      <vt:lpstr>Arial</vt:lpstr>
      <vt:lpstr>Calibri</vt:lpstr>
      <vt:lpstr>Wingdings</vt:lpstr>
      <vt:lpstr>Office Theme</vt:lpstr>
      <vt:lpstr>Курсові та дипломні роботи</vt:lpstr>
      <vt:lpstr>Про що будемо говорити</vt:lpstr>
      <vt:lpstr>Додаткова інформація</vt:lpstr>
      <vt:lpstr>Частина 4. Підготовка текстової частини роботи</vt:lpstr>
      <vt:lpstr>Послідовність кроків </vt:lpstr>
      <vt:lpstr>«Офіційне визначення»</vt:lpstr>
      <vt:lpstr>Важливі моменти – 2</vt:lpstr>
      <vt:lpstr>Важливі моменти – 3</vt:lpstr>
      <vt:lpstr>Важливі моменти – 4</vt:lpstr>
      <vt:lpstr>Важливі моменти – 5</vt:lpstr>
      <vt:lpstr>Чому так багато уваги приділяють оформленню?</vt:lpstr>
      <vt:lpstr>Академічний контекст</vt:lpstr>
      <vt:lpstr>Історичний контекст</vt:lpstr>
      <vt:lpstr>Два найважливіші моменти</vt:lpstr>
      <vt:lpstr>Про що взагалі писати</vt:lpstr>
      <vt:lpstr>Аспекти, на які варто звернути увагу</vt:lpstr>
      <vt:lpstr>Обсяг та складність роботи</vt:lpstr>
      <vt:lpstr>Коментарі щодо розміру</vt:lpstr>
      <vt:lpstr>Якщо не вкладаємось Надто мало (&lt;20 сторінок для курсових)</vt:lpstr>
      <vt:lpstr>Якщо не вкладаємось Надто багато (&gt;40 сторінок для курсових)</vt:lpstr>
      <vt:lpstr>Залишити досить часу на текст!</vt:lpstr>
      <vt:lpstr>Основний текст роботи</vt:lpstr>
      <vt:lpstr>Змістові розділи</vt:lpstr>
      <vt:lpstr>Що варто виносити в окремі розділи</vt:lpstr>
      <vt:lpstr>Структура поділу на розділи</vt:lpstr>
      <vt:lpstr>Правильні назви розділів/підрозділів</vt:lpstr>
      <vt:lpstr>High Cohesion, Loose Coupling</vt:lpstr>
      <vt:lpstr>Оформлення назв </vt:lpstr>
      <vt:lpstr>Оформлення назв: розташування</vt:lpstr>
      <vt:lpstr>Нумерація усього: розділи</vt:lpstr>
      <vt:lpstr>Нумерація усього: рисунки, таблиці, формули</vt:lpstr>
      <vt:lpstr>Нумерація усього: додатки</vt:lpstr>
      <vt:lpstr>Нумерація усього: сторінки</vt:lpstr>
      <vt:lpstr>Стиль написання тексту</vt:lpstr>
      <vt:lpstr>Мова (не програмування)</vt:lpstr>
      <vt:lpstr>Мова (не програмування)</vt:lpstr>
      <vt:lpstr>Мова (не програмування)</vt:lpstr>
      <vt:lpstr>Оформлення тексту</vt:lpstr>
      <vt:lpstr>Горизонтальні абзацні відступи</vt:lpstr>
      <vt:lpstr>Вертикальні абзацні відступи</vt:lpstr>
      <vt:lpstr>Спеціальні елементи тексту</vt:lpstr>
      <vt:lpstr>Обов’язкові посилання</vt:lpstr>
      <vt:lpstr>Що потребує і не потребує посилань</vt:lpstr>
      <vt:lpstr>Оформлення списків/переліків</vt:lpstr>
      <vt:lpstr>Особливі об’єкти</vt:lpstr>
      <vt:lpstr>Рисунки</vt:lpstr>
      <vt:lpstr>Графіки</vt:lpstr>
      <vt:lpstr>Таблиці</vt:lpstr>
      <vt:lpstr>Формули</vt:lpstr>
      <vt:lpstr>Фрагменти коду</vt:lpstr>
      <vt:lpstr>Посилання на використані джерела</vt:lpstr>
      <vt:lpstr>Вибір джерел для посилання</vt:lpstr>
      <vt:lpstr>Види (корисних) посилань</vt:lpstr>
      <vt:lpstr>Джерела «за царя Гороха»?</vt:lpstr>
      <vt:lpstr>Кількість посилань</vt:lpstr>
      <vt:lpstr>Оформлення переліку джерел посилання</vt:lpstr>
      <vt:lpstr>Порядок джерел</vt:lpstr>
      <vt:lpstr>Посилання – більш складні варіанти</vt:lpstr>
      <vt:lpstr>Спеціальні елементи структури курсової/дипломної роботи</vt:lpstr>
      <vt:lpstr>Оформлення спеціальних елементів структури</vt:lpstr>
      <vt:lpstr>Принцип DRY? Не чули…</vt:lpstr>
      <vt:lpstr>Титульна сторінка</vt:lpstr>
      <vt:lpstr>Про формат імен</vt:lpstr>
      <vt:lpstr>Формулювання теми</vt:lpstr>
      <vt:lpstr>Невизначеність – чи починати назву зі слова «Розробка»</vt:lpstr>
      <vt:lpstr>Реферат</vt:lpstr>
      <vt:lpstr>Ключові слова</vt:lpstr>
      <vt:lpstr>Об’єкт (та предмет) роботи</vt:lpstr>
      <vt:lpstr>Мета та завдання роботи</vt:lpstr>
      <vt:lpstr>Мета – рекомендація щодо формулювання</vt:lpstr>
      <vt:lpstr>Методи та інструменти</vt:lpstr>
      <vt:lpstr>Результати роботи</vt:lpstr>
      <vt:lpstr>Новизна та значимість</vt:lpstr>
      <vt:lpstr>Новизна та значимість Окремі аспекти</vt:lpstr>
      <vt:lpstr>Зміст</vt:lpstr>
      <vt:lpstr>Перелік скорочень та умовних позначень</vt:lpstr>
      <vt:lpstr>Вступ</vt:lpstr>
      <vt:lpstr>Висновки</vt:lpstr>
      <vt:lpstr>Не треба висновки до кожного розділу!</vt:lpstr>
      <vt:lpstr>Питання?</vt:lpstr>
      <vt:lpstr>Частина 5. Презентація та захист роботи</vt:lpstr>
      <vt:lpstr>Послідовність кроків </vt:lpstr>
      <vt:lpstr>Презентація</vt:lpstr>
      <vt:lpstr>Виступ / розповідь</vt:lpstr>
      <vt:lpstr>Часові обмеження</vt:lpstr>
      <vt:lpstr>Залишити досить часу на підготовку презентації!</vt:lpstr>
      <vt:lpstr>Як будувати слайди</vt:lpstr>
      <vt:lpstr>Використані технології</vt:lpstr>
      <vt:lpstr>Архітектура</vt:lpstr>
      <vt:lpstr>Архітектура – що НЕ ВАРТО</vt:lpstr>
      <vt:lpstr>Ключові деталі реалізації</vt:lpstr>
      <vt:lpstr>Приклад ключових деталей: Вибір технологій/алгоритмів/підходів</vt:lpstr>
      <vt:lpstr>Приклад ключових деталей: Запропонований алгоритм/схема поєднання існуючих алгоритмів</vt:lpstr>
      <vt:lpstr>Приклад ключових деталей: Архітектура нейронної мережі</vt:lpstr>
      <vt:lpstr>Приклад ключових деталей: Збір, обробка даних</vt:lpstr>
      <vt:lpstr>Приклад ключових деталей: Продуктивність, оптимізація</vt:lpstr>
      <vt:lpstr>Експерименти, виміри</vt:lpstr>
      <vt:lpstr>Порівняння з аналогами</vt:lpstr>
      <vt:lpstr>Наскільки детально описувати те, що використали (а не зробили самі)</vt:lpstr>
      <vt:lpstr>PowerPoint Presentation</vt:lpstr>
      <vt:lpstr>«Кожен студент хоче трохи побути лектором…»</vt:lpstr>
      <vt:lpstr>«Але мені потрібно пояснити основи, щоб зрозуміли мої результати…»</vt:lpstr>
      <vt:lpstr>«Тобто все, що ми робили, нікому не потрібно?..»</vt:lpstr>
      <vt:lpstr>Приклад розподілу часу на виступ</vt:lpstr>
      <vt:lpstr>Cheat/Lifehack: додаткові слайди</vt:lpstr>
      <vt:lpstr>Оформлення слайдів</vt:lpstr>
      <vt:lpstr>Номери слайдів</vt:lpstr>
      <vt:lpstr>Номери слайдів Додаткові рекомендації</vt:lpstr>
      <vt:lpstr>Помилки на слайдах</vt:lpstr>
      <vt:lpstr>Стиль слайдів</vt:lpstr>
      <vt:lpstr>Антипатерн: «білим по білому»</vt:lpstr>
      <vt:lpstr>Антипатерн: «білим по білому»</vt:lpstr>
      <vt:lpstr>Антипатерн: «білим по білому»</vt:lpstr>
      <vt:lpstr>Антипатерн «продаю лінзи, недорого»</vt:lpstr>
      <vt:lpstr>Антипатерн «продаю лінзи, недорого»</vt:lpstr>
      <vt:lpstr>Антипатерн «продаю лінзи, недорого»</vt:lpstr>
      <vt:lpstr>Особливо актуально для зображень</vt:lpstr>
      <vt:lpstr>Особливо актуально для зображень</vt:lpstr>
      <vt:lpstr>Антипатерн «Студєнт нє чітатєль, студєнт пісатєль»</vt:lpstr>
      <vt:lpstr>Антипатерн «Студєнт нє чітатєль, студєнт пісатєль»</vt:lpstr>
      <vt:lpstr>Self-referential</vt:lpstr>
      <vt:lpstr>Зворотній антипатерн «школа телепатії»/ «коротко і неясно»</vt:lpstr>
      <vt:lpstr>Зворотній антипатерн «школа телепатії»/ «коротко і неясно»</vt:lpstr>
      <vt:lpstr>Антипатерн «знайти 10 відмінностей»</vt:lpstr>
      <vt:lpstr>Антипатерн «Студент все ж читач»</vt:lpstr>
      <vt:lpstr>Зворотній антипатерн «Silence is golden»</vt:lpstr>
      <vt:lpstr>Як не забути</vt:lpstr>
      <vt:lpstr>Текст чи картинки?</vt:lpstr>
      <vt:lpstr>Анімації?</vt:lpstr>
      <vt:lpstr>Демонстрація роботи програми</vt:lpstr>
      <vt:lpstr>Репозиторій з кодом</vt:lpstr>
      <vt:lpstr>Як підготуватись до демонстрації</vt:lpstr>
      <vt:lpstr>Тренуватись!</vt:lpstr>
      <vt:lpstr>«Але ж це займає багато часу…»</vt:lpstr>
      <vt:lpstr>Особливості колективної роботи</vt:lpstr>
      <vt:lpstr>Процедура захисту курсових/дипломів</vt:lpstr>
      <vt:lpstr>Попередній захист (передзахист)</vt:lpstr>
      <vt:lpstr>Чи можна на попередній захист надавати незавершену роботу (текст, слайди, реалізація)?</vt:lpstr>
      <vt:lpstr>Чи варто на попередній захист надавати незавершену роботу (текст, слайди, реалізація)?</vt:lpstr>
      <vt:lpstr>Особливості дистанційного режиму</vt:lpstr>
      <vt:lpstr>Питання під час захисту</vt:lpstr>
      <vt:lpstr>Деякі типові питання</vt:lpstr>
      <vt:lpstr>Питання «не по темі»</vt:lpstr>
      <vt:lpstr>Схожі слова, різні значення</vt:lpstr>
      <vt:lpstr>Рекомендації щодо виступу та спілкування</vt:lpstr>
      <vt:lpstr>Чи варто сперечатись з викладачами на захисті?</vt:lpstr>
      <vt:lpstr>Питання?</vt:lpstr>
      <vt:lpstr>Частина 6. Особливості випускних кваліфікаційних («дипломних») робіт</vt:lpstr>
      <vt:lpstr>Дипломні порівняно з курсовими</vt:lpstr>
      <vt:lpstr>Щодо назви</vt:lpstr>
      <vt:lpstr>Дипломна робота на основі курсової?</vt:lpstr>
      <vt:lpstr>Перевірка на плагіат</vt:lpstr>
      <vt:lpstr>Особливості перевірки на плагіат</vt:lpstr>
      <vt:lpstr>Як не стати плагіатором</vt:lpstr>
      <vt:lpstr>«Війни роботів»:  антиплагіат проти автоперекладу</vt:lpstr>
      <vt:lpstr>«Війни роботів»:  антиплагіат проти ChatGPT</vt:lpstr>
      <vt:lpstr>Відгук та  рецензія</vt:lpstr>
      <vt:lpstr>Відгук та  рецензія</vt:lpstr>
      <vt:lpstr>Оформлення відгуків/рецензій</vt:lpstr>
      <vt:lpstr>Вимоги до рецензента</vt:lpstr>
      <vt:lpstr>Диплом з відзнакою  («червоний диплом»)</vt:lpstr>
      <vt:lpstr>Питання?</vt:lpstr>
      <vt:lpstr>Висновки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Курсові та дипломні роботи</dc:title>
  <dc:creator>Zhereb</dc:creator>
  <cp:lastModifiedBy>KZ</cp:lastModifiedBy>
  <cp:revision>37</cp:revision>
  <dcterms:created xsi:type="dcterms:W3CDTF">2021-05-24T21:06:06Z</dcterms:created>
  <dcterms:modified xsi:type="dcterms:W3CDTF">2026-05-05T13:02:33Z</dcterms:modified>
</cp:coreProperties>
</file>