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393" r:id="rId3"/>
    <p:sldId id="394" r:id="rId4"/>
    <p:sldId id="396" r:id="rId5"/>
    <p:sldId id="410" r:id="rId6"/>
    <p:sldId id="395" r:id="rId7"/>
    <p:sldId id="401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35" r:id="rId16"/>
    <p:sldId id="434" r:id="rId17"/>
    <p:sldId id="442" r:id="rId18"/>
    <p:sldId id="413" r:id="rId19"/>
    <p:sldId id="411" r:id="rId20"/>
    <p:sldId id="398" r:id="rId21"/>
    <p:sldId id="412" r:id="rId22"/>
    <p:sldId id="416" r:id="rId23"/>
    <p:sldId id="414" r:id="rId24"/>
    <p:sldId id="415" r:id="rId25"/>
    <p:sldId id="399" r:id="rId26"/>
    <p:sldId id="417" r:id="rId27"/>
    <p:sldId id="418" r:id="rId28"/>
    <p:sldId id="419" r:id="rId29"/>
    <p:sldId id="420" r:id="rId30"/>
    <p:sldId id="421" r:id="rId31"/>
    <p:sldId id="422" r:id="rId32"/>
    <p:sldId id="423" r:id="rId33"/>
    <p:sldId id="424" r:id="rId34"/>
    <p:sldId id="436" r:id="rId35"/>
    <p:sldId id="437" r:id="rId36"/>
    <p:sldId id="438" r:id="rId37"/>
    <p:sldId id="425" r:id="rId38"/>
    <p:sldId id="426" r:id="rId39"/>
    <p:sldId id="439" r:id="rId40"/>
    <p:sldId id="427" r:id="rId41"/>
    <p:sldId id="428" r:id="rId42"/>
    <p:sldId id="429" r:id="rId43"/>
    <p:sldId id="430" r:id="rId44"/>
    <p:sldId id="440" r:id="rId45"/>
    <p:sldId id="441" r:id="rId46"/>
    <p:sldId id="431" r:id="rId47"/>
    <p:sldId id="432" r:id="rId48"/>
    <p:sldId id="433" r:id="rId49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83" autoAdjust="0"/>
  </p:normalViewPr>
  <p:slideViewPr>
    <p:cSldViewPr snapToGrid="0">
      <p:cViewPr varScale="1">
        <p:scale>
          <a:sx n="73" d="100"/>
          <a:sy n="73" d="100"/>
        </p:scale>
        <p:origin x="173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72854EB-3B37-4123-9008-5E283480FB51}" type="datetimeFigureOut">
              <a:rPr lang="en-US"/>
              <a:pPr>
                <a:defRPr/>
              </a:pPr>
              <a:t>2026-05-05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2A92D38-67DD-44B3-BF48-DD2641D275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7B60F7-5B28-48BB-9992-6E431DDD8764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03DB9-06A2-47AC-817A-976F95BB3C20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6F191-9994-4ACB-B026-DDDC35EF252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364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EDC35-C09F-400D-A8F5-87343FD53545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15E06-CF86-4378-BEE4-8505B716D4D2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55632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86BD7-45A0-46CE-BA81-24C4CAF5E5A3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4F43F-E638-40CD-9E5D-542C71E1FA94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1101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9CAC2-7755-40EA-A8B7-ABC1EDC6E1ED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075EF-AB1F-45CC-8555-A2478FF5C9B0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9321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782C1-3E7E-44ED-B80F-D0FAD32AC965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DA562-D025-48C7-A7ED-B5CB3A090AD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0099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346F4-32DB-4CDB-81D4-5DEB0D63B0BA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5B317-0C43-46E8-B3AA-F5F151E46AAA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2006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B7FC8-7431-4B7F-A5A0-C41651478BEE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A8AA-85AA-4705-AD0D-4D52EF33EAE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5473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BB04-CACE-4440-9299-6A024C7823EC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79E1D-9AAB-4B43-951C-9409D75DC568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47153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7AD38-DB35-4145-99A9-DE4107C8D95F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D9853-28B0-4993-9501-54D551A98260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1629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E21DE-7688-4F42-957F-62DC9A7CB0DE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2A69-DBC0-41E3-B200-091690972856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9809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961CB-E61A-468C-956F-66A37A01CB5B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E7C87-2EBB-4E8F-84C0-BED4345E0D47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61689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ru-RU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ru-RU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7214AD0-E58F-4005-AC78-0EA6117A0BB7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7DD0F67-C870-44C5-86D1-927338D0608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sc.knu.ua/media/filer_public/d9/22/d922b015-ef5e-497a-a5b8-a430d1f35877/metodichka_po_diplomnim_robotam_2025_v2.pdf" TargetMode="External"/><Relationship Id="rId2" Type="http://schemas.openxmlformats.org/officeDocument/2006/relationships/hyperlink" Target="https://iss.csc.knu.ua/uk/study/thesisTopic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univ.kiev.ua/pdfs/official/Organization-of-the-educational-process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iss.csc.knu.ua/uk/study/thesisTopics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ss.csc.knu.ua/uk/study/master-degree.html" TargetMode="External"/><Relationship Id="rId2" Type="http://schemas.openxmlformats.org/officeDocument/2006/relationships/hyperlink" Target="https://iss.csc.knu.ua/uk/study/bachelor-degree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mc.univ.kiev.ua/docs/Polojennya%20pro%20dyplomy%20z%20vidzn.doc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uk-UA" altLang="en-US"/>
              <a:t>Курсові та дипломні роботи</a:t>
            </a:r>
            <a:endParaRPr lang="ru-RU" altLang="en-US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1431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dirty="0"/>
              <a:t>Що це таке, навіщо потрібно, </a:t>
            </a:r>
            <a:br>
              <a:rPr lang="uk-UA" dirty="0"/>
            </a:br>
            <a:r>
              <a:rPr lang="uk-UA" dirty="0"/>
              <a:t>та як в ньому не загубитись</a:t>
            </a:r>
            <a:endParaRPr lang="en-US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A41928-C4EA-4B00-BEFD-2370BFCEAF25}" type="slidenum">
              <a:rPr lang="ru-RU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ru-RU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/>
              <a:t>Про що будемо говорити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Що таке курсові (чи дипломні)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Вибір керівника та теми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Виконання практичної частини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Підготовка текстової частини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Презентація та захист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uk-UA" altLang="en-US" dirty="0"/>
          </a:p>
          <a:p>
            <a:pPr marL="0" indent="0">
              <a:buNone/>
            </a:pPr>
            <a:r>
              <a:rPr lang="uk-UA" altLang="en-US" dirty="0"/>
              <a:t>Питання?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en-US" altLang="en-US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655026-FEE1-4C0D-A113-D15C8BF569A3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/>
              <a:t>Додаткова інформація</a:t>
            </a:r>
            <a:endParaRPr lang="en-US" alt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>
                <a:hlinkClick r:id="rId2"/>
              </a:rPr>
              <a:t>https://iss.csc.knu.ua/uk/study/thesisTopics.html</a:t>
            </a:r>
            <a:r>
              <a:rPr lang="uk-UA" altLang="en-US" dirty="0"/>
              <a:t> </a:t>
            </a:r>
          </a:p>
          <a:p>
            <a:pPr lvl="1"/>
            <a:r>
              <a:rPr lang="uk-UA" altLang="en-US" dirty="0"/>
              <a:t>Рекомендації щодо оформлення </a:t>
            </a:r>
            <a:r>
              <a:rPr lang="en-US" altLang="en-US" dirty="0">
                <a:hlinkClick r:id="rId3"/>
              </a:rPr>
              <a:t>https://csc.knu.ua/media/filer_public/d9/22/d922b015-ef5e-497a-a5b8-a430d1f35877/metodichka_po_diplomnim_robotam_2025_v2.pdf</a:t>
            </a:r>
            <a:r>
              <a:rPr lang="uk-UA" altLang="en-US" dirty="0"/>
              <a:t> </a:t>
            </a:r>
          </a:p>
          <a:p>
            <a:pPr lvl="1"/>
            <a:r>
              <a:rPr lang="uk-UA" altLang="en-US" dirty="0"/>
              <a:t>Перелік тем та керівників</a:t>
            </a:r>
          </a:p>
          <a:p>
            <a:r>
              <a:rPr lang="uk-UA" altLang="en-US" dirty="0"/>
              <a:t>Положення про організацію освітнього процесу </a:t>
            </a:r>
            <a:r>
              <a:rPr lang="en-US" altLang="en-US" dirty="0">
                <a:hlinkClick r:id="rId4"/>
              </a:rPr>
              <a:t>http://www.univ.kiev.ua/pdfs/official/Organization-of-the-educational-process.pdf</a:t>
            </a:r>
            <a:r>
              <a:rPr lang="uk-UA" altLang="en-US" dirty="0"/>
              <a:t> 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A6E05C-A1BC-45A5-97BA-CBBED05E5292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3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altLang="en-US"/>
              <a:t>Частина 1. Що таке курсові/дипломні роботи</a:t>
            </a:r>
            <a:endParaRPr lang="en-US" alt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uk-UA" dirty="0"/>
              <a:t>І навіщо воно треба</a:t>
            </a: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A6383B-215A-4539-AA8D-C98B287BFA06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4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Послідовність кроків </a:t>
            </a:r>
            <a:br>
              <a:rPr lang="uk-UA" dirty="0"/>
            </a:br>
            <a:r>
              <a:rPr lang="uk-UA" dirty="0"/>
              <a:t>(курсові роботи)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Вибір керівника та теми роботи (вересень-жовтень)</a:t>
            </a:r>
          </a:p>
          <a:p>
            <a:r>
              <a:rPr lang="uk-UA" dirty="0"/>
              <a:t>Виконання практичної частини роботи</a:t>
            </a:r>
          </a:p>
          <a:p>
            <a:pPr lvl="1"/>
            <a:r>
              <a:rPr lang="uk-UA" dirty="0"/>
              <a:t>Аналіз аналогів / технологій / публікацій</a:t>
            </a:r>
          </a:p>
          <a:p>
            <a:pPr lvl="1"/>
            <a:r>
              <a:rPr lang="uk-UA"/>
              <a:t>Проєктування</a:t>
            </a:r>
            <a:r>
              <a:rPr lang="uk-UA" dirty="0"/>
              <a:t>, розробка, розгортання системи</a:t>
            </a:r>
          </a:p>
          <a:p>
            <a:pPr lvl="1"/>
            <a:r>
              <a:rPr lang="uk-UA" dirty="0"/>
              <a:t>Оцінка результатів – експерименти, порівняння, …</a:t>
            </a:r>
          </a:p>
          <a:p>
            <a:r>
              <a:rPr lang="uk-UA" dirty="0"/>
              <a:t>Підготовка та оформлення тексту</a:t>
            </a:r>
          </a:p>
          <a:p>
            <a:r>
              <a:rPr lang="uk-UA" dirty="0"/>
              <a:t>Підготовка презентації</a:t>
            </a:r>
          </a:p>
          <a:p>
            <a:r>
              <a:rPr lang="uk-UA" dirty="0"/>
              <a:t>Захист (травень-червень)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02682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/>
              <a:t>«Офіційне визначення»</a:t>
            </a:r>
            <a:endParaRPr lang="en-US" alt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3838575"/>
            <a:ext cx="8229600" cy="2287588"/>
          </a:xfrm>
        </p:spPr>
        <p:txBody>
          <a:bodyPr/>
          <a:lstStyle/>
          <a:p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вступ, </a:t>
            </a:r>
            <a:r>
              <a:rPr lang="uk-UA" altLang="en-US" dirty="0" err="1"/>
              <a:t>стор</a:t>
            </a:r>
            <a:r>
              <a:rPr lang="uk-UA" altLang="en-US" dirty="0"/>
              <a:t>. 6</a:t>
            </a:r>
          </a:p>
          <a:p>
            <a:pPr lvl="1"/>
            <a:r>
              <a:rPr lang="uk-UA" altLang="en-US" dirty="0"/>
              <a:t>Далі детальніше</a:t>
            </a:r>
          </a:p>
          <a:p>
            <a:r>
              <a:rPr lang="uk-UA" altLang="en-US" dirty="0"/>
              <a:t>Варто знати визначення – іноді про це питають під час захисту робіт </a:t>
            </a:r>
            <a:r>
              <a:rPr lang="uk-UA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8E3871-FDD9-4958-A847-C86969E4E3C2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6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819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9988"/>
            <a:ext cx="91852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1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3627455"/>
            <a:ext cx="8229600" cy="3084844"/>
          </a:xfrm>
        </p:spPr>
        <p:txBody>
          <a:bodyPr>
            <a:normAutofit lnSpcReduction="10000"/>
          </a:bodyPr>
          <a:lstStyle/>
          <a:p>
            <a:r>
              <a:rPr lang="uk-UA" altLang="en-US" dirty="0"/>
              <a:t>Невід’ємна частина</a:t>
            </a:r>
          </a:p>
          <a:p>
            <a:pPr lvl="1"/>
            <a:r>
              <a:rPr lang="uk-UA" altLang="en-US" dirty="0"/>
              <a:t>Виконання та захист курсової та дипломної (випускної кваліфікаційної) роботи необхідні для успішного продовження/завершення навчання</a:t>
            </a:r>
          </a:p>
          <a:p>
            <a:pPr lvl="1"/>
            <a:r>
              <a:rPr lang="uk-UA" altLang="en-US" dirty="0"/>
              <a:t>Немає в розкладі (окрім захисту) – але робити все одно треба</a:t>
            </a: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7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</a:t>
            </a:r>
            <a:r>
              <a:rPr lang="uk-UA" b="1" u="sng" dirty="0">
                <a:solidFill>
                  <a:srgbClr val="FF0000"/>
                </a:solidFill>
              </a:rPr>
              <a:t>невід’ємною частиною</a:t>
            </a:r>
            <a:r>
              <a:rPr lang="uk-UA" dirty="0"/>
              <a:t> навчального процесу. У цих роботах студенти представляють проведену самостійно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2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96910" y="3637607"/>
            <a:ext cx="8229600" cy="3014401"/>
          </a:xfrm>
        </p:spPr>
        <p:txBody>
          <a:bodyPr>
            <a:normAutofit fontScale="92500" lnSpcReduction="20000"/>
          </a:bodyPr>
          <a:lstStyle/>
          <a:p>
            <a:r>
              <a:rPr lang="uk-UA" altLang="en-US" dirty="0"/>
              <a:t>Самостійна робота</a:t>
            </a:r>
          </a:p>
          <a:p>
            <a:pPr lvl="1"/>
            <a:r>
              <a:rPr lang="uk-UA" altLang="en-US" dirty="0"/>
              <a:t>Більше самостійності, ніж інші завдання чи лабораторні</a:t>
            </a:r>
          </a:p>
          <a:p>
            <a:pPr lvl="1"/>
            <a:r>
              <a:rPr lang="uk-UA" altLang="en-US" dirty="0"/>
              <a:t>Більше свободи у виборі теми, технології реалізації, …</a:t>
            </a:r>
          </a:p>
          <a:p>
            <a:pPr lvl="1"/>
            <a:r>
              <a:rPr lang="uk-UA" altLang="en-US" dirty="0"/>
              <a:t>У випадку виконання роботи в команді треба презентувати індивідуальні результати</a:t>
            </a:r>
          </a:p>
          <a:p>
            <a:pPr lvl="1"/>
            <a:r>
              <a:rPr lang="uk-UA" altLang="en-US" dirty="0"/>
              <a:t>Без плагіату!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8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</a:t>
            </a:r>
            <a:r>
              <a:rPr lang="uk-UA" b="1" u="sng" dirty="0">
                <a:solidFill>
                  <a:srgbClr val="FF0000"/>
                </a:solidFill>
              </a:rPr>
              <a:t>проведену самостійно</a:t>
            </a:r>
            <a:r>
              <a:rPr lang="uk-UA" dirty="0"/>
              <a:t>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226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3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3547068"/>
            <a:ext cx="8229600" cy="3044651"/>
          </a:xfrm>
        </p:spPr>
        <p:txBody>
          <a:bodyPr>
            <a:normAutofit fontScale="77500" lnSpcReduction="20000"/>
          </a:bodyPr>
          <a:lstStyle/>
          <a:p>
            <a:r>
              <a:rPr lang="uk-UA" altLang="en-US" dirty="0"/>
              <a:t>Дослідницька або практична робота</a:t>
            </a:r>
            <a:r>
              <a:rPr lang="en-US" altLang="en-US" dirty="0"/>
              <a:t> (</a:t>
            </a:r>
            <a:r>
              <a:rPr lang="uk-UA" altLang="en-US" dirty="0"/>
              <a:t>більше деталей </a:t>
            </a:r>
            <a:r>
              <a:rPr lang="uk-UA" altLang="en-US" dirty="0" err="1">
                <a:hlinkClick r:id="rId2"/>
              </a:rPr>
              <a:t>стор</a:t>
            </a:r>
            <a:r>
              <a:rPr lang="uk-UA" altLang="en-US" dirty="0">
                <a:hlinkClick r:id="rId2"/>
              </a:rPr>
              <a:t>. 7-8</a:t>
            </a:r>
            <a:r>
              <a:rPr lang="uk-UA" altLang="en-US" dirty="0"/>
              <a:t>)</a:t>
            </a:r>
          </a:p>
          <a:p>
            <a:pPr lvl="1"/>
            <a:r>
              <a:rPr lang="uk-UA" altLang="en-US" dirty="0"/>
              <a:t>Фокус або на науковій новизні (дослідницька)</a:t>
            </a:r>
          </a:p>
          <a:p>
            <a:pPr lvl="1"/>
            <a:r>
              <a:rPr lang="uk-UA" altLang="en-US" dirty="0"/>
              <a:t>Або на практичних результатах (практична)</a:t>
            </a:r>
          </a:p>
          <a:p>
            <a:pPr lvl="1"/>
            <a:r>
              <a:rPr lang="uk-UA" altLang="en-US" dirty="0"/>
              <a:t>Можливе поєднання</a:t>
            </a:r>
          </a:p>
          <a:p>
            <a:pPr lvl="1"/>
            <a:r>
              <a:rPr lang="uk-UA" altLang="en-US" dirty="0"/>
              <a:t>На кафедрі ІПС практична частина має суттєве значення – реалізована програма, можна продемонструвати</a:t>
            </a:r>
          </a:p>
          <a:p>
            <a:pPr lvl="1"/>
            <a:r>
              <a:rPr lang="uk-UA" altLang="en-US" dirty="0"/>
              <a:t>Деякі викладачі наполягають на присутності елементів наукової новизни у будь-якій роботі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9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проведену самостійно </a:t>
            </a:r>
            <a:r>
              <a:rPr lang="uk-UA" b="1" u="sng" dirty="0">
                <a:solidFill>
                  <a:srgbClr val="FF0000"/>
                </a:solidFill>
              </a:rPr>
              <a:t>навчально-дослідницьку або навчально-практичну</a:t>
            </a:r>
            <a:r>
              <a:rPr lang="uk-UA" dirty="0"/>
              <a:t>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1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4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3486778"/>
            <a:ext cx="8229600" cy="3024554"/>
          </a:xfrm>
        </p:spPr>
        <p:txBody>
          <a:bodyPr>
            <a:normAutofit fontScale="92500" lnSpcReduction="10000"/>
          </a:bodyPr>
          <a:lstStyle/>
          <a:p>
            <a:r>
              <a:rPr lang="uk-UA" altLang="en-US" dirty="0"/>
              <a:t>Структура та оформлення тексту</a:t>
            </a:r>
          </a:p>
          <a:p>
            <a:pPr lvl="1"/>
            <a:r>
              <a:rPr lang="uk-UA" altLang="en-US" dirty="0"/>
              <a:t>Мають суттєве значення під час захисту, впливають на оцінку</a:t>
            </a:r>
          </a:p>
          <a:p>
            <a:pPr lvl="1"/>
            <a:r>
              <a:rPr lang="uk-UA" altLang="en-US" dirty="0"/>
              <a:t>Більша частина тексту методичних вказівок – саме про оформлення</a:t>
            </a:r>
          </a:p>
          <a:p>
            <a:pPr lvl="1"/>
            <a:r>
              <a:rPr lang="uk-UA" altLang="en-US" dirty="0"/>
              <a:t>Відносно прості правила – але їх багато, і треба неухильно дотримуватись</a:t>
            </a: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10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проведену самостійно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</a:t>
            </a:r>
            <a:r>
              <a:rPr lang="uk-UA" b="1" u="sng" dirty="0">
                <a:solidFill>
                  <a:srgbClr val="FF0000"/>
                </a:solidFill>
              </a:rPr>
              <a:t>структура змісту та оформлення</a:t>
            </a:r>
            <a:r>
              <a:rPr lang="uk-UA" dirty="0"/>
              <a:t> яких мають відповідати певним вимогам, зафіксованим у </a:t>
            </a:r>
            <a:r>
              <a:rPr lang="uk-UA" b="1" u="sng" dirty="0">
                <a:solidFill>
                  <a:srgbClr val="FF0000"/>
                </a:solidFill>
              </a:rPr>
              <a:t>державних стандартах</a:t>
            </a:r>
            <a:r>
              <a:rPr lang="uk-UA" dirty="0"/>
              <a:t>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28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5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21547" y="3637502"/>
            <a:ext cx="8365253" cy="3220497"/>
          </a:xfrm>
        </p:spPr>
        <p:txBody>
          <a:bodyPr>
            <a:normAutofit fontScale="62500" lnSpcReduction="20000"/>
          </a:bodyPr>
          <a:lstStyle/>
          <a:p>
            <a:r>
              <a:rPr lang="uk-UA" altLang="en-US" dirty="0"/>
              <a:t>Чи справді навички оформлення тексту знадобляться в майбутньому?</a:t>
            </a:r>
          </a:p>
          <a:p>
            <a:pPr lvl="1"/>
            <a:r>
              <a:rPr lang="uk-UA" altLang="en-US" dirty="0"/>
              <a:t>Залежить від галузі діяльності</a:t>
            </a:r>
          </a:p>
          <a:p>
            <a:pPr lvl="1"/>
            <a:r>
              <a:rPr lang="uk-UA" altLang="en-US" dirty="0"/>
              <a:t>Наукова та освітня діяльність</a:t>
            </a:r>
          </a:p>
          <a:p>
            <a:pPr lvl="1"/>
            <a:r>
              <a:rPr lang="uk-UA" altLang="en-US" dirty="0"/>
              <a:t>Державні організації</a:t>
            </a:r>
          </a:p>
          <a:p>
            <a:pPr lvl="1"/>
            <a:r>
              <a:rPr lang="uk-UA" altLang="en-US" dirty="0"/>
              <a:t>Великі компанії</a:t>
            </a:r>
          </a:p>
          <a:p>
            <a:pPr lvl="1"/>
            <a:r>
              <a:rPr lang="uk-UA" altLang="en-US" dirty="0"/>
              <a:t>Формальні процеси розробки, вимоги та стандарти, </a:t>
            </a:r>
            <a:r>
              <a:rPr lang="en-US" altLang="en-US" dirty="0"/>
              <a:t>mission critical</a:t>
            </a:r>
            <a:r>
              <a:rPr lang="uk-UA" altLang="en-US" dirty="0"/>
              <a:t> галузі</a:t>
            </a:r>
          </a:p>
          <a:p>
            <a:pPr lvl="1"/>
            <a:r>
              <a:rPr lang="uk-UA" altLang="en-US" dirty="0"/>
              <a:t>Бюрократія знайдеться всюди </a:t>
            </a:r>
            <a:r>
              <a:rPr lang="uk-UA" altLang="en-US" dirty="0">
                <a:sym typeface="Wingdings" panose="05000000000000000000" pitchFamily="2" charset="2"/>
              </a:rPr>
              <a:t></a:t>
            </a:r>
          </a:p>
          <a:p>
            <a:r>
              <a:rPr lang="uk-UA" altLang="en-US" dirty="0"/>
              <a:t>Вміння чітко викладати думки, описувати отримані результати (</a:t>
            </a:r>
            <a:r>
              <a:rPr lang="en-US" altLang="en-US" dirty="0"/>
              <a:t>technical writing) </a:t>
            </a:r>
            <a:r>
              <a:rPr lang="uk-UA" altLang="en-US" dirty="0"/>
              <a:t>знадобиться в багатьох сферах</a:t>
            </a: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11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проведену самостійно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</a:t>
            </a:r>
            <a:r>
              <a:rPr lang="uk-UA" b="1" u="sng" dirty="0">
                <a:solidFill>
                  <a:srgbClr val="FF0000"/>
                </a:solidFill>
              </a:rPr>
              <a:t>майбутньої професійної діяльності</a:t>
            </a:r>
            <a:r>
              <a:rPr lang="uk-UA" b="1" dirty="0"/>
              <a:t> </a:t>
            </a:r>
            <a:r>
              <a:rPr lang="uk-UA" dirty="0"/>
              <a:t>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6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так багато уваги приділяють оформленню?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Бюрократичні традиції</a:t>
            </a:r>
          </a:p>
          <a:p>
            <a:r>
              <a:rPr lang="uk-UA" dirty="0"/>
              <a:t>Академічні традиції</a:t>
            </a:r>
          </a:p>
          <a:p>
            <a:pPr lvl="1"/>
            <a:r>
              <a:rPr lang="uk-UA" dirty="0"/>
              <a:t>Досвід наукових публікацій, захисту дисертацій, …</a:t>
            </a:r>
          </a:p>
          <a:p>
            <a:r>
              <a:rPr lang="uk-UA" dirty="0"/>
              <a:t>Естетичні традиції</a:t>
            </a:r>
          </a:p>
          <a:p>
            <a:pPr lvl="1"/>
            <a:r>
              <a:rPr lang="uk-UA" dirty="0"/>
              <a:t>Про смаки не сперечаються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r>
              <a:rPr lang="uk-UA" dirty="0"/>
              <a:t>Простіше знайти помилку</a:t>
            </a:r>
          </a:p>
          <a:p>
            <a:pPr lvl="1"/>
            <a:r>
              <a:rPr lang="uk-UA" dirty="0"/>
              <a:t>Не всі викладачі орієнтуються в деталях кожної теми курсових чи дипломів</a:t>
            </a:r>
          </a:p>
          <a:p>
            <a:pPr lvl="1"/>
            <a:r>
              <a:rPr lang="uk-UA" dirty="0"/>
              <a:t>Але всі мали досвід оформлення документів</a:t>
            </a:r>
          </a:p>
          <a:p>
            <a:r>
              <a:rPr lang="uk-UA" dirty="0"/>
              <a:t>Вміння чітко виконувати детальні інструкції може бути корисним</a:t>
            </a:r>
          </a:p>
          <a:p>
            <a:r>
              <a:rPr lang="uk-UA" dirty="0"/>
              <a:t>Послідовне оформлення дозволяє фокусувати увагу на змістовних аспектах</a:t>
            </a:r>
          </a:p>
          <a:p>
            <a:pPr lvl="1"/>
            <a:r>
              <a:rPr lang="en-US" dirty="0"/>
              <a:t>~</a:t>
            </a:r>
            <a:r>
              <a:rPr lang="uk-UA" dirty="0"/>
              <a:t>Стилі кодування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9004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Академічний контекст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/>
              <a:t>Більшість викладачів є кандидатами або докторами наук</a:t>
            </a:r>
          </a:p>
          <a:p>
            <a:pPr lvl="1"/>
            <a:r>
              <a:rPr lang="uk-UA" dirty="0"/>
              <a:t>Захистили принаймні одну дисертацію</a:t>
            </a:r>
          </a:p>
          <a:p>
            <a:r>
              <a:rPr lang="uk-UA" dirty="0"/>
              <a:t>Певна прогресія: </a:t>
            </a:r>
          </a:p>
          <a:p>
            <a:pPr lvl="1"/>
            <a:r>
              <a:rPr lang="uk-UA" dirty="0"/>
              <a:t>Курсова</a:t>
            </a:r>
          </a:p>
          <a:p>
            <a:pPr lvl="1"/>
            <a:r>
              <a:rPr lang="uk-UA" dirty="0"/>
              <a:t>Диплом бакалавра </a:t>
            </a:r>
          </a:p>
          <a:p>
            <a:pPr lvl="1"/>
            <a:r>
              <a:rPr lang="uk-UA" dirty="0"/>
              <a:t>Диплом магістра</a:t>
            </a:r>
          </a:p>
          <a:p>
            <a:pPr lvl="1"/>
            <a:r>
              <a:rPr lang="uk-UA" dirty="0"/>
              <a:t>Дисертація кандидата наук (</a:t>
            </a:r>
            <a:r>
              <a:rPr lang="en-US" dirty="0"/>
              <a:t>PhD)</a:t>
            </a:r>
          </a:p>
          <a:p>
            <a:pPr lvl="1"/>
            <a:r>
              <a:rPr lang="uk-UA" dirty="0"/>
              <a:t>Дисертація доктора наук</a:t>
            </a:r>
          </a:p>
          <a:p>
            <a:r>
              <a:rPr lang="uk-UA" dirty="0"/>
              <a:t>Деякі викладачі висувають до курсових чи дипломів вимоги, які більш стосуються дисертацій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</a:t>
            </a:fld>
            <a:endParaRPr lang="ru-RU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387" y="2880528"/>
            <a:ext cx="1920240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26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Історичний контекст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Середньовіччя</a:t>
            </a:r>
          </a:p>
          <a:p>
            <a:r>
              <a:rPr lang="uk-UA" dirty="0"/>
              <a:t>Система гільдій</a:t>
            </a:r>
          </a:p>
          <a:p>
            <a:pPr lvl="1"/>
            <a:r>
              <a:rPr lang="uk-UA" dirty="0"/>
              <a:t>Університети – один з варіантів гільдій</a:t>
            </a:r>
          </a:p>
          <a:p>
            <a:r>
              <a:rPr lang="uk-UA" dirty="0"/>
              <a:t>Для отримання статусу майстра – виготовити «шедевр» (</a:t>
            </a:r>
            <a:r>
              <a:rPr lang="en-US" dirty="0"/>
              <a:t>masterpiece)</a:t>
            </a:r>
          </a:p>
          <a:p>
            <a:pPr lvl="1"/>
            <a:r>
              <a:rPr lang="uk-UA" dirty="0"/>
              <a:t>Оцінювання майстрами гільдії</a:t>
            </a:r>
          </a:p>
          <a:p>
            <a:r>
              <a:rPr lang="uk-UA" dirty="0"/>
              <a:t>В більшості галузей системи змінились</a:t>
            </a:r>
          </a:p>
          <a:p>
            <a:pPr lvl="1"/>
            <a:r>
              <a:rPr lang="uk-UA" dirty="0"/>
              <a:t>Але в університетах полюбляють традиції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</a:t>
            </a:fld>
            <a:endParaRPr lang="ru-RU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4" y="1098409"/>
            <a:ext cx="292608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34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Обсяг та складність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Є обмеження на обсяг тексту (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dirty="0"/>
              <a:t>, розділ 2, </a:t>
            </a:r>
            <a:r>
              <a:rPr lang="uk-UA" dirty="0" err="1"/>
              <a:t>стор</a:t>
            </a:r>
            <a:r>
              <a:rPr lang="uk-UA" dirty="0"/>
              <a:t>. 11)</a:t>
            </a:r>
          </a:p>
          <a:p>
            <a:pPr lvl="1"/>
            <a:r>
              <a:rPr lang="uk-UA" dirty="0"/>
              <a:t>Курсові 20-40 </a:t>
            </a:r>
            <a:r>
              <a:rPr lang="uk-UA" dirty="0" err="1"/>
              <a:t>стор</a:t>
            </a:r>
            <a:r>
              <a:rPr lang="uk-UA" dirty="0"/>
              <a:t>. (за необхідності до 60)</a:t>
            </a:r>
          </a:p>
          <a:p>
            <a:pPr lvl="1"/>
            <a:r>
              <a:rPr lang="uk-UA" dirty="0"/>
              <a:t>Дипломні бакалавра 40-60 </a:t>
            </a:r>
            <a:r>
              <a:rPr lang="uk-UA" dirty="0" err="1"/>
              <a:t>стор</a:t>
            </a:r>
            <a:r>
              <a:rPr lang="uk-UA" dirty="0"/>
              <a:t>. (за необхідності до 80)</a:t>
            </a:r>
          </a:p>
          <a:p>
            <a:pPr lvl="1"/>
            <a:r>
              <a:rPr lang="uk-UA" dirty="0"/>
              <a:t>Дипломні магістра 50-70 </a:t>
            </a:r>
            <a:r>
              <a:rPr lang="uk-UA" dirty="0" err="1"/>
              <a:t>стор</a:t>
            </a:r>
            <a:r>
              <a:rPr lang="uk-UA" dirty="0"/>
              <a:t>. (за необхідності до 100)</a:t>
            </a:r>
          </a:p>
          <a:p>
            <a:r>
              <a:rPr lang="uk-UA" dirty="0"/>
              <a:t>Обмеження на обсяг та складність практичної частини формально не визначаються</a:t>
            </a:r>
          </a:p>
          <a:p>
            <a:pPr lvl="1"/>
            <a:r>
              <a:rPr lang="uk-UA" dirty="0"/>
              <a:t>Відповідальність керівника, кафедри, комісії на захисті</a:t>
            </a:r>
          </a:p>
          <a:p>
            <a:pPr lvl="1"/>
            <a:r>
              <a:rPr lang="uk-UA" dirty="0"/>
              <a:t>Більше ніж лабораторна робота</a:t>
            </a:r>
          </a:p>
          <a:p>
            <a:pPr lvl="1"/>
            <a:r>
              <a:rPr lang="uk-UA" dirty="0"/>
              <a:t>Менше ніж </a:t>
            </a:r>
            <a:r>
              <a:rPr lang="en-US" dirty="0"/>
              <a:t>Google/Facebook/…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Треба отримати та продемонструвати конкретні результати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627493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можна взяти </a:t>
            </a:r>
            <a:r>
              <a:rPr lang="en-US" dirty="0"/>
              <a:t>{insert topic here}</a:t>
            </a:r>
            <a:r>
              <a:rPr lang="uk-UA" dirty="0"/>
              <a:t> як курсову/диплом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/>
              <a:t>В більшості випадків можна змінити обсяг та складність в потрібному напрямку</a:t>
            </a:r>
          </a:p>
          <a:p>
            <a:pPr lvl="1"/>
            <a:r>
              <a:rPr lang="uk-UA" dirty="0"/>
              <a:t>Надто просто? Додати більше функціональності, розширити коло задач, об’єднати кілька схожих задач</a:t>
            </a:r>
          </a:p>
          <a:p>
            <a:pPr lvl="1"/>
            <a:r>
              <a:rPr lang="uk-UA" dirty="0"/>
              <a:t>Надто складно? Розбити на частини, розглянути окремі випадки, скоротити функціональність (і залишити подальшу роботу на диплом/…)</a:t>
            </a:r>
          </a:p>
          <a:p>
            <a:r>
              <a:rPr lang="uk-UA" dirty="0"/>
              <a:t>Якщо студенти зацікавлені в темі – краще адаптувати цю тему, а не брати щось зовсім інше, що краще підходить формально</a:t>
            </a:r>
          </a:p>
          <a:p>
            <a:r>
              <a:rPr lang="uk-UA" dirty="0"/>
              <a:t>Але варто починати про це </a:t>
            </a:r>
            <a:r>
              <a:rPr lang="uk-UA"/>
              <a:t>думати завчасно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6616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має курсова виконуватись «з нуля» до готового продукту?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Можна використати попередні досягнення</a:t>
            </a:r>
          </a:p>
          <a:p>
            <a:r>
              <a:rPr lang="uk-UA" dirty="0"/>
              <a:t>Можна продовжити розробку в рамках дипломної роботи на 4 курсі (за бажання і далі в магістратурі)</a:t>
            </a:r>
          </a:p>
          <a:p>
            <a:r>
              <a:rPr lang="uk-UA" dirty="0"/>
              <a:t>Проте курсова має продемонструвати певний завершений результат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96594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UA" dirty="0"/>
              <a:t>Система антиплаг</a:t>
            </a:r>
            <a:r>
              <a:rPr lang="uk-UA" dirty="0" err="1"/>
              <a:t>іат</a:t>
            </a:r>
            <a:r>
              <a:rPr lang="uk-UA" dirty="0"/>
              <a:t> – чи приймає </a:t>
            </a:r>
            <a:r>
              <a:rPr lang="en-US" dirty="0"/>
              <a:t>.pdf, </a:t>
            </a:r>
            <a:r>
              <a:rPr lang="uk-UA" dirty="0"/>
              <a:t>чи вимагає </a:t>
            </a:r>
            <a:r>
              <a:rPr lang="en-US" dirty="0"/>
              <a:t>.</a:t>
            </a:r>
            <a:r>
              <a:rPr lang="en-US" dirty="0" err="1"/>
              <a:t>docx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8201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altLang="en-US" dirty="0"/>
              <a:t>Частина 2. Вибір керівника та теми роботи</a:t>
            </a:r>
            <a:endParaRPr lang="en-US" alt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A6383B-215A-4539-AA8D-C98B287BFA06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19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037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Послідовність кроків</a:t>
            </a:r>
            <a:endParaRPr lang="en-US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altLang="en-US" dirty="0"/>
              <a:t>Викладачі викладають переліки тем </a:t>
            </a:r>
            <a:r>
              <a:rPr lang="en-US" altLang="en-US" dirty="0">
                <a:hlinkClick r:id="rId2"/>
              </a:rPr>
              <a:t>https://iss.csc.knu.ua/uk/study/thesisTopics.html</a:t>
            </a:r>
            <a:r>
              <a:rPr lang="uk-UA" altLang="en-US" dirty="0"/>
              <a:t> </a:t>
            </a:r>
          </a:p>
          <a:p>
            <a:r>
              <a:rPr lang="uk-UA" altLang="en-US" dirty="0"/>
              <a:t>Студенти обирають викладача – керівника курсової та орієнтовну тему</a:t>
            </a:r>
          </a:p>
          <a:p>
            <a:pPr lvl="1"/>
            <a:r>
              <a:rPr lang="uk-UA" altLang="en-US" dirty="0"/>
              <a:t>Домовляються з викладачем</a:t>
            </a:r>
          </a:p>
          <a:p>
            <a:r>
              <a:rPr lang="uk-UA" altLang="en-US" dirty="0"/>
              <a:t>Заяви про тему курсової</a:t>
            </a:r>
          </a:p>
          <a:p>
            <a:pPr lvl="1"/>
            <a:r>
              <a:rPr lang="uk-UA" altLang="en-US" dirty="0"/>
              <a:t>Вказується викладач та тема (часто олівцем)</a:t>
            </a:r>
          </a:p>
          <a:p>
            <a:pPr lvl="1"/>
            <a:r>
              <a:rPr lang="uk-UA" altLang="en-US" dirty="0"/>
              <a:t>Підписує викладач та студент</a:t>
            </a:r>
          </a:p>
          <a:p>
            <a:pPr lvl="1"/>
            <a:r>
              <a:rPr lang="uk-UA" altLang="en-US" dirty="0"/>
              <a:t>Особливості дистанційної взаємодії?</a:t>
            </a:r>
            <a:endParaRPr lang="en-US" altLang="en-US" dirty="0"/>
          </a:p>
          <a:p>
            <a:pPr lvl="1"/>
            <a:r>
              <a:rPr lang="uk-UA" altLang="en-US" dirty="0"/>
              <a:t>Студенти надсилають заяви керівнику в електронному вигляді, керівник пересилає на кафедру</a:t>
            </a:r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CB4890-5126-454C-BC30-07BCF5C4FAD1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20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Переліки тем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Описують загальний напрямок інтересів викладача, не обов’язково конкретні теми</a:t>
            </a:r>
          </a:p>
          <a:p>
            <a:pPr lvl="1"/>
            <a:r>
              <a:rPr lang="uk-UA" dirty="0"/>
              <a:t>Зазвичай студенти отримують більш детальну тему в одній з перелічених галузей</a:t>
            </a:r>
          </a:p>
          <a:p>
            <a:pPr lvl="1"/>
            <a:r>
              <a:rPr lang="uk-UA" dirty="0"/>
              <a:t>Кілька студентів можуть отримати одну тему з переліку, з різними деталізаціями</a:t>
            </a:r>
          </a:p>
          <a:p>
            <a:r>
              <a:rPr lang="uk-UA" dirty="0"/>
              <a:t>У деяких викладачів є посилання на більш детальні описи тем</a:t>
            </a:r>
          </a:p>
          <a:p>
            <a:r>
              <a:rPr lang="uk-UA" dirty="0"/>
              <a:t>Переліки не завжди оновлюються (хоча кожного року викладачів просять це зробити…)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21</a:t>
            </a:fld>
            <a:endParaRPr lang="ru-RU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25" y="4565352"/>
            <a:ext cx="15525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47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Додаткова інформація щодо тем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Роботи попередніх років</a:t>
            </a:r>
          </a:p>
          <a:p>
            <a:pPr lvl="1"/>
            <a:r>
              <a:rPr lang="en-US" dirty="0">
                <a:hlinkClick r:id="rId2"/>
              </a:rPr>
              <a:t>https://iss.csc.knu.ua/uk/study/bachelor-degree.html</a:t>
            </a:r>
            <a:r>
              <a:rPr lang="uk-UA" dirty="0"/>
              <a:t> </a:t>
            </a:r>
          </a:p>
          <a:p>
            <a:pPr lvl="1"/>
            <a:r>
              <a:rPr lang="en-US" dirty="0">
                <a:hlinkClick r:id="rId3"/>
              </a:rPr>
              <a:t>https://iss.csc.knu.ua/uk/study/master-degree.html</a:t>
            </a:r>
            <a:r>
              <a:rPr lang="uk-UA" dirty="0"/>
              <a:t> (для магістрів, теми можуть трохи відрізнятись)</a:t>
            </a:r>
          </a:p>
          <a:p>
            <a:r>
              <a:rPr lang="uk-UA" dirty="0"/>
              <a:t>Запитати у студентів старших курсів</a:t>
            </a:r>
          </a:p>
          <a:p>
            <a:r>
              <a:rPr lang="uk-UA" dirty="0"/>
              <a:t>Запитати у викладачів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415410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Можливі підходи до вибору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Починаючи з викладача</a:t>
            </a:r>
          </a:p>
          <a:p>
            <a:r>
              <a:rPr lang="uk-UA" dirty="0"/>
              <a:t>Починаючи з однієї із запропонованих тем</a:t>
            </a:r>
          </a:p>
          <a:p>
            <a:r>
              <a:rPr lang="uk-UA" dirty="0"/>
              <a:t>Коли вже є власна ідея</a:t>
            </a:r>
          </a:p>
          <a:p>
            <a:r>
              <a:rPr lang="uk-UA" dirty="0"/>
              <a:t>«Залишковий принцип» - коли </a:t>
            </a:r>
            <a:r>
              <a:rPr lang="uk-UA" dirty="0" err="1"/>
              <a:t>дедлайни</a:t>
            </a:r>
            <a:r>
              <a:rPr lang="uk-UA" dirty="0"/>
              <a:t> давно пройшли, і таки треба обрати…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9569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Обмеження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Максимум 10-15 студентів у одного керівника</a:t>
            </a:r>
          </a:p>
          <a:p>
            <a:pPr lvl="1"/>
            <a:r>
              <a:rPr lang="uk-UA" dirty="0"/>
              <a:t>По всім курсам: курсові 3 курс, </a:t>
            </a:r>
            <a:br>
              <a:rPr lang="uk-UA" dirty="0"/>
            </a:br>
            <a:r>
              <a:rPr lang="uk-UA" dirty="0"/>
              <a:t>дипломи бакалаврів 4 курс, </a:t>
            </a:r>
            <a:br>
              <a:rPr lang="uk-UA" dirty="0"/>
            </a:br>
            <a:r>
              <a:rPr lang="uk-UA" dirty="0"/>
              <a:t>курсові 5 курс, </a:t>
            </a:r>
            <a:br>
              <a:rPr lang="uk-UA" dirty="0"/>
            </a:br>
            <a:r>
              <a:rPr lang="uk-UA" dirty="0"/>
              <a:t>дипломи магістрів 6 курс</a:t>
            </a:r>
          </a:p>
          <a:p>
            <a:r>
              <a:rPr lang="uk-UA" dirty="0"/>
              <a:t>Студенти старших курсів часто продовжують працювати з тим самим керівником</a:t>
            </a:r>
          </a:p>
          <a:p>
            <a:r>
              <a:rPr lang="uk-UA" dirty="0"/>
              <a:t>Не у всіх викладачів однакова кількість студентів пишуть курсові/дипломи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24</a:t>
            </a:fld>
            <a:endParaRPr lang="ru-RU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34329"/>
              </p:ext>
            </p:extLst>
          </p:nvPr>
        </p:nvGraphicFramePr>
        <p:xfrm>
          <a:off x="6209883" y="2402142"/>
          <a:ext cx="2733150" cy="1760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1050">
                  <a:extLst>
                    <a:ext uri="{9D8B030D-6E8A-4147-A177-3AD203B41FA5}">
                      <a16:colId xmlns:a16="http://schemas.microsoft.com/office/drawing/2014/main" val="1835114357"/>
                    </a:ext>
                  </a:extLst>
                </a:gridCol>
                <a:gridCol w="911050">
                  <a:extLst>
                    <a:ext uri="{9D8B030D-6E8A-4147-A177-3AD203B41FA5}">
                      <a16:colId xmlns:a16="http://schemas.microsoft.com/office/drawing/2014/main" val="3350015436"/>
                    </a:ext>
                  </a:extLst>
                </a:gridCol>
                <a:gridCol w="911050">
                  <a:extLst>
                    <a:ext uri="{9D8B030D-6E8A-4147-A177-3AD203B41FA5}">
                      <a16:colId xmlns:a16="http://schemas.microsoft.com/office/drawing/2014/main" val="1586425130"/>
                    </a:ext>
                  </a:extLst>
                </a:gridCol>
              </a:tblGrid>
              <a:tr h="24018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Студенти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 dirty="0">
                          <a:effectLst/>
                        </a:rPr>
                        <a:t>Викладачі</a:t>
                      </a:r>
                      <a:endParaRPr lang="uk-U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6403380"/>
                  </a:ext>
                </a:extLst>
              </a:tr>
              <a:tr h="240181"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3 курс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4431291"/>
                  </a:ext>
                </a:extLst>
              </a:tr>
              <a:tr h="240181"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4 курс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66640726"/>
                  </a:ext>
                </a:extLst>
              </a:tr>
              <a:tr h="240181"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5 курс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8694671"/>
                  </a:ext>
                </a:extLst>
              </a:tr>
              <a:tr h="240181"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6 курс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67132384"/>
                  </a:ext>
                </a:extLst>
              </a:tr>
              <a:tr h="240181">
                <a:tc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Всього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3448888"/>
                  </a:ext>
                </a:extLst>
              </a:tr>
              <a:tr h="240181">
                <a:tc gridSpan="2">
                  <a:txBody>
                    <a:bodyPr/>
                    <a:lstStyle/>
                    <a:p>
                      <a:pPr algn="l" fontAlgn="b"/>
                      <a:r>
                        <a:rPr lang="uk-UA" sz="1600" u="none" strike="noStrike">
                          <a:effectLst/>
                        </a:rPr>
                        <a:t>Якщо порівну:</a:t>
                      </a:r>
                      <a:endParaRPr lang="uk-U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8.466667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4038150"/>
                  </a:ext>
                </a:extLst>
              </a:tr>
            </a:tbl>
          </a:graphicData>
        </a:graphic>
      </p:graphicFrame>
      <p:sp>
        <p:nvSpPr>
          <p:cNvPr id="6" name="Cloud Callout 5"/>
          <p:cNvSpPr/>
          <p:nvPr/>
        </p:nvSpPr>
        <p:spPr>
          <a:xfrm>
            <a:off x="7094136" y="1567544"/>
            <a:ext cx="2170443" cy="75362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Дані за минулі 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441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Щодо здатності </a:t>
            </a:r>
            <a:br>
              <a:rPr lang="uk-UA" altLang="en-US" dirty="0"/>
            </a:br>
            <a:r>
              <a:rPr lang="uk-UA" altLang="en-US" dirty="0"/>
              <a:t>передбачати майбутнє…</a:t>
            </a:r>
            <a:endParaRPr lang="en-US" altLang="en-US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altLang="en-US" dirty="0"/>
              <a:t>Досить важко детально описати на початку роботи, що буде зроблено наприкінці роботи</a:t>
            </a:r>
          </a:p>
          <a:p>
            <a:r>
              <a:rPr lang="uk-UA" altLang="en-US" dirty="0"/>
              <a:t>В заяві – попередня версія теми «олівцем»</a:t>
            </a:r>
          </a:p>
          <a:p>
            <a:r>
              <a:rPr lang="uk-UA" altLang="en-US" dirty="0"/>
              <a:t>Остаточна тема – ближче до захисту</a:t>
            </a:r>
          </a:p>
          <a:p>
            <a:pPr lvl="1"/>
            <a:r>
              <a:rPr lang="uk-UA" altLang="en-US" dirty="0"/>
              <a:t>Для дипломів – офіційний дедлайн (зазвичай попередній захист, кілька тижнів до захисту)</a:t>
            </a:r>
          </a:p>
          <a:p>
            <a:pPr lvl="1"/>
            <a:r>
              <a:rPr lang="uk-UA" altLang="en-US" dirty="0"/>
              <a:t>Для курсових – неофіційний </a:t>
            </a:r>
            <a:r>
              <a:rPr lang="uk-UA" altLang="en-US" dirty="0" err="1"/>
              <a:t>дедлайн</a:t>
            </a:r>
            <a:r>
              <a:rPr lang="uk-UA" altLang="en-US" dirty="0"/>
              <a:t> (десь за тиждень до захисту?)</a:t>
            </a:r>
            <a:endParaRPr lang="en-US" alt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24322B-C8FF-41C4-B99D-5C1883193EA1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25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Формулювання теми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(Менш актуально на перших етапах роботи)</a:t>
            </a:r>
          </a:p>
          <a:p>
            <a:r>
              <a:rPr lang="uk-UA" dirty="0"/>
              <a:t>Досить чітке і детальне</a:t>
            </a:r>
          </a:p>
          <a:p>
            <a:pPr lvl="1"/>
            <a:r>
              <a:rPr lang="uk-UA" dirty="0"/>
              <a:t>Яка задача вирішується</a:t>
            </a:r>
          </a:p>
          <a:p>
            <a:pPr lvl="1"/>
            <a:r>
              <a:rPr lang="uk-UA" dirty="0"/>
              <a:t>Що відрізняє від аналогів</a:t>
            </a:r>
          </a:p>
          <a:p>
            <a:r>
              <a:rPr lang="uk-UA" dirty="0"/>
              <a:t>Має відповідати суті виконаної роботи</a:t>
            </a:r>
          </a:p>
          <a:p>
            <a:r>
              <a:rPr lang="uk-UA" dirty="0"/>
              <a:t>Щодо остаточного формулювання – порадитись з керівником!</a:t>
            </a:r>
          </a:p>
          <a:p>
            <a:r>
              <a:rPr lang="uk-UA" dirty="0"/>
              <a:t>Під час оформлення – перевірити, що всюди однаково!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510175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Колективна робота?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Курсові можна виконувати в команді</a:t>
            </a:r>
          </a:p>
          <a:p>
            <a:pPr lvl="1"/>
            <a:r>
              <a:rPr lang="uk-UA" dirty="0"/>
              <a:t>Дипломи начебто не можна, але іноді все одно так роблять…</a:t>
            </a:r>
          </a:p>
          <a:p>
            <a:r>
              <a:rPr lang="uk-UA" dirty="0"/>
              <a:t>Проте у кожного студента має бути своя частина, своя тема, свої результати і свій текст курсової/дипломної роботи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185314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95842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altLang="en-US" dirty="0"/>
              <a:t>Частина 3. Виконання практичної частини</a:t>
            </a:r>
            <a:endParaRPr lang="en-US" alt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A6383B-215A-4539-AA8D-C98B287BFA06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29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543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uk-UA" altLang="en-US" dirty="0"/>
              <a:t>Послідовність кроків</a:t>
            </a:r>
            <a:endParaRPr lang="en-US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145512"/>
            <a:ext cx="8229600" cy="5536642"/>
          </a:xfrm>
        </p:spPr>
        <p:txBody>
          <a:bodyPr>
            <a:normAutofit fontScale="77500" lnSpcReduction="20000"/>
          </a:bodyPr>
          <a:lstStyle/>
          <a:p>
            <a:r>
              <a:rPr lang="uk-UA" altLang="en-US" dirty="0"/>
              <a:t>Немає чіткої послідовності – скоріше рекомендації</a:t>
            </a:r>
          </a:p>
          <a:p>
            <a:pPr lvl="1"/>
            <a:r>
              <a:rPr lang="uk-UA" altLang="en-US" dirty="0"/>
              <a:t>І не обов’язково така послідовність</a:t>
            </a:r>
          </a:p>
          <a:p>
            <a:r>
              <a:rPr lang="uk-UA" altLang="en-US" dirty="0"/>
              <a:t>Аналіз актуального стану предметної галузі</a:t>
            </a:r>
          </a:p>
          <a:p>
            <a:pPr lvl="1"/>
            <a:r>
              <a:rPr lang="uk-UA" altLang="en-US" dirty="0"/>
              <a:t>Актуальні/важливі задачі</a:t>
            </a:r>
          </a:p>
          <a:p>
            <a:pPr lvl="1"/>
            <a:r>
              <a:rPr lang="uk-UA" altLang="en-US" dirty="0"/>
              <a:t>Аналоги/конкуренти</a:t>
            </a:r>
          </a:p>
          <a:p>
            <a:r>
              <a:rPr lang="uk-UA" altLang="en-US" dirty="0"/>
              <a:t>Формулювання вимог</a:t>
            </a:r>
          </a:p>
          <a:p>
            <a:r>
              <a:rPr lang="uk-UA" altLang="en-US" dirty="0"/>
              <a:t>Вибір технологій реалізації</a:t>
            </a:r>
          </a:p>
          <a:p>
            <a:r>
              <a:rPr lang="uk-UA" altLang="en-US" dirty="0"/>
              <a:t>Архітектура, </a:t>
            </a:r>
            <a:r>
              <a:rPr lang="uk-UA" altLang="en-US" dirty="0" err="1"/>
              <a:t>проєктування</a:t>
            </a:r>
            <a:endParaRPr lang="uk-UA" altLang="en-US" dirty="0"/>
          </a:p>
          <a:p>
            <a:r>
              <a:rPr lang="uk-UA" altLang="en-US" dirty="0"/>
              <a:t>Реалізація компонентів, тестування</a:t>
            </a:r>
          </a:p>
          <a:p>
            <a:r>
              <a:rPr lang="uk-UA" altLang="en-US" dirty="0"/>
              <a:t>Інтеграція компонентів, тестування</a:t>
            </a:r>
          </a:p>
          <a:p>
            <a:r>
              <a:rPr lang="uk-UA" altLang="en-US" dirty="0"/>
              <a:t>Розгортання, публікація</a:t>
            </a:r>
          </a:p>
          <a:p>
            <a:r>
              <a:rPr lang="uk-UA" altLang="en-US" dirty="0"/>
              <a:t>Оцінка отриманих результатів</a:t>
            </a:r>
          </a:p>
          <a:p>
            <a:pPr lvl="1"/>
            <a:r>
              <a:rPr lang="uk-UA" altLang="en-US" dirty="0"/>
              <a:t>Експерименти, виміри</a:t>
            </a:r>
          </a:p>
          <a:p>
            <a:pPr lvl="1"/>
            <a:r>
              <a:rPr lang="uk-UA" altLang="en-US" dirty="0"/>
              <a:t>Порівняння з аналогами</a:t>
            </a:r>
          </a:p>
          <a:p>
            <a:pPr lvl="1"/>
            <a:r>
              <a:rPr lang="uk-UA" altLang="en-US" dirty="0"/>
              <a:t>Відгуки користувачів</a:t>
            </a:r>
          </a:p>
          <a:p>
            <a:endParaRPr lang="uk-UA" altLang="en-US" dirty="0"/>
          </a:p>
          <a:p>
            <a:pPr lvl="1"/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CB4890-5126-454C-BC30-07BCF5C4FAD1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30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341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Перелік поставлених (та вирішених) задач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Зазвичай наводиться в тексті роботи та презентації на захисті</a:t>
            </a:r>
          </a:p>
          <a:p>
            <a:pPr lvl="1"/>
            <a:r>
              <a:rPr lang="uk-UA" dirty="0"/>
              <a:t>Мета роботи – одне речення</a:t>
            </a:r>
          </a:p>
          <a:p>
            <a:pPr lvl="1"/>
            <a:r>
              <a:rPr lang="uk-UA" dirty="0"/>
              <a:t>Задачі – перелік з </a:t>
            </a:r>
            <a:r>
              <a:rPr lang="en-US" dirty="0"/>
              <a:t>~</a:t>
            </a:r>
            <a:r>
              <a:rPr lang="uk-UA" dirty="0"/>
              <a:t>4-7</a:t>
            </a:r>
            <a:r>
              <a:rPr lang="en-US" dirty="0"/>
              <a:t> </a:t>
            </a:r>
            <a:r>
              <a:rPr lang="uk-UA" dirty="0"/>
              <a:t>пунктів</a:t>
            </a:r>
          </a:p>
          <a:p>
            <a:r>
              <a:rPr lang="uk-UA" dirty="0"/>
              <a:t>Зазвичай визначаються (остаточно) наприкінці роботи, коли вже зрозуміло, що зроблено і що вийшло</a:t>
            </a:r>
          </a:p>
          <a:p>
            <a:pPr lvl="1"/>
            <a:r>
              <a:rPr lang="uk-UA" dirty="0"/>
              <a:t>Але варто думати про це завчасно, щоб потім легше було сформулювати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58170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Організація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Варто домовитись з керівником на початку роботи</a:t>
            </a:r>
          </a:p>
          <a:p>
            <a:r>
              <a:rPr lang="uk-UA" dirty="0"/>
              <a:t>Рекомендована схема</a:t>
            </a:r>
          </a:p>
          <a:p>
            <a:pPr lvl="1"/>
            <a:r>
              <a:rPr lang="uk-UA" dirty="0"/>
              <a:t>Студент створює </a:t>
            </a:r>
            <a:r>
              <a:rPr lang="uk-UA" dirty="0" err="1"/>
              <a:t>репозиторій</a:t>
            </a:r>
            <a:r>
              <a:rPr lang="uk-UA" dirty="0"/>
              <a:t> (</a:t>
            </a:r>
            <a:r>
              <a:rPr lang="en-US" dirty="0"/>
              <a:t>public </a:t>
            </a:r>
            <a:r>
              <a:rPr lang="uk-UA" dirty="0"/>
              <a:t>чи</a:t>
            </a:r>
            <a:r>
              <a:rPr lang="en-US" dirty="0"/>
              <a:t> private)</a:t>
            </a:r>
            <a:endParaRPr lang="uk-UA" dirty="0"/>
          </a:p>
          <a:p>
            <a:pPr lvl="1"/>
            <a:r>
              <a:rPr lang="uk-UA" dirty="0"/>
              <a:t>Туди викладається як код, так і інша зібрана інформація (посилання на ресурси, приклади коду, результати вимірів)</a:t>
            </a:r>
          </a:p>
          <a:p>
            <a:pPr lvl="1"/>
            <a:r>
              <a:rPr lang="uk-UA" dirty="0"/>
              <a:t>Викладач бачить прогрес</a:t>
            </a:r>
          </a:p>
          <a:p>
            <a:pPr lvl="1"/>
            <a:r>
              <a:rPr lang="uk-UA" dirty="0"/>
              <a:t>Потім буде простіше зібрати все під час роботи над текстом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02208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Взаємодія з керівником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Залежить від викладача – варто домовлятись</a:t>
            </a:r>
          </a:p>
          <a:p>
            <a:r>
              <a:rPr lang="uk-UA" dirty="0"/>
              <a:t>Варто повідомляти про прогрес, досягнення або проблеми/перешкоди</a:t>
            </a:r>
          </a:p>
          <a:p>
            <a:r>
              <a:rPr lang="uk-UA" dirty="0"/>
              <a:t>Варто задавати питання, якщо щось незрозуміло чи не виходить</a:t>
            </a:r>
          </a:p>
          <a:p>
            <a:pPr lvl="1"/>
            <a:r>
              <a:rPr lang="uk-UA" dirty="0"/>
              <a:t>Викладач має орієнтуватись в темі та методах/підходах до реалізації – не варто уникати технічних питань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75192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Активність студента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1809"/>
          </a:xfrm>
        </p:spPr>
        <p:txBody>
          <a:bodyPr>
            <a:normAutofit fontScale="85000" lnSpcReduction="20000"/>
          </a:bodyPr>
          <a:lstStyle/>
          <a:p>
            <a:r>
              <a:rPr lang="uk-UA" dirty="0"/>
              <a:t>Студенти мають проявляти ініціативу</a:t>
            </a:r>
          </a:p>
          <a:p>
            <a:pPr lvl="1"/>
            <a:r>
              <a:rPr lang="uk-UA" dirty="0"/>
              <a:t>Пошук публікацій, аналогів</a:t>
            </a:r>
          </a:p>
          <a:p>
            <a:pPr lvl="1"/>
            <a:r>
              <a:rPr lang="uk-UA" dirty="0"/>
              <a:t>Вибір технологій реалізації</a:t>
            </a:r>
          </a:p>
          <a:p>
            <a:pPr lvl="1"/>
            <a:r>
              <a:rPr lang="uk-UA" dirty="0"/>
              <a:t>Вирішення технічних проблем</a:t>
            </a:r>
          </a:p>
          <a:p>
            <a:pPr lvl="1"/>
            <a:r>
              <a:rPr lang="uk-UA" dirty="0"/>
              <a:t>Проведення експериментів, оцінка результатів</a:t>
            </a:r>
          </a:p>
          <a:p>
            <a:pPr lvl="1"/>
            <a:r>
              <a:rPr lang="uk-UA" dirty="0"/>
              <a:t>Питати, якщо щось незрозуміло чи не виходить!</a:t>
            </a:r>
          </a:p>
          <a:p>
            <a:r>
              <a:rPr lang="uk-UA" dirty="0"/>
              <a:t>Але варто радитись з керівником щодо усіх цих аспектів</a:t>
            </a:r>
          </a:p>
          <a:p>
            <a:r>
              <a:rPr lang="uk-UA" dirty="0"/>
              <a:t>Залежно від керівника, деякі аспекти можуть рекомендуватись / «нав’язуватись»</a:t>
            </a:r>
          </a:p>
          <a:p>
            <a:pPr lvl="1"/>
            <a:r>
              <a:rPr lang="uk-UA" dirty="0"/>
              <a:t>Варто розуміти причину, чому саме такі рекомендації</a:t>
            </a:r>
          </a:p>
          <a:p>
            <a:pPr lvl="1"/>
            <a:r>
              <a:rPr lang="uk-UA" dirty="0"/>
              <a:t>Якщо здається, що є краще рішення – варто порадитись з керівником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072130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Chesterton's Fence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49" y="1749887"/>
            <a:ext cx="8259097" cy="4572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74423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785" y="908176"/>
            <a:ext cx="2180988" cy="2194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Дві крайнощі / </a:t>
            </a:r>
            <a:r>
              <a:rPr lang="uk-UA" dirty="0" err="1"/>
              <a:t>антипатерни</a:t>
            </a:r>
            <a:r>
              <a:rPr lang="uk-UA" dirty="0"/>
              <a:t> взаємодії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Coding monkey</a:t>
            </a:r>
          </a:p>
          <a:p>
            <a:pPr lvl="1"/>
            <a:r>
              <a:rPr lang="uk-UA" dirty="0"/>
              <a:t>Студент чекає чітких інструкцій щодо кожного кроку, </a:t>
            </a:r>
            <a:br>
              <a:rPr lang="uk-UA" dirty="0"/>
            </a:br>
            <a:r>
              <a:rPr lang="uk-UA" dirty="0"/>
              <a:t>якщо їх немає – не робить нічого</a:t>
            </a:r>
          </a:p>
          <a:p>
            <a:pPr lvl="1"/>
            <a:r>
              <a:rPr lang="uk-UA" dirty="0"/>
              <a:t>Керівник не завжди має час та можливість </a:t>
            </a:r>
            <a:br>
              <a:rPr lang="uk-UA" dirty="0"/>
            </a:br>
            <a:r>
              <a:rPr lang="uk-UA" dirty="0"/>
              <a:t>звертати увагу на кожну деталь</a:t>
            </a:r>
            <a:endParaRPr lang="en-US" dirty="0"/>
          </a:p>
          <a:p>
            <a:pPr lvl="1"/>
            <a:r>
              <a:rPr lang="uk-UA" dirty="0"/>
              <a:t>В результаті настає </a:t>
            </a:r>
            <a:r>
              <a:rPr lang="uk-UA" dirty="0" err="1"/>
              <a:t>дедлайн</a:t>
            </a:r>
            <a:r>
              <a:rPr lang="uk-UA" dirty="0"/>
              <a:t>, а не зроблено нічого (або нічого цікавого)</a:t>
            </a:r>
            <a:endParaRPr lang="en-US" dirty="0"/>
          </a:p>
          <a:p>
            <a:r>
              <a:rPr lang="en-US" dirty="0"/>
              <a:t>Developer in a room / Uncontrollable</a:t>
            </a:r>
            <a:endParaRPr lang="uk-UA" dirty="0"/>
          </a:p>
          <a:p>
            <a:pPr lvl="1"/>
            <a:r>
              <a:rPr lang="uk-UA" dirty="0"/>
              <a:t>Студент робить те, що вважає за потрібне, не спілкуючись з керівником</a:t>
            </a:r>
          </a:p>
          <a:p>
            <a:pPr lvl="1"/>
            <a:r>
              <a:rPr lang="uk-UA" dirty="0"/>
              <a:t>Керівник не завжди має час та можливість допитуватись щодо деталей – чи просто не може дізнатись, що робить студент (бо «недороблену роботу дурням не показують» </a:t>
            </a:r>
            <a:r>
              <a:rPr lang="uk-UA" dirty="0">
                <a:sym typeface="Wingdings" panose="05000000000000000000" pitchFamily="2" charset="2"/>
              </a:rPr>
              <a:t> )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В результаті настає </a:t>
            </a:r>
            <a:r>
              <a:rPr lang="uk-UA" dirty="0" err="1">
                <a:sym typeface="Wingdings" panose="05000000000000000000" pitchFamily="2" charset="2"/>
              </a:rPr>
              <a:t>дедлайн</a:t>
            </a:r>
            <a:r>
              <a:rPr lang="uk-UA" dirty="0">
                <a:sym typeface="Wingdings" panose="05000000000000000000" pitchFamily="2" charset="2"/>
              </a:rPr>
              <a:t>, зроблено щось цікаве для студента – але воно зовсім не відповідає вимогам до курсової (або не зроблено нічого, бо задача виявилась надто складною/обрано неправильний підхід/…)</a:t>
            </a:r>
            <a:endParaRPr lang="en-US" dirty="0"/>
          </a:p>
          <a:p>
            <a:r>
              <a:rPr lang="uk-UA" dirty="0"/>
              <a:t>Істина десь посередині…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17272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Аналіз предметної галузі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Термінологія</a:t>
            </a:r>
          </a:p>
          <a:p>
            <a:r>
              <a:rPr lang="uk-UA" dirty="0"/>
              <a:t>Які задачі актуальні</a:t>
            </a:r>
          </a:p>
          <a:p>
            <a:r>
              <a:rPr lang="uk-UA" dirty="0"/>
              <a:t>Які є підходи/засоби/програми для вирішення цих задач (аналоги/конкуренти)</a:t>
            </a:r>
          </a:p>
          <a:p>
            <a:pPr lvl="1"/>
            <a:r>
              <a:rPr lang="uk-UA" dirty="0"/>
              <a:t>Їх переваги та недоліки</a:t>
            </a:r>
          </a:p>
          <a:p>
            <a:r>
              <a:rPr lang="uk-UA" dirty="0"/>
              <a:t>Як це все між собою пов’язане</a:t>
            </a:r>
          </a:p>
          <a:p>
            <a:pPr lvl="1"/>
            <a:r>
              <a:rPr lang="uk-UA" dirty="0"/>
              <a:t>«Ментальна модель», </a:t>
            </a:r>
            <a:r>
              <a:rPr lang="en-US" dirty="0" err="1"/>
              <a:t>mindmaps</a:t>
            </a:r>
            <a:r>
              <a:rPr lang="en-US" dirty="0"/>
              <a:t>, …</a:t>
            </a:r>
          </a:p>
          <a:p>
            <a:r>
              <a:rPr lang="uk-UA" dirty="0"/>
              <a:t>Знадобиться для написання тексту</a:t>
            </a:r>
          </a:p>
          <a:p>
            <a:r>
              <a:rPr lang="uk-UA" dirty="0"/>
              <a:t>Іноді цей крок відкладають до написання тексту</a:t>
            </a:r>
          </a:p>
          <a:p>
            <a:pPr lvl="1"/>
            <a:r>
              <a:rPr lang="uk-UA" dirty="0"/>
              <a:t>В результаті «вигадують велосипеди»</a:t>
            </a:r>
          </a:p>
          <a:p>
            <a:pPr lvl="1"/>
            <a:r>
              <a:rPr lang="uk-UA" dirty="0"/>
              <a:t>Або пропускають можливості зробити щось нове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13672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Розробка програми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1857"/>
          </a:xfrm>
        </p:spPr>
        <p:txBody>
          <a:bodyPr>
            <a:normAutofit fontScale="85000" lnSpcReduction="20000"/>
          </a:bodyPr>
          <a:lstStyle/>
          <a:p>
            <a:r>
              <a:rPr lang="uk-UA" dirty="0"/>
              <a:t>Обов’язковий етап</a:t>
            </a:r>
          </a:p>
          <a:p>
            <a:pPr lvl="1"/>
            <a:r>
              <a:rPr lang="uk-UA" dirty="0"/>
              <a:t>Навіть для більш дослідницьких робіт</a:t>
            </a:r>
          </a:p>
          <a:p>
            <a:pPr lvl="1"/>
            <a:r>
              <a:rPr lang="uk-UA" dirty="0"/>
              <a:t>На захисті можуть попросити запустити програму (або хоча б показати відео)</a:t>
            </a:r>
          </a:p>
          <a:p>
            <a:r>
              <a:rPr lang="uk-UA" dirty="0"/>
              <a:t>Варто використовувати сучасні технології/засоби/підходи для реалізації</a:t>
            </a:r>
          </a:p>
          <a:p>
            <a:pPr lvl="1"/>
            <a:r>
              <a:rPr lang="uk-UA" dirty="0"/>
              <a:t>Демонструє знання цих підходів</a:t>
            </a:r>
          </a:p>
          <a:p>
            <a:pPr lvl="1"/>
            <a:r>
              <a:rPr lang="uk-UA" dirty="0"/>
              <a:t>Дозволяє сконцентруватись на вирішенні нової задачі</a:t>
            </a:r>
          </a:p>
          <a:p>
            <a:r>
              <a:rPr lang="uk-UA" dirty="0"/>
              <a:t>Не варто реалізовувати «з нуля» якісь відомі алгоритми/структури даних/підходи</a:t>
            </a:r>
          </a:p>
          <a:p>
            <a:pPr lvl="1"/>
            <a:r>
              <a:rPr lang="uk-UA" dirty="0"/>
              <a:t>Якщо це не є суттю роботи (наприклад, нова реалізація або модифікація)</a:t>
            </a:r>
          </a:p>
          <a:p>
            <a:pPr lvl="1"/>
            <a:r>
              <a:rPr lang="uk-UA" dirty="0"/>
              <a:t>Треба бути готовими до питань «чому не використали існуючі засоби»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57941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Аспекти програмної інженерії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Просто фрагменти коду, які якось запускаються – може бути недостатньо</a:t>
            </a:r>
          </a:p>
          <a:p>
            <a:r>
              <a:rPr lang="uk-UA" dirty="0"/>
              <a:t>Архітектура системи (</a:t>
            </a:r>
            <a:r>
              <a:rPr lang="en-US" dirty="0"/>
              <a:t>UML </a:t>
            </a:r>
            <a:r>
              <a:rPr lang="uk-UA" dirty="0"/>
              <a:t>діаграми)</a:t>
            </a:r>
          </a:p>
          <a:p>
            <a:r>
              <a:rPr lang="en-US" dirty="0"/>
              <a:t>GUI</a:t>
            </a:r>
          </a:p>
          <a:p>
            <a:r>
              <a:rPr lang="en-US" dirty="0"/>
              <a:t>Web, mobile, cloud, …</a:t>
            </a:r>
            <a:endParaRPr lang="uk-UA" dirty="0"/>
          </a:p>
          <a:p>
            <a:r>
              <a:rPr lang="uk-UA" dirty="0"/>
              <a:t>Розгортання, впровадження, підтримка</a:t>
            </a:r>
          </a:p>
          <a:p>
            <a:r>
              <a:rPr lang="uk-UA" dirty="0"/>
              <a:t>Використання </a:t>
            </a:r>
            <a:r>
              <a:rPr lang="uk-UA" dirty="0" err="1"/>
              <a:t>методологій</a:t>
            </a:r>
            <a:r>
              <a:rPr lang="uk-UA" dirty="0"/>
              <a:t> / процесів розробки (якщо це по суті)</a:t>
            </a:r>
          </a:p>
          <a:p>
            <a:r>
              <a:rPr lang="uk-UA" dirty="0"/>
              <a:t>Бібліотеки, </a:t>
            </a:r>
            <a:r>
              <a:rPr lang="en-US" dirty="0"/>
              <a:t>web API</a:t>
            </a:r>
          </a:p>
          <a:p>
            <a:pPr lvl="1"/>
            <a:r>
              <a:rPr lang="uk-UA" dirty="0"/>
              <a:t>Для використаних засобів</a:t>
            </a:r>
          </a:p>
          <a:p>
            <a:pPr lvl="1"/>
            <a:r>
              <a:rPr lang="uk-UA" dirty="0"/>
              <a:t>Для своїх результатів</a:t>
            </a:r>
          </a:p>
          <a:p>
            <a:r>
              <a:rPr lang="uk-UA" dirty="0"/>
              <a:t>Дозволить уникнути питання «як Ваша робота стосується нашої кафедри/спеціальності»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39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445135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Оцінка отриманих результатів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Треба зрозуміти, наскільки «якісним» є розроблене рішення</a:t>
            </a:r>
          </a:p>
          <a:p>
            <a:r>
              <a:rPr lang="uk-UA" dirty="0"/>
              <a:t>Можливі варіанти</a:t>
            </a:r>
          </a:p>
          <a:p>
            <a:pPr lvl="1"/>
            <a:r>
              <a:rPr lang="uk-UA" dirty="0"/>
              <a:t>Чи вирішує задачу, з якою точністю, як часто знаходить «гарні» рішення, …</a:t>
            </a:r>
          </a:p>
          <a:p>
            <a:pPr lvl="1"/>
            <a:r>
              <a:rPr lang="uk-UA" dirty="0"/>
              <a:t>Виміри продуктивності (час виконання, використання пам’яті, використання ресурсів, …)</a:t>
            </a:r>
          </a:p>
          <a:p>
            <a:pPr lvl="1"/>
            <a:r>
              <a:rPr lang="uk-UA" dirty="0"/>
              <a:t>Порівняння функціональності</a:t>
            </a:r>
          </a:p>
          <a:p>
            <a:pPr lvl="1"/>
            <a:r>
              <a:rPr lang="uk-UA" dirty="0"/>
              <a:t>Відгуки/опитування користувачів, кількість завантажень, …</a:t>
            </a:r>
          </a:p>
          <a:p>
            <a:r>
              <a:rPr lang="uk-UA" dirty="0"/>
              <a:t>Не треба боятись, якщо результати не будуть «найкращими в світі»</a:t>
            </a:r>
          </a:p>
          <a:p>
            <a:pPr lvl="1"/>
            <a:r>
              <a:rPr lang="uk-UA" dirty="0"/>
              <a:t>Але треба знайти, чому отримані результати є важливими</a:t>
            </a:r>
          </a:p>
          <a:p>
            <a:pPr lvl="1"/>
            <a:r>
              <a:rPr lang="uk-UA" dirty="0"/>
              <a:t>Порадитись з керівником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837744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Наукові публікації, конференції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За результатами роботи можна підготувати виступ на конференції та/або наукову публікацію</a:t>
            </a:r>
          </a:p>
          <a:p>
            <a:pPr lvl="1"/>
            <a:r>
              <a:rPr lang="uk-UA" dirty="0"/>
              <a:t>Зазвичай роблять для дипломної роботи </a:t>
            </a:r>
          </a:p>
          <a:p>
            <a:pPr lvl="1"/>
            <a:r>
              <a:rPr lang="uk-UA" dirty="0"/>
              <a:t>Але це займає багато часу (кілька місяців)</a:t>
            </a:r>
          </a:p>
          <a:p>
            <a:pPr lvl="1"/>
            <a:r>
              <a:rPr lang="uk-UA" dirty="0"/>
              <a:t>Тому варто починати думати завчасно</a:t>
            </a:r>
          </a:p>
          <a:p>
            <a:r>
              <a:rPr lang="uk-UA" dirty="0"/>
              <a:t>Один з можливих варіантів для диплому з відзнакою («червоний диплом»)</a:t>
            </a:r>
          </a:p>
          <a:p>
            <a:pPr lvl="1"/>
            <a:r>
              <a:rPr lang="uk-UA" dirty="0">
                <a:hlinkClick r:id="rId2"/>
              </a:rPr>
              <a:t>"Положення про диплом із відзнакою Київського національного університету імені Тараса Шевченка" </a:t>
            </a:r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007672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 знаходити час на курсову?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Спеціально час не виділяється</a:t>
            </a:r>
          </a:p>
          <a:p>
            <a:r>
              <a:rPr lang="uk-UA" dirty="0" err="1"/>
              <a:t>Дедлайни</a:t>
            </a:r>
            <a:r>
              <a:rPr lang="uk-UA" dirty="0"/>
              <a:t> начебто далеко (травень)</a:t>
            </a:r>
          </a:p>
          <a:p>
            <a:pPr lvl="1"/>
            <a:r>
              <a:rPr lang="uk-UA" dirty="0"/>
              <a:t>Але багато інших </a:t>
            </a:r>
            <a:r>
              <a:rPr lang="uk-UA" dirty="0" err="1"/>
              <a:t>дедлайнів</a:t>
            </a:r>
            <a:r>
              <a:rPr lang="uk-UA" dirty="0"/>
              <a:t> – лабораторні, сесія, …</a:t>
            </a:r>
          </a:p>
          <a:p>
            <a:r>
              <a:rPr lang="uk-UA" dirty="0"/>
              <a:t>Треба шукати час для курсової</a:t>
            </a:r>
          </a:p>
          <a:p>
            <a:pPr lvl="1"/>
            <a:r>
              <a:rPr lang="uk-UA" dirty="0"/>
              <a:t>Коли менше навантаження в семестрі?</a:t>
            </a:r>
          </a:p>
          <a:p>
            <a:pPr lvl="1"/>
            <a:r>
              <a:rPr lang="uk-UA" dirty="0"/>
              <a:t>Зимові канікули?</a:t>
            </a:r>
          </a:p>
          <a:p>
            <a:pPr lvl="1"/>
            <a:r>
              <a:rPr lang="uk-UA" dirty="0"/>
              <a:t>Потроху кожного тижня?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42</a:t>
            </a:fld>
            <a:endParaRPr lang="ru-RU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336" y="5020157"/>
            <a:ext cx="292608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01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Розробка в режимі </a:t>
            </a:r>
            <a:r>
              <a:rPr lang="ru-UA" dirty="0"/>
              <a:t>“</a:t>
            </a:r>
            <a:r>
              <a:rPr lang="en-US" dirty="0"/>
              <a:t>side project”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Якщо щось робити потроху, але регулярно – в результаті можна встигнути більше, ніж якщо виділити кілька днів близько до </a:t>
            </a:r>
            <a:r>
              <a:rPr lang="uk-UA" dirty="0" err="1"/>
              <a:t>дедлайнів</a:t>
            </a:r>
            <a:r>
              <a:rPr lang="uk-UA" dirty="0"/>
              <a:t> лише на курсову</a:t>
            </a:r>
          </a:p>
          <a:p>
            <a:r>
              <a:rPr lang="uk-UA" dirty="0"/>
              <a:t>Намагатись виділяти певний час кожного дня чи хоча б кожного тижня</a:t>
            </a:r>
          </a:p>
          <a:p>
            <a:r>
              <a:rPr lang="uk-UA" dirty="0"/>
              <a:t>Невеликі чітко визначені задачі</a:t>
            </a:r>
            <a:endParaRPr lang="en-US" dirty="0"/>
          </a:p>
          <a:p>
            <a:pPr lvl="1"/>
            <a:r>
              <a:rPr lang="uk-UA" dirty="0"/>
              <a:t>Пошукати джерела, прочитати (частину) публікації, встановити програму-конкурента, …</a:t>
            </a:r>
          </a:p>
          <a:p>
            <a:pPr lvl="1"/>
            <a:r>
              <a:rPr lang="uk-UA" dirty="0"/>
              <a:t>Написати тест, написати реалізацію, виправити дефекти, … </a:t>
            </a:r>
          </a:p>
          <a:p>
            <a:r>
              <a:rPr lang="uk-UA" dirty="0"/>
              <a:t>Мінімізувати </a:t>
            </a:r>
            <a:r>
              <a:rPr lang="en-US" dirty="0"/>
              <a:t>“context switch costs”</a:t>
            </a:r>
            <a:endParaRPr lang="uk-UA" dirty="0"/>
          </a:p>
          <a:p>
            <a:r>
              <a:rPr lang="uk-UA" dirty="0"/>
              <a:t>Можливість обдумувати «в фоновому режимі»/ «в підсвідомості»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271281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152" y="0"/>
            <a:ext cx="8229600" cy="1143000"/>
          </a:xfrm>
        </p:spPr>
        <p:txBody>
          <a:bodyPr/>
          <a:lstStyle/>
          <a:p>
            <a:r>
              <a:rPr lang="uk-UA" dirty="0"/>
              <a:t>Розробка в режимі «</a:t>
            </a:r>
            <a:r>
              <a:rPr lang="uk-UA" dirty="0" err="1"/>
              <a:t>дедлайн</a:t>
            </a:r>
            <a:r>
              <a:rPr lang="uk-UA" dirty="0"/>
              <a:t> завтра/вчора»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910" y="1273629"/>
            <a:ext cx="8229600" cy="5584371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Виділяється досить багато часу на розробку в певний день</a:t>
            </a:r>
          </a:p>
          <a:p>
            <a:r>
              <a:rPr lang="uk-UA" dirty="0"/>
              <a:t>Менше проблем з </a:t>
            </a:r>
            <a:r>
              <a:rPr lang="en-US" dirty="0"/>
              <a:t>context switch </a:t>
            </a:r>
            <a:endParaRPr lang="uk-UA" dirty="0"/>
          </a:p>
          <a:p>
            <a:r>
              <a:rPr lang="uk-UA" dirty="0"/>
              <a:t>Проте не виходить працювати весь день з максимальною ефективністю</a:t>
            </a:r>
          </a:p>
          <a:p>
            <a:pPr lvl="1"/>
            <a:r>
              <a:rPr lang="uk-UA" dirty="0"/>
              <a:t>Перемикатись між різними видами роботи (які стосуються курсової)</a:t>
            </a:r>
          </a:p>
          <a:p>
            <a:pPr lvl="1"/>
            <a:r>
              <a:rPr lang="uk-UA" dirty="0"/>
              <a:t>Важко розпочати? – Прості та/або цікаві завдання на початку</a:t>
            </a:r>
          </a:p>
          <a:p>
            <a:pPr lvl="1"/>
            <a:r>
              <a:rPr lang="uk-UA" dirty="0"/>
              <a:t>Втома після довгої розробки? – Більш механічні завдання наприкінці</a:t>
            </a:r>
          </a:p>
          <a:p>
            <a:r>
              <a:rPr lang="uk-UA" dirty="0"/>
              <a:t>Не варто намагатись все зробити за один день</a:t>
            </a:r>
          </a:p>
          <a:p>
            <a:r>
              <a:rPr lang="uk-UA" dirty="0"/>
              <a:t>Не варто працювати в такому режимі перед реальними </a:t>
            </a:r>
            <a:r>
              <a:rPr lang="uk-UA" dirty="0" err="1"/>
              <a:t>дедлайнами</a:t>
            </a:r>
            <a:endParaRPr lang="uk-UA" dirty="0"/>
          </a:p>
          <a:p>
            <a:pPr lvl="1"/>
            <a:r>
              <a:rPr lang="uk-UA" dirty="0"/>
              <a:t>Краще ставити собі проміжні </a:t>
            </a:r>
            <a:r>
              <a:rPr lang="uk-UA" dirty="0" err="1"/>
              <a:t>дедлайни</a:t>
            </a:r>
            <a:r>
              <a:rPr lang="uk-UA" dirty="0"/>
              <a:t>, коли ще залишається час</a:t>
            </a:r>
            <a:endParaRPr lang="en-US" dirty="0"/>
          </a:p>
          <a:p>
            <a:pPr lvl="1"/>
            <a:r>
              <a:rPr lang="uk-UA" dirty="0"/>
              <a:t>Зовнішні </a:t>
            </a:r>
            <a:r>
              <a:rPr lang="uk-UA" dirty="0" err="1"/>
              <a:t>дедлайни</a:t>
            </a:r>
            <a:r>
              <a:rPr lang="uk-UA" dirty="0"/>
              <a:t> (наприклад, від керівника) – менше бажання ігнорувати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65578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Варто ефективно використовувати обмежений час</a:t>
            </a:r>
          </a:p>
          <a:p>
            <a:pPr lvl="1"/>
            <a:r>
              <a:rPr lang="uk-UA" dirty="0"/>
              <a:t>Актуально незалежно від режиму розробки</a:t>
            </a:r>
          </a:p>
          <a:p>
            <a:r>
              <a:rPr lang="uk-UA" dirty="0"/>
              <a:t>Пріоритети завдань</a:t>
            </a:r>
          </a:p>
          <a:p>
            <a:pPr lvl="1"/>
            <a:r>
              <a:rPr lang="uk-UA" dirty="0"/>
              <a:t>Спершу виконувати більш незрозумілі завдання, з більшим шансом неочікуваних проблем</a:t>
            </a:r>
          </a:p>
          <a:p>
            <a:pPr lvl="1"/>
            <a:r>
              <a:rPr lang="uk-UA" dirty="0"/>
              <a:t>Краще виконати всі етапи трохи, ніж багато функціональності в одному етапі і пропустити інші (чи зробити в останній момент з відповідною якістю)</a:t>
            </a:r>
          </a:p>
          <a:p>
            <a:r>
              <a:rPr lang="uk-UA" dirty="0"/>
              <a:t>Оцінювати складність та очікуваний час виконання завдань</a:t>
            </a:r>
          </a:p>
          <a:p>
            <a:r>
              <a:rPr lang="en-US" dirty="0" err="1"/>
              <a:t>Timeboxing</a:t>
            </a:r>
            <a:r>
              <a:rPr lang="en-US" dirty="0"/>
              <a:t> – </a:t>
            </a:r>
            <a:r>
              <a:rPr lang="uk-UA" dirty="0"/>
              <a:t>виділяти максимальний час на завдання, якщо не виходить – шукати інший підхід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853409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468720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Подальші кроки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Частини 4 (підготовка та оформлення тексту) та 5 (презентація та захист) – ближче до захисту</a:t>
            </a:r>
          </a:p>
          <a:p>
            <a:pPr lvl="1"/>
            <a:r>
              <a:rPr lang="uk-UA" dirty="0"/>
              <a:t>Також частина 6 (про </a:t>
            </a:r>
            <a:r>
              <a:rPr lang="uk-UA"/>
              <a:t>особливості дипломних робіт)</a:t>
            </a:r>
            <a:endParaRPr lang="uk-UA" dirty="0"/>
          </a:p>
          <a:p>
            <a:r>
              <a:rPr lang="uk-UA" dirty="0"/>
              <a:t>Варто вже починати обирати теми та працювати над курсовими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Telegram </a:t>
            </a:r>
            <a:r>
              <a:rPr lang="uk-UA" dirty="0">
                <a:sym typeface="Wingdings" panose="05000000000000000000" pitchFamily="2" charset="2"/>
              </a:rPr>
              <a:t>група для питань, обговорення курсових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175378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Курсові (та дипломні) роботи – складно, але цікаво</a:t>
            </a:r>
          </a:p>
          <a:p>
            <a:r>
              <a:rPr lang="uk-UA" dirty="0"/>
              <a:t>Демонстрація знань, вміння самостійно працювати над складними </a:t>
            </a:r>
            <a:r>
              <a:rPr lang="uk-UA" dirty="0" err="1"/>
              <a:t>проєктами</a:t>
            </a:r>
            <a:r>
              <a:rPr lang="uk-UA" dirty="0"/>
              <a:t>, презентувати результати</a:t>
            </a:r>
          </a:p>
          <a:p>
            <a:r>
              <a:rPr lang="uk-UA" dirty="0"/>
              <a:t>Не дуже багато офіційних </a:t>
            </a:r>
            <a:r>
              <a:rPr lang="uk-UA" dirty="0" err="1"/>
              <a:t>дедлайнів</a:t>
            </a:r>
            <a:r>
              <a:rPr lang="uk-UA" dirty="0"/>
              <a:t> – варто ставити додаткові для себе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815182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8304</TotalTime>
  <Words>2858</Words>
  <Application>Microsoft Office PowerPoint</Application>
  <PresentationFormat>On-screen Show (4:3)</PresentationFormat>
  <Paragraphs>385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Wingdings</vt:lpstr>
      <vt:lpstr>Office Theme</vt:lpstr>
      <vt:lpstr>Курсові та дипломні роботи</vt:lpstr>
      <vt:lpstr>Про що будемо говорити</vt:lpstr>
      <vt:lpstr>Додаткова інформація</vt:lpstr>
      <vt:lpstr>Частина 1. Що таке курсові/дипломні роботи</vt:lpstr>
      <vt:lpstr>Послідовність кроків  (курсові роботи)</vt:lpstr>
      <vt:lpstr>«Офіційне визначення»</vt:lpstr>
      <vt:lpstr>Важливі моменти – 1</vt:lpstr>
      <vt:lpstr>Важливі моменти – 2</vt:lpstr>
      <vt:lpstr>Важливі моменти – 3</vt:lpstr>
      <vt:lpstr>Важливі моменти – 4</vt:lpstr>
      <vt:lpstr>Важливі моменти – 5</vt:lpstr>
      <vt:lpstr>Чому так багато уваги приділяють оформленню?</vt:lpstr>
      <vt:lpstr>Академічний контекст</vt:lpstr>
      <vt:lpstr>Історичний контекст</vt:lpstr>
      <vt:lpstr>Обсяг та складність роботи</vt:lpstr>
      <vt:lpstr>Чи можна взяти {insert topic here} як курсову/диплом?</vt:lpstr>
      <vt:lpstr>Чи має курсова виконуватись «з нуля» до готового продукту?</vt:lpstr>
      <vt:lpstr>Питання?</vt:lpstr>
      <vt:lpstr>Частина 2. Вибір керівника та теми роботи</vt:lpstr>
      <vt:lpstr>Послідовність кроків</vt:lpstr>
      <vt:lpstr>Переліки тем</vt:lpstr>
      <vt:lpstr>Додаткова інформація щодо тем</vt:lpstr>
      <vt:lpstr>Можливі підходи до вибору</vt:lpstr>
      <vt:lpstr>Обмеження</vt:lpstr>
      <vt:lpstr>Щодо здатності  передбачати майбутнє…</vt:lpstr>
      <vt:lpstr>Формулювання теми</vt:lpstr>
      <vt:lpstr>Колективна робота?</vt:lpstr>
      <vt:lpstr>Питання?</vt:lpstr>
      <vt:lpstr>Частина 3. Виконання практичної частини</vt:lpstr>
      <vt:lpstr>Послідовність кроків</vt:lpstr>
      <vt:lpstr>Перелік поставлених (та вирішених) задач</vt:lpstr>
      <vt:lpstr>Організація роботи</vt:lpstr>
      <vt:lpstr>Взаємодія з керівником</vt:lpstr>
      <vt:lpstr>Активність студента</vt:lpstr>
      <vt:lpstr>Chesterton's Fence</vt:lpstr>
      <vt:lpstr>Дві крайнощі / антипатерни взаємодії</vt:lpstr>
      <vt:lpstr>Аналіз предметної галузі</vt:lpstr>
      <vt:lpstr>Розробка програми</vt:lpstr>
      <vt:lpstr>Аспекти програмної інженерії</vt:lpstr>
      <vt:lpstr>Оцінка отриманих результатів</vt:lpstr>
      <vt:lpstr>Наукові публікації, конференції</vt:lpstr>
      <vt:lpstr>Як знаходити час на курсову?</vt:lpstr>
      <vt:lpstr>Розробка в режимі “side project”</vt:lpstr>
      <vt:lpstr>Розробка в режимі «дедлайн завтра/вчора»</vt:lpstr>
      <vt:lpstr>Time Management</vt:lpstr>
      <vt:lpstr>Питання?</vt:lpstr>
      <vt:lpstr>Подальші кроки</vt:lpstr>
      <vt:lpstr>Висновки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Zhereb</dc:creator>
  <cp:lastModifiedBy>KZ</cp:lastModifiedBy>
  <cp:revision>551</cp:revision>
  <dcterms:created xsi:type="dcterms:W3CDTF">2010-09-06T09:34:41Z</dcterms:created>
  <dcterms:modified xsi:type="dcterms:W3CDTF">2026-05-05T09:24:36Z</dcterms:modified>
</cp:coreProperties>
</file>