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media/image3.jpg" ContentType="image/png"/>
  <Override PartName="/ppt/media/image5.jpg" ContentType="image/png"/>
  <Override PartName="/ppt/media/image10.jpg" ContentType="image/pn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65" r:id="rId5"/>
    <p:sldId id="260" r:id="rId6"/>
    <p:sldId id="261" r:id="rId7"/>
    <p:sldId id="262" r:id="rId8"/>
    <p:sldId id="263" r:id="rId9"/>
    <p:sldId id="264" r:id="rId10"/>
    <p:sldId id="266" r:id="rId11"/>
  </p:sldIdLst>
  <p:sldSz cx="12192000" cy="6858000"/>
  <p:notesSz cx="6858000" cy="9144000"/>
  <p:defaultText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3" d="100"/>
          <a:sy n="93" d="100"/>
        </p:scale>
        <p:origin x="25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ий слайд">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uk-UA" smtClean="0"/>
              <a:t>Зразок заголовка</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uk-UA" smtClean="0"/>
              <a:t>Клацніть, щоб редагувати стиль зразка підзаголовка</a:t>
            </a:r>
            <a:endParaRPr lang="en-US" dirty="0"/>
          </a:p>
        </p:txBody>
      </p:sp>
      <p:sp>
        <p:nvSpPr>
          <p:cNvPr id="7" name="Date Placeholder 6"/>
          <p:cNvSpPr>
            <a:spLocks noGrp="1"/>
          </p:cNvSpPr>
          <p:nvPr>
            <p:ph type="dt" sz="half" idx="10"/>
          </p:nvPr>
        </p:nvSpPr>
        <p:spPr/>
        <p:txBody>
          <a:bodyPr/>
          <a:lstStyle/>
          <a:p>
            <a:fld id="{0E2E7C29-7463-4424-81C3-15AAA2596F8B}" type="datetimeFigureOut">
              <a:rPr lang="uk-UA" smtClean="0"/>
              <a:t>18.03.2026</a:t>
            </a:fld>
            <a:endParaRPr lang="uk-UA" dirty="0"/>
          </a:p>
        </p:txBody>
      </p:sp>
      <p:sp>
        <p:nvSpPr>
          <p:cNvPr id="8" name="Footer Placeholder 7"/>
          <p:cNvSpPr>
            <a:spLocks noGrp="1"/>
          </p:cNvSpPr>
          <p:nvPr>
            <p:ph type="ftr" sz="quarter" idx="11"/>
          </p:nvPr>
        </p:nvSpPr>
        <p:spPr/>
        <p:txBody>
          <a:bodyPr/>
          <a:lstStyle/>
          <a:p>
            <a:endParaRPr lang="uk-UA" dirty="0"/>
          </a:p>
        </p:txBody>
      </p:sp>
      <p:sp>
        <p:nvSpPr>
          <p:cNvPr id="9" name="Slide Number Placeholder 8"/>
          <p:cNvSpPr>
            <a:spLocks noGrp="1"/>
          </p:cNvSpPr>
          <p:nvPr>
            <p:ph type="sldNum" sz="quarter" idx="12"/>
          </p:nvPr>
        </p:nvSpPr>
        <p:spPr/>
        <p:txBody>
          <a:bodyPr/>
          <a:lstStyle/>
          <a:p>
            <a:fld id="{485B8EB1-96CD-4D3C-9743-A1910A2E2312}" type="slidenum">
              <a:rPr lang="uk-UA" smtClean="0"/>
              <a:t>‹№›</a:t>
            </a:fld>
            <a:endParaRPr lang="uk-UA" dirty="0"/>
          </a:p>
        </p:txBody>
      </p:sp>
    </p:spTree>
    <p:extLst>
      <p:ext uri="{BB962C8B-B14F-4D97-AF65-F5344CB8AC3E}">
        <p14:creationId xmlns:p14="http://schemas.microsoft.com/office/powerpoint/2010/main" val="120687330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і об’є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smtClean="0"/>
              <a:t>Зразок заголовка</a:t>
            </a:r>
            <a:endParaRPr lang="en-US" dirty="0"/>
          </a:p>
        </p:txBody>
      </p:sp>
      <p:sp>
        <p:nvSpPr>
          <p:cNvPr id="3" name="Content Placeholder 2"/>
          <p:cNvSpPr>
            <a:spLocks noGrp="1"/>
          </p:cNvSpPr>
          <p:nvPr>
            <p:ph idx="1"/>
          </p:nvPr>
        </p:nvSpPr>
        <p:spPr/>
        <p:txBody>
          <a:bodyPr/>
          <a:lstStyle/>
          <a:p>
            <a:pPr lvl="0"/>
            <a:r>
              <a:rPr lang="uk-UA" smtClean="0"/>
              <a:t>Редагувати стиль зразка тексту</a:t>
            </a:r>
          </a:p>
          <a:p>
            <a:pPr lvl="1"/>
            <a:r>
              <a:rPr lang="uk-UA" smtClean="0"/>
              <a:t>Другий рівень</a:t>
            </a:r>
          </a:p>
          <a:p>
            <a:pPr lvl="2"/>
            <a:r>
              <a:rPr lang="uk-UA" smtClean="0"/>
              <a:t>Третій рівень</a:t>
            </a:r>
          </a:p>
          <a:p>
            <a:pPr lvl="3"/>
            <a:r>
              <a:rPr lang="uk-UA" smtClean="0"/>
              <a:t>Четвертий рівень</a:t>
            </a:r>
          </a:p>
          <a:p>
            <a:pPr lvl="4"/>
            <a:r>
              <a:rPr lang="uk-UA" smtClean="0"/>
              <a:t>П’ятий рівень</a:t>
            </a:r>
            <a:endParaRPr lang="en-US" dirty="0"/>
          </a:p>
        </p:txBody>
      </p:sp>
      <p:sp>
        <p:nvSpPr>
          <p:cNvPr id="7" name="Date Placeholder 6"/>
          <p:cNvSpPr>
            <a:spLocks noGrp="1"/>
          </p:cNvSpPr>
          <p:nvPr>
            <p:ph type="dt" sz="half" idx="10"/>
          </p:nvPr>
        </p:nvSpPr>
        <p:spPr/>
        <p:txBody>
          <a:bodyPr/>
          <a:lstStyle/>
          <a:p>
            <a:fld id="{0E2E7C29-7463-4424-81C3-15AAA2596F8B}" type="datetimeFigureOut">
              <a:rPr lang="uk-UA" smtClean="0"/>
              <a:t>18.03.2026</a:t>
            </a:fld>
            <a:endParaRPr lang="uk-UA" dirty="0"/>
          </a:p>
        </p:txBody>
      </p:sp>
      <p:sp>
        <p:nvSpPr>
          <p:cNvPr id="8" name="Footer Placeholder 7"/>
          <p:cNvSpPr>
            <a:spLocks noGrp="1"/>
          </p:cNvSpPr>
          <p:nvPr>
            <p:ph type="ftr" sz="quarter" idx="11"/>
          </p:nvPr>
        </p:nvSpPr>
        <p:spPr/>
        <p:txBody>
          <a:bodyPr/>
          <a:lstStyle/>
          <a:p>
            <a:endParaRPr lang="uk-UA" dirty="0"/>
          </a:p>
        </p:txBody>
      </p:sp>
      <p:sp>
        <p:nvSpPr>
          <p:cNvPr id="9" name="Slide Number Placeholder 8"/>
          <p:cNvSpPr>
            <a:spLocks noGrp="1"/>
          </p:cNvSpPr>
          <p:nvPr>
            <p:ph type="sldNum" sz="quarter" idx="12"/>
          </p:nvPr>
        </p:nvSpPr>
        <p:spPr/>
        <p:txBody>
          <a:bodyPr/>
          <a:lstStyle/>
          <a:p>
            <a:fld id="{485B8EB1-96CD-4D3C-9743-A1910A2E2312}" type="slidenum">
              <a:rPr lang="uk-UA" smtClean="0"/>
              <a:t>‹№›</a:t>
            </a:fld>
            <a:endParaRPr lang="uk-UA" dirty="0"/>
          </a:p>
        </p:txBody>
      </p:sp>
    </p:spTree>
    <p:extLst>
      <p:ext uri="{BB962C8B-B14F-4D97-AF65-F5344CB8AC3E}">
        <p14:creationId xmlns:p14="http://schemas.microsoft.com/office/powerpoint/2010/main" val="2198520104"/>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озділу">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uk-UA" smtClean="0"/>
              <a:t>Зразок заголовка</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uk-UA" smtClean="0"/>
              <a:t>Редагувати стиль зразка тексту</a:t>
            </a:r>
          </a:p>
        </p:txBody>
      </p:sp>
      <p:sp>
        <p:nvSpPr>
          <p:cNvPr id="7" name="Date Placeholder 6"/>
          <p:cNvSpPr>
            <a:spLocks noGrp="1"/>
          </p:cNvSpPr>
          <p:nvPr>
            <p:ph type="dt" sz="half" idx="10"/>
          </p:nvPr>
        </p:nvSpPr>
        <p:spPr/>
        <p:txBody>
          <a:bodyPr/>
          <a:lstStyle/>
          <a:p>
            <a:fld id="{0E2E7C29-7463-4424-81C3-15AAA2596F8B}" type="datetimeFigureOut">
              <a:rPr lang="uk-UA" smtClean="0"/>
              <a:t>18.03.2026</a:t>
            </a:fld>
            <a:endParaRPr lang="uk-UA" dirty="0"/>
          </a:p>
        </p:txBody>
      </p:sp>
      <p:sp>
        <p:nvSpPr>
          <p:cNvPr id="8" name="Footer Placeholder 7"/>
          <p:cNvSpPr>
            <a:spLocks noGrp="1"/>
          </p:cNvSpPr>
          <p:nvPr>
            <p:ph type="ftr" sz="quarter" idx="11"/>
          </p:nvPr>
        </p:nvSpPr>
        <p:spPr/>
        <p:txBody>
          <a:bodyPr/>
          <a:lstStyle/>
          <a:p>
            <a:endParaRPr lang="uk-UA" dirty="0"/>
          </a:p>
        </p:txBody>
      </p:sp>
      <p:sp>
        <p:nvSpPr>
          <p:cNvPr id="9" name="Slide Number Placeholder 8"/>
          <p:cNvSpPr>
            <a:spLocks noGrp="1"/>
          </p:cNvSpPr>
          <p:nvPr>
            <p:ph type="sldNum" sz="quarter" idx="12"/>
          </p:nvPr>
        </p:nvSpPr>
        <p:spPr/>
        <p:txBody>
          <a:bodyPr/>
          <a:lstStyle/>
          <a:p>
            <a:fld id="{485B8EB1-96CD-4D3C-9743-A1910A2E2312}" type="slidenum">
              <a:rPr lang="uk-UA" smtClean="0"/>
              <a:t>‹№›</a:t>
            </a:fld>
            <a:endParaRPr lang="uk-UA" dirty="0"/>
          </a:p>
        </p:txBody>
      </p:sp>
    </p:spTree>
    <p:extLst>
      <p:ext uri="{BB962C8B-B14F-4D97-AF65-F5344CB8AC3E}">
        <p14:creationId xmlns:p14="http://schemas.microsoft.com/office/powerpoint/2010/main" val="33419680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єкт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smtClean="0"/>
              <a:t>Зразок заголовка</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uk-UA" smtClean="0"/>
              <a:t>Редагувати стиль зразка тексту</a:t>
            </a:r>
          </a:p>
          <a:p>
            <a:pPr lvl="1"/>
            <a:r>
              <a:rPr lang="uk-UA" smtClean="0"/>
              <a:t>Другий рівень</a:t>
            </a:r>
          </a:p>
          <a:p>
            <a:pPr lvl="2"/>
            <a:r>
              <a:rPr lang="uk-UA" smtClean="0"/>
              <a:t>Третій рівень</a:t>
            </a:r>
          </a:p>
          <a:p>
            <a:pPr lvl="3"/>
            <a:r>
              <a:rPr lang="uk-UA" smtClean="0"/>
              <a:t>Четвертий рівень</a:t>
            </a:r>
          </a:p>
          <a:p>
            <a:pPr lvl="4"/>
            <a:r>
              <a:rPr lang="uk-UA" smtClean="0"/>
              <a:t>П’ятий рівень</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uk-UA" smtClean="0"/>
              <a:t>Редагувати стиль зразка тексту</a:t>
            </a:r>
          </a:p>
          <a:p>
            <a:pPr lvl="1"/>
            <a:r>
              <a:rPr lang="uk-UA" smtClean="0"/>
              <a:t>Другий рівень</a:t>
            </a:r>
          </a:p>
          <a:p>
            <a:pPr lvl="2"/>
            <a:r>
              <a:rPr lang="uk-UA" smtClean="0"/>
              <a:t>Третій рівень</a:t>
            </a:r>
          </a:p>
          <a:p>
            <a:pPr lvl="3"/>
            <a:r>
              <a:rPr lang="uk-UA" smtClean="0"/>
              <a:t>Четвертий рівень</a:t>
            </a:r>
          </a:p>
          <a:p>
            <a:pPr lvl="4"/>
            <a:r>
              <a:rPr lang="uk-UA" smtClean="0"/>
              <a:t>П’ятий рівень</a:t>
            </a:r>
            <a:endParaRPr lang="en-US" dirty="0"/>
          </a:p>
        </p:txBody>
      </p:sp>
      <p:sp>
        <p:nvSpPr>
          <p:cNvPr id="8" name="Date Placeholder 7"/>
          <p:cNvSpPr>
            <a:spLocks noGrp="1"/>
          </p:cNvSpPr>
          <p:nvPr>
            <p:ph type="dt" sz="half" idx="10"/>
          </p:nvPr>
        </p:nvSpPr>
        <p:spPr/>
        <p:txBody>
          <a:bodyPr/>
          <a:lstStyle/>
          <a:p>
            <a:fld id="{0E2E7C29-7463-4424-81C3-15AAA2596F8B}" type="datetimeFigureOut">
              <a:rPr lang="uk-UA" smtClean="0"/>
              <a:t>18.03.2026</a:t>
            </a:fld>
            <a:endParaRPr lang="uk-UA" dirty="0"/>
          </a:p>
        </p:txBody>
      </p:sp>
      <p:sp>
        <p:nvSpPr>
          <p:cNvPr id="9" name="Footer Placeholder 8"/>
          <p:cNvSpPr>
            <a:spLocks noGrp="1"/>
          </p:cNvSpPr>
          <p:nvPr>
            <p:ph type="ftr" sz="quarter" idx="11"/>
          </p:nvPr>
        </p:nvSpPr>
        <p:spPr/>
        <p:txBody>
          <a:bodyPr/>
          <a:lstStyle/>
          <a:p>
            <a:endParaRPr lang="uk-UA" dirty="0"/>
          </a:p>
        </p:txBody>
      </p:sp>
      <p:sp>
        <p:nvSpPr>
          <p:cNvPr id="10" name="Slide Number Placeholder 9"/>
          <p:cNvSpPr>
            <a:spLocks noGrp="1"/>
          </p:cNvSpPr>
          <p:nvPr>
            <p:ph type="sldNum" sz="quarter" idx="12"/>
          </p:nvPr>
        </p:nvSpPr>
        <p:spPr/>
        <p:txBody>
          <a:bodyPr/>
          <a:lstStyle/>
          <a:p>
            <a:fld id="{485B8EB1-96CD-4D3C-9743-A1910A2E2312}" type="slidenum">
              <a:rPr lang="uk-UA" smtClean="0"/>
              <a:t>‹№›</a:t>
            </a:fld>
            <a:endParaRPr lang="uk-UA" dirty="0"/>
          </a:p>
        </p:txBody>
      </p:sp>
    </p:spTree>
    <p:extLst>
      <p:ext uri="{BB962C8B-B14F-4D97-AF65-F5344CB8AC3E}">
        <p14:creationId xmlns:p14="http://schemas.microsoft.com/office/powerpoint/2010/main" val="2847705385"/>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Порівняння">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smtClean="0"/>
              <a:t>Редагувати стиль зразка тексту</a:t>
            </a:r>
          </a:p>
        </p:txBody>
      </p:sp>
      <p:sp>
        <p:nvSpPr>
          <p:cNvPr id="4" name="Content Placeholder 3"/>
          <p:cNvSpPr>
            <a:spLocks noGrp="1"/>
          </p:cNvSpPr>
          <p:nvPr>
            <p:ph sz="half" idx="2"/>
          </p:nvPr>
        </p:nvSpPr>
        <p:spPr>
          <a:xfrm>
            <a:off x="1583436" y="3143250"/>
            <a:ext cx="4270248" cy="2596776"/>
          </a:xfrm>
        </p:spPr>
        <p:txBody>
          <a:bodyPr/>
          <a:lstStyle/>
          <a:p>
            <a:pPr lvl="0"/>
            <a:r>
              <a:rPr lang="uk-UA" smtClean="0"/>
              <a:t>Редагувати стиль зразка тексту</a:t>
            </a:r>
          </a:p>
          <a:p>
            <a:pPr lvl="1"/>
            <a:r>
              <a:rPr lang="uk-UA" smtClean="0"/>
              <a:t>Другий рівень</a:t>
            </a:r>
          </a:p>
          <a:p>
            <a:pPr lvl="2"/>
            <a:r>
              <a:rPr lang="uk-UA" smtClean="0"/>
              <a:t>Третій рівень</a:t>
            </a:r>
          </a:p>
          <a:p>
            <a:pPr lvl="3"/>
            <a:r>
              <a:rPr lang="uk-UA" smtClean="0"/>
              <a:t>Четвертий рівень</a:t>
            </a:r>
          </a:p>
          <a:p>
            <a:pPr lvl="4"/>
            <a:r>
              <a:rPr lang="uk-UA" smtClean="0"/>
              <a:t>П’ятий рівень</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uk-UA" smtClean="0"/>
              <a:t>Редагувати стиль зразка тексту</a:t>
            </a:r>
          </a:p>
          <a:p>
            <a:pPr lvl="1"/>
            <a:r>
              <a:rPr lang="uk-UA" smtClean="0"/>
              <a:t>Другий рівень</a:t>
            </a:r>
          </a:p>
          <a:p>
            <a:pPr lvl="2"/>
            <a:r>
              <a:rPr lang="uk-UA" smtClean="0"/>
              <a:t>Третій рівень</a:t>
            </a:r>
          </a:p>
          <a:p>
            <a:pPr lvl="3"/>
            <a:r>
              <a:rPr lang="uk-UA" smtClean="0"/>
              <a:t>Четвертий рівень</a:t>
            </a:r>
          </a:p>
          <a:p>
            <a:pPr lvl="4"/>
            <a:r>
              <a:rPr lang="uk-UA" smtClean="0"/>
              <a:t>П’ятий рівень</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smtClean="0"/>
              <a:t>Редагувати стиль зразка тексту</a:t>
            </a:r>
          </a:p>
        </p:txBody>
      </p:sp>
      <p:sp>
        <p:nvSpPr>
          <p:cNvPr id="7" name="Date Placeholder 6"/>
          <p:cNvSpPr>
            <a:spLocks noGrp="1"/>
          </p:cNvSpPr>
          <p:nvPr>
            <p:ph type="dt" sz="half" idx="10"/>
          </p:nvPr>
        </p:nvSpPr>
        <p:spPr/>
        <p:txBody>
          <a:bodyPr/>
          <a:lstStyle/>
          <a:p>
            <a:fld id="{0E2E7C29-7463-4424-81C3-15AAA2596F8B}" type="datetimeFigureOut">
              <a:rPr lang="uk-UA" smtClean="0"/>
              <a:t>18.03.2026</a:t>
            </a:fld>
            <a:endParaRPr lang="uk-UA" dirty="0"/>
          </a:p>
        </p:txBody>
      </p:sp>
      <p:sp>
        <p:nvSpPr>
          <p:cNvPr id="8" name="Footer Placeholder 7"/>
          <p:cNvSpPr>
            <a:spLocks noGrp="1"/>
          </p:cNvSpPr>
          <p:nvPr>
            <p:ph type="ftr" sz="quarter" idx="11"/>
          </p:nvPr>
        </p:nvSpPr>
        <p:spPr/>
        <p:txBody>
          <a:bodyPr/>
          <a:lstStyle/>
          <a:p>
            <a:endParaRPr lang="uk-UA" dirty="0"/>
          </a:p>
        </p:txBody>
      </p:sp>
      <p:sp>
        <p:nvSpPr>
          <p:cNvPr id="9" name="Slide Number Placeholder 8"/>
          <p:cNvSpPr>
            <a:spLocks noGrp="1"/>
          </p:cNvSpPr>
          <p:nvPr>
            <p:ph type="sldNum" sz="quarter" idx="12"/>
          </p:nvPr>
        </p:nvSpPr>
        <p:spPr/>
        <p:txBody>
          <a:bodyPr/>
          <a:lstStyle/>
          <a:p>
            <a:fld id="{485B8EB1-96CD-4D3C-9743-A1910A2E2312}" type="slidenum">
              <a:rPr lang="uk-UA" smtClean="0"/>
              <a:t>‹№›</a:t>
            </a:fld>
            <a:endParaRPr lang="uk-UA" dirty="0"/>
          </a:p>
        </p:txBody>
      </p:sp>
      <p:sp>
        <p:nvSpPr>
          <p:cNvPr id="10" name="Title 9"/>
          <p:cNvSpPr>
            <a:spLocks noGrp="1"/>
          </p:cNvSpPr>
          <p:nvPr>
            <p:ph type="title"/>
          </p:nvPr>
        </p:nvSpPr>
        <p:spPr/>
        <p:txBody>
          <a:bodyPr/>
          <a:lstStyle/>
          <a:p>
            <a:r>
              <a:rPr lang="uk-UA" smtClean="0"/>
              <a:t>Зразок заголовка</a:t>
            </a:r>
            <a:endParaRPr lang="en-US" dirty="0"/>
          </a:p>
        </p:txBody>
      </p:sp>
    </p:spTree>
    <p:extLst>
      <p:ext uri="{BB962C8B-B14F-4D97-AF65-F5344CB8AC3E}">
        <p14:creationId xmlns:p14="http://schemas.microsoft.com/office/powerpoint/2010/main" val="1007813940"/>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Лише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smtClean="0"/>
              <a:t>Зразок заголовка</a:t>
            </a:r>
            <a:endParaRPr lang="en-US" dirty="0"/>
          </a:p>
        </p:txBody>
      </p:sp>
      <p:sp>
        <p:nvSpPr>
          <p:cNvPr id="3" name="Date Placeholder 2"/>
          <p:cNvSpPr>
            <a:spLocks noGrp="1"/>
          </p:cNvSpPr>
          <p:nvPr>
            <p:ph type="dt" sz="half" idx="10"/>
          </p:nvPr>
        </p:nvSpPr>
        <p:spPr/>
        <p:txBody>
          <a:bodyPr/>
          <a:lstStyle/>
          <a:p>
            <a:fld id="{0E2E7C29-7463-4424-81C3-15AAA2596F8B}" type="datetimeFigureOut">
              <a:rPr lang="uk-UA" smtClean="0"/>
              <a:t>18.03.2026</a:t>
            </a:fld>
            <a:endParaRPr lang="uk-UA" dirty="0"/>
          </a:p>
        </p:txBody>
      </p:sp>
      <p:sp>
        <p:nvSpPr>
          <p:cNvPr id="4" name="Footer Placeholder 3"/>
          <p:cNvSpPr>
            <a:spLocks noGrp="1"/>
          </p:cNvSpPr>
          <p:nvPr>
            <p:ph type="ftr" sz="quarter" idx="11"/>
          </p:nvPr>
        </p:nvSpPr>
        <p:spPr/>
        <p:txBody>
          <a:bodyPr/>
          <a:lstStyle/>
          <a:p>
            <a:endParaRPr lang="uk-UA" dirty="0"/>
          </a:p>
        </p:txBody>
      </p:sp>
      <p:sp>
        <p:nvSpPr>
          <p:cNvPr id="5" name="Slide Number Placeholder 4"/>
          <p:cNvSpPr>
            <a:spLocks noGrp="1"/>
          </p:cNvSpPr>
          <p:nvPr>
            <p:ph type="sldNum" sz="quarter" idx="12"/>
          </p:nvPr>
        </p:nvSpPr>
        <p:spPr/>
        <p:txBody>
          <a:bodyPr/>
          <a:lstStyle/>
          <a:p>
            <a:fld id="{485B8EB1-96CD-4D3C-9743-A1910A2E2312}" type="slidenum">
              <a:rPr lang="uk-UA" smtClean="0"/>
              <a:t>‹№›</a:t>
            </a:fld>
            <a:endParaRPr lang="uk-UA" dirty="0"/>
          </a:p>
        </p:txBody>
      </p:sp>
    </p:spTree>
    <p:extLst>
      <p:ext uri="{BB962C8B-B14F-4D97-AF65-F5344CB8AC3E}">
        <p14:creationId xmlns:p14="http://schemas.microsoft.com/office/powerpoint/2010/main" val="2648835384"/>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и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2E7C29-7463-4424-81C3-15AAA2596F8B}" type="datetimeFigureOut">
              <a:rPr lang="uk-UA" smtClean="0"/>
              <a:t>18.03.2026</a:t>
            </a:fld>
            <a:endParaRPr lang="uk-UA" dirty="0"/>
          </a:p>
        </p:txBody>
      </p:sp>
      <p:sp>
        <p:nvSpPr>
          <p:cNvPr id="3" name="Footer Placeholder 2"/>
          <p:cNvSpPr>
            <a:spLocks noGrp="1"/>
          </p:cNvSpPr>
          <p:nvPr>
            <p:ph type="ftr" sz="quarter" idx="11"/>
          </p:nvPr>
        </p:nvSpPr>
        <p:spPr/>
        <p:txBody>
          <a:bodyPr/>
          <a:lstStyle/>
          <a:p>
            <a:endParaRPr lang="uk-UA" dirty="0"/>
          </a:p>
        </p:txBody>
      </p:sp>
      <p:sp>
        <p:nvSpPr>
          <p:cNvPr id="4" name="Slide Number Placeholder 3"/>
          <p:cNvSpPr>
            <a:spLocks noGrp="1"/>
          </p:cNvSpPr>
          <p:nvPr>
            <p:ph type="sldNum" sz="quarter" idx="12"/>
          </p:nvPr>
        </p:nvSpPr>
        <p:spPr/>
        <p:txBody>
          <a:bodyPr/>
          <a:lstStyle/>
          <a:p>
            <a:fld id="{485B8EB1-96CD-4D3C-9743-A1910A2E2312}" type="slidenum">
              <a:rPr lang="uk-UA" smtClean="0"/>
              <a:t>‹№›</a:t>
            </a:fld>
            <a:endParaRPr lang="uk-UA" dirty="0"/>
          </a:p>
        </p:txBody>
      </p:sp>
    </p:spTree>
    <p:extLst>
      <p:ext uri="{BB962C8B-B14F-4D97-AF65-F5344CB8AC3E}">
        <p14:creationId xmlns:p14="http://schemas.microsoft.com/office/powerpoint/2010/main" val="1569092674"/>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Вміст із підписом">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uk-UA" smtClean="0"/>
              <a:t>Зразок заголовка</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uk-UA" smtClean="0"/>
              <a:t>Редагувати стиль зразка тексту</a:t>
            </a:r>
          </a:p>
          <a:p>
            <a:pPr lvl="1"/>
            <a:r>
              <a:rPr lang="uk-UA" smtClean="0"/>
              <a:t>Другий рівень</a:t>
            </a:r>
          </a:p>
          <a:p>
            <a:pPr lvl="2"/>
            <a:r>
              <a:rPr lang="uk-UA" smtClean="0"/>
              <a:t>Третій рівень</a:t>
            </a:r>
          </a:p>
          <a:p>
            <a:pPr lvl="3"/>
            <a:r>
              <a:rPr lang="uk-UA" smtClean="0"/>
              <a:t>Четвертий рівень</a:t>
            </a:r>
          </a:p>
          <a:p>
            <a:pPr lvl="4"/>
            <a:r>
              <a:rPr lang="uk-UA" smtClean="0"/>
              <a:t>П’ятий рівень</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smtClean="0"/>
              <a:t>Редагувати стиль зразка тексту</a:t>
            </a:r>
          </a:p>
        </p:txBody>
      </p:sp>
      <p:sp>
        <p:nvSpPr>
          <p:cNvPr id="9" name="Date Placeholder 8"/>
          <p:cNvSpPr>
            <a:spLocks noGrp="1"/>
          </p:cNvSpPr>
          <p:nvPr>
            <p:ph type="dt" sz="half" idx="10"/>
          </p:nvPr>
        </p:nvSpPr>
        <p:spPr/>
        <p:txBody>
          <a:bodyPr/>
          <a:lstStyle/>
          <a:p>
            <a:fld id="{0E2E7C29-7463-4424-81C3-15AAA2596F8B}" type="datetimeFigureOut">
              <a:rPr lang="uk-UA" smtClean="0"/>
              <a:t>18.03.2026</a:t>
            </a:fld>
            <a:endParaRPr lang="uk-UA"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uk-UA" dirty="0"/>
          </a:p>
        </p:txBody>
      </p:sp>
      <p:sp>
        <p:nvSpPr>
          <p:cNvPr id="11" name="Slide Number Placeholder 10"/>
          <p:cNvSpPr>
            <a:spLocks noGrp="1"/>
          </p:cNvSpPr>
          <p:nvPr>
            <p:ph type="sldNum" sz="quarter" idx="12"/>
          </p:nvPr>
        </p:nvSpPr>
        <p:spPr/>
        <p:txBody>
          <a:bodyPr/>
          <a:lstStyle/>
          <a:p>
            <a:fld id="{485B8EB1-96CD-4D3C-9743-A1910A2E2312}" type="slidenum">
              <a:rPr lang="uk-UA" smtClean="0"/>
              <a:t>‹№›</a:t>
            </a:fld>
            <a:endParaRPr lang="uk-UA" dirty="0"/>
          </a:p>
        </p:txBody>
      </p:sp>
    </p:spTree>
    <p:extLst>
      <p:ext uri="{BB962C8B-B14F-4D97-AF65-F5344CB8AC3E}">
        <p14:creationId xmlns:p14="http://schemas.microsoft.com/office/powerpoint/2010/main" val="2245601836"/>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Зображення з підписом">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uk-UA" smtClean="0"/>
              <a:t>Зразок заголовка</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uk-UA" dirty="0" smtClean="0"/>
              <a:t>Клацніть піктограму, щоб додати зображення</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smtClean="0"/>
              <a:t>Редагувати стиль зразка тексту</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E2E7C29-7463-4424-81C3-15AAA2596F8B}" type="datetimeFigureOut">
              <a:rPr lang="uk-UA" smtClean="0"/>
              <a:t>18.03.2026</a:t>
            </a:fld>
            <a:endParaRPr lang="uk-UA"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uk-UA" dirty="0"/>
          </a:p>
        </p:txBody>
      </p:sp>
      <p:sp>
        <p:nvSpPr>
          <p:cNvPr id="10" name="Slide Number Placeholder 9"/>
          <p:cNvSpPr>
            <a:spLocks noGrp="1"/>
          </p:cNvSpPr>
          <p:nvPr>
            <p:ph type="sldNum" sz="quarter" idx="12"/>
          </p:nvPr>
        </p:nvSpPr>
        <p:spPr/>
        <p:txBody>
          <a:bodyPr/>
          <a:lstStyle/>
          <a:p>
            <a:fld id="{485B8EB1-96CD-4D3C-9743-A1910A2E2312}" type="slidenum">
              <a:rPr lang="uk-UA" smtClean="0"/>
              <a:t>‹№›</a:t>
            </a:fld>
            <a:endParaRPr lang="uk-UA" dirty="0"/>
          </a:p>
        </p:txBody>
      </p:sp>
    </p:spTree>
    <p:extLst>
      <p:ext uri="{BB962C8B-B14F-4D97-AF65-F5344CB8AC3E}">
        <p14:creationId xmlns:p14="http://schemas.microsoft.com/office/powerpoint/2010/main" val="1708205786"/>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і вертикальни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smtClean="0"/>
              <a:t>Зразок заголовка</a:t>
            </a:r>
            <a:endParaRPr lang="en-US" dirty="0"/>
          </a:p>
        </p:txBody>
      </p:sp>
      <p:sp>
        <p:nvSpPr>
          <p:cNvPr id="3" name="Vertical Text Placeholder 2"/>
          <p:cNvSpPr>
            <a:spLocks noGrp="1"/>
          </p:cNvSpPr>
          <p:nvPr>
            <p:ph type="body" orient="vert" idx="1"/>
          </p:nvPr>
        </p:nvSpPr>
        <p:spPr/>
        <p:txBody>
          <a:bodyPr vert="eaVert"/>
          <a:lstStyle/>
          <a:p>
            <a:pPr lvl="0"/>
            <a:r>
              <a:rPr lang="uk-UA" smtClean="0"/>
              <a:t>Редагувати стиль зразка тексту</a:t>
            </a:r>
          </a:p>
          <a:p>
            <a:pPr lvl="1"/>
            <a:r>
              <a:rPr lang="uk-UA" smtClean="0"/>
              <a:t>Другий рівень</a:t>
            </a:r>
          </a:p>
          <a:p>
            <a:pPr lvl="2"/>
            <a:r>
              <a:rPr lang="uk-UA" smtClean="0"/>
              <a:t>Третій рівень</a:t>
            </a:r>
          </a:p>
          <a:p>
            <a:pPr lvl="3"/>
            <a:r>
              <a:rPr lang="uk-UA" smtClean="0"/>
              <a:t>Четвертий рівень</a:t>
            </a:r>
          </a:p>
          <a:p>
            <a:pPr lvl="4"/>
            <a:r>
              <a:rPr lang="uk-UA" smtClean="0"/>
              <a:t>П’ятий рівень</a:t>
            </a:r>
            <a:endParaRPr lang="en-US" dirty="0"/>
          </a:p>
        </p:txBody>
      </p:sp>
      <p:sp>
        <p:nvSpPr>
          <p:cNvPr id="4" name="Date Placeholder 3"/>
          <p:cNvSpPr>
            <a:spLocks noGrp="1"/>
          </p:cNvSpPr>
          <p:nvPr>
            <p:ph type="dt" sz="half" idx="10"/>
          </p:nvPr>
        </p:nvSpPr>
        <p:spPr/>
        <p:txBody>
          <a:bodyPr/>
          <a:lstStyle/>
          <a:p>
            <a:fld id="{0E2E7C29-7463-4424-81C3-15AAA2596F8B}" type="datetimeFigureOut">
              <a:rPr lang="uk-UA" smtClean="0"/>
              <a:t>18.03.2026</a:t>
            </a:fld>
            <a:endParaRPr lang="uk-UA" dirty="0"/>
          </a:p>
        </p:txBody>
      </p:sp>
      <p:sp>
        <p:nvSpPr>
          <p:cNvPr id="5" name="Footer Placeholder 4"/>
          <p:cNvSpPr>
            <a:spLocks noGrp="1"/>
          </p:cNvSpPr>
          <p:nvPr>
            <p:ph type="ftr" sz="quarter" idx="11"/>
          </p:nvPr>
        </p:nvSpPr>
        <p:spPr/>
        <p:txBody>
          <a:bodyPr/>
          <a:lstStyle/>
          <a:p>
            <a:endParaRPr lang="uk-UA" dirty="0"/>
          </a:p>
        </p:txBody>
      </p:sp>
      <p:sp>
        <p:nvSpPr>
          <p:cNvPr id="6" name="Slide Number Placeholder 5"/>
          <p:cNvSpPr>
            <a:spLocks noGrp="1"/>
          </p:cNvSpPr>
          <p:nvPr>
            <p:ph type="sldNum" sz="quarter" idx="12"/>
          </p:nvPr>
        </p:nvSpPr>
        <p:spPr/>
        <p:txBody>
          <a:bodyPr/>
          <a:lstStyle/>
          <a:p>
            <a:fld id="{485B8EB1-96CD-4D3C-9743-A1910A2E2312}" type="slidenum">
              <a:rPr lang="uk-UA" smtClean="0"/>
              <a:t>‹№›</a:t>
            </a:fld>
            <a:endParaRPr lang="uk-UA" dirty="0"/>
          </a:p>
        </p:txBody>
      </p:sp>
    </p:spTree>
    <p:extLst>
      <p:ext uri="{BB962C8B-B14F-4D97-AF65-F5344CB8AC3E}">
        <p14:creationId xmlns:p14="http://schemas.microsoft.com/office/powerpoint/2010/main" val="2687108547"/>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ий заголовок і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uk-UA" smtClean="0"/>
              <a:t>Зразок заголовка</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uk-UA" smtClean="0"/>
              <a:t>Редагувати стиль зразка тексту</a:t>
            </a:r>
          </a:p>
          <a:p>
            <a:pPr lvl="1"/>
            <a:r>
              <a:rPr lang="uk-UA" smtClean="0"/>
              <a:t>Другий рівень</a:t>
            </a:r>
          </a:p>
          <a:p>
            <a:pPr lvl="2"/>
            <a:r>
              <a:rPr lang="uk-UA" smtClean="0"/>
              <a:t>Третій рівень</a:t>
            </a:r>
          </a:p>
          <a:p>
            <a:pPr lvl="3"/>
            <a:r>
              <a:rPr lang="uk-UA" smtClean="0"/>
              <a:t>Четвертий рівень</a:t>
            </a:r>
          </a:p>
          <a:p>
            <a:pPr lvl="4"/>
            <a:r>
              <a:rPr lang="uk-UA" smtClean="0"/>
              <a:t>П’ятий рівень</a:t>
            </a:r>
            <a:endParaRPr lang="en-US" dirty="0"/>
          </a:p>
        </p:txBody>
      </p:sp>
      <p:sp>
        <p:nvSpPr>
          <p:cNvPr id="4" name="Date Placeholder 3"/>
          <p:cNvSpPr>
            <a:spLocks noGrp="1"/>
          </p:cNvSpPr>
          <p:nvPr>
            <p:ph type="dt" sz="half" idx="10"/>
          </p:nvPr>
        </p:nvSpPr>
        <p:spPr/>
        <p:txBody>
          <a:bodyPr/>
          <a:lstStyle/>
          <a:p>
            <a:fld id="{0E2E7C29-7463-4424-81C3-15AAA2596F8B}" type="datetimeFigureOut">
              <a:rPr lang="uk-UA" smtClean="0"/>
              <a:t>18.03.2026</a:t>
            </a:fld>
            <a:endParaRPr lang="uk-UA" dirty="0"/>
          </a:p>
        </p:txBody>
      </p:sp>
      <p:sp>
        <p:nvSpPr>
          <p:cNvPr id="5" name="Footer Placeholder 4"/>
          <p:cNvSpPr>
            <a:spLocks noGrp="1"/>
          </p:cNvSpPr>
          <p:nvPr>
            <p:ph type="ftr" sz="quarter" idx="11"/>
          </p:nvPr>
        </p:nvSpPr>
        <p:spPr/>
        <p:txBody>
          <a:bodyPr/>
          <a:lstStyle/>
          <a:p>
            <a:endParaRPr lang="uk-UA" dirty="0"/>
          </a:p>
        </p:txBody>
      </p:sp>
      <p:sp>
        <p:nvSpPr>
          <p:cNvPr id="6" name="Slide Number Placeholder 5"/>
          <p:cNvSpPr>
            <a:spLocks noGrp="1"/>
          </p:cNvSpPr>
          <p:nvPr>
            <p:ph type="sldNum" sz="quarter" idx="12"/>
          </p:nvPr>
        </p:nvSpPr>
        <p:spPr/>
        <p:txBody>
          <a:bodyPr/>
          <a:lstStyle/>
          <a:p>
            <a:fld id="{485B8EB1-96CD-4D3C-9743-A1910A2E2312}" type="slidenum">
              <a:rPr lang="uk-UA" smtClean="0"/>
              <a:t>‹№›</a:t>
            </a:fld>
            <a:endParaRPr lang="uk-UA" dirty="0"/>
          </a:p>
        </p:txBody>
      </p:sp>
    </p:spTree>
    <p:extLst>
      <p:ext uri="{BB962C8B-B14F-4D97-AF65-F5344CB8AC3E}">
        <p14:creationId xmlns:p14="http://schemas.microsoft.com/office/powerpoint/2010/main" val="4265037422"/>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uk-UA" smtClean="0"/>
              <a:t>Зразок заголовка</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0E2E7C29-7463-4424-81C3-15AAA2596F8B}" type="datetimeFigureOut">
              <a:rPr lang="uk-UA" smtClean="0"/>
              <a:t>18.03.2026</a:t>
            </a:fld>
            <a:endParaRPr lang="uk-UA"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uk-UA"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485B8EB1-96CD-4D3C-9743-A1910A2E2312}" type="slidenum">
              <a:rPr lang="uk-UA" smtClean="0"/>
              <a:t>‹№›</a:t>
            </a:fld>
            <a:endParaRPr lang="uk-UA" dirty="0"/>
          </a:p>
        </p:txBody>
      </p:sp>
    </p:spTree>
    <p:extLst>
      <p:ext uri="{BB962C8B-B14F-4D97-AF65-F5344CB8AC3E}">
        <p14:creationId xmlns:p14="http://schemas.microsoft.com/office/powerpoint/2010/main" val="376696294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mc:AlternateContent xmlns:mc="http://schemas.openxmlformats.org/markup-compatibility/2006">
    <mc:Choice xmlns:p14="http://schemas.microsoft.com/office/powerpoint/2010/main" Requires="p14">
      <p:transition p14:dur="400">
        <p:fade/>
      </p:transition>
    </mc:Choice>
    <mc:Fallback>
      <p:transition>
        <p:fade/>
      </p:transition>
    </mc:Fallback>
  </mc:AlternateConten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5568778" y="2270469"/>
            <a:ext cx="6450227" cy="2317062"/>
          </a:xfrm>
        </p:spPr>
        <p:txBody>
          <a:bodyPr>
            <a:normAutofit/>
          </a:bodyPr>
          <a:lstStyle/>
          <a:p>
            <a:r>
              <a:rPr lang="uk-UA" dirty="0" smtClean="0"/>
              <a:t>Галілео галілей та роль його відкриттів.</a:t>
            </a:r>
            <a:endParaRPr lang="uk-UA" dirty="0"/>
          </a:p>
        </p:txBody>
      </p:sp>
      <p:sp>
        <p:nvSpPr>
          <p:cNvPr id="3" name="Підзаголовок 2"/>
          <p:cNvSpPr>
            <a:spLocks noGrp="1"/>
          </p:cNvSpPr>
          <p:nvPr>
            <p:ph type="subTitle" idx="1"/>
          </p:nvPr>
        </p:nvSpPr>
        <p:spPr>
          <a:xfrm>
            <a:off x="9111047" y="4706771"/>
            <a:ext cx="2907958" cy="680775"/>
          </a:xfrm>
        </p:spPr>
        <p:txBody>
          <a:bodyPr>
            <a:normAutofit fontScale="70000" lnSpcReduction="20000"/>
          </a:bodyPr>
          <a:lstStyle/>
          <a:p>
            <a:r>
              <a:rPr lang="uk-UA" dirty="0" smtClean="0"/>
              <a:t>Виконала студентка групи ІПС-32</a:t>
            </a:r>
          </a:p>
          <a:p>
            <a:r>
              <a:rPr lang="uk-UA" dirty="0" smtClean="0"/>
              <a:t>Челушкіна Валерія</a:t>
            </a:r>
            <a:endParaRPr lang="uk-UA" dirty="0"/>
          </a:p>
        </p:txBody>
      </p:sp>
      <p:pic>
        <p:nvPicPr>
          <p:cNvPr id="6" name="Рисунок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5396459" cy="6858000"/>
          </a:xfrm>
          <a:prstGeom prst="rect">
            <a:avLst/>
          </a:prstGeom>
        </p:spPr>
      </p:pic>
    </p:spTree>
    <p:extLst>
      <p:ext uri="{BB962C8B-B14F-4D97-AF65-F5344CB8AC3E}">
        <p14:creationId xmlns:p14="http://schemas.microsoft.com/office/powerpoint/2010/main" val="1354361423"/>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231136" y="149146"/>
            <a:ext cx="7729728" cy="707589"/>
          </a:xfrm>
        </p:spPr>
        <p:txBody>
          <a:bodyPr>
            <a:normAutofit fontScale="90000"/>
          </a:bodyPr>
          <a:lstStyle/>
          <a:p>
            <a:r>
              <a:rPr lang="uk-UA" dirty="0" smtClean="0"/>
              <a:t>Вступ.</a:t>
            </a:r>
            <a:endParaRPr lang="uk-UA" dirty="0"/>
          </a:p>
        </p:txBody>
      </p:sp>
      <p:sp>
        <p:nvSpPr>
          <p:cNvPr id="3" name="Місце для вмісту 2"/>
          <p:cNvSpPr>
            <a:spLocks noGrp="1"/>
          </p:cNvSpPr>
          <p:nvPr>
            <p:ph idx="1"/>
          </p:nvPr>
        </p:nvSpPr>
        <p:spPr>
          <a:xfrm>
            <a:off x="362465" y="947351"/>
            <a:ext cx="5857103" cy="5692346"/>
          </a:xfrm>
        </p:spPr>
        <p:txBody>
          <a:bodyPr/>
          <a:lstStyle/>
          <a:p>
            <a:r>
              <a:rPr lang="uk-UA" dirty="0" smtClean="0"/>
              <a:t>Галілео Галілей </a:t>
            </a:r>
            <a:r>
              <a:rPr lang="ru-RU" dirty="0" smtClean="0"/>
              <a:t>— </a:t>
            </a:r>
            <a:r>
              <a:rPr lang="ru-RU" dirty="0"/>
              <a:t>італійський натурфілософ, астроном і математик, який зробив фундаментальний внесок у науки про рух, астрономію та міцність </a:t>
            </a:r>
            <a:r>
              <a:rPr lang="ru-RU" dirty="0" err="1"/>
              <a:t>матеріалів</a:t>
            </a:r>
            <a:r>
              <a:rPr lang="ru-RU" dirty="0"/>
              <a:t>, а </a:t>
            </a:r>
            <a:r>
              <a:rPr lang="ru-RU" dirty="0" err="1"/>
              <a:t>також</a:t>
            </a:r>
            <a:r>
              <a:rPr lang="ru-RU" dirty="0"/>
              <a:t> у </a:t>
            </a:r>
            <a:r>
              <a:rPr lang="ru-RU" dirty="0" err="1"/>
              <a:t>розвиток</a:t>
            </a:r>
            <a:r>
              <a:rPr lang="ru-RU" dirty="0"/>
              <a:t> </a:t>
            </a:r>
            <a:r>
              <a:rPr lang="ru-RU" dirty="0" err="1"/>
              <a:t>наукового</a:t>
            </a:r>
            <a:r>
              <a:rPr lang="ru-RU" dirty="0"/>
              <a:t> </a:t>
            </a:r>
            <a:r>
              <a:rPr lang="ru-RU" dirty="0" smtClean="0"/>
              <a:t>методу.</a:t>
            </a:r>
            <a:endParaRPr lang="en-US" dirty="0" smtClean="0"/>
          </a:p>
          <a:p>
            <a:r>
              <a:rPr lang="ru-RU" dirty="0" err="1"/>
              <a:t>Його</a:t>
            </a:r>
            <a:r>
              <a:rPr lang="ru-RU" dirty="0"/>
              <a:t> </a:t>
            </a:r>
            <a:r>
              <a:rPr lang="ru-RU" dirty="0" err="1"/>
              <a:t>формулювання</a:t>
            </a:r>
            <a:r>
              <a:rPr lang="ru-RU" dirty="0"/>
              <a:t> (</a:t>
            </a:r>
            <a:r>
              <a:rPr lang="ru-RU" dirty="0" err="1"/>
              <a:t>кругової</a:t>
            </a:r>
            <a:r>
              <a:rPr lang="ru-RU" dirty="0"/>
              <a:t>) </a:t>
            </a:r>
            <a:r>
              <a:rPr lang="ru-RU" dirty="0" err="1"/>
              <a:t>інерції</a:t>
            </a:r>
            <a:r>
              <a:rPr lang="ru-RU" dirty="0"/>
              <a:t>, закону </a:t>
            </a:r>
            <a:r>
              <a:rPr lang="ru-RU" dirty="0" err="1"/>
              <a:t>падіння</a:t>
            </a:r>
            <a:r>
              <a:rPr lang="ru-RU" dirty="0"/>
              <a:t> </a:t>
            </a:r>
            <a:r>
              <a:rPr lang="ru-RU" dirty="0" err="1"/>
              <a:t>тіл</a:t>
            </a:r>
            <a:r>
              <a:rPr lang="ru-RU" dirty="0"/>
              <a:t> та </a:t>
            </a:r>
            <a:r>
              <a:rPr lang="ru-RU" dirty="0" err="1"/>
              <a:t>параболічних</a:t>
            </a:r>
            <a:r>
              <a:rPr lang="ru-RU" dirty="0"/>
              <a:t> </a:t>
            </a:r>
            <a:r>
              <a:rPr lang="ru-RU" dirty="0" err="1"/>
              <a:t>траєкторій</a:t>
            </a:r>
            <a:r>
              <a:rPr lang="ru-RU" dirty="0"/>
              <a:t> </a:t>
            </a:r>
            <a:r>
              <a:rPr lang="ru-RU" dirty="0" err="1"/>
              <a:t>ознаменувало</a:t>
            </a:r>
            <a:r>
              <a:rPr lang="ru-RU" dirty="0"/>
              <a:t> початок </a:t>
            </a:r>
            <a:r>
              <a:rPr lang="ru-RU" dirty="0" err="1"/>
              <a:t>фундаментальних</a:t>
            </a:r>
            <a:r>
              <a:rPr lang="ru-RU" dirty="0"/>
              <a:t> </a:t>
            </a:r>
            <a:r>
              <a:rPr lang="ru-RU" dirty="0" err="1"/>
              <a:t>змін</a:t>
            </a:r>
            <a:r>
              <a:rPr lang="ru-RU" dirty="0"/>
              <a:t> у </a:t>
            </a:r>
            <a:r>
              <a:rPr lang="ru-RU" dirty="0" err="1"/>
              <a:t>вивченні</a:t>
            </a:r>
            <a:r>
              <a:rPr lang="ru-RU" dirty="0"/>
              <a:t> </a:t>
            </a:r>
            <a:r>
              <a:rPr lang="ru-RU" dirty="0" err="1"/>
              <a:t>руху</a:t>
            </a:r>
            <a:r>
              <a:rPr lang="ru-RU" dirty="0"/>
              <a:t>. </a:t>
            </a:r>
            <a:r>
              <a:rPr lang="ru-RU" dirty="0" err="1"/>
              <a:t>Його</a:t>
            </a:r>
            <a:r>
              <a:rPr lang="ru-RU" dirty="0"/>
              <a:t> </a:t>
            </a:r>
            <a:r>
              <a:rPr lang="ru-RU" dirty="0" err="1"/>
              <a:t>наполягання</a:t>
            </a:r>
            <a:r>
              <a:rPr lang="ru-RU" dirty="0"/>
              <a:t> на тому, що книга </a:t>
            </a:r>
            <a:r>
              <a:rPr lang="ru-RU" dirty="0" err="1"/>
              <a:t>природи</a:t>
            </a:r>
            <a:r>
              <a:rPr lang="ru-RU" dirty="0"/>
              <a:t> написана </a:t>
            </a:r>
            <a:r>
              <a:rPr lang="ru-RU" dirty="0" err="1"/>
              <a:t>мовою</a:t>
            </a:r>
            <a:r>
              <a:rPr lang="ru-RU" dirty="0"/>
              <a:t> математики, </a:t>
            </a:r>
            <a:r>
              <a:rPr lang="ru-RU" dirty="0" err="1"/>
              <a:t>змінило</a:t>
            </a:r>
            <a:r>
              <a:rPr lang="ru-RU" dirty="0"/>
              <a:t> </a:t>
            </a:r>
            <a:r>
              <a:rPr lang="ru-RU" dirty="0" err="1"/>
              <a:t>натурфілософію</a:t>
            </a:r>
            <a:r>
              <a:rPr lang="ru-RU" dirty="0"/>
              <a:t> </a:t>
            </a:r>
            <a:r>
              <a:rPr lang="ru-RU" dirty="0" err="1"/>
              <a:t>від</a:t>
            </a:r>
            <a:r>
              <a:rPr lang="ru-RU" dirty="0"/>
              <a:t> словесного, </a:t>
            </a:r>
            <a:r>
              <a:rPr lang="ru-RU" dirty="0" err="1"/>
              <a:t>якісного</a:t>
            </a:r>
            <a:r>
              <a:rPr lang="ru-RU" dirty="0"/>
              <a:t> </a:t>
            </a:r>
            <a:r>
              <a:rPr lang="ru-RU" dirty="0" err="1"/>
              <a:t>пояснення</a:t>
            </a:r>
            <a:r>
              <a:rPr lang="ru-RU" dirty="0"/>
              <a:t> до </a:t>
            </a:r>
            <a:r>
              <a:rPr lang="ru-RU" dirty="0" err="1"/>
              <a:t>математичного</a:t>
            </a:r>
            <a:r>
              <a:rPr lang="ru-RU" dirty="0"/>
              <a:t>, в </a:t>
            </a:r>
            <a:r>
              <a:rPr lang="ru-RU" dirty="0" err="1"/>
              <a:t>якому</a:t>
            </a:r>
            <a:r>
              <a:rPr lang="ru-RU" dirty="0"/>
              <a:t> </a:t>
            </a:r>
            <a:r>
              <a:rPr lang="ru-RU" dirty="0" err="1"/>
              <a:t>експериментування</a:t>
            </a:r>
            <a:r>
              <a:rPr lang="ru-RU" dirty="0"/>
              <a:t> стало </a:t>
            </a:r>
            <a:r>
              <a:rPr lang="ru-RU" dirty="0" err="1"/>
              <a:t>визнаним</a:t>
            </a:r>
            <a:r>
              <a:rPr lang="ru-RU" dirty="0"/>
              <a:t> методом </a:t>
            </a:r>
            <a:r>
              <a:rPr lang="ru-RU" dirty="0" err="1"/>
              <a:t>виявлення</a:t>
            </a:r>
            <a:r>
              <a:rPr lang="ru-RU" dirty="0"/>
              <a:t> </a:t>
            </a:r>
            <a:r>
              <a:rPr lang="ru-RU" dirty="0" err="1"/>
              <a:t>фактів</a:t>
            </a:r>
            <a:r>
              <a:rPr lang="ru-RU" dirty="0"/>
              <a:t> </a:t>
            </a:r>
            <a:r>
              <a:rPr lang="ru-RU" dirty="0" err="1"/>
              <a:t>природи</a:t>
            </a:r>
            <a:r>
              <a:rPr lang="ru-RU" dirty="0"/>
              <a:t>. </a:t>
            </a:r>
            <a:r>
              <a:rPr lang="ru-RU" dirty="0" err="1"/>
              <a:t>Зрештою</a:t>
            </a:r>
            <a:r>
              <a:rPr lang="ru-RU" dirty="0"/>
              <a:t>, </a:t>
            </a:r>
            <a:r>
              <a:rPr lang="ru-RU" dirty="0" err="1"/>
              <a:t>його</a:t>
            </a:r>
            <a:r>
              <a:rPr lang="ru-RU" dirty="0"/>
              <a:t> </a:t>
            </a:r>
            <a:r>
              <a:rPr lang="ru-RU" dirty="0" err="1"/>
              <a:t>відкриття</a:t>
            </a:r>
            <a:r>
              <a:rPr lang="ru-RU" dirty="0"/>
              <a:t> за </a:t>
            </a:r>
            <a:r>
              <a:rPr lang="ru-RU" dirty="0" err="1"/>
              <a:t>допомогою</a:t>
            </a:r>
            <a:r>
              <a:rPr lang="ru-RU" dirty="0"/>
              <a:t> телескопа </a:t>
            </a:r>
            <a:r>
              <a:rPr lang="ru-RU" dirty="0" err="1"/>
              <a:t>революціонізували</a:t>
            </a:r>
            <a:r>
              <a:rPr lang="ru-RU" dirty="0"/>
              <a:t> астрономію та </a:t>
            </a:r>
            <a:r>
              <a:rPr lang="ru-RU" dirty="0" err="1"/>
              <a:t>проклали</a:t>
            </a:r>
            <a:r>
              <a:rPr lang="ru-RU" dirty="0"/>
              <a:t> шлях для </a:t>
            </a:r>
            <a:r>
              <a:rPr lang="ru-RU" dirty="0" err="1"/>
              <a:t>прийняття</a:t>
            </a:r>
            <a:r>
              <a:rPr lang="ru-RU" dirty="0"/>
              <a:t> </a:t>
            </a:r>
            <a:r>
              <a:rPr lang="ru-RU" dirty="0" err="1"/>
              <a:t>геліоцентричної</a:t>
            </a:r>
            <a:r>
              <a:rPr lang="ru-RU" dirty="0"/>
              <a:t> </a:t>
            </a:r>
            <a:r>
              <a:rPr lang="ru-RU" dirty="0" err="1"/>
              <a:t>системи</a:t>
            </a:r>
            <a:r>
              <a:rPr lang="ru-RU" dirty="0"/>
              <a:t> Коперника, але </a:t>
            </a:r>
            <a:r>
              <a:rPr lang="ru-RU" dirty="0" err="1"/>
              <a:t>його</a:t>
            </a:r>
            <a:r>
              <a:rPr lang="ru-RU" dirty="0"/>
              <a:t> </a:t>
            </a:r>
            <a:r>
              <a:rPr lang="ru-RU" dirty="0" err="1"/>
              <a:t>захист</a:t>
            </a:r>
            <a:r>
              <a:rPr lang="ru-RU" dirty="0"/>
              <a:t> </a:t>
            </a:r>
            <a:r>
              <a:rPr lang="ru-RU" dirty="0" err="1"/>
              <a:t>цієї</a:t>
            </a:r>
            <a:r>
              <a:rPr lang="ru-RU" dirty="0"/>
              <a:t> </a:t>
            </a:r>
            <a:r>
              <a:rPr lang="ru-RU" dirty="0" err="1"/>
              <a:t>системи</a:t>
            </a:r>
            <a:r>
              <a:rPr lang="ru-RU" dirty="0"/>
              <a:t> </a:t>
            </a:r>
            <a:r>
              <a:rPr lang="ru-RU" dirty="0" err="1"/>
              <a:t>зрештою</a:t>
            </a:r>
            <a:r>
              <a:rPr lang="ru-RU" dirty="0"/>
              <a:t> </a:t>
            </a:r>
            <a:r>
              <a:rPr lang="ru-RU" dirty="0" err="1"/>
              <a:t>призвело</a:t>
            </a:r>
            <a:r>
              <a:rPr lang="ru-RU" dirty="0"/>
              <a:t> до </a:t>
            </a:r>
            <a:r>
              <a:rPr lang="ru-RU" dirty="0" err="1"/>
              <a:t>процесу</a:t>
            </a:r>
            <a:r>
              <a:rPr lang="ru-RU" dirty="0"/>
              <a:t> </a:t>
            </a:r>
            <a:r>
              <a:rPr lang="ru-RU" dirty="0" err="1"/>
              <a:t>інквізиції</a:t>
            </a:r>
            <a:r>
              <a:rPr lang="ru-RU" dirty="0"/>
              <a:t> </a:t>
            </a:r>
            <a:r>
              <a:rPr lang="ru-RU" dirty="0" err="1"/>
              <a:t>проти</a:t>
            </a:r>
            <a:r>
              <a:rPr lang="ru-RU" dirty="0"/>
              <a:t> </a:t>
            </a:r>
            <a:r>
              <a:rPr lang="ru-RU" dirty="0" err="1"/>
              <a:t>нього</a:t>
            </a:r>
            <a:r>
              <a:rPr lang="ru-RU" dirty="0"/>
              <a:t>.</a:t>
            </a:r>
            <a:endParaRPr lang="en-US" dirty="0" smtClean="0"/>
          </a:p>
          <a:p>
            <a:r>
              <a:rPr lang="uk-UA" dirty="0" smtClean="0"/>
              <a:t>Його називають «батьком </a:t>
            </a:r>
            <a:r>
              <a:rPr lang="uk-UA" dirty="0"/>
              <a:t>спостережної </a:t>
            </a:r>
            <a:r>
              <a:rPr lang="uk-UA" dirty="0" smtClean="0"/>
              <a:t>астрономії», «батьком сучасної фізики», «батьком сучасної науки».</a:t>
            </a:r>
            <a:endParaRPr lang="uk-UA" dirty="0"/>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75763" y="924697"/>
            <a:ext cx="4552950" cy="5715000"/>
          </a:xfrm>
          <a:prstGeom prst="rect">
            <a:avLst/>
          </a:prstGeom>
        </p:spPr>
      </p:pic>
    </p:spTree>
    <p:extLst>
      <p:ext uri="{BB962C8B-B14F-4D97-AF65-F5344CB8AC3E}">
        <p14:creationId xmlns:p14="http://schemas.microsoft.com/office/powerpoint/2010/main" val="2537240902"/>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231136" y="149146"/>
            <a:ext cx="7729728" cy="707589"/>
          </a:xfrm>
        </p:spPr>
        <p:txBody>
          <a:bodyPr>
            <a:normAutofit fontScale="90000"/>
          </a:bodyPr>
          <a:lstStyle/>
          <a:p>
            <a:r>
              <a:rPr lang="uk-UA" dirty="0" smtClean="0"/>
              <a:t>Життя.</a:t>
            </a:r>
            <a:endParaRPr lang="uk-UA" dirty="0"/>
          </a:p>
        </p:txBody>
      </p:sp>
      <p:sp>
        <p:nvSpPr>
          <p:cNvPr id="3" name="Місце для вмісту 2"/>
          <p:cNvSpPr>
            <a:spLocks noGrp="1"/>
          </p:cNvSpPr>
          <p:nvPr>
            <p:ph idx="1"/>
          </p:nvPr>
        </p:nvSpPr>
        <p:spPr>
          <a:xfrm>
            <a:off x="313038" y="1165654"/>
            <a:ext cx="11565924" cy="5350476"/>
          </a:xfrm>
        </p:spPr>
        <p:txBody>
          <a:bodyPr/>
          <a:lstStyle/>
          <a:p>
            <a:r>
              <a:rPr lang="uk-UA" dirty="0" smtClean="0"/>
              <a:t>Народився в Пізі, Італії 15 листопада 1564р. у родині </a:t>
            </a:r>
            <a:r>
              <a:rPr lang="ru-RU" dirty="0" err="1"/>
              <a:t>Вінченцо</a:t>
            </a:r>
            <a:r>
              <a:rPr lang="ru-RU" dirty="0"/>
              <a:t> Галілея, </a:t>
            </a:r>
            <a:r>
              <a:rPr lang="ru-RU" dirty="0" err="1"/>
              <a:t>відомого</a:t>
            </a:r>
            <a:r>
              <a:rPr lang="ru-RU" dirty="0"/>
              <a:t> композитора, теоретика </a:t>
            </a:r>
            <a:r>
              <a:rPr lang="ru-RU" dirty="0" err="1"/>
              <a:t>музики</a:t>
            </a:r>
            <a:r>
              <a:rPr lang="ru-RU" dirty="0"/>
              <a:t> і </a:t>
            </a:r>
            <a:r>
              <a:rPr lang="ru-RU" dirty="0" err="1" smtClean="0"/>
              <a:t>лютніста</a:t>
            </a:r>
            <a:r>
              <a:rPr lang="ru-RU" dirty="0" smtClean="0"/>
              <a:t>. </a:t>
            </a:r>
            <a:r>
              <a:rPr lang="uk-UA" dirty="0" smtClean="0"/>
              <a:t>Найстарший з 6 (хоча деякі вірять, що з 7) дітей. </a:t>
            </a:r>
            <a:r>
              <a:rPr lang="ru-RU" dirty="0" err="1"/>
              <a:t>Його</a:t>
            </a:r>
            <a:r>
              <a:rPr lang="ru-RU" dirty="0"/>
              <a:t> родина належала до </a:t>
            </a:r>
            <a:r>
              <a:rPr lang="ru-RU" dirty="0" err="1"/>
              <a:t>знаті</a:t>
            </a:r>
            <a:r>
              <a:rPr lang="ru-RU" dirty="0"/>
              <a:t>, але не </a:t>
            </a:r>
            <a:r>
              <a:rPr lang="ru-RU" dirty="0" err="1"/>
              <a:t>була</a:t>
            </a:r>
            <a:r>
              <a:rPr lang="ru-RU" dirty="0"/>
              <a:t> </a:t>
            </a:r>
            <a:r>
              <a:rPr lang="ru-RU" dirty="0" err="1"/>
              <a:t>багатою</a:t>
            </a:r>
            <a:r>
              <a:rPr lang="ru-RU" dirty="0"/>
              <a:t>. На початку 1570-х </a:t>
            </a:r>
            <a:r>
              <a:rPr lang="ru-RU" dirty="0" err="1"/>
              <a:t>років</a:t>
            </a:r>
            <a:r>
              <a:rPr lang="ru-RU" dirty="0"/>
              <a:t> він з родиною </a:t>
            </a:r>
            <a:r>
              <a:rPr lang="ru-RU" dirty="0" err="1"/>
              <a:t>переїхав</a:t>
            </a:r>
            <a:r>
              <a:rPr lang="ru-RU" dirty="0"/>
              <a:t> до </a:t>
            </a:r>
            <a:r>
              <a:rPr lang="ru-RU" dirty="0" err="1"/>
              <a:t>Флоренції</a:t>
            </a:r>
            <a:r>
              <a:rPr lang="ru-RU" dirty="0" smtClean="0"/>
              <a:t>.</a:t>
            </a:r>
          </a:p>
          <a:p>
            <a:r>
              <a:rPr lang="uk-UA" dirty="0"/>
              <a:t>Про дитинство Галілея відомо небагато. Із ранніх років хлопчика вабило мистецтво, все життя любив музику та малювання. За його творами також можна зробити висновок про наявність у нього ще й літературного таланту. Початкову освіту Галілей здобув у монастирі </a:t>
            </a:r>
            <a:r>
              <a:rPr lang="uk-UA" dirty="0" err="1"/>
              <a:t>Валломброза</a:t>
            </a:r>
            <a:r>
              <a:rPr lang="uk-UA" dirty="0"/>
              <a:t>. Він дуже добре навчався і був одним із найкращих учнів у класі</a:t>
            </a:r>
            <a:r>
              <a:rPr lang="uk-UA" dirty="0" smtClean="0"/>
              <a:t>.</a:t>
            </a:r>
          </a:p>
          <a:p>
            <a:r>
              <a:rPr lang="ru-RU" dirty="0" smtClean="0"/>
              <a:t>У </a:t>
            </a:r>
            <a:r>
              <a:rPr lang="ru-RU" dirty="0"/>
              <a:t>1580 </a:t>
            </a:r>
            <a:r>
              <a:rPr lang="ru-RU" dirty="0" err="1"/>
              <a:t>році</a:t>
            </a:r>
            <a:r>
              <a:rPr lang="ru-RU" dirty="0"/>
              <a:t> вступив до </a:t>
            </a:r>
            <a:r>
              <a:rPr lang="ru-RU" dirty="0" err="1"/>
              <a:t>Пізанського</a:t>
            </a:r>
            <a:r>
              <a:rPr lang="ru-RU" dirty="0"/>
              <a:t> </a:t>
            </a:r>
            <a:r>
              <a:rPr lang="ru-RU" dirty="0" err="1"/>
              <a:t>університету</a:t>
            </a:r>
            <a:r>
              <a:rPr lang="ru-RU" dirty="0"/>
              <a:t>, де </a:t>
            </a:r>
            <a:r>
              <a:rPr lang="ru-RU" dirty="0" err="1"/>
              <a:t>вивчав</a:t>
            </a:r>
            <a:r>
              <a:rPr lang="ru-RU" dirty="0"/>
              <a:t> медицину</a:t>
            </a:r>
            <a:r>
              <a:rPr lang="ru-RU" dirty="0" smtClean="0"/>
              <a:t>. </a:t>
            </a:r>
            <a:r>
              <a:rPr lang="ru-RU" dirty="0" err="1" smtClean="0"/>
              <a:t>Раніше</a:t>
            </a:r>
            <a:r>
              <a:rPr lang="ru-RU" dirty="0" smtClean="0"/>
              <a:t> він </a:t>
            </a:r>
            <a:r>
              <a:rPr lang="ru-RU" dirty="0" err="1" smtClean="0"/>
              <a:t>навмисно</a:t>
            </a:r>
            <a:r>
              <a:rPr lang="ru-RU" dirty="0" smtClean="0"/>
              <a:t> </a:t>
            </a:r>
            <a:r>
              <a:rPr lang="ru-RU" dirty="0" err="1" smtClean="0"/>
              <a:t>тримався</a:t>
            </a:r>
            <a:r>
              <a:rPr lang="ru-RU" dirty="0" smtClean="0"/>
              <a:t> </a:t>
            </a:r>
            <a:r>
              <a:rPr lang="ru-RU" dirty="0" err="1" smtClean="0"/>
              <a:t>подалі</a:t>
            </a:r>
            <a:r>
              <a:rPr lang="ru-RU" dirty="0" smtClean="0"/>
              <a:t> </a:t>
            </a:r>
            <a:r>
              <a:rPr lang="ru-RU" dirty="0" err="1" smtClean="0"/>
              <a:t>від</a:t>
            </a:r>
            <a:r>
              <a:rPr lang="ru-RU" dirty="0" smtClean="0"/>
              <a:t> математики, але </a:t>
            </a:r>
            <a:r>
              <a:rPr lang="ru-RU" dirty="0" err="1" smtClean="0"/>
              <a:t>згодом</a:t>
            </a:r>
            <a:r>
              <a:rPr lang="ru-RU" dirty="0" smtClean="0"/>
              <a:t> </a:t>
            </a:r>
            <a:r>
              <a:rPr lang="ru-RU" dirty="0" err="1" smtClean="0"/>
              <a:t>вмовив</a:t>
            </a:r>
            <a:r>
              <a:rPr lang="ru-RU" dirty="0" smtClean="0"/>
              <a:t> </a:t>
            </a:r>
            <a:r>
              <a:rPr lang="ru-RU" dirty="0" err="1" smtClean="0"/>
              <a:t>свого</a:t>
            </a:r>
            <a:r>
              <a:rPr lang="ru-RU" dirty="0" smtClean="0"/>
              <a:t> батька </a:t>
            </a:r>
            <a:r>
              <a:rPr lang="ru-RU" dirty="0" err="1" smtClean="0"/>
              <a:t>дозволити</a:t>
            </a:r>
            <a:r>
              <a:rPr lang="ru-RU" dirty="0" smtClean="0"/>
              <a:t> </a:t>
            </a:r>
            <a:r>
              <a:rPr lang="ru-RU" dirty="0" err="1" smtClean="0"/>
              <a:t>йому</a:t>
            </a:r>
            <a:r>
              <a:rPr lang="ru-RU" dirty="0" smtClean="0"/>
              <a:t> </a:t>
            </a:r>
            <a:r>
              <a:rPr lang="ru-RU" dirty="0" err="1" smtClean="0"/>
              <a:t>вивчати</a:t>
            </a:r>
            <a:r>
              <a:rPr lang="ru-RU" dirty="0" smtClean="0"/>
              <a:t> </a:t>
            </a:r>
            <a:r>
              <a:rPr lang="ru-RU" dirty="0" err="1" smtClean="0"/>
              <a:t>натурфілоософію</a:t>
            </a:r>
            <a:r>
              <a:rPr lang="ru-RU" dirty="0" smtClean="0"/>
              <a:t> та математику. </a:t>
            </a:r>
          </a:p>
          <a:p>
            <a:r>
              <a:rPr lang="ru-RU" dirty="0" err="1" smtClean="0"/>
              <a:t>Галілей</a:t>
            </a:r>
            <a:r>
              <a:rPr lang="ru-RU" dirty="0" smtClean="0"/>
              <a:t> </a:t>
            </a:r>
            <a:r>
              <a:rPr lang="ru-RU" dirty="0" err="1"/>
              <a:t>залишив</a:t>
            </a:r>
            <a:r>
              <a:rPr lang="ru-RU" dirty="0"/>
              <a:t> </a:t>
            </a:r>
            <a:r>
              <a:rPr lang="ru-RU" dirty="0" err="1"/>
              <a:t>університет</a:t>
            </a:r>
            <a:r>
              <a:rPr lang="ru-RU" dirty="0"/>
              <a:t> і </a:t>
            </a:r>
            <a:r>
              <a:rPr lang="ru-RU" dirty="0" err="1"/>
              <a:t>повернувся</a:t>
            </a:r>
            <a:r>
              <a:rPr lang="ru-RU" dirty="0"/>
              <a:t> до </a:t>
            </a:r>
            <a:r>
              <a:rPr lang="ru-RU" dirty="0" err="1"/>
              <a:t>Флоренції</a:t>
            </a:r>
            <a:r>
              <a:rPr lang="ru-RU" dirty="0" smtClean="0"/>
              <a:t>, </a:t>
            </a:r>
            <a:r>
              <a:rPr lang="ru-RU" dirty="0"/>
              <a:t>так і не </a:t>
            </a:r>
            <a:r>
              <a:rPr lang="ru-RU" dirty="0" err="1"/>
              <a:t>отримавши</a:t>
            </a:r>
            <a:r>
              <a:rPr lang="ru-RU" dirty="0"/>
              <a:t> </a:t>
            </a:r>
            <a:r>
              <a:rPr lang="ru-RU" dirty="0" err="1"/>
              <a:t>наукового</a:t>
            </a:r>
            <a:r>
              <a:rPr lang="ru-RU" dirty="0"/>
              <a:t> </a:t>
            </a:r>
            <a:r>
              <a:rPr lang="ru-RU" dirty="0" err="1" smtClean="0"/>
              <a:t>ступеня</a:t>
            </a:r>
            <a:r>
              <a:rPr lang="ru-RU" dirty="0" smtClean="0"/>
              <a:t> через </a:t>
            </a:r>
            <a:r>
              <a:rPr lang="ru-RU" dirty="0" err="1" smtClean="0"/>
              <a:t>фінансові</a:t>
            </a:r>
            <a:r>
              <a:rPr lang="ru-RU" dirty="0" smtClean="0"/>
              <a:t> </a:t>
            </a:r>
            <a:r>
              <a:rPr lang="ru-RU" dirty="0" err="1" smtClean="0"/>
              <a:t>труднощі</a:t>
            </a:r>
            <a:r>
              <a:rPr lang="ru-RU" dirty="0" smtClean="0"/>
              <a:t>, </a:t>
            </a:r>
            <a:r>
              <a:rPr lang="ru-RU" dirty="0"/>
              <a:t>де </a:t>
            </a:r>
            <a:r>
              <a:rPr lang="ru-RU" dirty="0" err="1"/>
              <a:t>чотири</a:t>
            </a:r>
            <a:r>
              <a:rPr lang="ru-RU" dirty="0"/>
              <a:t> роки самостійно </a:t>
            </a:r>
            <a:r>
              <a:rPr lang="ru-RU" dirty="0" err="1"/>
              <a:t>вивчав</a:t>
            </a:r>
            <a:r>
              <a:rPr lang="ru-RU" dirty="0"/>
              <a:t> математику, яку </a:t>
            </a:r>
            <a:r>
              <a:rPr lang="ru-RU" dirty="0" err="1"/>
              <a:t>вважав</a:t>
            </a:r>
            <a:r>
              <a:rPr lang="ru-RU" dirty="0"/>
              <a:t> </a:t>
            </a:r>
            <a:r>
              <a:rPr lang="ru-RU" dirty="0" err="1"/>
              <a:t>надійною</a:t>
            </a:r>
            <a:r>
              <a:rPr lang="ru-RU" dirty="0"/>
              <a:t> основою для </a:t>
            </a:r>
            <a:r>
              <a:rPr lang="ru-RU" dirty="0" err="1"/>
              <a:t>вивчення</a:t>
            </a:r>
            <a:r>
              <a:rPr lang="ru-RU" dirty="0"/>
              <a:t> </a:t>
            </a:r>
            <a:r>
              <a:rPr lang="ru-RU" dirty="0" err="1" smtClean="0"/>
              <a:t>світу</a:t>
            </a:r>
            <a:r>
              <a:rPr lang="ru-RU" dirty="0"/>
              <a:t>. </a:t>
            </a:r>
            <a:r>
              <a:rPr lang="ru-RU" dirty="0" smtClean="0"/>
              <a:t>Він </a:t>
            </a:r>
            <a:r>
              <a:rPr lang="ru-RU" dirty="0" err="1" smtClean="0"/>
              <a:t>також</a:t>
            </a:r>
            <a:r>
              <a:rPr lang="ru-RU" dirty="0" smtClean="0"/>
              <a:t> </a:t>
            </a:r>
            <a:r>
              <a:rPr lang="ru-RU" dirty="0" err="1"/>
              <a:t>вивчав</a:t>
            </a:r>
            <a:r>
              <a:rPr lang="ru-RU" dirty="0"/>
              <a:t> </a:t>
            </a:r>
            <a:r>
              <a:rPr lang="ru-RU" dirty="0" err="1"/>
              <a:t>образотворче</a:t>
            </a:r>
            <a:r>
              <a:rPr lang="ru-RU" dirty="0"/>
              <a:t> </a:t>
            </a:r>
            <a:r>
              <a:rPr lang="ru-RU" dirty="0" err="1"/>
              <a:t>мистецтво</a:t>
            </a:r>
            <a:r>
              <a:rPr lang="ru-RU" dirty="0"/>
              <a:t> і в 1588 </a:t>
            </a:r>
            <a:r>
              <a:rPr lang="ru-RU" dirty="0" err="1"/>
              <a:t>році</a:t>
            </a:r>
            <a:r>
              <a:rPr lang="ru-RU" dirty="0"/>
              <a:t> </a:t>
            </a:r>
            <a:r>
              <a:rPr lang="ru-RU" dirty="0" err="1"/>
              <a:t>отримав</a:t>
            </a:r>
            <a:r>
              <a:rPr lang="ru-RU" dirty="0"/>
              <a:t> посаду </a:t>
            </a:r>
            <a:r>
              <a:rPr lang="ru-RU" dirty="0" err="1"/>
              <a:t>викладача</a:t>
            </a:r>
            <a:r>
              <a:rPr lang="ru-RU" dirty="0"/>
              <a:t> </a:t>
            </a:r>
            <a:r>
              <a:rPr lang="ru-RU" dirty="0" err="1"/>
              <a:t>перспективи</a:t>
            </a:r>
            <a:r>
              <a:rPr lang="ru-RU" dirty="0"/>
              <a:t> і </a:t>
            </a:r>
            <a:r>
              <a:rPr lang="ru-RU" dirty="0" err="1"/>
              <a:t>світлотіні</a:t>
            </a:r>
            <a:r>
              <a:rPr lang="ru-RU" dirty="0"/>
              <a:t> в </a:t>
            </a:r>
            <a:r>
              <a:rPr lang="ru-RU" dirty="0" err="1"/>
              <a:t>Академії</a:t>
            </a:r>
            <a:r>
              <a:rPr lang="ru-RU" dirty="0"/>
              <a:t> </a:t>
            </a:r>
            <a:r>
              <a:rPr lang="ru-RU" dirty="0" err="1" smtClean="0"/>
              <a:t>мистецтв</a:t>
            </a:r>
            <a:r>
              <a:rPr lang="en-US" dirty="0" smtClean="0"/>
              <a:t> </a:t>
            </a:r>
            <a:r>
              <a:rPr lang="ru-RU" dirty="0"/>
              <a:t>у </a:t>
            </a:r>
            <a:r>
              <a:rPr lang="ru-RU" dirty="0" err="1"/>
              <a:t>Флоренції</a:t>
            </a:r>
            <a:r>
              <a:rPr lang="ru-RU" dirty="0" smtClean="0"/>
              <a:t>.</a:t>
            </a:r>
          </a:p>
          <a:p>
            <a:r>
              <a:rPr lang="ru-RU" dirty="0"/>
              <a:t>У </a:t>
            </a:r>
            <a:r>
              <a:rPr lang="ru-RU" dirty="0" smtClean="0"/>
              <a:t>1589 </a:t>
            </a:r>
            <a:r>
              <a:rPr lang="ru-RU" dirty="0" err="1" smtClean="0"/>
              <a:t>році</a:t>
            </a:r>
            <a:r>
              <a:rPr lang="ru-RU" dirty="0" smtClean="0"/>
              <a:t> Галілея </a:t>
            </a:r>
            <a:r>
              <a:rPr lang="ru-RU" dirty="0" err="1" smtClean="0"/>
              <a:t>призначили</a:t>
            </a:r>
            <a:r>
              <a:rPr lang="ru-RU" dirty="0" smtClean="0"/>
              <a:t> на кафедру математики в </a:t>
            </a:r>
            <a:r>
              <a:rPr lang="ru-RU" dirty="0" err="1"/>
              <a:t>Пізі</a:t>
            </a:r>
            <a:r>
              <a:rPr lang="ru-RU" dirty="0"/>
              <a:t>. </a:t>
            </a:r>
            <a:r>
              <a:rPr lang="ru-RU" dirty="0" smtClean="0"/>
              <a:t>1592 </a:t>
            </a:r>
            <a:r>
              <a:rPr lang="ru-RU" dirty="0"/>
              <a:t>року він </a:t>
            </a:r>
            <a:r>
              <a:rPr lang="ru-RU" dirty="0" err="1"/>
              <a:t>переїхав</a:t>
            </a:r>
            <a:r>
              <a:rPr lang="ru-RU" dirty="0"/>
              <a:t> до </a:t>
            </a:r>
            <a:r>
              <a:rPr lang="ru-RU" dirty="0" err="1"/>
              <a:t>Падуанського</a:t>
            </a:r>
            <a:r>
              <a:rPr lang="ru-RU" dirty="0"/>
              <a:t> </a:t>
            </a:r>
            <a:r>
              <a:rPr lang="ru-RU" dirty="0" err="1"/>
              <a:t>університету</a:t>
            </a:r>
            <a:r>
              <a:rPr lang="ru-RU" dirty="0"/>
              <a:t>, де до 1610 року </a:t>
            </a:r>
            <a:r>
              <a:rPr lang="ru-RU" dirty="0" err="1"/>
              <a:t>викладав</a:t>
            </a:r>
            <a:r>
              <a:rPr lang="ru-RU" dirty="0"/>
              <a:t> </a:t>
            </a:r>
            <a:r>
              <a:rPr lang="ru-RU" dirty="0" err="1"/>
              <a:t>геометрію</a:t>
            </a:r>
            <a:r>
              <a:rPr lang="ru-RU" dirty="0"/>
              <a:t>, </a:t>
            </a:r>
            <a:r>
              <a:rPr lang="ru-RU" dirty="0" err="1"/>
              <a:t>механіку</a:t>
            </a:r>
            <a:r>
              <a:rPr lang="ru-RU" dirty="0"/>
              <a:t> й </a:t>
            </a:r>
            <a:r>
              <a:rPr lang="ru-RU" dirty="0" smtClean="0"/>
              <a:t>астрономію</a:t>
            </a:r>
            <a:r>
              <a:rPr lang="ru-RU" dirty="0"/>
              <a:t>. </a:t>
            </a:r>
            <a:r>
              <a:rPr lang="ru-RU" dirty="0" err="1"/>
              <a:t>Надалі</a:t>
            </a:r>
            <a:r>
              <a:rPr lang="ru-RU" dirty="0"/>
              <a:t> він став </a:t>
            </a:r>
            <a:r>
              <a:rPr lang="ru-RU" dirty="0" err="1"/>
              <a:t>придворним</a:t>
            </a:r>
            <a:r>
              <a:rPr lang="ru-RU" dirty="0"/>
              <a:t> </a:t>
            </a:r>
            <a:r>
              <a:rPr lang="ru-RU" dirty="0" err="1"/>
              <a:t>філософом</a:t>
            </a:r>
            <a:r>
              <a:rPr lang="ru-RU" dirty="0"/>
              <a:t> герцога </a:t>
            </a:r>
            <a:r>
              <a:rPr lang="ru-RU" dirty="0" err="1"/>
              <a:t>Козімо</a:t>
            </a:r>
            <a:r>
              <a:rPr lang="ru-RU" dirty="0"/>
              <a:t> </a:t>
            </a:r>
            <a:r>
              <a:rPr lang="en-US" dirty="0"/>
              <a:t>II </a:t>
            </a:r>
            <a:r>
              <a:rPr lang="ru-RU" dirty="0" err="1"/>
              <a:t>Медічі</a:t>
            </a:r>
            <a:r>
              <a:rPr lang="ru-RU" dirty="0"/>
              <a:t>. </a:t>
            </a:r>
            <a:r>
              <a:rPr lang="ru-RU" dirty="0" err="1"/>
              <a:t>Починаючи</a:t>
            </a:r>
            <a:r>
              <a:rPr lang="ru-RU" dirty="0"/>
              <a:t> з 25 </a:t>
            </a:r>
            <a:r>
              <a:rPr lang="ru-RU" dirty="0" err="1"/>
              <a:t>квітня</a:t>
            </a:r>
            <a:r>
              <a:rPr lang="ru-RU" dirty="0"/>
              <a:t> 1611 року, </a:t>
            </a:r>
            <a:r>
              <a:rPr lang="ru-RU" dirty="0" err="1"/>
              <a:t>Галілео</a:t>
            </a:r>
            <a:r>
              <a:rPr lang="ru-RU" dirty="0"/>
              <a:t> належав до </a:t>
            </a:r>
            <a:r>
              <a:rPr lang="ru-RU" dirty="0" err="1"/>
              <a:t>заснованої</a:t>
            </a:r>
            <a:r>
              <a:rPr lang="ru-RU" dirty="0"/>
              <a:t> </a:t>
            </a:r>
            <a:r>
              <a:rPr lang="ru-RU" dirty="0" err="1"/>
              <a:t>Федеріко</a:t>
            </a:r>
            <a:r>
              <a:rPr lang="ru-RU" dirty="0"/>
              <a:t> </a:t>
            </a:r>
            <a:r>
              <a:rPr lang="ru-RU" dirty="0" err="1"/>
              <a:t>Чезі</a:t>
            </a:r>
            <a:r>
              <a:rPr lang="ru-RU" dirty="0"/>
              <a:t> </a:t>
            </a:r>
            <a:r>
              <a:rPr lang="ru-RU" dirty="0" err="1"/>
              <a:t>Академії</a:t>
            </a:r>
            <a:r>
              <a:rPr lang="ru-RU" dirty="0"/>
              <a:t> </a:t>
            </a:r>
            <a:r>
              <a:rPr lang="ru-RU" dirty="0" err="1"/>
              <a:t>деї</a:t>
            </a:r>
            <a:r>
              <a:rPr lang="ru-RU" dirty="0"/>
              <a:t> </a:t>
            </a:r>
            <a:r>
              <a:rPr lang="ru-RU" dirty="0" err="1"/>
              <a:t>Лінчеї</a:t>
            </a:r>
            <a:r>
              <a:rPr lang="ru-RU" dirty="0"/>
              <a:t>.</a:t>
            </a:r>
            <a:endParaRPr lang="uk-UA" dirty="0"/>
          </a:p>
        </p:txBody>
      </p:sp>
    </p:spTree>
    <p:extLst>
      <p:ext uri="{BB962C8B-B14F-4D97-AF65-F5344CB8AC3E}">
        <p14:creationId xmlns:p14="http://schemas.microsoft.com/office/powerpoint/2010/main" val="4192412713"/>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231136" y="149146"/>
            <a:ext cx="7729728" cy="707589"/>
          </a:xfrm>
        </p:spPr>
        <p:txBody>
          <a:bodyPr>
            <a:normAutofit fontScale="90000"/>
          </a:bodyPr>
          <a:lstStyle/>
          <a:p>
            <a:r>
              <a:rPr lang="uk-UA" dirty="0" smtClean="0"/>
              <a:t>Деякі винаходи.</a:t>
            </a:r>
            <a:endParaRPr lang="uk-UA" dirty="0"/>
          </a:p>
        </p:txBody>
      </p:sp>
      <p:pic>
        <p:nvPicPr>
          <p:cNvPr id="6" name="Рисунок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41231" y="994030"/>
            <a:ext cx="3246770" cy="2439716"/>
          </a:xfrm>
          <a:prstGeom prst="rect">
            <a:avLst/>
          </a:prstGeom>
        </p:spPr>
      </p:pic>
      <p:pic>
        <p:nvPicPr>
          <p:cNvPr id="7" name="Рисунок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88126" y="1545965"/>
            <a:ext cx="3276602" cy="4368803"/>
          </a:xfrm>
          <a:prstGeom prst="rect">
            <a:avLst/>
          </a:prstGeom>
        </p:spPr>
      </p:pic>
      <p:pic>
        <p:nvPicPr>
          <p:cNvPr id="8" name="Рисунок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1130" y="994030"/>
            <a:ext cx="4260253" cy="2396392"/>
          </a:xfrm>
          <a:prstGeom prst="rect">
            <a:avLst/>
          </a:prstGeom>
        </p:spPr>
      </p:pic>
      <p:pic>
        <p:nvPicPr>
          <p:cNvPr id="9" name="Рисунок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61001" y="4129086"/>
            <a:ext cx="3757526" cy="2518681"/>
          </a:xfrm>
          <a:prstGeom prst="rect">
            <a:avLst/>
          </a:prstGeom>
        </p:spPr>
      </p:pic>
      <p:sp>
        <p:nvSpPr>
          <p:cNvPr id="10" name="Прямокутник 9"/>
          <p:cNvSpPr/>
          <p:nvPr/>
        </p:nvSpPr>
        <p:spPr>
          <a:xfrm>
            <a:off x="4941231" y="3433746"/>
            <a:ext cx="3246770" cy="738664"/>
          </a:xfrm>
          <a:prstGeom prst="rect">
            <a:avLst/>
          </a:prstGeom>
        </p:spPr>
        <p:txBody>
          <a:bodyPr wrap="square">
            <a:spAutoFit/>
          </a:bodyPr>
          <a:lstStyle/>
          <a:p>
            <a:pPr algn="ctr"/>
            <a:r>
              <a:rPr lang="ru-RU" sz="1400" i="1" dirty="0" err="1" smtClean="0"/>
              <a:t>Гідростатичні</a:t>
            </a:r>
            <a:r>
              <a:rPr lang="ru-RU" sz="1400" i="1" dirty="0" smtClean="0"/>
              <a:t> </a:t>
            </a:r>
            <a:r>
              <a:rPr lang="ru-RU" sz="1400" i="1" dirty="0" err="1" smtClean="0"/>
              <a:t>терези</a:t>
            </a:r>
            <a:r>
              <a:rPr lang="ru-RU" sz="1400" i="1" dirty="0" smtClean="0"/>
              <a:t> для </a:t>
            </a:r>
            <a:r>
              <a:rPr lang="ru-RU" sz="1400" i="1" dirty="0" err="1" smtClean="0"/>
              <a:t>швидкого</a:t>
            </a:r>
            <a:r>
              <a:rPr lang="ru-RU" sz="1400" i="1" dirty="0" smtClean="0"/>
              <a:t> </a:t>
            </a:r>
            <a:r>
              <a:rPr lang="ru-RU" sz="1400" i="1" dirty="0" err="1" smtClean="0"/>
              <a:t>визначення</a:t>
            </a:r>
            <a:r>
              <a:rPr lang="ru-RU" sz="1400" i="1" dirty="0" smtClean="0"/>
              <a:t> складу </a:t>
            </a:r>
            <a:r>
              <a:rPr lang="ru-RU" sz="1400" i="1" dirty="0" err="1" smtClean="0"/>
              <a:t>металевих</a:t>
            </a:r>
            <a:r>
              <a:rPr lang="ru-RU" sz="1400" i="1" dirty="0" smtClean="0"/>
              <a:t> </a:t>
            </a:r>
            <a:r>
              <a:rPr lang="ru-RU" sz="1400" i="1" dirty="0" err="1" smtClean="0"/>
              <a:t>сплавів</a:t>
            </a:r>
            <a:r>
              <a:rPr lang="ru-RU" sz="1400" i="1" dirty="0" smtClean="0"/>
              <a:t> (1586 </a:t>
            </a:r>
            <a:r>
              <a:rPr lang="ru-RU" sz="1400" i="1" dirty="0" err="1" smtClean="0"/>
              <a:t>рік</a:t>
            </a:r>
            <a:r>
              <a:rPr lang="ru-RU" sz="1400" i="1" dirty="0" smtClean="0"/>
              <a:t>).</a:t>
            </a:r>
            <a:endParaRPr lang="uk-UA" sz="1400" i="1" dirty="0"/>
          </a:p>
        </p:txBody>
      </p:sp>
      <p:sp>
        <p:nvSpPr>
          <p:cNvPr id="11" name="Прямокутник 10"/>
          <p:cNvSpPr/>
          <p:nvPr/>
        </p:nvSpPr>
        <p:spPr>
          <a:xfrm>
            <a:off x="8906810" y="5914768"/>
            <a:ext cx="3039233" cy="738664"/>
          </a:xfrm>
          <a:prstGeom prst="rect">
            <a:avLst/>
          </a:prstGeom>
        </p:spPr>
        <p:txBody>
          <a:bodyPr wrap="square">
            <a:spAutoFit/>
          </a:bodyPr>
          <a:lstStyle/>
          <a:p>
            <a:pPr algn="ctr"/>
            <a:r>
              <a:rPr lang="ru-RU" sz="1400" i="1" dirty="0" smtClean="0"/>
              <a:t>Термоскоп (термометр без </a:t>
            </a:r>
            <a:r>
              <a:rPr lang="ru-RU" sz="1400" i="1" dirty="0" err="1" smtClean="0"/>
              <a:t>шкали</a:t>
            </a:r>
            <a:r>
              <a:rPr lang="ru-RU" sz="1400" i="1" dirty="0" smtClean="0"/>
              <a:t>), що став </a:t>
            </a:r>
            <a:r>
              <a:rPr lang="ru-RU" sz="1400" i="1" dirty="0" err="1" smtClean="0"/>
              <a:t>прабатьком</a:t>
            </a:r>
            <a:r>
              <a:rPr lang="ru-RU" sz="1400" i="1" dirty="0" smtClean="0"/>
              <a:t> </a:t>
            </a:r>
            <a:r>
              <a:rPr lang="ru-RU" sz="1400" i="1" dirty="0" err="1" smtClean="0"/>
              <a:t>всіх</a:t>
            </a:r>
            <a:r>
              <a:rPr lang="ru-RU" sz="1400" i="1" dirty="0" smtClean="0"/>
              <a:t> </a:t>
            </a:r>
            <a:r>
              <a:rPr lang="ru-RU" sz="1400" i="1" dirty="0" err="1" smtClean="0"/>
              <a:t>термометрів</a:t>
            </a:r>
            <a:r>
              <a:rPr lang="ru-RU" sz="1400" i="1" dirty="0" smtClean="0"/>
              <a:t> (1592 </a:t>
            </a:r>
            <a:r>
              <a:rPr lang="ru-RU" sz="1400" i="1" dirty="0" err="1" smtClean="0"/>
              <a:t>рік</a:t>
            </a:r>
            <a:r>
              <a:rPr lang="ru-RU" sz="1400" i="1" dirty="0" smtClean="0"/>
              <a:t>).</a:t>
            </a:r>
            <a:endParaRPr lang="uk-UA" sz="1400" i="1" dirty="0"/>
          </a:p>
        </p:txBody>
      </p:sp>
      <p:sp>
        <p:nvSpPr>
          <p:cNvPr id="12" name="Прямокутник 11"/>
          <p:cNvSpPr/>
          <p:nvPr/>
        </p:nvSpPr>
        <p:spPr>
          <a:xfrm>
            <a:off x="221130" y="3390422"/>
            <a:ext cx="4260253" cy="738664"/>
          </a:xfrm>
          <a:prstGeom prst="rect">
            <a:avLst/>
          </a:prstGeom>
        </p:spPr>
        <p:txBody>
          <a:bodyPr wrap="square">
            <a:spAutoFit/>
          </a:bodyPr>
          <a:lstStyle/>
          <a:p>
            <a:pPr algn="ctr"/>
            <a:r>
              <a:rPr lang="ru-RU" sz="1400" i="1" dirty="0" err="1" smtClean="0"/>
              <a:t>Пропорційний</a:t>
            </a:r>
            <a:r>
              <a:rPr lang="ru-RU" sz="1400" i="1" dirty="0" smtClean="0"/>
              <a:t> циркуль — інструмент для </a:t>
            </a:r>
            <a:r>
              <a:rPr lang="ru-RU" sz="1400" i="1" dirty="0" err="1" smtClean="0"/>
              <a:t>зміни</a:t>
            </a:r>
            <a:r>
              <a:rPr lang="ru-RU" sz="1400" i="1" dirty="0" smtClean="0"/>
              <a:t> </a:t>
            </a:r>
            <a:r>
              <a:rPr lang="ru-RU" sz="1400" i="1" dirty="0" err="1" smtClean="0"/>
              <a:t>відрізків</a:t>
            </a:r>
            <a:r>
              <a:rPr lang="ru-RU" sz="1400" i="1" dirty="0" smtClean="0"/>
              <a:t> у </a:t>
            </a:r>
            <a:r>
              <a:rPr lang="ru-RU" sz="1400" i="1" dirty="0" err="1" smtClean="0"/>
              <a:t>деякому</a:t>
            </a:r>
            <a:r>
              <a:rPr lang="ru-RU" sz="1400" i="1" dirty="0" smtClean="0"/>
              <a:t> </a:t>
            </a:r>
            <a:r>
              <a:rPr lang="ru-RU" sz="1400" i="1" dirty="0" err="1" smtClean="0"/>
              <a:t>відношенні</a:t>
            </a:r>
            <a:r>
              <a:rPr lang="ru-RU" sz="1400" i="1" dirty="0" smtClean="0"/>
              <a:t>, а </a:t>
            </a:r>
            <a:r>
              <a:rPr lang="ru-RU" sz="1400" i="1" dirty="0" err="1" smtClean="0"/>
              <a:t>також</a:t>
            </a:r>
            <a:r>
              <a:rPr lang="ru-RU" sz="1400" i="1" dirty="0" smtClean="0"/>
              <a:t> для </a:t>
            </a:r>
            <a:r>
              <a:rPr lang="ru-RU" sz="1400" i="1" dirty="0" err="1" smtClean="0"/>
              <a:t>поділу</a:t>
            </a:r>
            <a:r>
              <a:rPr lang="ru-RU" sz="1400" i="1" dirty="0" smtClean="0"/>
              <a:t> </a:t>
            </a:r>
            <a:r>
              <a:rPr lang="ru-RU" sz="1400" i="1" dirty="0" err="1" smtClean="0"/>
              <a:t>відрізків</a:t>
            </a:r>
            <a:r>
              <a:rPr lang="ru-RU" sz="1400" i="1" dirty="0" smtClean="0"/>
              <a:t> на </a:t>
            </a:r>
            <a:r>
              <a:rPr lang="ru-RU" sz="1400" i="1" dirty="0" err="1" smtClean="0"/>
              <a:t>рівні</a:t>
            </a:r>
            <a:r>
              <a:rPr lang="ru-RU" sz="1400" i="1" dirty="0" smtClean="0"/>
              <a:t> </a:t>
            </a:r>
            <a:r>
              <a:rPr lang="ru-RU" sz="1400" i="1" dirty="0" err="1" smtClean="0"/>
              <a:t>частини</a:t>
            </a:r>
            <a:r>
              <a:rPr lang="ru-RU" sz="1400" i="1" dirty="0" smtClean="0"/>
              <a:t> (1606 </a:t>
            </a:r>
            <a:r>
              <a:rPr lang="ru-RU" sz="1400" i="1" dirty="0" err="1" smtClean="0"/>
              <a:t>рік</a:t>
            </a:r>
            <a:r>
              <a:rPr lang="ru-RU" sz="1400" i="1" dirty="0" smtClean="0"/>
              <a:t>).</a:t>
            </a:r>
            <a:endParaRPr lang="uk-UA" sz="1400" i="1" dirty="0"/>
          </a:p>
        </p:txBody>
      </p:sp>
      <p:sp>
        <p:nvSpPr>
          <p:cNvPr id="13" name="Прямокутник 12"/>
          <p:cNvSpPr/>
          <p:nvPr/>
        </p:nvSpPr>
        <p:spPr>
          <a:xfrm>
            <a:off x="5337211" y="4394426"/>
            <a:ext cx="2008561" cy="2031325"/>
          </a:xfrm>
          <a:prstGeom prst="rect">
            <a:avLst/>
          </a:prstGeom>
        </p:spPr>
        <p:txBody>
          <a:bodyPr wrap="square">
            <a:spAutoFit/>
          </a:bodyPr>
          <a:lstStyle/>
          <a:p>
            <a:r>
              <a:rPr lang="ru-RU" sz="1400" i="1" dirty="0"/>
              <a:t>«</a:t>
            </a:r>
            <a:r>
              <a:rPr lang="ru-RU" sz="1400" i="1" dirty="0" err="1"/>
              <a:t>Челатон</a:t>
            </a:r>
            <a:r>
              <a:rPr lang="ru-RU" sz="1400" i="1" dirty="0"/>
              <a:t>» (</a:t>
            </a:r>
            <a:r>
              <a:rPr lang="ru-RU" sz="1400" i="1" dirty="0" err="1"/>
              <a:t>італ</a:t>
            </a:r>
            <a:r>
              <a:rPr lang="ru-RU" sz="1400" i="1" dirty="0"/>
              <a:t>. </a:t>
            </a:r>
            <a:r>
              <a:rPr lang="ru-RU" sz="1400" i="1" dirty="0" err="1"/>
              <a:t>celatone</a:t>
            </a:r>
            <a:r>
              <a:rPr lang="ru-RU" sz="1400" i="1" dirty="0"/>
              <a:t>) — </a:t>
            </a:r>
            <a:r>
              <a:rPr lang="ru-RU" sz="1400" i="1" dirty="0" err="1"/>
              <a:t>шолом</a:t>
            </a:r>
            <a:r>
              <a:rPr lang="ru-RU" sz="1400" i="1" dirty="0"/>
              <a:t> </a:t>
            </a:r>
            <a:r>
              <a:rPr lang="ru-RU" sz="1400" i="1" dirty="0" err="1"/>
              <a:t>із</a:t>
            </a:r>
            <a:r>
              <a:rPr lang="ru-RU" sz="1400" i="1" dirty="0"/>
              <a:t> каркасом, на який </a:t>
            </a:r>
            <a:r>
              <a:rPr lang="ru-RU" sz="1400" i="1" dirty="0" err="1"/>
              <a:t>кріпилися</a:t>
            </a:r>
            <a:r>
              <a:rPr lang="ru-RU" sz="1400" i="1" dirty="0"/>
              <a:t> два </a:t>
            </a:r>
            <a:r>
              <a:rPr lang="ru-RU" sz="1400" i="1" dirty="0" err="1"/>
              <a:t>невеликі</a:t>
            </a:r>
            <a:r>
              <a:rPr lang="ru-RU" sz="1400" i="1" dirty="0"/>
              <a:t> телескопи, </a:t>
            </a:r>
            <a:r>
              <a:rPr lang="ru-RU" sz="1400" i="1" dirty="0" err="1"/>
              <a:t>призначений</a:t>
            </a:r>
            <a:r>
              <a:rPr lang="ru-RU" sz="1400" i="1" dirty="0"/>
              <a:t> для </a:t>
            </a:r>
            <a:r>
              <a:rPr lang="ru-RU" sz="1400" i="1" dirty="0" err="1"/>
              <a:t>морських</a:t>
            </a:r>
            <a:r>
              <a:rPr lang="ru-RU" sz="1400" i="1" dirty="0"/>
              <a:t> </a:t>
            </a:r>
            <a:r>
              <a:rPr lang="ru-RU" sz="1400" i="1" dirty="0" err="1"/>
              <a:t>спостережень</a:t>
            </a:r>
            <a:r>
              <a:rPr lang="ru-RU" sz="1400" i="1" dirty="0"/>
              <a:t> (1618 </a:t>
            </a:r>
            <a:r>
              <a:rPr lang="ru-RU" sz="1400" i="1" dirty="0" err="1"/>
              <a:t>рік</a:t>
            </a:r>
            <a:r>
              <a:rPr lang="ru-RU" sz="1400" i="1" dirty="0" smtClean="0"/>
              <a:t>).</a:t>
            </a:r>
            <a:endParaRPr lang="uk-UA" sz="1100" i="1" dirty="0"/>
          </a:p>
        </p:txBody>
      </p:sp>
    </p:spTree>
    <p:extLst>
      <p:ext uri="{BB962C8B-B14F-4D97-AF65-F5344CB8AC3E}">
        <p14:creationId xmlns:p14="http://schemas.microsoft.com/office/powerpoint/2010/main" val="3873521662"/>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231136" y="149146"/>
            <a:ext cx="7729728" cy="707589"/>
          </a:xfrm>
        </p:spPr>
        <p:txBody>
          <a:bodyPr>
            <a:normAutofit fontScale="90000"/>
          </a:bodyPr>
          <a:lstStyle/>
          <a:p>
            <a:r>
              <a:rPr lang="uk-UA" dirty="0" smtClean="0"/>
              <a:t>Телескоп.</a:t>
            </a:r>
            <a:endParaRPr lang="uk-UA" dirty="0"/>
          </a:p>
        </p:txBody>
      </p:sp>
      <p:pic>
        <p:nvPicPr>
          <p:cNvPr id="4" name="Місце для вмісту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55590" y="3813636"/>
            <a:ext cx="5231026" cy="2500429"/>
          </a:xfrm>
        </p:spPr>
      </p:pic>
      <p:sp>
        <p:nvSpPr>
          <p:cNvPr id="6" name="Місце для вмісту 2"/>
          <p:cNvSpPr txBox="1">
            <a:spLocks/>
          </p:cNvSpPr>
          <p:nvPr/>
        </p:nvSpPr>
        <p:spPr>
          <a:xfrm>
            <a:off x="313038" y="1165653"/>
            <a:ext cx="11451281" cy="3068595"/>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ru-RU" dirty="0"/>
              <a:t>Навесні 1609 року він </a:t>
            </a:r>
            <a:r>
              <a:rPr lang="ru-RU" dirty="0" err="1" smtClean="0"/>
              <a:t>почув</a:t>
            </a:r>
            <a:r>
              <a:rPr lang="ru-RU" dirty="0" smtClean="0"/>
              <a:t>, що </a:t>
            </a:r>
            <a:r>
              <a:rPr lang="ru-RU" dirty="0"/>
              <a:t>в Нідерландах винайшли інструмент, який показував віддалені об'єкти так, ніби вони були </a:t>
            </a:r>
            <a:r>
              <a:rPr lang="uk-UA" noProof="1" smtClean="0"/>
              <a:t>поруч</a:t>
            </a:r>
            <a:r>
              <a:rPr lang="ru-RU" dirty="0" smtClean="0"/>
              <a:t>. </a:t>
            </a:r>
            <a:r>
              <a:rPr lang="ru-RU" dirty="0"/>
              <a:t>Методом спроб і помилок він швидко розгадав секрет винаходу та виготовив </a:t>
            </a:r>
            <a:r>
              <a:rPr lang="ru-RU" dirty="0" err="1" smtClean="0"/>
              <a:t>власний</a:t>
            </a:r>
            <a:r>
              <a:rPr lang="ru-RU" dirty="0" smtClean="0"/>
              <a:t> тел</a:t>
            </a:r>
            <a:r>
              <a:rPr lang="uk-UA" dirty="0"/>
              <a:t>е</a:t>
            </a:r>
            <a:r>
              <a:rPr lang="ru-RU" dirty="0" smtClean="0"/>
              <a:t>скоп </a:t>
            </a:r>
            <a:r>
              <a:rPr lang="ru-RU" dirty="0" err="1" smtClean="0"/>
              <a:t>із</a:t>
            </a:r>
            <a:r>
              <a:rPr lang="ru-RU" dirty="0" smtClean="0"/>
              <a:t> </a:t>
            </a:r>
            <a:r>
              <a:rPr lang="ru-RU" dirty="0" err="1" smtClean="0"/>
              <a:t>збільшенням</a:t>
            </a:r>
            <a:r>
              <a:rPr lang="ru-RU" dirty="0" smtClean="0"/>
              <a:t> в три рази. </a:t>
            </a:r>
            <a:r>
              <a:rPr lang="uk-UA" dirty="0" smtClean="0"/>
              <a:t>Інші</a:t>
            </a:r>
            <a:r>
              <a:rPr lang="ru-RU" dirty="0" smtClean="0"/>
              <a:t> </a:t>
            </a:r>
            <a:r>
              <a:rPr lang="uk-UA" dirty="0" smtClean="0"/>
              <a:t>робили</a:t>
            </a:r>
            <a:r>
              <a:rPr lang="ru-RU" dirty="0" smtClean="0"/>
              <a:t> </a:t>
            </a:r>
            <a:r>
              <a:rPr lang="ru-RU" dirty="0"/>
              <a:t>те саме; Галілея відрізняло те, що він швидко зрозумів, як удосконалити інструмент, самостійно навчився мистецтву шліфування лінз і виготовляв дедалі потужніші телескопи. У серпні того ж року він представив венеціанському сенату </a:t>
            </a:r>
            <a:r>
              <a:rPr lang="ru-RU" dirty="0" smtClean="0"/>
              <a:t>восьмикратний </a:t>
            </a:r>
            <a:r>
              <a:rPr lang="ru-RU" dirty="0"/>
              <a:t>інструмент. </a:t>
            </a:r>
            <a:r>
              <a:rPr lang="ru-RU" dirty="0" err="1"/>
              <a:t>Восени</a:t>
            </a:r>
            <a:r>
              <a:rPr lang="ru-RU" dirty="0"/>
              <a:t> 1609 року </a:t>
            </a:r>
            <a:r>
              <a:rPr lang="ru-RU" dirty="0" err="1"/>
              <a:t>Галілей</a:t>
            </a:r>
            <a:r>
              <a:rPr lang="ru-RU" dirty="0"/>
              <a:t> </a:t>
            </a:r>
            <a:r>
              <a:rPr lang="ru-RU" dirty="0" smtClean="0"/>
              <a:t>почав </a:t>
            </a:r>
            <a:r>
              <a:rPr lang="ru-RU" dirty="0" err="1" smtClean="0"/>
              <a:t>спостерігати</a:t>
            </a:r>
            <a:r>
              <a:rPr lang="ru-RU" dirty="0" smtClean="0"/>
              <a:t> за небом </a:t>
            </a:r>
            <a:r>
              <a:rPr lang="ru-RU" dirty="0" err="1" smtClean="0"/>
              <a:t>із</a:t>
            </a:r>
            <a:r>
              <a:rPr lang="ru-RU" dirty="0" smtClean="0"/>
              <a:t> </a:t>
            </a:r>
            <a:r>
              <a:rPr lang="ru-RU" dirty="0" err="1" smtClean="0"/>
              <a:t>телеском</a:t>
            </a:r>
            <a:r>
              <a:rPr lang="ru-RU" dirty="0" smtClean="0"/>
              <a:t> </a:t>
            </a:r>
            <a:r>
              <a:rPr lang="ru-RU" dirty="0" err="1" smtClean="0"/>
              <a:t>зі</a:t>
            </a:r>
            <a:r>
              <a:rPr lang="ru-RU" dirty="0" smtClean="0"/>
              <a:t> </a:t>
            </a:r>
            <a:r>
              <a:rPr lang="ru-RU" dirty="0" err="1" smtClean="0"/>
              <a:t>збільшенням</a:t>
            </a:r>
            <a:r>
              <a:rPr lang="ru-RU" dirty="0" smtClean="0"/>
              <a:t> в 20 </a:t>
            </a:r>
            <a:r>
              <a:rPr lang="ru-RU" dirty="0" err="1" smtClean="0"/>
              <a:t>разів</a:t>
            </a:r>
            <a:r>
              <a:rPr lang="ru-RU" dirty="0" smtClean="0"/>
              <a:t>, а </a:t>
            </a:r>
            <a:r>
              <a:rPr lang="ru-RU" dirty="0" err="1" smtClean="0"/>
              <a:t>потім</a:t>
            </a:r>
            <a:r>
              <a:rPr lang="ru-RU" dirty="0" smtClean="0"/>
              <a:t> і в 32.</a:t>
            </a:r>
          </a:p>
          <a:p>
            <a:r>
              <a:rPr lang="uk-UA" dirty="0"/>
              <a:t>У </a:t>
            </a:r>
            <a:r>
              <a:rPr lang="uk-UA" dirty="0" smtClean="0"/>
              <a:t>1609—1610 </a:t>
            </a:r>
            <a:r>
              <a:rPr lang="uk-UA" dirty="0"/>
              <a:t>роках, змінюючи відстань між лінзами, Галілей створив мікроскоп. Завдяки Галілею лінзи й оптичні прилади стали розповсюдженим знаряддям наукових досліджень.</a:t>
            </a:r>
          </a:p>
        </p:txBody>
      </p:sp>
      <p:sp>
        <p:nvSpPr>
          <p:cNvPr id="10" name="Прямокутник 9"/>
          <p:cNvSpPr/>
          <p:nvPr/>
        </p:nvSpPr>
        <p:spPr>
          <a:xfrm>
            <a:off x="945292" y="6438719"/>
            <a:ext cx="5348416" cy="338554"/>
          </a:xfrm>
          <a:prstGeom prst="rect">
            <a:avLst/>
          </a:prstGeom>
        </p:spPr>
        <p:txBody>
          <a:bodyPr wrap="square">
            <a:spAutoFit/>
          </a:bodyPr>
          <a:lstStyle/>
          <a:p>
            <a:r>
              <a:rPr lang="uk-UA" sz="1600" i="1" dirty="0" smtClean="0"/>
              <a:t>Телескопи Галілея «</a:t>
            </a:r>
            <a:r>
              <a:rPr lang="en-US" sz="1600" i="1" dirty="0" err="1" smtClean="0"/>
              <a:t>cannocchiali</a:t>
            </a:r>
            <a:r>
              <a:rPr lang="en-US" sz="1600" i="1" dirty="0" smtClean="0"/>
              <a:t>» </a:t>
            </a:r>
            <a:r>
              <a:rPr lang="uk-UA" sz="1600" i="1" dirty="0" smtClean="0"/>
              <a:t>в Музеї Галілея у Флоренції.</a:t>
            </a:r>
            <a:endParaRPr lang="uk-UA" sz="1600" i="1" dirty="0"/>
          </a:p>
        </p:txBody>
      </p:sp>
      <p:pic>
        <p:nvPicPr>
          <p:cNvPr id="12" name="Рисунок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92630" y="3284029"/>
            <a:ext cx="1821832" cy="3323967"/>
          </a:xfrm>
          <a:prstGeom prst="rect">
            <a:avLst/>
          </a:prstGeom>
        </p:spPr>
      </p:pic>
      <p:sp>
        <p:nvSpPr>
          <p:cNvPr id="13" name="Прямокутник 12"/>
          <p:cNvSpPr/>
          <p:nvPr/>
        </p:nvSpPr>
        <p:spPr>
          <a:xfrm>
            <a:off x="7579569" y="4648351"/>
            <a:ext cx="1205526" cy="830997"/>
          </a:xfrm>
          <a:prstGeom prst="rect">
            <a:avLst/>
          </a:prstGeom>
        </p:spPr>
        <p:txBody>
          <a:bodyPr wrap="square">
            <a:spAutoFit/>
          </a:bodyPr>
          <a:lstStyle/>
          <a:p>
            <a:r>
              <a:rPr lang="uk-UA" sz="1600" i="1" dirty="0" smtClean="0"/>
              <a:t>Зразок вигляд мікроскопу.</a:t>
            </a:r>
            <a:endParaRPr lang="uk-UA" sz="1600" i="1" dirty="0"/>
          </a:p>
        </p:txBody>
      </p:sp>
    </p:spTree>
    <p:extLst>
      <p:ext uri="{BB962C8B-B14F-4D97-AF65-F5344CB8AC3E}">
        <p14:creationId xmlns:p14="http://schemas.microsoft.com/office/powerpoint/2010/main" val="3105507501"/>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231136" y="149146"/>
            <a:ext cx="7729728" cy="707589"/>
          </a:xfrm>
        </p:spPr>
        <p:txBody>
          <a:bodyPr>
            <a:normAutofit fontScale="90000"/>
          </a:bodyPr>
          <a:lstStyle/>
          <a:p>
            <a:r>
              <a:rPr lang="uk-UA" dirty="0" smtClean="0"/>
              <a:t>Відкриття в астрономії.</a:t>
            </a:r>
            <a:endParaRPr lang="uk-UA" dirty="0"/>
          </a:p>
        </p:txBody>
      </p:sp>
      <p:sp>
        <p:nvSpPr>
          <p:cNvPr id="3" name="Місце для вмісту 2"/>
          <p:cNvSpPr>
            <a:spLocks noGrp="1"/>
          </p:cNvSpPr>
          <p:nvPr>
            <p:ph idx="1"/>
          </p:nvPr>
        </p:nvSpPr>
        <p:spPr>
          <a:xfrm>
            <a:off x="354228" y="947351"/>
            <a:ext cx="6506094" cy="5692346"/>
          </a:xfrm>
        </p:spPr>
        <p:txBody>
          <a:bodyPr>
            <a:normAutofit fontScale="92500" lnSpcReduction="10000"/>
          </a:bodyPr>
          <a:lstStyle/>
          <a:p>
            <a:r>
              <a:rPr lang="uk-UA" dirty="0"/>
              <a:t>30 листопада 1609 року Галілей спрямував свій телескоп на </a:t>
            </a:r>
            <a:r>
              <a:rPr lang="uk-UA" dirty="0" smtClean="0"/>
              <a:t>Місяць й був першим хто відкрив </a:t>
            </a:r>
            <a:r>
              <a:rPr lang="ru-RU" dirty="0"/>
              <a:t>гори й </a:t>
            </a:r>
            <a:r>
              <a:rPr lang="ru-RU" dirty="0" err="1"/>
              <a:t>кратери</a:t>
            </a:r>
            <a:r>
              <a:rPr lang="ru-RU" dirty="0"/>
              <a:t> на </a:t>
            </a:r>
            <a:r>
              <a:rPr lang="ru-RU" dirty="0" err="1" smtClean="0"/>
              <a:t>Місяці</a:t>
            </a:r>
            <a:r>
              <a:rPr lang="ru-RU" dirty="0" smtClean="0"/>
              <a:t>.</a:t>
            </a:r>
          </a:p>
          <a:p>
            <a:r>
              <a:rPr lang="uk-UA" dirty="0"/>
              <a:t>Галілей проводив телескопічні дослідження сонячних </a:t>
            </a:r>
            <a:r>
              <a:rPr lang="uk-UA" dirty="0" smtClean="0"/>
              <a:t>плям.</a:t>
            </a:r>
            <a:r>
              <a:rPr lang="ru-RU" dirty="0" smtClean="0"/>
              <a:t> </a:t>
            </a:r>
            <a:r>
              <a:rPr lang="ru-RU" dirty="0" err="1"/>
              <a:t>Їхнє</a:t>
            </a:r>
            <a:r>
              <a:rPr lang="ru-RU" dirty="0"/>
              <a:t> </a:t>
            </a:r>
            <a:r>
              <a:rPr lang="ru-RU" dirty="0" err="1"/>
              <a:t>існування</a:t>
            </a:r>
            <a:r>
              <a:rPr lang="ru-RU" dirty="0"/>
              <a:t> створило </a:t>
            </a:r>
            <a:r>
              <a:rPr lang="ru-RU" dirty="0" err="1"/>
              <a:t>ще</a:t>
            </a:r>
            <a:r>
              <a:rPr lang="ru-RU" dirty="0"/>
              <a:t> одну проблему в </a:t>
            </a:r>
            <a:r>
              <a:rPr lang="ru-RU" dirty="0" err="1"/>
              <a:t>незмінній</a:t>
            </a:r>
            <a:r>
              <a:rPr lang="ru-RU" dirty="0"/>
              <a:t> </a:t>
            </a:r>
            <a:r>
              <a:rPr lang="ru-RU" dirty="0" err="1"/>
              <a:t>досконалості</a:t>
            </a:r>
            <a:r>
              <a:rPr lang="ru-RU" dirty="0"/>
              <a:t> </a:t>
            </a:r>
            <a:r>
              <a:rPr lang="ru-RU" dirty="0" smtClean="0"/>
              <a:t>небес.</a:t>
            </a:r>
          </a:p>
          <a:p>
            <a:r>
              <a:rPr lang="uk-UA" dirty="0"/>
              <a:t>У 1610 році Галілей також спостерігав планету Сатурн і спочатку прийняв її кільця за дві інші </a:t>
            </a:r>
            <a:r>
              <a:rPr lang="uk-UA" dirty="0" smtClean="0"/>
              <a:t>планети, </a:t>
            </a:r>
            <a:r>
              <a:rPr lang="uk-UA" dirty="0"/>
              <a:t>думаючи, що це система з трьох тіл, через недосконалість його телескопа. Коли він спостерігав планету пізніше, кільця Сатурна були орієнтовані до Землі ребром, що змусило його подумати, що два тіла зникли. Кільця знову з'явилися, коли він спостерігав планету в 1616 році, що ще більше збило його з </a:t>
            </a:r>
            <a:r>
              <a:rPr lang="uk-UA" dirty="0" smtClean="0"/>
              <a:t>пантелику.</a:t>
            </a:r>
            <a:endParaRPr lang="uk-UA" dirty="0"/>
          </a:p>
          <a:p>
            <a:r>
              <a:rPr lang="uk-UA" dirty="0"/>
              <a:t>1612 </a:t>
            </a:r>
            <a:r>
              <a:rPr lang="uk-UA" dirty="0" smtClean="0"/>
              <a:t>року спостерігав </a:t>
            </a:r>
            <a:r>
              <a:rPr lang="uk-UA" dirty="0"/>
              <a:t>Нептун. В його нотатниках це одна з багатьох непримітних тьмяних зір. Він не усвідомлював, що це планета, але відзначив її рух відносно зір, перш ніж втратити її з поля </a:t>
            </a:r>
            <a:r>
              <a:rPr lang="uk-UA" dirty="0" smtClean="0"/>
              <a:t>зору.</a:t>
            </a:r>
          </a:p>
          <a:p>
            <a:r>
              <a:rPr lang="uk-UA" dirty="0"/>
              <a:t>Галілей спостерігав Чумацький Шлях, який раніше вважався галактичною туманністю, і виявив, що він складається з багатьох зір, розташованих на небі так близько одна до одної, що з Землі вони здаються хмарами. Він знайшов багато інших зір, занадто тьмяних, щоб їх можна було побачити неозброєним </a:t>
            </a:r>
            <a:r>
              <a:rPr lang="uk-UA" dirty="0" smtClean="0"/>
              <a:t>оком.</a:t>
            </a:r>
            <a:endParaRPr lang="uk-UA" dirty="0"/>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1101" y="947351"/>
            <a:ext cx="2913681" cy="4889157"/>
          </a:xfrm>
          <a:prstGeom prst="rect">
            <a:avLst/>
          </a:prstGeom>
        </p:spPr>
      </p:pic>
      <p:sp>
        <p:nvSpPr>
          <p:cNvPr id="5" name="Прямокутник 4"/>
          <p:cNvSpPr/>
          <p:nvPr/>
        </p:nvSpPr>
        <p:spPr>
          <a:xfrm>
            <a:off x="9061100" y="5836508"/>
            <a:ext cx="2913681" cy="646331"/>
          </a:xfrm>
          <a:prstGeom prst="rect">
            <a:avLst/>
          </a:prstGeom>
        </p:spPr>
        <p:txBody>
          <a:bodyPr wrap="square">
            <a:spAutoFit/>
          </a:bodyPr>
          <a:lstStyle/>
          <a:p>
            <a:pPr algn="ctr"/>
            <a:r>
              <a:rPr lang="uk-UA" sz="1200" b="0" i="1" dirty="0" smtClean="0">
                <a:solidFill>
                  <a:srgbClr val="202122"/>
                </a:solidFill>
                <a:effectLst/>
                <a:latin typeface="Arial" panose="020B0604020202020204" pitchFamily="34" charset="0"/>
              </a:rPr>
              <a:t>Ілюстрація Місяця з «</a:t>
            </a:r>
            <a:r>
              <a:rPr lang="en-US" sz="1200" b="0" i="1" dirty="0" err="1" smtClean="0">
                <a:solidFill>
                  <a:srgbClr val="202122"/>
                </a:solidFill>
                <a:effectLst/>
                <a:latin typeface="Arial" panose="020B0604020202020204" pitchFamily="34" charset="0"/>
              </a:rPr>
              <a:t>Sidereus</a:t>
            </a:r>
            <a:r>
              <a:rPr lang="en-US" sz="1200" b="0" i="1" dirty="0" smtClean="0">
                <a:solidFill>
                  <a:srgbClr val="202122"/>
                </a:solidFill>
                <a:effectLst/>
                <a:latin typeface="Arial" panose="020B0604020202020204" pitchFamily="34" charset="0"/>
              </a:rPr>
              <a:t> </a:t>
            </a:r>
            <a:r>
              <a:rPr lang="en-US" sz="1200" b="0" i="1" dirty="0" err="1" smtClean="0">
                <a:solidFill>
                  <a:srgbClr val="202122"/>
                </a:solidFill>
                <a:effectLst/>
                <a:latin typeface="Arial" panose="020B0604020202020204" pitchFamily="34" charset="0"/>
              </a:rPr>
              <a:t>Nuncius</a:t>
            </a:r>
            <a:r>
              <a:rPr lang="en-US" sz="1200" b="0" i="1" dirty="0" smtClean="0">
                <a:solidFill>
                  <a:srgbClr val="202122"/>
                </a:solidFill>
                <a:effectLst/>
                <a:latin typeface="Arial" panose="020B0604020202020204" pitchFamily="34" charset="0"/>
              </a:rPr>
              <a:t>», </a:t>
            </a:r>
            <a:r>
              <a:rPr lang="uk-UA" sz="1200" b="0" i="1" dirty="0" smtClean="0">
                <a:solidFill>
                  <a:srgbClr val="202122"/>
                </a:solidFill>
                <a:effectLst/>
                <a:latin typeface="Arial" panose="020B0604020202020204" pitchFamily="34" charset="0"/>
              </a:rPr>
              <a:t>опублікована у Венеції, 1610 рік.</a:t>
            </a:r>
            <a:endParaRPr lang="uk-UA" sz="1200" i="1" dirty="0"/>
          </a:p>
        </p:txBody>
      </p:sp>
      <p:pic>
        <p:nvPicPr>
          <p:cNvPr id="7" name="Рисунок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83625" y="2331307"/>
            <a:ext cx="1954171" cy="1882518"/>
          </a:xfrm>
          <a:prstGeom prst="rect">
            <a:avLst/>
          </a:prstGeom>
        </p:spPr>
      </p:pic>
      <p:sp>
        <p:nvSpPr>
          <p:cNvPr id="8" name="Прямокутник 7"/>
          <p:cNvSpPr/>
          <p:nvPr/>
        </p:nvSpPr>
        <p:spPr>
          <a:xfrm>
            <a:off x="7075143" y="4213825"/>
            <a:ext cx="1771135" cy="276999"/>
          </a:xfrm>
          <a:prstGeom prst="rect">
            <a:avLst/>
          </a:prstGeom>
        </p:spPr>
        <p:txBody>
          <a:bodyPr wrap="square">
            <a:spAutoFit/>
          </a:bodyPr>
          <a:lstStyle/>
          <a:p>
            <a:pPr algn="ctr"/>
            <a:r>
              <a:rPr lang="uk-UA" sz="1200" i="1" dirty="0" smtClean="0">
                <a:solidFill>
                  <a:srgbClr val="202122"/>
                </a:solidFill>
                <a:latin typeface="Arial" panose="020B0604020202020204" pitchFamily="34" charset="0"/>
              </a:rPr>
              <a:t>Сонячні плями.</a:t>
            </a:r>
            <a:endParaRPr lang="uk-UA" sz="1200" i="1" dirty="0"/>
          </a:p>
        </p:txBody>
      </p:sp>
    </p:spTree>
    <p:extLst>
      <p:ext uri="{BB962C8B-B14F-4D97-AF65-F5344CB8AC3E}">
        <p14:creationId xmlns:p14="http://schemas.microsoft.com/office/powerpoint/2010/main" val="1425023764"/>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231136" y="149146"/>
            <a:ext cx="7729728" cy="707589"/>
          </a:xfrm>
        </p:spPr>
        <p:txBody>
          <a:bodyPr>
            <a:normAutofit fontScale="90000"/>
          </a:bodyPr>
          <a:lstStyle/>
          <a:p>
            <a:r>
              <a:rPr lang="uk-UA" dirty="0" smtClean="0"/>
              <a:t>Відкриття в астрономії.</a:t>
            </a:r>
            <a:endParaRPr lang="uk-UA" dirty="0"/>
          </a:p>
        </p:txBody>
      </p:sp>
      <p:sp>
        <p:nvSpPr>
          <p:cNvPr id="3" name="Місце для вмісту 2"/>
          <p:cNvSpPr>
            <a:spLocks noGrp="1"/>
          </p:cNvSpPr>
          <p:nvPr>
            <p:ph idx="1"/>
          </p:nvPr>
        </p:nvSpPr>
        <p:spPr>
          <a:xfrm>
            <a:off x="345991" y="1268625"/>
            <a:ext cx="7858896" cy="5049795"/>
          </a:xfrm>
        </p:spPr>
        <p:txBody>
          <a:bodyPr>
            <a:normAutofit/>
          </a:bodyPr>
          <a:lstStyle/>
          <a:p>
            <a:r>
              <a:rPr lang="ru-RU" dirty="0"/>
              <a:t>З </a:t>
            </a:r>
            <a:r>
              <a:rPr lang="ru-RU" dirty="0" err="1"/>
              <a:t>вересня</a:t>
            </a:r>
            <a:r>
              <a:rPr lang="ru-RU" dirty="0"/>
              <a:t> 1610 року </a:t>
            </a:r>
            <a:r>
              <a:rPr lang="ru-RU" dirty="0" err="1" smtClean="0"/>
              <a:t>Галілей</a:t>
            </a:r>
            <a:r>
              <a:rPr lang="ru-RU" dirty="0" smtClean="0"/>
              <a:t> </a:t>
            </a:r>
            <a:r>
              <a:rPr lang="ru-RU" dirty="0" err="1" smtClean="0"/>
              <a:t>відкрив</a:t>
            </a:r>
            <a:r>
              <a:rPr lang="ru-RU" dirty="0" smtClean="0"/>
              <a:t>, що Венера </a:t>
            </a:r>
            <a:r>
              <a:rPr lang="ru-RU" dirty="0" err="1" smtClean="0"/>
              <a:t>має</a:t>
            </a:r>
            <a:r>
              <a:rPr lang="ru-RU" dirty="0" smtClean="0"/>
              <a:t> </a:t>
            </a:r>
            <a:r>
              <a:rPr lang="ru-RU" dirty="0" err="1" smtClean="0"/>
              <a:t>повний</a:t>
            </a:r>
            <a:r>
              <a:rPr lang="ru-RU" dirty="0" smtClean="0"/>
              <a:t> </a:t>
            </a:r>
            <a:r>
              <a:rPr lang="ru-RU" dirty="0" err="1" smtClean="0"/>
              <a:t>набір</a:t>
            </a:r>
            <a:r>
              <a:rPr lang="ru-RU" dirty="0" smtClean="0"/>
              <a:t> фаз, </a:t>
            </a:r>
            <a:r>
              <a:rPr lang="ru-RU" dirty="0" err="1" smtClean="0"/>
              <a:t>подібних</a:t>
            </a:r>
            <a:r>
              <a:rPr lang="ru-RU" dirty="0" smtClean="0"/>
              <a:t> до фаз </a:t>
            </a:r>
            <a:r>
              <a:rPr lang="ru-RU" dirty="0" err="1" smtClean="0"/>
              <a:t>Місяця</a:t>
            </a:r>
            <a:r>
              <a:rPr lang="ru-RU" dirty="0"/>
              <a:t>. </a:t>
            </a:r>
            <a:r>
              <a:rPr lang="uk-UA" dirty="0" smtClean="0"/>
              <a:t>Їхню </a:t>
            </a:r>
            <a:r>
              <a:rPr lang="ru-RU" dirty="0" err="1" smtClean="0"/>
              <a:t>геометрію</a:t>
            </a:r>
            <a:r>
              <a:rPr lang="ru-RU" dirty="0" smtClean="0"/>
              <a:t> </a:t>
            </a:r>
            <a:r>
              <a:rPr lang="ru-RU" dirty="0" err="1"/>
              <a:t>можна</a:t>
            </a:r>
            <a:r>
              <a:rPr lang="ru-RU" dirty="0"/>
              <a:t> </a:t>
            </a:r>
            <a:r>
              <a:rPr lang="ru-RU" dirty="0" err="1"/>
              <a:t>було</a:t>
            </a:r>
            <a:r>
              <a:rPr lang="ru-RU" dirty="0"/>
              <a:t> </a:t>
            </a:r>
            <a:r>
              <a:rPr lang="ru-RU" dirty="0" err="1"/>
              <a:t>пояснити</a:t>
            </a:r>
            <a:r>
              <a:rPr lang="ru-RU" dirty="0"/>
              <a:t> </a:t>
            </a:r>
            <a:r>
              <a:rPr lang="ru-RU" dirty="0" err="1"/>
              <a:t>лише</a:t>
            </a:r>
            <a:r>
              <a:rPr lang="ru-RU" dirty="0"/>
              <a:t> за </a:t>
            </a:r>
            <a:r>
              <a:rPr lang="ru-RU" dirty="0" err="1"/>
              <a:t>умови</a:t>
            </a:r>
            <a:r>
              <a:rPr lang="ru-RU" dirty="0"/>
              <a:t>, що Венера </a:t>
            </a:r>
            <a:r>
              <a:rPr lang="ru-RU" dirty="0" err="1"/>
              <a:t>рухалася</a:t>
            </a:r>
            <a:r>
              <a:rPr lang="ru-RU" dirty="0"/>
              <a:t> </a:t>
            </a:r>
            <a:r>
              <a:rPr lang="ru-RU" dirty="0" err="1"/>
              <a:t>навколо</a:t>
            </a:r>
            <a:r>
              <a:rPr lang="ru-RU" dirty="0"/>
              <a:t> </a:t>
            </a:r>
            <a:r>
              <a:rPr lang="ru-RU" dirty="0" err="1"/>
              <a:t>Сонця</a:t>
            </a:r>
            <a:r>
              <a:rPr lang="ru-RU" dirty="0"/>
              <a:t>, а не </a:t>
            </a:r>
            <a:r>
              <a:rPr lang="ru-RU" dirty="0" err="1"/>
              <a:t>Землі</a:t>
            </a:r>
            <a:r>
              <a:rPr lang="ru-RU" dirty="0"/>
              <a:t>. </a:t>
            </a:r>
            <a:r>
              <a:rPr lang="ru-RU" dirty="0" err="1"/>
              <a:t>Це</a:t>
            </a:r>
            <a:r>
              <a:rPr lang="ru-RU" dirty="0"/>
              <a:t> </a:t>
            </a:r>
            <a:r>
              <a:rPr lang="ru-RU" dirty="0" err="1"/>
              <a:t>підривало</a:t>
            </a:r>
            <a:r>
              <a:rPr lang="ru-RU" dirty="0"/>
              <a:t> </a:t>
            </a:r>
            <a:r>
              <a:rPr lang="ru-RU" dirty="0" err="1"/>
              <a:t>ідею</a:t>
            </a:r>
            <a:r>
              <a:rPr lang="ru-RU" dirty="0"/>
              <a:t> про те, що все на небесах </a:t>
            </a:r>
            <a:r>
              <a:rPr lang="ru-RU" dirty="0" err="1"/>
              <a:t>обертається</a:t>
            </a:r>
            <a:r>
              <a:rPr lang="ru-RU" dirty="0"/>
              <a:t> </a:t>
            </a:r>
            <a:r>
              <a:rPr lang="ru-RU" dirty="0" err="1"/>
              <a:t>навколо</a:t>
            </a:r>
            <a:r>
              <a:rPr lang="ru-RU" dirty="0"/>
              <a:t> </a:t>
            </a:r>
            <a:r>
              <a:rPr lang="ru-RU" dirty="0" err="1" smtClean="0"/>
              <a:t>Землі</a:t>
            </a:r>
            <a:r>
              <a:rPr lang="uk-UA" dirty="0" smtClean="0"/>
              <a:t>, і підтверджувало теорію Коперника.</a:t>
            </a:r>
            <a:endParaRPr lang="ru-RU" dirty="0" smtClean="0"/>
          </a:p>
          <a:p>
            <a:r>
              <a:rPr lang="uk-UA" dirty="0" smtClean="0"/>
              <a:t>В січні 1610 року, спостерігавши за нічним небом, помітив та відкрив 4 супутники, що обертаються навколо Юпітера.</a:t>
            </a:r>
            <a:endParaRPr lang="ru-RU" dirty="0" smtClean="0"/>
          </a:p>
          <a:p>
            <a:r>
              <a:rPr lang="ru-RU" dirty="0" err="1" smtClean="0"/>
              <a:t>Всі</a:t>
            </a:r>
            <a:r>
              <a:rPr lang="ru-RU" dirty="0" smtClean="0"/>
              <a:t> </a:t>
            </a:r>
            <a:r>
              <a:rPr lang="ru-RU" dirty="0" err="1" smtClean="0"/>
              <a:t>винаходи</a:t>
            </a:r>
            <a:r>
              <a:rPr lang="ru-RU" dirty="0" smtClean="0"/>
              <a:t> </a:t>
            </a:r>
            <a:r>
              <a:rPr lang="ru-RU" dirty="0" err="1" smtClean="0"/>
              <a:t>Галелія</a:t>
            </a:r>
            <a:r>
              <a:rPr lang="ru-RU" dirty="0" smtClean="0"/>
              <a:t> </a:t>
            </a:r>
            <a:r>
              <a:rPr lang="ru-RU" dirty="0" err="1"/>
              <a:t>підірвали</a:t>
            </a:r>
            <a:r>
              <a:rPr lang="ru-RU" dirty="0"/>
              <a:t> </a:t>
            </a:r>
            <a:r>
              <a:rPr lang="ru-RU" dirty="0" err="1"/>
              <a:t>аристотелівську</a:t>
            </a:r>
            <a:r>
              <a:rPr lang="ru-RU" dirty="0"/>
              <a:t> </a:t>
            </a:r>
            <a:r>
              <a:rPr lang="ru-RU" dirty="0" err="1"/>
              <a:t>космологію</a:t>
            </a:r>
            <a:r>
              <a:rPr lang="ru-RU" dirty="0"/>
              <a:t>: абсолютна </a:t>
            </a:r>
            <a:r>
              <a:rPr lang="ru-RU" dirty="0" err="1"/>
              <a:t>різниця</a:t>
            </a:r>
            <a:r>
              <a:rPr lang="ru-RU" dirty="0"/>
              <a:t> </a:t>
            </a:r>
            <a:r>
              <a:rPr lang="ru-RU" dirty="0" err="1"/>
              <a:t>між</a:t>
            </a:r>
            <a:r>
              <a:rPr lang="ru-RU" dirty="0"/>
              <a:t> </a:t>
            </a:r>
            <a:r>
              <a:rPr lang="ru-RU" dirty="0" err="1"/>
              <a:t>зіпсованим</a:t>
            </a:r>
            <a:r>
              <a:rPr lang="ru-RU" dirty="0"/>
              <a:t> </a:t>
            </a:r>
            <a:r>
              <a:rPr lang="ru-RU" dirty="0" err="1"/>
              <a:t>земним</a:t>
            </a:r>
            <a:r>
              <a:rPr lang="ru-RU" dirty="0"/>
              <a:t> </a:t>
            </a:r>
            <a:r>
              <a:rPr lang="ru-RU" dirty="0" err="1"/>
              <a:t>регіоном</a:t>
            </a:r>
            <a:r>
              <a:rPr lang="ru-RU" dirty="0"/>
              <a:t> та </a:t>
            </a:r>
            <a:r>
              <a:rPr lang="ru-RU" dirty="0" err="1"/>
              <a:t>досконалими</a:t>
            </a:r>
            <a:r>
              <a:rPr lang="ru-RU" dirty="0"/>
              <a:t> й </a:t>
            </a:r>
            <a:r>
              <a:rPr lang="ru-RU" dirty="0" err="1"/>
              <a:t>незмінними</a:t>
            </a:r>
            <a:r>
              <a:rPr lang="ru-RU" dirty="0"/>
              <a:t> небесами </a:t>
            </a:r>
            <a:r>
              <a:rPr lang="ru-RU" dirty="0" err="1"/>
              <a:t>була</a:t>
            </a:r>
            <a:r>
              <a:rPr lang="ru-RU" dirty="0"/>
              <a:t> </a:t>
            </a:r>
            <a:r>
              <a:rPr lang="ru-RU" dirty="0" err="1"/>
              <a:t>спростована</a:t>
            </a:r>
            <a:r>
              <a:rPr lang="ru-RU" dirty="0"/>
              <a:t> </a:t>
            </a:r>
            <a:r>
              <a:rPr lang="ru-RU" dirty="0" err="1"/>
              <a:t>гірською</a:t>
            </a:r>
            <a:r>
              <a:rPr lang="ru-RU" dirty="0"/>
              <a:t> </a:t>
            </a:r>
            <a:r>
              <a:rPr lang="ru-RU" dirty="0" err="1"/>
              <a:t>поверхнею</a:t>
            </a:r>
            <a:r>
              <a:rPr lang="ru-RU" dirty="0"/>
              <a:t> </a:t>
            </a:r>
            <a:r>
              <a:rPr lang="ru-RU" dirty="0" err="1"/>
              <a:t>Місяця</a:t>
            </a:r>
            <a:r>
              <a:rPr lang="ru-RU" dirty="0"/>
              <a:t>, </a:t>
            </a:r>
            <a:r>
              <a:rPr lang="ru-RU" dirty="0" err="1"/>
              <a:t>супутники</a:t>
            </a:r>
            <a:r>
              <a:rPr lang="ru-RU" dirty="0"/>
              <a:t> </a:t>
            </a:r>
            <a:r>
              <a:rPr lang="ru-RU" dirty="0" err="1"/>
              <a:t>Юпітера</a:t>
            </a:r>
            <a:r>
              <a:rPr lang="ru-RU" dirty="0"/>
              <a:t> показали, що у </a:t>
            </a:r>
            <a:r>
              <a:rPr lang="ru-RU" dirty="0" err="1"/>
              <a:t>Всесвіті</a:t>
            </a:r>
            <a:r>
              <a:rPr lang="ru-RU" dirty="0"/>
              <a:t> </a:t>
            </a:r>
            <a:r>
              <a:rPr lang="ru-RU" dirty="0" err="1"/>
              <a:t>має</a:t>
            </a:r>
            <a:r>
              <a:rPr lang="ru-RU" dirty="0"/>
              <a:t> бути </a:t>
            </a:r>
            <a:r>
              <a:rPr lang="ru-RU" dirty="0" err="1"/>
              <a:t>більше</a:t>
            </a:r>
            <a:r>
              <a:rPr lang="ru-RU" dirty="0"/>
              <a:t> одного центру </a:t>
            </a:r>
            <a:r>
              <a:rPr lang="ru-RU" dirty="0" err="1"/>
              <a:t>руху</a:t>
            </a:r>
            <a:r>
              <a:rPr lang="ru-RU" dirty="0"/>
              <a:t>, а </a:t>
            </a:r>
            <a:r>
              <a:rPr lang="ru-RU" dirty="0" err="1"/>
              <a:t>фази</a:t>
            </a:r>
            <a:r>
              <a:rPr lang="ru-RU" dirty="0"/>
              <a:t> </a:t>
            </a:r>
            <a:r>
              <a:rPr lang="ru-RU" dirty="0" err="1"/>
              <a:t>Венери</a:t>
            </a:r>
            <a:r>
              <a:rPr lang="ru-RU" dirty="0"/>
              <a:t> показали, що вона (і, як </a:t>
            </a:r>
            <a:r>
              <a:rPr lang="ru-RU" dirty="0" err="1"/>
              <a:t>наслідок</a:t>
            </a:r>
            <a:r>
              <a:rPr lang="ru-RU" dirty="0"/>
              <a:t>, </a:t>
            </a:r>
            <a:r>
              <a:rPr lang="ru-RU" dirty="0" err="1"/>
              <a:t>Меркурій</a:t>
            </a:r>
            <a:r>
              <a:rPr lang="ru-RU" dirty="0"/>
              <a:t>) </a:t>
            </a:r>
            <a:r>
              <a:rPr lang="ru-RU" dirty="0" err="1"/>
              <a:t>обертається</a:t>
            </a:r>
            <a:r>
              <a:rPr lang="ru-RU" dirty="0"/>
              <a:t> </a:t>
            </a:r>
            <a:r>
              <a:rPr lang="ru-RU" dirty="0" err="1"/>
              <a:t>навколо</a:t>
            </a:r>
            <a:r>
              <a:rPr lang="ru-RU" dirty="0"/>
              <a:t> </a:t>
            </a:r>
            <a:r>
              <a:rPr lang="ru-RU" dirty="0" err="1"/>
              <a:t>Сонця</a:t>
            </a:r>
            <a:r>
              <a:rPr lang="ru-RU" dirty="0"/>
              <a:t>. В </a:t>
            </a:r>
            <a:r>
              <a:rPr lang="ru-RU" dirty="0" err="1"/>
              <a:t>результаті</a:t>
            </a:r>
            <a:r>
              <a:rPr lang="ru-RU" dirty="0"/>
              <a:t> </a:t>
            </a:r>
            <a:r>
              <a:rPr lang="ru-RU" dirty="0" err="1"/>
              <a:t>Галілей</a:t>
            </a:r>
            <a:r>
              <a:rPr lang="ru-RU" dirty="0"/>
              <a:t> </a:t>
            </a:r>
            <a:r>
              <a:rPr lang="ru-RU" dirty="0" err="1"/>
              <a:t>підтвердився</a:t>
            </a:r>
            <a:r>
              <a:rPr lang="ru-RU" dirty="0"/>
              <a:t> у </a:t>
            </a:r>
            <a:r>
              <a:rPr lang="ru-RU" dirty="0" err="1"/>
              <a:t>своїй</a:t>
            </a:r>
            <a:r>
              <a:rPr lang="ru-RU" dirty="0"/>
              <a:t> </a:t>
            </a:r>
            <a:r>
              <a:rPr lang="ru-RU" dirty="0" err="1"/>
              <a:t>вірі</a:t>
            </a:r>
            <a:r>
              <a:rPr lang="ru-RU" dirty="0"/>
              <a:t>, </a:t>
            </a:r>
            <a:r>
              <a:rPr lang="ru-RU" dirty="0" err="1"/>
              <a:t>якої</a:t>
            </a:r>
            <a:r>
              <a:rPr lang="ru-RU" dirty="0"/>
              <a:t> він, </a:t>
            </a:r>
            <a:r>
              <a:rPr lang="ru-RU" dirty="0" err="1"/>
              <a:t>ймовірно</a:t>
            </a:r>
            <a:r>
              <a:rPr lang="ru-RU" dirty="0"/>
              <a:t>, </a:t>
            </a:r>
            <a:r>
              <a:rPr lang="ru-RU" dirty="0" err="1"/>
              <a:t>дотримувався</a:t>
            </a:r>
            <a:r>
              <a:rPr lang="ru-RU" dirty="0"/>
              <a:t> </a:t>
            </a:r>
            <a:r>
              <a:rPr lang="ru-RU" dirty="0" err="1"/>
              <a:t>десятиліттями</a:t>
            </a:r>
            <a:r>
              <a:rPr lang="ru-RU" dirty="0"/>
              <a:t>, але яка не </a:t>
            </a:r>
            <a:r>
              <a:rPr lang="ru-RU" dirty="0" err="1"/>
              <a:t>була</a:t>
            </a:r>
            <a:r>
              <a:rPr lang="ru-RU" dirty="0"/>
              <a:t> центральною в </a:t>
            </a:r>
            <a:r>
              <a:rPr lang="ru-RU" dirty="0" err="1"/>
              <a:t>його</a:t>
            </a:r>
            <a:r>
              <a:rPr lang="ru-RU" dirty="0"/>
              <a:t> </a:t>
            </a:r>
            <a:r>
              <a:rPr lang="ru-RU" dirty="0" err="1"/>
              <a:t>дослідженнях</a:t>
            </a:r>
            <a:r>
              <a:rPr lang="ru-RU" dirty="0"/>
              <a:t>, що </a:t>
            </a:r>
            <a:r>
              <a:rPr lang="ru-RU" dirty="0" err="1"/>
              <a:t>Сонце</a:t>
            </a:r>
            <a:r>
              <a:rPr lang="ru-RU" dirty="0"/>
              <a:t> є центром </a:t>
            </a:r>
            <a:r>
              <a:rPr lang="ru-RU" dirty="0" err="1" smtClean="0"/>
              <a:t>Всесвіту</a:t>
            </a:r>
            <a:r>
              <a:rPr lang="ru-RU" dirty="0" smtClean="0"/>
              <a:t>, а Земля — планета, як </a:t>
            </a:r>
            <a:r>
              <a:rPr lang="ru-RU" dirty="0" err="1" smtClean="0"/>
              <a:t>стверджував</a:t>
            </a:r>
            <a:r>
              <a:rPr lang="ru-RU" dirty="0" smtClean="0"/>
              <a:t> Коперник. </a:t>
            </a:r>
            <a:r>
              <a:rPr lang="ru-RU" dirty="0" err="1" smtClean="0"/>
              <a:t>Звернення</a:t>
            </a:r>
            <a:r>
              <a:rPr lang="ru-RU" dirty="0" smtClean="0"/>
              <a:t> Галілея </a:t>
            </a:r>
            <a:r>
              <a:rPr lang="ru-RU" dirty="0"/>
              <a:t>до </a:t>
            </a:r>
            <a:r>
              <a:rPr lang="ru-RU" dirty="0" err="1"/>
              <a:t>коперніканства</a:t>
            </a:r>
            <a:r>
              <a:rPr lang="ru-RU" dirty="0"/>
              <a:t> стало </a:t>
            </a:r>
            <a:r>
              <a:rPr lang="ru-RU" dirty="0" err="1"/>
              <a:t>ключовим</a:t>
            </a:r>
            <a:r>
              <a:rPr lang="ru-RU" dirty="0"/>
              <a:t> </a:t>
            </a:r>
            <a:r>
              <a:rPr lang="ru-RU" dirty="0" err="1"/>
              <a:t>поворотним</a:t>
            </a:r>
            <a:r>
              <a:rPr lang="ru-RU" dirty="0"/>
              <a:t> моментом у </a:t>
            </a:r>
            <a:r>
              <a:rPr lang="ru-RU" dirty="0" err="1"/>
              <a:t>Науковій</a:t>
            </a:r>
            <a:r>
              <a:rPr lang="ru-RU" dirty="0"/>
              <a:t> </a:t>
            </a:r>
            <a:r>
              <a:rPr lang="ru-RU" dirty="0" err="1"/>
              <a:t>революції</a:t>
            </a:r>
            <a:r>
              <a:rPr lang="ru-RU" dirty="0" smtClean="0"/>
              <a:t>.</a:t>
            </a:r>
          </a:p>
        </p:txBody>
      </p:sp>
      <p:pic>
        <p:nvPicPr>
          <p:cNvPr id="9" name="Рисунок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52515" y="917465"/>
            <a:ext cx="3188558" cy="2374603"/>
          </a:xfrm>
          <a:prstGeom prst="rect">
            <a:avLst/>
          </a:prstGeom>
        </p:spPr>
      </p:pic>
      <p:pic>
        <p:nvPicPr>
          <p:cNvPr id="10" name="Рисунок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52515" y="3608856"/>
            <a:ext cx="3188558" cy="1913135"/>
          </a:xfrm>
          <a:prstGeom prst="rect">
            <a:avLst/>
          </a:prstGeom>
        </p:spPr>
      </p:pic>
      <p:sp>
        <p:nvSpPr>
          <p:cNvPr id="11" name="Прямокутник 10"/>
          <p:cNvSpPr/>
          <p:nvPr/>
        </p:nvSpPr>
        <p:spPr>
          <a:xfrm>
            <a:off x="8252515" y="5495429"/>
            <a:ext cx="3188558" cy="1169551"/>
          </a:xfrm>
          <a:prstGeom prst="rect">
            <a:avLst/>
          </a:prstGeom>
        </p:spPr>
        <p:txBody>
          <a:bodyPr wrap="square">
            <a:spAutoFit/>
          </a:bodyPr>
          <a:lstStyle/>
          <a:p>
            <a:pPr algn="ctr"/>
            <a:r>
              <a:rPr lang="uk-UA" sz="1400" i="1" dirty="0" smtClean="0"/>
              <a:t>Спостереження Галілео Галілея від 13 січня 1610 року — рукопис із позначеннями положень супутників Юпітера, поруч із сучасною реконструкцією їхніх позицій.</a:t>
            </a:r>
            <a:endParaRPr lang="uk-UA" sz="1400" i="1" dirty="0"/>
          </a:p>
        </p:txBody>
      </p:sp>
      <p:sp>
        <p:nvSpPr>
          <p:cNvPr id="12" name="Прямокутник 11"/>
          <p:cNvSpPr/>
          <p:nvPr/>
        </p:nvSpPr>
        <p:spPr>
          <a:xfrm>
            <a:off x="9215829" y="3239524"/>
            <a:ext cx="1261930" cy="369332"/>
          </a:xfrm>
          <a:prstGeom prst="rect">
            <a:avLst/>
          </a:prstGeom>
        </p:spPr>
        <p:txBody>
          <a:bodyPr wrap="square">
            <a:spAutoFit/>
          </a:bodyPr>
          <a:lstStyle/>
          <a:p>
            <a:r>
              <a:rPr lang="uk-UA" sz="1400" i="1" dirty="0" smtClean="0"/>
              <a:t>Фази Венери</a:t>
            </a:r>
            <a:r>
              <a:rPr lang="uk-UA" dirty="0" smtClean="0"/>
              <a:t>.</a:t>
            </a:r>
            <a:endParaRPr lang="uk-UA" dirty="0"/>
          </a:p>
        </p:txBody>
      </p:sp>
    </p:spTree>
    <p:extLst>
      <p:ext uri="{BB962C8B-B14F-4D97-AF65-F5344CB8AC3E}">
        <p14:creationId xmlns:p14="http://schemas.microsoft.com/office/powerpoint/2010/main" val="3296309843"/>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231136" y="149146"/>
            <a:ext cx="7729728" cy="707589"/>
          </a:xfrm>
        </p:spPr>
        <p:txBody>
          <a:bodyPr>
            <a:normAutofit fontScale="90000"/>
          </a:bodyPr>
          <a:lstStyle/>
          <a:p>
            <a:r>
              <a:rPr lang="uk-UA" dirty="0"/>
              <a:t>Закони механіки та </a:t>
            </a:r>
            <a:r>
              <a:rPr lang="uk-UA" dirty="0" smtClean="0"/>
              <a:t>інерція.</a:t>
            </a:r>
            <a:endParaRPr lang="uk-UA" dirty="0"/>
          </a:p>
        </p:txBody>
      </p:sp>
      <p:sp>
        <p:nvSpPr>
          <p:cNvPr id="3" name="Місце для вмісту 2"/>
          <p:cNvSpPr>
            <a:spLocks noGrp="1"/>
          </p:cNvSpPr>
          <p:nvPr>
            <p:ph idx="1"/>
          </p:nvPr>
        </p:nvSpPr>
        <p:spPr>
          <a:xfrm>
            <a:off x="354228" y="947351"/>
            <a:ext cx="11088129" cy="5692346"/>
          </a:xfrm>
        </p:spPr>
        <p:txBody>
          <a:bodyPr>
            <a:normAutofit/>
          </a:bodyPr>
          <a:lstStyle/>
          <a:p>
            <a:r>
              <a:rPr lang="ru-RU" sz="1600" dirty="0" err="1"/>
              <a:t>Галілей</a:t>
            </a:r>
            <a:r>
              <a:rPr lang="ru-RU" sz="1600" dirty="0"/>
              <a:t> </a:t>
            </a:r>
            <a:r>
              <a:rPr lang="ru-RU" sz="1600" dirty="0" err="1"/>
              <a:t>сформулював</a:t>
            </a:r>
            <a:r>
              <a:rPr lang="ru-RU" sz="1600" dirty="0"/>
              <a:t> </a:t>
            </a:r>
            <a:r>
              <a:rPr lang="ru-RU" sz="1600" dirty="0" err="1"/>
              <a:t>правильні</a:t>
            </a:r>
            <a:r>
              <a:rPr lang="ru-RU" sz="1600" dirty="0"/>
              <a:t> </a:t>
            </a:r>
            <a:r>
              <a:rPr lang="ru-RU" sz="1600" dirty="0" err="1"/>
              <a:t>закони</a:t>
            </a:r>
            <a:r>
              <a:rPr lang="ru-RU" sz="1600" dirty="0"/>
              <a:t> </a:t>
            </a:r>
            <a:r>
              <a:rPr lang="ru-RU" sz="1600" dirty="0" err="1"/>
              <a:t>падіння</a:t>
            </a:r>
            <a:r>
              <a:rPr lang="ru-RU" sz="1600" dirty="0"/>
              <a:t>: </a:t>
            </a:r>
            <a:r>
              <a:rPr lang="ru-RU" sz="1600" dirty="0" err="1"/>
              <a:t>швидкість</a:t>
            </a:r>
            <a:r>
              <a:rPr lang="ru-RU" sz="1600" dirty="0"/>
              <a:t> </a:t>
            </a:r>
            <a:r>
              <a:rPr lang="ru-RU" sz="1600" dirty="0" err="1"/>
              <a:t>зростає</a:t>
            </a:r>
            <a:r>
              <a:rPr lang="ru-RU" sz="1600" dirty="0"/>
              <a:t> </a:t>
            </a:r>
            <a:r>
              <a:rPr lang="ru-RU" sz="1600" dirty="0" err="1"/>
              <a:t>пропорційно</a:t>
            </a:r>
            <a:r>
              <a:rPr lang="ru-RU" sz="1600" dirty="0"/>
              <a:t> часу, а шлях — </a:t>
            </a:r>
            <a:r>
              <a:rPr lang="ru-RU" sz="1600" dirty="0" err="1"/>
              <a:t>пропорційно</a:t>
            </a:r>
            <a:r>
              <a:rPr lang="ru-RU" sz="1600" dirty="0"/>
              <a:t> квадрату часу</a:t>
            </a:r>
            <a:r>
              <a:rPr lang="ru-RU" sz="1600" dirty="0" smtClean="0"/>
              <a:t>.</a:t>
            </a:r>
          </a:p>
          <a:p>
            <a:r>
              <a:rPr lang="ru-RU" sz="1600" dirty="0" err="1"/>
              <a:t>Галілей</a:t>
            </a:r>
            <a:r>
              <a:rPr lang="ru-RU" sz="1600" dirty="0"/>
              <a:t> </a:t>
            </a:r>
            <a:r>
              <a:rPr lang="ru-RU" sz="1600" dirty="0" err="1"/>
              <a:t>довів</a:t>
            </a:r>
            <a:r>
              <a:rPr lang="ru-RU" sz="1600" dirty="0"/>
              <a:t>, що будь-яке </a:t>
            </a:r>
            <a:r>
              <a:rPr lang="ru-RU" sz="1600" dirty="0" err="1"/>
              <a:t>тіло</a:t>
            </a:r>
            <a:r>
              <a:rPr lang="ru-RU" sz="1600" dirty="0"/>
              <a:t>, </a:t>
            </a:r>
            <a:r>
              <a:rPr lang="ru-RU" sz="1600" dirty="0" err="1"/>
              <a:t>кинуте</a:t>
            </a:r>
            <a:r>
              <a:rPr lang="ru-RU" sz="1600" dirty="0"/>
              <a:t> </a:t>
            </a:r>
            <a:r>
              <a:rPr lang="ru-RU" sz="1600" dirty="0" err="1"/>
              <a:t>під</a:t>
            </a:r>
            <a:r>
              <a:rPr lang="ru-RU" sz="1600" dirty="0"/>
              <a:t> кутом до горизонту, </a:t>
            </a:r>
            <a:r>
              <a:rPr lang="ru-RU" sz="1600" dirty="0" err="1"/>
              <a:t>летить</a:t>
            </a:r>
            <a:r>
              <a:rPr lang="ru-RU" sz="1600" dirty="0"/>
              <a:t> по </a:t>
            </a:r>
            <a:r>
              <a:rPr lang="ru-RU" sz="1600" dirty="0" err="1"/>
              <a:t>параболі</a:t>
            </a:r>
            <a:r>
              <a:rPr lang="ru-RU" sz="1600" dirty="0"/>
              <a:t>. В </a:t>
            </a:r>
            <a:r>
              <a:rPr lang="ru-RU" sz="1600" dirty="0" err="1"/>
              <a:t>історії</a:t>
            </a:r>
            <a:r>
              <a:rPr lang="ru-RU" sz="1600" dirty="0"/>
              <a:t> науки </a:t>
            </a:r>
            <a:r>
              <a:rPr lang="ru-RU" sz="1600" dirty="0" err="1"/>
              <a:t>це</a:t>
            </a:r>
            <a:r>
              <a:rPr lang="ru-RU" sz="1600" dirty="0"/>
              <a:t> перша </a:t>
            </a:r>
            <a:r>
              <a:rPr lang="ru-RU" sz="1600" dirty="0" err="1"/>
              <a:t>вирішена</a:t>
            </a:r>
            <a:r>
              <a:rPr lang="ru-RU" sz="1600" dirty="0"/>
              <a:t> задача </a:t>
            </a:r>
            <a:r>
              <a:rPr lang="ru-RU" sz="1600" dirty="0" err="1" smtClean="0"/>
              <a:t>динаміки</a:t>
            </a:r>
            <a:r>
              <a:rPr lang="ru-RU" sz="1600" dirty="0" smtClean="0"/>
              <a:t>. </a:t>
            </a:r>
            <a:r>
              <a:rPr lang="ru-RU" sz="1600" dirty="0" err="1"/>
              <a:t>Наостанок</a:t>
            </a:r>
            <a:r>
              <a:rPr lang="ru-RU" sz="1600" dirty="0"/>
              <a:t> </a:t>
            </a:r>
            <a:r>
              <a:rPr lang="ru-RU" sz="1600" dirty="0" err="1"/>
              <a:t>дослідження</a:t>
            </a:r>
            <a:r>
              <a:rPr lang="ru-RU" sz="1600" dirty="0"/>
              <a:t> </a:t>
            </a:r>
            <a:r>
              <a:rPr lang="ru-RU" sz="1600" dirty="0" err="1"/>
              <a:t>Галілей</a:t>
            </a:r>
            <a:r>
              <a:rPr lang="ru-RU" sz="1600" dirty="0"/>
              <a:t> </a:t>
            </a:r>
            <a:r>
              <a:rPr lang="ru-RU" sz="1600" dirty="0" err="1"/>
              <a:t>довів</a:t>
            </a:r>
            <a:r>
              <a:rPr lang="ru-RU" sz="1600" dirty="0"/>
              <a:t>, що максимальна </a:t>
            </a:r>
            <a:r>
              <a:rPr lang="ru-RU" sz="1600" dirty="0" err="1"/>
              <a:t>дальність</a:t>
            </a:r>
            <a:r>
              <a:rPr lang="ru-RU" sz="1600" dirty="0"/>
              <a:t> </a:t>
            </a:r>
            <a:r>
              <a:rPr lang="ru-RU" sz="1600" dirty="0" err="1"/>
              <a:t>польоту</a:t>
            </a:r>
            <a:r>
              <a:rPr lang="ru-RU" sz="1600" dirty="0"/>
              <a:t> кинутого </a:t>
            </a:r>
            <a:r>
              <a:rPr lang="ru-RU" sz="1600" dirty="0" err="1"/>
              <a:t>тіла</a:t>
            </a:r>
            <a:r>
              <a:rPr lang="ru-RU" sz="1600" dirty="0"/>
              <a:t> </a:t>
            </a:r>
            <a:r>
              <a:rPr lang="ru-RU" sz="1600" dirty="0" err="1"/>
              <a:t>досягається</a:t>
            </a:r>
            <a:r>
              <a:rPr lang="ru-RU" sz="1600" dirty="0"/>
              <a:t> для кута </a:t>
            </a:r>
            <a:r>
              <a:rPr lang="ru-RU" sz="1600" dirty="0" err="1"/>
              <a:t>кидання</a:t>
            </a:r>
            <a:r>
              <a:rPr lang="ru-RU" sz="1600" dirty="0"/>
              <a:t> 45</a:t>
            </a:r>
            <a:r>
              <a:rPr lang="ru-RU" sz="1600" dirty="0" smtClean="0"/>
              <a:t>°.</a:t>
            </a:r>
          </a:p>
          <a:p>
            <a:r>
              <a:rPr lang="ru-RU" sz="1600" dirty="0" err="1" smtClean="0"/>
              <a:t>Сформулював</a:t>
            </a:r>
            <a:r>
              <a:rPr lang="ru-RU" sz="1600" dirty="0" smtClean="0"/>
              <a:t> закон </a:t>
            </a:r>
            <a:r>
              <a:rPr lang="ru-RU" sz="1600" dirty="0" err="1" smtClean="0"/>
              <a:t>інерції</a:t>
            </a:r>
            <a:r>
              <a:rPr lang="ru-RU" sz="1600" dirty="0" smtClean="0"/>
              <a:t>: </a:t>
            </a:r>
            <a:r>
              <a:rPr lang="uk-UA" sz="1600" dirty="0"/>
              <a:t>за відсутності зовнішніх сил тіло або спочиває, або рівномірно рухається</a:t>
            </a:r>
            <a:r>
              <a:rPr lang="uk-UA" sz="1600" dirty="0" smtClean="0"/>
              <a:t>.</a:t>
            </a:r>
          </a:p>
          <a:p>
            <a:r>
              <a:rPr lang="ru-RU" sz="1600" dirty="0" err="1"/>
              <a:t>Галілей</a:t>
            </a:r>
            <a:r>
              <a:rPr lang="ru-RU" sz="1600" dirty="0"/>
              <a:t> є одним з </a:t>
            </a:r>
            <a:r>
              <a:rPr lang="ru-RU" sz="1600" dirty="0" err="1"/>
              <a:t>основоположників</a:t>
            </a:r>
            <a:r>
              <a:rPr lang="ru-RU" sz="1600" dirty="0"/>
              <a:t> принципу </a:t>
            </a:r>
            <a:r>
              <a:rPr lang="ru-RU" sz="1600" dirty="0" err="1"/>
              <a:t>відносності</a:t>
            </a:r>
            <a:r>
              <a:rPr lang="ru-RU" sz="1600" dirty="0"/>
              <a:t> в </a:t>
            </a:r>
            <a:r>
              <a:rPr lang="ru-RU" sz="1600" dirty="0" err="1"/>
              <a:t>класичній</a:t>
            </a:r>
            <a:r>
              <a:rPr lang="ru-RU" sz="1600" dirty="0"/>
              <a:t> </a:t>
            </a:r>
            <a:r>
              <a:rPr lang="ru-RU" sz="1600" dirty="0" err="1"/>
              <a:t>механіці</a:t>
            </a:r>
            <a:r>
              <a:rPr lang="ru-RU" sz="1600" dirty="0"/>
              <a:t>. У </a:t>
            </a:r>
            <a:r>
              <a:rPr lang="ru-RU" sz="1600" dirty="0" err="1" smtClean="0"/>
              <a:t>своїй</a:t>
            </a:r>
            <a:r>
              <a:rPr lang="ru-RU" sz="1600" dirty="0" smtClean="0"/>
              <a:t> </a:t>
            </a:r>
            <a:r>
              <a:rPr lang="ru-RU" sz="1600" dirty="0" err="1" smtClean="0"/>
              <a:t>книзі</a:t>
            </a:r>
            <a:r>
              <a:rPr lang="ru-RU" sz="1600" dirty="0" smtClean="0"/>
              <a:t> </a:t>
            </a:r>
            <a:r>
              <a:rPr lang="ru-RU" sz="1600" dirty="0" err="1"/>
              <a:t>Галілей</a:t>
            </a:r>
            <a:r>
              <a:rPr lang="ru-RU" sz="1600" dirty="0"/>
              <a:t> </a:t>
            </a:r>
            <a:r>
              <a:rPr lang="ru-RU" sz="1600" dirty="0" err="1"/>
              <a:t>сформулював</a:t>
            </a:r>
            <a:r>
              <a:rPr lang="ru-RU" sz="1600" dirty="0"/>
              <a:t> </a:t>
            </a:r>
            <a:r>
              <a:rPr lang="ru-RU" sz="1600" dirty="0" err="1"/>
              <a:t>його</a:t>
            </a:r>
            <a:r>
              <a:rPr lang="ru-RU" sz="1600" dirty="0"/>
              <a:t> таким </a:t>
            </a:r>
            <a:r>
              <a:rPr lang="ru-RU" sz="1600" dirty="0" smtClean="0"/>
              <a:t>чином: «</a:t>
            </a:r>
            <a:r>
              <a:rPr lang="ru-RU" sz="1600" i="1" dirty="0" smtClean="0"/>
              <a:t>Для </a:t>
            </a:r>
            <a:r>
              <a:rPr lang="ru-RU" sz="1600" i="1" dirty="0" err="1"/>
              <a:t>предметів</a:t>
            </a:r>
            <a:r>
              <a:rPr lang="ru-RU" sz="1600" i="1" dirty="0"/>
              <a:t>, </a:t>
            </a:r>
            <a:r>
              <a:rPr lang="ru-RU" sz="1600" i="1" dirty="0" err="1"/>
              <a:t>захоплених</a:t>
            </a:r>
            <a:r>
              <a:rPr lang="ru-RU" sz="1600" i="1" dirty="0"/>
              <a:t> </a:t>
            </a:r>
            <a:r>
              <a:rPr lang="ru-RU" sz="1600" i="1" dirty="0" err="1"/>
              <a:t>рівномірним</a:t>
            </a:r>
            <a:r>
              <a:rPr lang="ru-RU" sz="1600" i="1" dirty="0"/>
              <a:t> </a:t>
            </a:r>
            <a:r>
              <a:rPr lang="ru-RU" sz="1600" i="1" dirty="0" err="1"/>
              <a:t>рухом</a:t>
            </a:r>
            <a:r>
              <a:rPr lang="ru-RU" sz="1600" i="1" dirty="0"/>
              <a:t>, </a:t>
            </a:r>
            <a:r>
              <a:rPr lang="ru-RU" sz="1600" i="1" dirty="0" err="1"/>
              <a:t>цього</a:t>
            </a:r>
            <a:r>
              <a:rPr lang="ru-RU" sz="1600" i="1" dirty="0"/>
              <a:t> </a:t>
            </a:r>
            <a:r>
              <a:rPr lang="ru-RU" sz="1600" i="1" dirty="0" err="1"/>
              <a:t>останнього</a:t>
            </a:r>
            <a:r>
              <a:rPr lang="ru-RU" sz="1600" i="1" dirty="0"/>
              <a:t> </a:t>
            </a:r>
            <a:r>
              <a:rPr lang="ru-RU" sz="1600" i="1" dirty="0" err="1"/>
              <a:t>нібито</a:t>
            </a:r>
            <a:r>
              <a:rPr lang="ru-RU" sz="1600" i="1" dirty="0"/>
              <a:t> не </a:t>
            </a:r>
            <a:r>
              <a:rPr lang="ru-RU" sz="1600" i="1" dirty="0" err="1"/>
              <a:t>існує</a:t>
            </a:r>
            <a:r>
              <a:rPr lang="ru-RU" sz="1600" i="1" dirty="0"/>
              <a:t> і </a:t>
            </a:r>
            <a:r>
              <a:rPr lang="ru-RU" sz="1600" i="1" dirty="0" err="1"/>
              <a:t>проявляє</a:t>
            </a:r>
            <a:r>
              <a:rPr lang="ru-RU" sz="1600" i="1" dirty="0"/>
              <a:t> свою </a:t>
            </a:r>
            <a:r>
              <a:rPr lang="ru-RU" sz="1600" i="1" dirty="0" err="1"/>
              <a:t>дію</a:t>
            </a:r>
            <a:r>
              <a:rPr lang="ru-RU" sz="1600" i="1" dirty="0"/>
              <a:t> </a:t>
            </a:r>
            <a:r>
              <a:rPr lang="ru-RU" sz="1600" i="1" dirty="0" err="1"/>
              <a:t>тільки</a:t>
            </a:r>
            <a:r>
              <a:rPr lang="ru-RU" sz="1600" i="1" dirty="0"/>
              <a:t> на речах, </a:t>
            </a:r>
            <a:r>
              <a:rPr lang="ru-RU" sz="1600" i="1" dirty="0" err="1"/>
              <a:t>які</a:t>
            </a:r>
            <a:r>
              <a:rPr lang="ru-RU" sz="1600" i="1" dirty="0"/>
              <a:t> не </a:t>
            </a:r>
            <a:r>
              <a:rPr lang="ru-RU" sz="1600" i="1" dirty="0" err="1"/>
              <a:t>беруть</a:t>
            </a:r>
            <a:r>
              <a:rPr lang="ru-RU" sz="1600" i="1" dirty="0"/>
              <a:t> у </a:t>
            </a:r>
            <a:r>
              <a:rPr lang="ru-RU" sz="1600" i="1" dirty="0" err="1"/>
              <a:t>ньому</a:t>
            </a:r>
            <a:r>
              <a:rPr lang="ru-RU" sz="1600" i="1" dirty="0"/>
              <a:t> </a:t>
            </a:r>
            <a:r>
              <a:rPr lang="ru-RU" sz="1600" i="1" dirty="0" err="1"/>
              <a:t>участі</a:t>
            </a:r>
            <a:r>
              <a:rPr lang="ru-RU" sz="1600" i="1" dirty="0" smtClean="0"/>
              <a:t>.» </a:t>
            </a:r>
            <a:r>
              <a:rPr lang="ru-RU" sz="1600" dirty="0" err="1" smtClean="0"/>
              <a:t>Тобто</a:t>
            </a:r>
            <a:r>
              <a:rPr lang="ru-RU" sz="1600" dirty="0"/>
              <a:t>: </a:t>
            </a:r>
            <a:r>
              <a:rPr lang="ru-RU" sz="1600" dirty="0" err="1"/>
              <a:t>Закони</a:t>
            </a:r>
            <a:r>
              <a:rPr lang="ru-RU" sz="1600" dirty="0"/>
              <a:t> </a:t>
            </a:r>
            <a:r>
              <a:rPr lang="ru-RU" sz="1600" dirty="0" err="1"/>
              <a:t>механіки</a:t>
            </a:r>
            <a:r>
              <a:rPr lang="ru-RU" sz="1600" dirty="0"/>
              <a:t> </a:t>
            </a:r>
            <a:r>
              <a:rPr lang="ru-RU" sz="1600" dirty="0" err="1"/>
              <a:t>однакові</a:t>
            </a:r>
            <a:r>
              <a:rPr lang="ru-RU" sz="1600" dirty="0"/>
              <a:t> у </a:t>
            </a:r>
            <a:r>
              <a:rPr lang="ru-RU" sz="1600" dirty="0" err="1"/>
              <a:t>всіх</a:t>
            </a:r>
            <a:r>
              <a:rPr lang="ru-RU" sz="1600" dirty="0"/>
              <a:t> системах, що </a:t>
            </a:r>
            <a:r>
              <a:rPr lang="ru-RU" sz="1600" dirty="0" err="1"/>
              <a:t>рухаються</a:t>
            </a:r>
            <a:r>
              <a:rPr lang="ru-RU" sz="1600" dirty="0"/>
              <a:t> </a:t>
            </a:r>
            <a:r>
              <a:rPr lang="ru-RU" sz="1600" dirty="0" err="1"/>
              <a:t>рівномірно</a:t>
            </a:r>
            <a:r>
              <a:rPr lang="ru-RU" sz="1600" dirty="0"/>
              <a:t> і </a:t>
            </a:r>
            <a:r>
              <a:rPr lang="ru-RU" sz="1600" dirty="0" err="1"/>
              <a:t>прямолінійно</a:t>
            </a:r>
            <a:r>
              <a:rPr lang="ru-RU" sz="1600" dirty="0" smtClean="0"/>
              <a:t>.</a:t>
            </a:r>
          </a:p>
          <a:p>
            <a:r>
              <a:rPr lang="ru-RU" sz="1600" dirty="0" smtClean="0"/>
              <a:t>До </a:t>
            </a:r>
            <a:r>
              <a:rPr lang="ru-RU" sz="1600" dirty="0"/>
              <a:t>ХХ ст. </a:t>
            </a:r>
            <a:r>
              <a:rPr lang="ru-RU" sz="1600" dirty="0" err="1"/>
              <a:t>було</a:t>
            </a:r>
            <a:r>
              <a:rPr lang="ru-RU" sz="1600" dirty="0"/>
              <a:t> </a:t>
            </a:r>
            <a:r>
              <a:rPr lang="ru-RU" sz="1600" dirty="0" err="1"/>
              <a:t>відомо</a:t>
            </a:r>
            <a:r>
              <a:rPr lang="ru-RU" sz="1600" dirty="0"/>
              <a:t> </a:t>
            </a:r>
            <a:r>
              <a:rPr lang="ru-RU" sz="1600" dirty="0" err="1"/>
              <a:t>із</a:t>
            </a:r>
            <a:r>
              <a:rPr lang="ru-RU" sz="1600" dirty="0"/>
              <a:t> </a:t>
            </a:r>
            <a:r>
              <a:rPr lang="ru-RU" sz="1600" dirty="0" err="1"/>
              <a:t>записів</a:t>
            </a:r>
            <a:r>
              <a:rPr lang="ru-RU" sz="1600" dirty="0"/>
              <a:t> </a:t>
            </a:r>
            <a:r>
              <a:rPr lang="ru-RU" sz="1600" dirty="0" err="1"/>
              <a:t>учня</a:t>
            </a:r>
            <a:r>
              <a:rPr lang="ru-RU" sz="1600" dirty="0"/>
              <a:t> </a:t>
            </a:r>
            <a:r>
              <a:rPr lang="ru-RU" sz="1600" dirty="0" smtClean="0"/>
              <a:t>Галілея</a:t>
            </a:r>
            <a:r>
              <a:rPr lang="en-US" sz="1600" dirty="0" smtClean="0"/>
              <a:t> </a:t>
            </a:r>
            <a:r>
              <a:rPr lang="uk-UA" sz="1600" dirty="0" smtClean="0"/>
              <a:t>і</a:t>
            </a:r>
            <a:r>
              <a:rPr lang="ru-RU" sz="1600" dirty="0" smtClean="0"/>
              <a:t> </a:t>
            </a:r>
            <a:r>
              <a:rPr lang="ru-RU" sz="1600" dirty="0" err="1"/>
              <a:t>вважалося</a:t>
            </a:r>
            <a:r>
              <a:rPr lang="ru-RU" sz="1600" dirty="0"/>
              <a:t>, що </a:t>
            </a:r>
            <a:r>
              <a:rPr lang="ru-RU" sz="1600" dirty="0" err="1"/>
              <a:t>Галілео</a:t>
            </a:r>
            <a:r>
              <a:rPr lang="ru-RU" sz="1600" dirty="0"/>
              <a:t> </a:t>
            </a:r>
            <a:r>
              <a:rPr lang="ru-RU" sz="1600" dirty="0" err="1"/>
              <a:t>Галілей</a:t>
            </a:r>
            <a:r>
              <a:rPr lang="ru-RU" sz="1600" dirty="0"/>
              <a:t> скидав з </a:t>
            </a:r>
            <a:r>
              <a:rPr lang="ru-RU" sz="1600" dirty="0" err="1"/>
              <a:t>Пізанської</a:t>
            </a:r>
            <a:r>
              <a:rPr lang="ru-RU" sz="1600" dirty="0"/>
              <a:t> </a:t>
            </a:r>
            <a:r>
              <a:rPr lang="ru-RU" sz="1600" dirty="0" err="1"/>
              <a:t>вежі</a:t>
            </a:r>
            <a:r>
              <a:rPr lang="ru-RU" sz="1600" dirty="0"/>
              <a:t> в один і той </a:t>
            </a:r>
            <a:r>
              <a:rPr lang="ru-RU" sz="1600" dirty="0" err="1"/>
              <a:t>самий</a:t>
            </a:r>
            <a:r>
              <a:rPr lang="ru-RU" sz="1600" dirty="0"/>
              <a:t> момент </a:t>
            </a:r>
            <a:r>
              <a:rPr lang="ru-RU" sz="1600" dirty="0" err="1"/>
              <a:t>гарматне</a:t>
            </a:r>
            <a:r>
              <a:rPr lang="ru-RU" sz="1600" dirty="0"/>
              <a:t> ядро </a:t>
            </a:r>
            <a:r>
              <a:rPr lang="ru-RU" sz="1600" dirty="0" err="1"/>
              <a:t>масою</a:t>
            </a:r>
            <a:r>
              <a:rPr lang="ru-RU" sz="1600" dirty="0"/>
              <a:t> 80 кг і </a:t>
            </a:r>
            <a:r>
              <a:rPr lang="ru-RU" sz="1600" dirty="0" err="1"/>
              <a:t>значно</a:t>
            </a:r>
            <a:r>
              <a:rPr lang="ru-RU" sz="1600" dirty="0"/>
              <a:t> </a:t>
            </a:r>
            <a:r>
              <a:rPr lang="ru-RU" sz="1600" dirty="0" err="1"/>
              <a:t>легшу</a:t>
            </a:r>
            <a:r>
              <a:rPr lang="ru-RU" sz="1600" dirty="0"/>
              <a:t> </a:t>
            </a:r>
            <a:r>
              <a:rPr lang="ru-RU" sz="1600" dirty="0" err="1"/>
              <a:t>мушкетну</a:t>
            </a:r>
            <a:r>
              <a:rPr lang="ru-RU" sz="1600" dirty="0"/>
              <a:t> кулю </a:t>
            </a:r>
            <a:r>
              <a:rPr lang="ru-RU" sz="1600" dirty="0" err="1"/>
              <a:t>масою</a:t>
            </a:r>
            <a:r>
              <a:rPr lang="ru-RU" sz="1600" dirty="0"/>
              <a:t> 200 г. </a:t>
            </a:r>
            <a:r>
              <a:rPr lang="ru-RU" sz="1600" dirty="0" err="1"/>
              <a:t>Обидва</a:t>
            </a:r>
            <a:r>
              <a:rPr lang="ru-RU" sz="1600" dirty="0"/>
              <a:t> </a:t>
            </a:r>
            <a:r>
              <a:rPr lang="ru-RU" sz="1600" dirty="0" err="1"/>
              <a:t>тіла</a:t>
            </a:r>
            <a:r>
              <a:rPr lang="ru-RU" sz="1600" dirty="0"/>
              <a:t> </a:t>
            </a:r>
            <a:r>
              <a:rPr lang="ru-RU" sz="1600" dirty="0" err="1"/>
              <a:t>мали</a:t>
            </a:r>
            <a:r>
              <a:rPr lang="ru-RU" sz="1600" dirty="0"/>
              <a:t> </a:t>
            </a:r>
            <a:r>
              <a:rPr lang="ru-RU" sz="1600" dirty="0" err="1"/>
              <a:t>приблизно</a:t>
            </a:r>
            <a:r>
              <a:rPr lang="ru-RU" sz="1600" dirty="0"/>
              <a:t> </a:t>
            </a:r>
            <a:r>
              <a:rPr lang="ru-RU" sz="1600" dirty="0" err="1"/>
              <a:t>однакову</a:t>
            </a:r>
            <a:r>
              <a:rPr lang="ru-RU" sz="1600" dirty="0"/>
              <a:t> </a:t>
            </a:r>
            <a:r>
              <a:rPr lang="ru-RU" sz="1600" dirty="0" err="1"/>
              <a:t>обтічну</a:t>
            </a:r>
            <a:r>
              <a:rPr lang="ru-RU" sz="1600" dirty="0"/>
              <a:t> форму і </a:t>
            </a:r>
            <a:r>
              <a:rPr lang="ru-RU" sz="1600" dirty="0" err="1"/>
              <a:t>досягли</a:t>
            </a:r>
            <a:r>
              <a:rPr lang="ru-RU" sz="1600" dirty="0"/>
              <a:t> </a:t>
            </a:r>
            <a:r>
              <a:rPr lang="ru-RU" sz="1600" dirty="0" err="1"/>
              <a:t>землі</a:t>
            </a:r>
            <a:r>
              <a:rPr lang="ru-RU" sz="1600" dirty="0"/>
              <a:t> </a:t>
            </a:r>
            <a:r>
              <a:rPr lang="ru-RU" sz="1600" dirty="0" err="1"/>
              <a:t>одночасно</a:t>
            </a:r>
            <a:r>
              <a:rPr lang="ru-RU" sz="1600" dirty="0"/>
              <a:t>. За </a:t>
            </a:r>
            <a:r>
              <a:rPr lang="ru-RU" sz="1600" dirty="0" err="1"/>
              <a:t>допомогою</a:t>
            </a:r>
            <a:r>
              <a:rPr lang="ru-RU" sz="1600" dirty="0"/>
              <a:t> </a:t>
            </a:r>
            <a:r>
              <a:rPr lang="ru-RU" sz="1600" dirty="0" err="1"/>
              <a:t>цього</a:t>
            </a:r>
            <a:r>
              <a:rPr lang="ru-RU" sz="1600" dirty="0"/>
              <a:t> </a:t>
            </a:r>
            <a:r>
              <a:rPr lang="ru-RU" sz="1600" dirty="0" err="1"/>
              <a:t>досліду</a:t>
            </a:r>
            <a:r>
              <a:rPr lang="ru-RU" sz="1600" dirty="0"/>
              <a:t> </a:t>
            </a:r>
            <a:r>
              <a:rPr lang="ru-RU" sz="1600" dirty="0" err="1"/>
              <a:t>Галілей</a:t>
            </a:r>
            <a:r>
              <a:rPr lang="ru-RU" sz="1600" dirty="0"/>
              <a:t> </a:t>
            </a:r>
            <a:r>
              <a:rPr lang="ru-RU" sz="1600" dirty="0" err="1"/>
              <a:t>нібито</a:t>
            </a:r>
            <a:r>
              <a:rPr lang="ru-RU" sz="1600" dirty="0"/>
              <a:t> </a:t>
            </a:r>
            <a:r>
              <a:rPr lang="ru-RU" sz="1600" dirty="0" err="1"/>
              <a:t>виявив</a:t>
            </a:r>
            <a:r>
              <a:rPr lang="ru-RU" sz="1600" dirty="0"/>
              <a:t>, що </a:t>
            </a:r>
            <a:r>
              <a:rPr lang="ru-RU" sz="1600" dirty="0" err="1"/>
              <a:t>тіла</a:t>
            </a:r>
            <a:r>
              <a:rPr lang="ru-RU" sz="1600" dirty="0"/>
              <a:t> впали з </a:t>
            </a:r>
            <a:r>
              <a:rPr lang="ru-RU" sz="1600" dirty="0" err="1"/>
              <a:t>однаковим</a:t>
            </a:r>
            <a:r>
              <a:rPr lang="ru-RU" sz="1600" dirty="0"/>
              <a:t> </a:t>
            </a:r>
            <a:r>
              <a:rPr lang="ru-RU" sz="1600" dirty="0" err="1"/>
              <a:t>прискоренням</a:t>
            </a:r>
            <a:r>
              <a:rPr lang="ru-RU" sz="1600" dirty="0"/>
              <a:t>, </a:t>
            </a:r>
            <a:r>
              <a:rPr lang="ru-RU" sz="1600" dirty="0" err="1"/>
              <a:t>цим</a:t>
            </a:r>
            <a:r>
              <a:rPr lang="ru-RU" sz="1600" dirty="0"/>
              <a:t> </a:t>
            </a:r>
            <a:r>
              <a:rPr lang="ru-RU" sz="1600" dirty="0" err="1"/>
              <a:t>спростовуючи</a:t>
            </a:r>
            <a:r>
              <a:rPr lang="ru-RU" sz="1600" dirty="0"/>
              <a:t> </a:t>
            </a:r>
            <a:r>
              <a:rPr lang="ru-RU" sz="1600" dirty="0" err="1"/>
              <a:t>теорію</a:t>
            </a:r>
            <a:r>
              <a:rPr lang="ru-RU" sz="1600" dirty="0"/>
              <a:t> </a:t>
            </a:r>
            <a:r>
              <a:rPr lang="ru-RU" sz="1600" dirty="0" err="1"/>
              <a:t>Арістотеля</a:t>
            </a:r>
            <a:r>
              <a:rPr lang="ru-RU" sz="1600" dirty="0"/>
              <a:t>, </a:t>
            </a:r>
            <a:r>
              <a:rPr lang="ru-RU" sz="1600" dirty="0" err="1"/>
              <a:t>згідно</a:t>
            </a:r>
            <a:r>
              <a:rPr lang="ru-RU" sz="1600" dirty="0"/>
              <a:t> </a:t>
            </a:r>
            <a:r>
              <a:rPr lang="ru-RU" sz="1600" dirty="0" err="1"/>
              <a:t>якої</a:t>
            </a:r>
            <a:r>
              <a:rPr lang="ru-RU" sz="1600" dirty="0"/>
              <a:t> </a:t>
            </a:r>
            <a:r>
              <a:rPr lang="ru-RU" sz="1600" dirty="0" err="1"/>
              <a:t>швидкість</a:t>
            </a:r>
            <a:r>
              <a:rPr lang="ru-RU" sz="1600" dirty="0"/>
              <a:t> </a:t>
            </a:r>
            <a:r>
              <a:rPr lang="ru-RU" sz="1600" dirty="0" err="1"/>
              <a:t>падіння</a:t>
            </a:r>
            <a:r>
              <a:rPr lang="ru-RU" sz="1600" dirty="0"/>
              <a:t> </a:t>
            </a:r>
            <a:r>
              <a:rPr lang="ru-RU" sz="1600" dirty="0" err="1"/>
              <a:t>тіл</a:t>
            </a:r>
            <a:r>
              <a:rPr lang="ru-RU" sz="1600" dirty="0"/>
              <a:t> </a:t>
            </a:r>
            <a:r>
              <a:rPr lang="ru-RU" sz="1600" dirty="0" err="1"/>
              <a:t>залежить</a:t>
            </a:r>
            <a:r>
              <a:rPr lang="ru-RU" sz="1600" dirty="0"/>
              <a:t> </a:t>
            </a:r>
            <a:r>
              <a:rPr lang="ru-RU" sz="1600" dirty="0" err="1"/>
              <a:t>від</a:t>
            </a:r>
            <a:r>
              <a:rPr lang="ru-RU" sz="1600" dirty="0"/>
              <a:t> </a:t>
            </a:r>
            <a:r>
              <a:rPr lang="ru-RU" sz="1600" dirty="0" err="1"/>
              <a:t>їх</a:t>
            </a:r>
            <a:r>
              <a:rPr lang="ru-RU" sz="1600" dirty="0"/>
              <a:t> </a:t>
            </a:r>
            <a:r>
              <a:rPr lang="ru-RU" sz="1600" dirty="0" err="1"/>
              <a:t>маси</a:t>
            </a:r>
            <a:r>
              <a:rPr lang="ru-RU" sz="1600" dirty="0" smtClean="0"/>
              <a:t>.</a:t>
            </a:r>
          </a:p>
          <a:p>
            <a:r>
              <a:rPr lang="ru-RU" sz="1600" dirty="0" err="1"/>
              <a:t>У</a:t>
            </a:r>
            <a:r>
              <a:rPr lang="ru-RU" sz="1600" dirty="0" err="1" smtClean="0"/>
              <a:t>перше</a:t>
            </a:r>
            <a:r>
              <a:rPr lang="ru-RU" sz="1600" dirty="0" smtClean="0"/>
              <a:t> </a:t>
            </a:r>
            <a:r>
              <a:rPr lang="ru-RU" sz="1600" dirty="0"/>
              <a:t>в </a:t>
            </a:r>
            <a:r>
              <a:rPr lang="ru-RU" sz="1600" dirty="0" err="1"/>
              <a:t>історії</a:t>
            </a:r>
            <a:r>
              <a:rPr lang="ru-RU" sz="1600" dirty="0"/>
              <a:t> науки </a:t>
            </a:r>
            <a:r>
              <a:rPr lang="ru-RU" sz="1600" dirty="0" err="1"/>
              <a:t>Галілей</a:t>
            </a:r>
            <a:r>
              <a:rPr lang="ru-RU" sz="1600" dirty="0"/>
              <a:t> поставив </a:t>
            </a:r>
            <a:r>
              <a:rPr lang="ru-RU" sz="1600" dirty="0" err="1"/>
              <a:t>питання</a:t>
            </a:r>
            <a:r>
              <a:rPr lang="ru-RU" sz="1600" dirty="0"/>
              <a:t> про міцність </a:t>
            </a:r>
            <a:r>
              <a:rPr lang="ru-RU" sz="1600" dirty="0" err="1"/>
              <a:t>стрижнів</a:t>
            </a:r>
            <a:r>
              <a:rPr lang="ru-RU" sz="1600" dirty="0"/>
              <a:t> і балок </a:t>
            </a:r>
            <a:r>
              <a:rPr lang="ru-RU" sz="1600" dirty="0" err="1"/>
              <a:t>під</a:t>
            </a:r>
            <a:r>
              <a:rPr lang="ru-RU" sz="1600" dirty="0"/>
              <a:t> час </a:t>
            </a:r>
            <a:r>
              <a:rPr lang="ru-RU" sz="1600" dirty="0" err="1"/>
              <a:t>вигину</a:t>
            </a:r>
            <a:r>
              <a:rPr lang="ru-RU" sz="1600" dirty="0"/>
              <a:t> і </a:t>
            </a:r>
            <a:r>
              <a:rPr lang="ru-RU" sz="1600" dirty="0" err="1"/>
              <a:t>тим</a:t>
            </a:r>
            <a:r>
              <a:rPr lang="ru-RU" sz="1600" dirty="0"/>
              <a:t> самим </a:t>
            </a:r>
            <a:r>
              <a:rPr lang="ru-RU" sz="1600" dirty="0" err="1"/>
              <a:t>поклав</a:t>
            </a:r>
            <a:r>
              <a:rPr lang="ru-RU" sz="1600" dirty="0"/>
              <a:t> початок </a:t>
            </a:r>
            <a:r>
              <a:rPr lang="ru-RU" sz="1600" dirty="0" err="1"/>
              <a:t>новій</a:t>
            </a:r>
            <a:r>
              <a:rPr lang="ru-RU" sz="1600" dirty="0"/>
              <a:t> </a:t>
            </a:r>
            <a:r>
              <a:rPr lang="ru-RU" sz="1600" dirty="0" err="1"/>
              <a:t>науці</a:t>
            </a:r>
            <a:r>
              <a:rPr lang="ru-RU" sz="1600" dirty="0"/>
              <a:t> — опору </a:t>
            </a:r>
            <a:r>
              <a:rPr lang="ru-RU" sz="1600" dirty="0" err="1" smtClean="0"/>
              <a:t>матеріалів</a:t>
            </a:r>
            <a:r>
              <a:rPr lang="ru-RU" sz="1600" dirty="0" smtClean="0"/>
              <a:t>.</a:t>
            </a:r>
          </a:p>
          <a:p>
            <a:r>
              <a:rPr lang="ru-RU" sz="1600" dirty="0"/>
              <a:t>У </a:t>
            </a:r>
            <a:r>
              <a:rPr lang="ru-RU" sz="1600" dirty="0" err="1"/>
              <a:t>статиці</a:t>
            </a:r>
            <a:r>
              <a:rPr lang="ru-RU" sz="1600" dirty="0"/>
              <a:t> </a:t>
            </a:r>
            <a:r>
              <a:rPr lang="ru-RU" sz="1600" dirty="0" err="1"/>
              <a:t>Галілей</a:t>
            </a:r>
            <a:r>
              <a:rPr lang="ru-RU" sz="1600" dirty="0"/>
              <a:t> </a:t>
            </a:r>
            <a:r>
              <a:rPr lang="ru-RU" sz="1600" dirty="0" err="1"/>
              <a:t>ввів</a:t>
            </a:r>
            <a:r>
              <a:rPr lang="ru-RU" sz="1600" dirty="0"/>
              <a:t> </a:t>
            </a:r>
            <a:r>
              <a:rPr lang="ru-RU" sz="1600" dirty="0" err="1"/>
              <a:t>фундаментальне</a:t>
            </a:r>
            <a:r>
              <a:rPr lang="ru-RU" sz="1600" dirty="0"/>
              <a:t> </a:t>
            </a:r>
            <a:r>
              <a:rPr lang="ru-RU" sz="1600" dirty="0" err="1"/>
              <a:t>поняття</a:t>
            </a:r>
            <a:r>
              <a:rPr lang="ru-RU" sz="1600" dirty="0"/>
              <a:t> моменту </a:t>
            </a:r>
            <a:r>
              <a:rPr lang="ru-RU" sz="1600" dirty="0" err="1"/>
              <a:t>сили</a:t>
            </a:r>
            <a:r>
              <a:rPr lang="ru-RU" sz="1600" dirty="0"/>
              <a:t>.</a:t>
            </a:r>
            <a:endParaRPr lang="ru-RU" sz="1600" dirty="0" smtClean="0"/>
          </a:p>
        </p:txBody>
      </p:sp>
    </p:spTree>
    <p:extLst>
      <p:ext uri="{BB962C8B-B14F-4D97-AF65-F5344CB8AC3E}">
        <p14:creationId xmlns:p14="http://schemas.microsoft.com/office/powerpoint/2010/main" val="3640291476"/>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231136" y="149146"/>
            <a:ext cx="7729728" cy="707589"/>
          </a:xfrm>
        </p:spPr>
        <p:txBody>
          <a:bodyPr>
            <a:normAutofit fontScale="90000"/>
          </a:bodyPr>
          <a:lstStyle/>
          <a:p>
            <a:r>
              <a:rPr lang="uk-UA" dirty="0" smtClean="0"/>
              <a:t>Конфлікт з інквізицією.</a:t>
            </a:r>
            <a:endParaRPr lang="uk-UA" dirty="0"/>
          </a:p>
        </p:txBody>
      </p:sp>
      <p:sp>
        <p:nvSpPr>
          <p:cNvPr id="3" name="Місце для вмісту 2"/>
          <p:cNvSpPr>
            <a:spLocks noGrp="1"/>
          </p:cNvSpPr>
          <p:nvPr>
            <p:ph idx="1"/>
          </p:nvPr>
        </p:nvSpPr>
        <p:spPr>
          <a:xfrm>
            <a:off x="354228" y="947351"/>
            <a:ext cx="11088129" cy="2566085"/>
          </a:xfrm>
        </p:spPr>
        <p:txBody>
          <a:bodyPr>
            <a:normAutofit/>
          </a:bodyPr>
          <a:lstStyle/>
          <a:p>
            <a:r>
              <a:rPr lang="uk-UA" b="1" dirty="0"/>
              <a:t>Причина: </a:t>
            </a:r>
            <a:r>
              <a:rPr lang="uk-UA" dirty="0"/>
              <a:t>Публікація книги "Діалог про дві найголовніші системи світу" (1632), де Галілей відкрито підтримав ідеї Коперника</a:t>
            </a:r>
            <a:r>
              <a:rPr lang="uk-UA" dirty="0" smtClean="0"/>
              <a:t>.</a:t>
            </a:r>
          </a:p>
          <a:p>
            <a:r>
              <a:rPr lang="uk-UA" b="1" dirty="0" smtClean="0"/>
              <a:t>Звинувачення</a:t>
            </a:r>
            <a:r>
              <a:rPr lang="uk-UA" b="1" dirty="0"/>
              <a:t>:</a:t>
            </a:r>
            <a:r>
              <a:rPr lang="uk-UA" dirty="0"/>
              <a:t> Єресь. Твердження про те, що Земля рухається навколо Сонця, суперечило тодішньому тлумаченню Біблії</a:t>
            </a:r>
            <a:r>
              <a:rPr lang="uk-UA" dirty="0" smtClean="0"/>
              <a:t>.</a:t>
            </a:r>
          </a:p>
          <a:p>
            <a:r>
              <a:rPr lang="uk-UA" b="1" dirty="0" smtClean="0"/>
              <a:t>Суд </a:t>
            </a:r>
            <a:r>
              <a:rPr lang="uk-UA" b="1" dirty="0"/>
              <a:t>(1633):</a:t>
            </a:r>
            <a:r>
              <a:rPr lang="uk-UA" dirty="0"/>
              <a:t> </a:t>
            </a:r>
            <a:r>
              <a:rPr lang="ru-RU" dirty="0" err="1"/>
              <a:t>інквізиція</a:t>
            </a:r>
            <a:r>
              <a:rPr lang="ru-RU" dirty="0"/>
              <a:t> </a:t>
            </a:r>
            <a:r>
              <a:rPr lang="ru-RU" dirty="0" err="1"/>
              <a:t>змусила</a:t>
            </a:r>
            <a:r>
              <a:rPr lang="ru-RU" dirty="0"/>
              <a:t> Галілея </a:t>
            </a:r>
            <a:r>
              <a:rPr lang="ru-RU" dirty="0" err="1"/>
              <a:t>відмовитися</a:t>
            </a:r>
            <a:r>
              <a:rPr lang="ru-RU" dirty="0"/>
              <a:t> </a:t>
            </a:r>
            <a:r>
              <a:rPr lang="ru-RU" dirty="0" err="1"/>
              <a:t>від</a:t>
            </a:r>
            <a:r>
              <a:rPr lang="ru-RU" dirty="0"/>
              <a:t> </a:t>
            </a:r>
            <a:r>
              <a:rPr lang="ru-RU" dirty="0" err="1"/>
              <a:t>теорії</a:t>
            </a:r>
            <a:r>
              <a:rPr lang="ru-RU" dirty="0"/>
              <a:t> Коперника, а на «</a:t>
            </a:r>
            <a:r>
              <a:rPr lang="ru-RU" dirty="0" err="1"/>
              <a:t>Діалог</a:t>
            </a:r>
            <a:r>
              <a:rPr lang="ru-RU" dirty="0"/>
              <a:t>» </a:t>
            </a:r>
            <a:r>
              <a:rPr lang="ru-RU" dirty="0" err="1"/>
              <a:t>наклала</a:t>
            </a:r>
            <a:r>
              <a:rPr lang="ru-RU" dirty="0"/>
              <a:t> </a:t>
            </a:r>
            <a:r>
              <a:rPr lang="ru-RU" dirty="0" err="1"/>
              <a:t>заборону</a:t>
            </a:r>
            <a:r>
              <a:rPr lang="ru-RU" dirty="0" smtClean="0"/>
              <a:t>.</a:t>
            </a:r>
          </a:p>
          <a:p>
            <a:r>
              <a:rPr lang="uk-UA" b="1" dirty="0" smtClean="0"/>
              <a:t>Вирок</a:t>
            </a:r>
            <a:r>
              <a:rPr lang="uk-UA" b="1" dirty="0"/>
              <a:t>:</a:t>
            </a:r>
            <a:r>
              <a:rPr lang="uk-UA" dirty="0"/>
              <a:t> Довічне ув'язнення, яке згодом замінили на суворий домашній арешт</a:t>
            </a:r>
            <a:r>
              <a:rPr lang="uk-UA" dirty="0" smtClean="0"/>
              <a:t>.</a:t>
            </a:r>
          </a:p>
          <a:p>
            <a:r>
              <a:rPr lang="uk-UA" b="1" dirty="0" smtClean="0"/>
              <a:t>Легенда</a:t>
            </a:r>
            <a:r>
              <a:rPr lang="uk-UA" b="1" dirty="0"/>
              <a:t>:</a:t>
            </a:r>
            <a:r>
              <a:rPr lang="uk-UA" dirty="0"/>
              <a:t> Вислів "</a:t>
            </a:r>
            <a:r>
              <a:rPr lang="en-US" dirty="0" err="1"/>
              <a:t>Eppur</a:t>
            </a:r>
            <a:r>
              <a:rPr lang="en-US" dirty="0"/>
              <a:t> </a:t>
            </a:r>
            <a:r>
              <a:rPr lang="en-US" dirty="0" err="1"/>
              <a:t>si</a:t>
            </a:r>
            <a:r>
              <a:rPr lang="en-US" dirty="0"/>
              <a:t> </a:t>
            </a:r>
            <a:r>
              <a:rPr lang="en-US" dirty="0" err="1"/>
              <a:t>muove</a:t>
            </a:r>
            <a:r>
              <a:rPr lang="en-US" dirty="0"/>
              <a:t>" ("</a:t>
            </a:r>
            <a:r>
              <a:rPr lang="uk-UA" dirty="0"/>
              <a:t>І все-таки вона крутиться</a:t>
            </a:r>
            <a:r>
              <a:rPr lang="uk-UA" dirty="0" smtClean="0"/>
              <a:t>").</a:t>
            </a:r>
            <a:endParaRPr lang="ru-RU" dirty="0" smtClean="0"/>
          </a:p>
        </p:txBody>
      </p:sp>
      <p:pic>
        <p:nvPicPr>
          <p:cNvPr id="7" name="Рисунок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3953" y="3556998"/>
            <a:ext cx="4561960" cy="2889241"/>
          </a:xfrm>
          <a:prstGeom prst="rect">
            <a:avLst/>
          </a:prstGeom>
        </p:spPr>
      </p:pic>
      <p:pic>
        <p:nvPicPr>
          <p:cNvPr id="9" name="Рисунок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2693" y="3559135"/>
            <a:ext cx="3769066" cy="2887104"/>
          </a:xfrm>
          <a:prstGeom prst="rect">
            <a:avLst/>
          </a:prstGeom>
        </p:spPr>
      </p:pic>
      <p:sp>
        <p:nvSpPr>
          <p:cNvPr id="10" name="Прямокутник 9"/>
          <p:cNvSpPr/>
          <p:nvPr/>
        </p:nvSpPr>
        <p:spPr>
          <a:xfrm>
            <a:off x="1277765" y="6489801"/>
            <a:ext cx="4538147" cy="307777"/>
          </a:xfrm>
          <a:prstGeom prst="rect">
            <a:avLst/>
          </a:prstGeom>
        </p:spPr>
        <p:txBody>
          <a:bodyPr wrap="square">
            <a:spAutoFit/>
          </a:bodyPr>
          <a:lstStyle/>
          <a:p>
            <a:pPr algn="ctr"/>
            <a:r>
              <a:rPr lang="uk-UA" sz="1400" i="1" dirty="0" smtClean="0"/>
              <a:t>Жозеф Робер-</a:t>
            </a:r>
            <a:r>
              <a:rPr lang="uk-UA" sz="1400" i="1" dirty="0" err="1" smtClean="0"/>
              <a:t>Фльорі</a:t>
            </a:r>
            <a:r>
              <a:rPr lang="en-US" sz="1400" i="1" dirty="0" smtClean="0"/>
              <a:t>, 1847. </a:t>
            </a:r>
            <a:r>
              <a:rPr lang="uk-UA" sz="1400" i="1" dirty="0" smtClean="0"/>
              <a:t>Галілей перед судом інквізиції.</a:t>
            </a:r>
            <a:endParaRPr lang="uk-UA" sz="1400" i="1" dirty="0"/>
          </a:p>
        </p:txBody>
      </p:sp>
      <p:sp>
        <p:nvSpPr>
          <p:cNvPr id="12" name="Прямокутник 11"/>
          <p:cNvSpPr/>
          <p:nvPr/>
        </p:nvSpPr>
        <p:spPr>
          <a:xfrm>
            <a:off x="6337295" y="6489800"/>
            <a:ext cx="4742597" cy="307777"/>
          </a:xfrm>
          <a:prstGeom prst="rect">
            <a:avLst/>
          </a:prstGeom>
        </p:spPr>
        <p:txBody>
          <a:bodyPr wrap="square">
            <a:spAutoFit/>
          </a:bodyPr>
          <a:lstStyle/>
          <a:p>
            <a:pPr algn="ctr"/>
            <a:r>
              <a:rPr lang="uk-UA" sz="1400" i="1" dirty="0" err="1" smtClean="0"/>
              <a:t>Кристіано</a:t>
            </a:r>
            <a:r>
              <a:rPr lang="uk-UA" sz="1400" i="1" dirty="0" smtClean="0"/>
              <a:t> Банті, 1857. Галілео перед римською інквізицією.</a:t>
            </a:r>
            <a:endParaRPr lang="uk-UA" sz="1400" i="1" dirty="0"/>
          </a:p>
        </p:txBody>
      </p:sp>
    </p:spTree>
    <p:extLst>
      <p:ext uri="{BB962C8B-B14F-4D97-AF65-F5344CB8AC3E}">
        <p14:creationId xmlns:p14="http://schemas.microsoft.com/office/powerpoint/2010/main" val="3415693420"/>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231136" y="149146"/>
            <a:ext cx="7729728" cy="707589"/>
          </a:xfrm>
        </p:spPr>
        <p:txBody>
          <a:bodyPr>
            <a:normAutofit fontScale="90000"/>
          </a:bodyPr>
          <a:lstStyle/>
          <a:p>
            <a:r>
              <a:rPr lang="uk-UA" dirty="0"/>
              <a:t>Спадщина </a:t>
            </a:r>
            <a:r>
              <a:rPr lang="uk-UA" dirty="0" smtClean="0"/>
              <a:t>Галілея.</a:t>
            </a:r>
            <a:endParaRPr lang="uk-UA" dirty="0"/>
          </a:p>
        </p:txBody>
      </p:sp>
      <p:sp>
        <p:nvSpPr>
          <p:cNvPr id="3" name="Місце для вмісту 2"/>
          <p:cNvSpPr>
            <a:spLocks noGrp="1"/>
          </p:cNvSpPr>
          <p:nvPr>
            <p:ph idx="1"/>
          </p:nvPr>
        </p:nvSpPr>
        <p:spPr>
          <a:xfrm>
            <a:off x="3987113" y="1363360"/>
            <a:ext cx="8064844" cy="5025081"/>
          </a:xfrm>
        </p:spPr>
        <p:txBody>
          <a:bodyPr>
            <a:normAutofit/>
          </a:bodyPr>
          <a:lstStyle/>
          <a:p>
            <a:r>
              <a:rPr lang="ru-RU" dirty="0" err="1"/>
              <a:t>Галілео</a:t>
            </a:r>
            <a:r>
              <a:rPr lang="ru-RU" dirty="0"/>
              <a:t> </a:t>
            </a:r>
            <a:r>
              <a:rPr lang="ru-RU" dirty="0" err="1"/>
              <a:t>Галілей</a:t>
            </a:r>
            <a:r>
              <a:rPr lang="ru-RU" dirty="0"/>
              <a:t> </a:t>
            </a:r>
            <a:r>
              <a:rPr lang="ru-RU" dirty="0" err="1"/>
              <a:t>був</a:t>
            </a:r>
            <a:r>
              <a:rPr lang="ru-RU" dirty="0"/>
              <a:t> основоположником </a:t>
            </a:r>
            <a:r>
              <a:rPr lang="ru-RU" dirty="0" err="1"/>
              <a:t>експериментально-математичного</a:t>
            </a:r>
            <a:r>
              <a:rPr lang="ru-RU" dirty="0"/>
              <a:t> методу </a:t>
            </a:r>
            <a:r>
              <a:rPr lang="ru-RU" dirty="0" err="1"/>
              <a:t>вивчення</a:t>
            </a:r>
            <a:r>
              <a:rPr lang="ru-RU" dirty="0"/>
              <a:t> </a:t>
            </a:r>
            <a:r>
              <a:rPr lang="ru-RU" dirty="0" err="1"/>
              <a:t>природи</a:t>
            </a:r>
            <a:r>
              <a:rPr lang="ru-RU" dirty="0"/>
              <a:t>. </a:t>
            </a:r>
            <a:r>
              <a:rPr lang="ru-RU" dirty="0" err="1"/>
              <a:t>Ввів</a:t>
            </a:r>
            <a:r>
              <a:rPr lang="ru-RU" dirty="0"/>
              <a:t> цикл "</a:t>
            </a:r>
            <a:r>
              <a:rPr lang="ru-RU" dirty="0" err="1"/>
              <a:t>Спостереження</a:t>
            </a:r>
            <a:r>
              <a:rPr lang="ru-RU" dirty="0"/>
              <a:t> → </a:t>
            </a:r>
            <a:r>
              <a:rPr lang="ru-RU" dirty="0" err="1"/>
              <a:t>Гіпотеза</a:t>
            </a:r>
            <a:r>
              <a:rPr lang="ru-RU" dirty="0"/>
              <a:t> → </a:t>
            </a:r>
            <a:r>
              <a:rPr lang="ru-RU" dirty="0" err="1"/>
              <a:t>Експеримент</a:t>
            </a:r>
            <a:r>
              <a:rPr lang="ru-RU" dirty="0"/>
              <a:t> → </a:t>
            </a:r>
            <a:r>
              <a:rPr lang="ru-RU" dirty="0" err="1"/>
              <a:t>Теорія</a:t>
            </a:r>
            <a:r>
              <a:rPr lang="ru-RU" dirty="0" smtClean="0"/>
              <a:t>". Він </a:t>
            </a:r>
            <a:r>
              <a:rPr lang="ru-RU" dirty="0" err="1"/>
              <a:t>виклав</a:t>
            </a:r>
            <a:r>
              <a:rPr lang="ru-RU" dirty="0"/>
              <a:t> </a:t>
            </a:r>
            <a:r>
              <a:rPr lang="ru-RU" dirty="0" err="1"/>
              <a:t>розгорнутий</a:t>
            </a:r>
            <a:r>
              <a:rPr lang="ru-RU" dirty="0"/>
              <a:t> </a:t>
            </a:r>
            <a:r>
              <a:rPr lang="ru-RU" dirty="0" err="1"/>
              <a:t>опис</a:t>
            </a:r>
            <a:r>
              <a:rPr lang="ru-RU" dirty="0"/>
              <a:t> </a:t>
            </a:r>
            <a:r>
              <a:rPr lang="ru-RU" dirty="0" err="1"/>
              <a:t>цього</a:t>
            </a:r>
            <a:r>
              <a:rPr lang="ru-RU" dirty="0"/>
              <a:t> методу і </a:t>
            </a:r>
            <a:r>
              <a:rPr lang="ru-RU" dirty="0" err="1"/>
              <a:t>сформулював</a:t>
            </a:r>
            <a:r>
              <a:rPr lang="ru-RU" dirty="0"/>
              <a:t> </a:t>
            </a:r>
            <a:r>
              <a:rPr lang="ru-RU" dirty="0" err="1"/>
              <a:t>найважливіші</a:t>
            </a:r>
            <a:r>
              <a:rPr lang="ru-RU" dirty="0"/>
              <a:t> </a:t>
            </a:r>
            <a:r>
              <a:rPr lang="ru-RU" dirty="0" err="1"/>
              <a:t>принципи</a:t>
            </a:r>
            <a:r>
              <a:rPr lang="ru-RU" dirty="0"/>
              <a:t> </a:t>
            </a:r>
            <a:r>
              <a:rPr lang="ru-RU" dirty="0" err="1"/>
              <a:t>механічного</a:t>
            </a:r>
            <a:r>
              <a:rPr lang="ru-RU" dirty="0"/>
              <a:t> </a:t>
            </a:r>
            <a:r>
              <a:rPr lang="ru-RU" dirty="0" err="1"/>
              <a:t>світу</a:t>
            </a:r>
            <a:r>
              <a:rPr lang="ru-RU" dirty="0"/>
              <a:t>. </a:t>
            </a:r>
            <a:r>
              <a:rPr lang="ru-RU" dirty="0" err="1"/>
              <a:t>Його</a:t>
            </a:r>
            <a:r>
              <a:rPr lang="ru-RU" dirty="0"/>
              <a:t> </a:t>
            </a:r>
            <a:r>
              <a:rPr lang="ru-RU" dirty="0" err="1"/>
              <a:t>дослідження</a:t>
            </a:r>
            <a:r>
              <a:rPr lang="ru-RU" dirty="0"/>
              <a:t> кардинально </a:t>
            </a:r>
            <a:r>
              <a:rPr lang="ru-RU" dirty="0" err="1"/>
              <a:t>вплинули</a:t>
            </a:r>
            <a:r>
              <a:rPr lang="ru-RU" dirty="0"/>
              <a:t> на </a:t>
            </a:r>
            <a:r>
              <a:rPr lang="ru-RU" dirty="0" err="1"/>
              <a:t>розвиток</a:t>
            </a:r>
            <a:r>
              <a:rPr lang="ru-RU" dirty="0"/>
              <a:t> </a:t>
            </a:r>
            <a:r>
              <a:rPr lang="ru-RU" dirty="0" err="1"/>
              <a:t>наукової</a:t>
            </a:r>
            <a:r>
              <a:rPr lang="ru-RU" dirty="0"/>
              <a:t> думки. Саме </a:t>
            </a:r>
            <a:r>
              <a:rPr lang="ru-RU" dirty="0" err="1"/>
              <a:t>від</a:t>
            </a:r>
            <a:r>
              <a:rPr lang="ru-RU" dirty="0"/>
              <a:t> </a:t>
            </a:r>
            <a:r>
              <a:rPr lang="ru-RU" dirty="0" err="1"/>
              <a:t>нього</a:t>
            </a:r>
            <a:r>
              <a:rPr lang="ru-RU" dirty="0"/>
              <a:t> </a:t>
            </a:r>
            <a:r>
              <a:rPr lang="ru-RU" dirty="0" err="1"/>
              <a:t>бере</a:t>
            </a:r>
            <a:r>
              <a:rPr lang="ru-RU" dirty="0"/>
              <a:t> початок </a:t>
            </a:r>
            <a:r>
              <a:rPr lang="ru-RU" dirty="0" err="1"/>
              <a:t>фізика</a:t>
            </a:r>
            <a:r>
              <a:rPr lang="ru-RU" dirty="0"/>
              <a:t> як наука. </a:t>
            </a:r>
            <a:r>
              <a:rPr lang="ru-RU" dirty="0" err="1"/>
              <a:t>Найважливішим</a:t>
            </a:r>
            <a:r>
              <a:rPr lang="ru-RU" dirty="0"/>
              <a:t> вкладом </a:t>
            </a:r>
            <a:r>
              <a:rPr lang="ru-RU" dirty="0" err="1"/>
              <a:t>Галілео</a:t>
            </a:r>
            <a:r>
              <a:rPr lang="ru-RU" dirty="0"/>
              <a:t> Галілея в науку </a:t>
            </a:r>
            <a:r>
              <a:rPr lang="ru-RU" dirty="0" err="1"/>
              <a:t>була</a:t>
            </a:r>
            <a:r>
              <a:rPr lang="ru-RU" dirty="0"/>
              <a:t> </a:t>
            </a:r>
            <a:r>
              <a:rPr lang="ru-RU" dirty="0" err="1"/>
              <a:t>свідома</a:t>
            </a:r>
            <a:r>
              <a:rPr lang="ru-RU" dirty="0"/>
              <a:t> і </a:t>
            </a:r>
            <a:r>
              <a:rPr lang="ru-RU" dirty="0" err="1"/>
              <a:t>послідовна</a:t>
            </a:r>
            <a:r>
              <a:rPr lang="ru-RU" dirty="0"/>
              <a:t> </a:t>
            </a:r>
            <a:r>
              <a:rPr lang="ru-RU" dirty="0" err="1"/>
              <a:t>заміна</a:t>
            </a:r>
            <a:r>
              <a:rPr lang="ru-RU" dirty="0"/>
              <a:t> </a:t>
            </a:r>
            <a:r>
              <a:rPr lang="ru-RU" dirty="0" err="1"/>
              <a:t>пасивного</a:t>
            </a:r>
            <a:r>
              <a:rPr lang="ru-RU" dirty="0"/>
              <a:t> </a:t>
            </a:r>
            <a:r>
              <a:rPr lang="ru-RU" dirty="0" err="1"/>
              <a:t>спостереження</a:t>
            </a:r>
            <a:r>
              <a:rPr lang="ru-RU" dirty="0"/>
              <a:t> </a:t>
            </a:r>
            <a:r>
              <a:rPr lang="ru-RU" dirty="0" err="1"/>
              <a:t>активним</a:t>
            </a:r>
            <a:r>
              <a:rPr lang="ru-RU" dirty="0"/>
              <a:t> </a:t>
            </a:r>
            <a:r>
              <a:rPr lang="ru-RU" dirty="0" err="1"/>
              <a:t>експериментом</a:t>
            </a:r>
            <a:r>
              <a:rPr lang="ru-RU" dirty="0"/>
              <a:t>. Результатами </a:t>
            </a:r>
            <a:r>
              <a:rPr lang="ru-RU" dirty="0" err="1"/>
              <a:t>цих</a:t>
            </a:r>
            <a:r>
              <a:rPr lang="ru-RU" dirty="0"/>
              <a:t> </a:t>
            </a:r>
            <a:r>
              <a:rPr lang="ru-RU" dirty="0" err="1"/>
              <a:t>експериментів</a:t>
            </a:r>
            <a:r>
              <a:rPr lang="ru-RU" dirty="0"/>
              <a:t> стало </a:t>
            </a:r>
            <a:r>
              <a:rPr lang="ru-RU" dirty="0" err="1"/>
              <a:t>багато</a:t>
            </a:r>
            <a:r>
              <a:rPr lang="ru-RU" dirty="0"/>
              <a:t> </a:t>
            </a:r>
            <a:r>
              <a:rPr lang="ru-RU" dirty="0" err="1"/>
              <a:t>наукових</a:t>
            </a:r>
            <a:r>
              <a:rPr lang="ru-RU" dirty="0"/>
              <a:t> </a:t>
            </a:r>
            <a:r>
              <a:rPr lang="ru-RU" dirty="0" err="1" smtClean="0"/>
              <a:t>відкриттів</a:t>
            </a:r>
            <a:r>
              <a:rPr lang="ru-RU" dirty="0" smtClean="0"/>
              <a:t>.</a:t>
            </a:r>
          </a:p>
          <a:p>
            <a:r>
              <a:rPr lang="ru-RU" dirty="0" err="1"/>
              <a:t>Стверджував</a:t>
            </a:r>
            <a:r>
              <a:rPr lang="ru-RU" dirty="0"/>
              <a:t>, що "Книга </a:t>
            </a:r>
            <a:r>
              <a:rPr lang="ru-RU" dirty="0" err="1"/>
              <a:t>природи</a:t>
            </a:r>
            <a:r>
              <a:rPr lang="ru-RU" dirty="0"/>
              <a:t> написана </a:t>
            </a:r>
            <a:r>
              <a:rPr lang="ru-RU" dirty="0" err="1"/>
              <a:t>мовою</a:t>
            </a:r>
            <a:r>
              <a:rPr lang="ru-RU" dirty="0"/>
              <a:t> математики</a:t>
            </a:r>
            <a:r>
              <a:rPr lang="ru-RU" dirty="0" smtClean="0"/>
              <a:t>".</a:t>
            </a:r>
            <a:r>
              <a:rPr lang="en-US" dirty="0" smtClean="0"/>
              <a:t> </a:t>
            </a:r>
            <a:r>
              <a:rPr lang="uk-UA" dirty="0" smtClean="0"/>
              <a:t>В</a:t>
            </a:r>
            <a:r>
              <a:rPr lang="ru-RU" dirty="0" err="1" smtClean="0"/>
              <a:t>ін</a:t>
            </a:r>
            <a:r>
              <a:rPr lang="ru-RU" dirty="0" smtClean="0"/>
              <a:t> </a:t>
            </a:r>
            <a:r>
              <a:rPr lang="ru-RU" dirty="0"/>
              <a:t>показав, що </a:t>
            </a:r>
            <a:r>
              <a:rPr lang="ru-RU" dirty="0" err="1"/>
              <a:t>Всесвіт</a:t>
            </a:r>
            <a:r>
              <a:rPr lang="ru-RU" dirty="0"/>
              <a:t> </a:t>
            </a:r>
            <a:r>
              <a:rPr lang="ru-RU" dirty="0" err="1"/>
              <a:t>можна</a:t>
            </a:r>
            <a:r>
              <a:rPr lang="ru-RU" dirty="0"/>
              <a:t> </a:t>
            </a:r>
            <a:r>
              <a:rPr lang="ru-RU" dirty="0" err="1"/>
              <a:t>зрозуміти</a:t>
            </a:r>
            <a:r>
              <a:rPr lang="ru-RU" dirty="0"/>
              <a:t> за </a:t>
            </a:r>
            <a:r>
              <a:rPr lang="ru-RU" dirty="0" err="1"/>
              <a:t>допомогою</a:t>
            </a:r>
            <a:r>
              <a:rPr lang="ru-RU" dirty="0"/>
              <a:t> математики.</a:t>
            </a:r>
            <a:endParaRPr lang="ru-RU" dirty="0" smtClean="0"/>
          </a:p>
          <a:p>
            <a:r>
              <a:rPr lang="ru-RU" dirty="0"/>
              <a:t>Без </a:t>
            </a:r>
            <a:r>
              <a:rPr lang="ru-RU" dirty="0" err="1"/>
              <a:t>законів</a:t>
            </a:r>
            <a:r>
              <a:rPr lang="ru-RU" dirty="0"/>
              <a:t> Галілея </a:t>
            </a:r>
            <a:r>
              <a:rPr lang="ru-RU" dirty="0" smtClean="0"/>
              <a:t> не </a:t>
            </a:r>
            <a:r>
              <a:rPr lang="ru-RU" dirty="0" err="1"/>
              <a:t>було</a:t>
            </a:r>
            <a:r>
              <a:rPr lang="ru-RU" dirty="0"/>
              <a:t> б закону </a:t>
            </a:r>
            <a:r>
              <a:rPr lang="ru-RU" dirty="0" err="1"/>
              <a:t>всесвітнього</a:t>
            </a:r>
            <a:r>
              <a:rPr lang="ru-RU" dirty="0"/>
              <a:t> </a:t>
            </a:r>
            <a:r>
              <a:rPr lang="ru-RU" dirty="0" err="1"/>
              <a:t>тяжіння</a:t>
            </a:r>
            <a:r>
              <a:rPr lang="ru-RU" dirty="0" smtClean="0"/>
              <a:t>. </a:t>
            </a:r>
            <a:r>
              <a:rPr lang="uk-UA" dirty="0" smtClean="0"/>
              <a:t>Він заклав </a:t>
            </a:r>
            <a:r>
              <a:rPr lang="uk-UA" dirty="0"/>
              <a:t>фундамент класичної механіки, на </a:t>
            </a:r>
            <a:r>
              <a:rPr lang="uk-UA" dirty="0" smtClean="0"/>
              <a:t>якому Ньютон пізніше побудував свої закони руху. </a:t>
            </a:r>
            <a:r>
              <a:rPr lang="uk-UA" dirty="0"/>
              <a:t>С</a:t>
            </a:r>
            <a:r>
              <a:rPr lang="uk-UA" dirty="0" smtClean="0"/>
              <a:t>формулював </a:t>
            </a:r>
            <a:r>
              <a:rPr lang="uk-UA" dirty="0"/>
              <a:t>принцип відносності, закон інерції та закони вільного падіння, які стали </a:t>
            </a:r>
            <a:r>
              <a:rPr lang="uk-UA" dirty="0" smtClean="0"/>
              <a:t>основою </a:t>
            </a:r>
            <a:r>
              <a:rPr lang="uk-UA" dirty="0"/>
              <a:t>для </a:t>
            </a:r>
            <a:r>
              <a:rPr lang="uk-UA" dirty="0" smtClean="0"/>
              <a:t>Ньютона</a:t>
            </a:r>
            <a:r>
              <a:rPr lang="uk-UA" dirty="0"/>
              <a:t>, зокрема для першого закону</a:t>
            </a:r>
            <a:r>
              <a:rPr lang="uk-UA" dirty="0"/>
              <a:t>. </a:t>
            </a:r>
            <a:endParaRPr lang="ru-RU" dirty="0" smtClean="0"/>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8895" y="923408"/>
            <a:ext cx="3143250" cy="5657850"/>
          </a:xfrm>
          <a:prstGeom prst="rect">
            <a:avLst/>
          </a:prstGeom>
        </p:spPr>
      </p:pic>
      <p:sp>
        <p:nvSpPr>
          <p:cNvPr id="5" name="Прямокутник 4"/>
          <p:cNvSpPr/>
          <p:nvPr/>
        </p:nvSpPr>
        <p:spPr>
          <a:xfrm>
            <a:off x="462753" y="6550223"/>
            <a:ext cx="3355534" cy="307777"/>
          </a:xfrm>
          <a:prstGeom prst="rect">
            <a:avLst/>
          </a:prstGeom>
        </p:spPr>
        <p:txBody>
          <a:bodyPr wrap="none">
            <a:spAutoFit/>
          </a:bodyPr>
          <a:lstStyle/>
          <a:p>
            <a:r>
              <a:rPr lang="ru-RU" sz="1400" i="1" dirty="0" smtClean="0"/>
              <a:t>Статуя </a:t>
            </a:r>
            <a:r>
              <a:rPr lang="ru-RU" sz="1400" i="1" dirty="0" err="1" smtClean="0"/>
              <a:t>Галілео</a:t>
            </a:r>
            <a:r>
              <a:rPr lang="ru-RU" sz="1400" i="1" dirty="0" smtClean="0"/>
              <a:t> перед </a:t>
            </a:r>
            <a:r>
              <a:rPr lang="ru-RU" sz="1400" i="1" dirty="0" err="1" smtClean="0"/>
              <a:t>Уффіці</a:t>
            </a:r>
            <a:r>
              <a:rPr lang="ru-RU" sz="1400" i="1" dirty="0" smtClean="0"/>
              <a:t>, </a:t>
            </a:r>
            <a:r>
              <a:rPr lang="ru-RU" sz="1400" i="1" dirty="0" err="1" smtClean="0"/>
              <a:t>Флоренція</a:t>
            </a:r>
            <a:r>
              <a:rPr lang="ru-RU" sz="1400" i="1" dirty="0" smtClean="0"/>
              <a:t>.</a:t>
            </a:r>
            <a:endParaRPr lang="uk-UA" sz="1400" i="1" dirty="0"/>
          </a:p>
        </p:txBody>
      </p:sp>
    </p:spTree>
    <p:extLst>
      <p:ext uri="{BB962C8B-B14F-4D97-AF65-F5344CB8AC3E}">
        <p14:creationId xmlns:p14="http://schemas.microsoft.com/office/powerpoint/2010/main" val="3000520174"/>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par>
    </p:tnLst>
  </p:timing>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TM10001115[[fn=Посилка]]</Template>
  <TotalTime>329</TotalTime>
  <Words>1345</Words>
  <Application>Microsoft Office PowerPoint</Application>
  <PresentationFormat>Широкий екран</PresentationFormat>
  <Paragraphs>58</Paragraphs>
  <Slides>10</Slides>
  <Notes>0</Notes>
  <HiddenSlides>0</HiddenSlides>
  <MMClips>0</MMClips>
  <ScaleCrop>false</ScaleCrop>
  <HeadingPairs>
    <vt:vector size="6" baseType="variant">
      <vt:variant>
        <vt:lpstr>Використані шрифти</vt:lpstr>
      </vt:variant>
      <vt:variant>
        <vt:i4>3</vt:i4>
      </vt:variant>
      <vt:variant>
        <vt:lpstr>Тема</vt:lpstr>
      </vt:variant>
      <vt:variant>
        <vt:i4>1</vt:i4>
      </vt:variant>
      <vt:variant>
        <vt:lpstr>Заголовки слайдів</vt:lpstr>
      </vt:variant>
      <vt:variant>
        <vt:i4>10</vt:i4>
      </vt:variant>
    </vt:vector>
  </HeadingPairs>
  <TitlesOfParts>
    <vt:vector size="14" baseType="lpstr">
      <vt:lpstr>Arial</vt:lpstr>
      <vt:lpstr>Corbel</vt:lpstr>
      <vt:lpstr>Gill Sans MT</vt:lpstr>
      <vt:lpstr>Parcel</vt:lpstr>
      <vt:lpstr>Галілео галілей та роль його відкриттів.</vt:lpstr>
      <vt:lpstr>Вступ.</vt:lpstr>
      <vt:lpstr>Життя.</vt:lpstr>
      <vt:lpstr>Деякі винаходи.</vt:lpstr>
      <vt:lpstr>Телескоп.</vt:lpstr>
      <vt:lpstr>Відкриття в астрономії.</vt:lpstr>
      <vt:lpstr>Відкриття в астрономії.</vt:lpstr>
      <vt:lpstr>Закони механіки та інерція.</vt:lpstr>
      <vt:lpstr>Конфлікт з інквізицією.</vt:lpstr>
      <vt:lpstr>Спадщина Галілея.</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Презентація PowerPoint</dc:title>
  <dc:creator>Xie Ta</dc:creator>
  <cp:lastModifiedBy>Xie Ta</cp:lastModifiedBy>
  <cp:revision>26</cp:revision>
  <dcterms:created xsi:type="dcterms:W3CDTF">2026-03-18T07:43:42Z</dcterms:created>
  <dcterms:modified xsi:type="dcterms:W3CDTF">2026-03-18T13:13:30Z</dcterms:modified>
</cp:coreProperties>
</file>