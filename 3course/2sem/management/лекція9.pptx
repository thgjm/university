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29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slides/slide31.xml" ContentType="application/vnd.openxmlformats-officedocument.presentationml.slide+xml"/>
  <Override PartName="/ppt/slides/slide24.xml" ContentType="application/vnd.openxmlformats-officedocument.presentationml.slide+xml"/>
  <Override PartName="/ppt/slides/slide32.xml" ContentType="application/vnd.openxmlformats-officedocument.presentationml.slide+xml"/>
  <Override PartName="/ppt/slides/slide34.xml" ContentType="application/vnd.openxmlformats-officedocument.presentationml.slide+xml"/>
  <Override PartName="/ppt/slides/slide3.xml" ContentType="application/vnd.openxmlformats-officedocument.presentationml.slide+xml"/>
  <Override PartName="/ppt/slides/slide33.xml" ContentType="application/vnd.openxmlformats-officedocument.presentationml.slide+xml"/>
  <Override PartName="/ppt/slides/slide1.xml" ContentType="application/vnd.openxmlformats-officedocument.presentationml.slide+xml"/>
  <Override PartName="/ppt/slides/slide28.xml" ContentType="application/vnd.openxmlformats-officedocument.presentationml.slide+xml"/>
  <Override PartName="/ppt/slides/slide12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3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ий слайд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uk-UA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Клацніть, щоб редагувати стиль зразка заголовка</a:t>
            </a:r>
            <a:endParaRPr lang="pl-PL" sz="6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07E5954-45BA-46EE-B67C-C8AEACF5C8AA}" type="slidenum"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l-PL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l-PL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Заголовок і вертикальний текс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uk-UA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Клацніть, щоб редагувати стиль зразка заголовка</a:t>
            </a:r>
            <a:endParaRPr lang="pl-PL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uk-UA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Клацніть, щоб відредагувати стилі зразків тексту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Другий рівень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Третій рівень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Четвертий рівень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П’ятий рівень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62B2062-5FCA-47FA-9B8B-96EC452401F0}" type="slidenum"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Вертикальний заголовок і текс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uk-UA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Клацніть, щоб редагувати стиль зразка заголовка</a:t>
            </a:r>
            <a:endParaRPr lang="pl-PL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uk-UA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Клацніть, щоб відредагувати стилі зразків тексту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Другий рівень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Третій рівень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Четвертий рівень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П’ятий рівень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580BC41-68D2-42F7-922D-DD930347D9C0}" type="slidenum"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Назва та вміс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uk-UA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Клацніть, щоб редагувати стиль зразка заголовка</a:t>
            </a:r>
            <a:endParaRPr lang="pl-PL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uk-UA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Клацніть, щоб відредагувати стилі зразків тексту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Другий рівень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Третій рівень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Четвертий рівень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П’ятий рівень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3B82EB5-5858-4B9A-9633-2D641435C968}" type="slidenum"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Назва розділу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uk-UA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Клацніть, щоб редагувати стиль зразка заголовка</a:t>
            </a:r>
            <a:endParaRPr lang="pl-PL" sz="6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uk-UA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Клацніть, щоб відредагувати стилі зразків тексту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63AEE50-3793-407C-B8C5-B798EDFC4357}" type="slidenum"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Два об’єкти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uk-UA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Клацніть, щоб редагувати стиль зразка заголовка</a:t>
            </a:r>
            <a:endParaRPr lang="pl-PL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uk-UA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Клацніть, щоб відредагувати стилі зразків тексту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Другий рівень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Третій рівень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Четвертий рівень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П’ятий рівень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uk-UA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Клацніть, щоб відредагувати стилі зразків тексту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Другий рівень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Третій рівень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Четвертий рівень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П’ятий рівень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F8C8DA3-761E-41A2-AC0D-1312BB169A96}" type="slidenum"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орівняння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uk-UA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Клацніть, щоб редагувати стиль зразка заголовка</a:t>
            </a:r>
            <a:endParaRPr lang="pl-PL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uk-UA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Клацніть, щоб відредагувати стилі зразків тексту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uk-UA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Клацніть, щоб відредагувати стилі зразків тексту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Другий рівень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Третій рівень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Четвертий рівень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П’ятий рівень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uk-UA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Клацніть, щоб відредагувати стилі зразків тексту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uk-UA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Клацніть, щоб відредагувати стилі зразків тексту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Другий рівень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Третій рівень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Четвертий рівень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П’ятий рівень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DE6E277-9DA8-441C-88BB-D442F738EB1C}" type="slidenum"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Лише заголовок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uk-UA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Клацніть, щоб редагувати стиль зразка заголовка</a:t>
            </a:r>
            <a:endParaRPr lang="pl-PL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859030D-9DB0-4412-B3A1-6B979D011918}" type="slidenum"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ий слайд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5CE4494-646B-4895-BCA6-35847C607F06}" type="slidenum"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Вміст і підпис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uk-UA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Клацніть, щоб редагувати стиль зразка заголовка</a:t>
            </a:r>
            <a:endParaRPr lang="pl-PL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uk-UA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Клацніть, щоб відредагувати стилі зразків тексту</a:t>
            </a:r>
            <a:endParaRPr lang="pl-PL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Другий рівень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Третій рівень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Четвертий рівень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uk-UA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П’ятий рівень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uk-UA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Клацніть, щоб відредагувати стилі зразків тексту</a:t>
            </a:r>
            <a:endParaRPr lang="pl-PL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B40C607-9160-48AB-8D13-1EF164D7FC32}" type="slidenum"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і підпис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uk-UA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Клацніть, щоб редагувати стиль зразка заголовка</a:t>
            </a:r>
            <a:endParaRPr lang="pl-PL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pl-PL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l-PL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pl-PL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pl-PL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l-PL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pl-PL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pl-PL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pl-PL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pl-PL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uk-UA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Клацніть, щоб відредагувати стилі зразків тексту</a:t>
            </a:r>
            <a:endParaRPr lang="pl-PL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BF5FA66-14BF-4A5C-B1CA-1D90C4A3C86A}" type="slidenum">
              <a:rPr lang="pl-PL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uk-UA" sz="60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Управління програмними проектами</a:t>
            </a:r>
            <a:endParaRPr lang="pl-PL" sz="6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uk-UA" sz="24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Ініціація проекту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/>
          </p:nvPr>
        </p:nvSpPr>
        <p:spPr>
          <a:xfrm>
            <a:off x="275040" y="159840"/>
            <a:ext cx="11780280" cy="6382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just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Найчастіше виділяють два види організації людської діяльності: </a:t>
            </a:r>
            <a:r>
              <a:rPr lang="uk-UA" sz="24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операційна і проектна. </a:t>
            </a: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Операційна діяльність застосовується, коли зовнішні умови добре відомі і стабільні, коли виробничі операції добре вивчені і неодноразово випробувані, а функції виконавців визначені і постійні. У цьому випадку основою ефективності служать вузька спеціалізація та підвищення компетенції.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Там, де розробляється новий продукт, зовнішні умови та вимоги до якого постійно змінюються, де застосовуються виробничі технології, які використовуються вперше, де постійно потрібні пошук нових можливостей, інтелектуальні зусилля і творчість, там потрібні </a:t>
            </a:r>
            <a:r>
              <a:rPr lang="uk-UA" sz="24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проекти.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Проект — це тимчасове підприємство, призначене для створення унікальних продуктів, послуг або результатів. 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/>
          </p:nvPr>
        </p:nvSpPr>
        <p:spPr>
          <a:xfrm>
            <a:off x="337320" y="248400"/>
            <a:ext cx="11620440" cy="630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000" lnSpcReduction="9999"/>
          </a:bodyPr>
          <a:p>
            <a:pPr indent="0" algn="just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uk-UA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Операційна діяльність і проекти розрізняються, головним чином, тим, що операційна діяльність — це триваючий у часі і повторюваний процес, у той час як проекти є тимчасовими і унікальними. 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uk-UA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Обмеження по термінах означає, що у будь якого проекту є чіткий початок і чітке завершення. Завершення наступає, коли досягнуто цілі проекту; або усвідомлено, що цілі проекту не будуть або не можуть бути досягнуті; або зникла необхідність у проекті, і він припиняється. 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uk-UA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Унікальність також важлива відмінність проектної діяльності від операційної. Якщо б результати проекту не носили унікальний характер, роботу по їх досягненню можна було б чітко регламентувати, встановити виробничі нормативи і реалізовувати у рамках операційної діяльності (конвеєр). Завдання проекту — досягнення конкретної бізнес-цілі. Завдання операційної діяльності — забезпечення нормального перебігу бізнесу.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/>
          </p:nvPr>
        </p:nvSpPr>
        <p:spPr>
          <a:xfrm>
            <a:off x="479520" y="399600"/>
            <a:ext cx="11300760" cy="6045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indent="0" algn="just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Все менший обсяг людської діяльності може бути організований у вигляді повторюваних операцій. Приклад операційної діяльності - це робота бухгалтерії. 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uk-UA" sz="24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Проект-це основа інновацій</a:t>
            </a: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. Зробити те, до чого інші компанії ще не додумалися, зробити це якомога швидше, інакше це зроблять інші. Запропонувати споживачеві більш якісний продукт або такий продукт, потреба в якому споживач навіть не може поки усвідомити.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Сьогодні від 70 до 80% всього, що сьогодні робиться людьми, проводиться за допомогою їх інтелекту. В будь-якому товарі, зробленому в США, частка зарплати становить 70 відсотків. Але це в середньому по всіх товарах. Що стосується розробки ПЗ, то майже все, що в цій галузі виробляється, створюється за допомогою інтелекту. 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1234080" y="365040"/>
            <a:ext cx="10119600" cy="584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5000" lnSpcReduction="9999"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uk-UA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Організація проектної команди</a:t>
            </a:r>
            <a:endParaRPr lang="pl-PL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630360" y="950040"/>
            <a:ext cx="11300760" cy="5542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9999"/>
          </a:bodyPr>
          <a:p>
            <a:pPr indent="0" algn="just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Кожен проект розробки ПЗ має свою організаційну структуру, яка визначає розподіл відповідальності та повноважень серед учасників проекту, а також обов'язків та відносин звітності. Чим менше проект, тим більше  ролей доводиться поєднувати одному виконавцю. Ролі і відповідальності учасників типового проекту розробки ПЗ можна умовно розділити на п'ять груп: 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indent="-457200" algn="just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lang="uk-UA" sz="24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Аналіз. </a:t>
            </a: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Витяг, документування та супроводження вимог до продукту. 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indent="-457200" algn="just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r>
              <a:rPr lang="uk-UA" sz="24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Управління</a:t>
            </a: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. Визначення та управління виробничими процесами. 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indent="-457200" algn="just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r>
              <a:rPr lang="uk-UA" sz="24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Виробництво</a:t>
            </a: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. Проектування і розробка ПЗ.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indent="-457200" algn="just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 </a:t>
            </a:r>
            <a:r>
              <a:rPr lang="uk-UA" sz="24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Тестування. </a:t>
            </a: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Тестування ПЗ. 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5. </a:t>
            </a:r>
            <a:r>
              <a:rPr lang="uk-UA" sz="24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Забезпечення</a:t>
            </a: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. Виробництво додаткових продуктів і послуг.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60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77500" lnSpcReduction="19999"/>
          </a:bodyPr>
          <a:p>
            <a:pPr indent="0" defTabSz="914400">
              <a:lnSpc>
                <a:spcPct val="90000"/>
              </a:lnSpc>
              <a:buNone/>
            </a:pPr>
            <a:r>
              <a:rPr lang="ru-RU" sz="4400" b="1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Група аналізу включає в себе наступні ролі:</a:t>
            </a:r>
            <a:endParaRPr lang="pl-PL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838080" y="1189440"/>
            <a:ext cx="11030760" cy="5302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• Бізнес-аналітик. Побудова моделі предметної області (онтології).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• Бізнес-архітектор. Розробляє бізнес-концепцію системи. Визначає загальне бачення продукту, його інтерфейси, поведінку і обмеження. 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• Системний аналітик. Відповідає за переведення вимог до продукту у функціональні вимоги до ПЗ. 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• Фахівець за вимогами. Документування та супроводження вимог до продукту. 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• Менеджер продукту (функціональний замовник). Представляє в проекті інтереси користувачів продукту.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328320" y="390600"/>
            <a:ext cx="11025000" cy="425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ru-RU" sz="32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Група управління складається з наступних ролей: </a:t>
            </a:r>
            <a:endParaRPr lang="pl-PL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230760" y="816840"/>
            <a:ext cx="11860200" cy="591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Керівник проекту. Відповідає за досягнення цілей проекту при заданих обмеженнях (за термінами, бюджету і змістом), здійснює операційне управління проектом і виділеними ресурсами.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• Куратор проекту. Оцінка планів та виконання проекту. Виділення ресурсів. 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• Системний архітектор. Розробка технічної концепції системи. Прийняття ключових проектних рішень щодо внутрішнього устрою програмної системи та її технічних інтерфейсів.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• Керівник групи тестування. Визначення цілей і стратегії тестування, управління тестуванням.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• Відповідальний за управління змінами, конфігураціями, за збірку і постачання програмного продукту.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4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uk-UA" sz="32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У виробничу групу</a:t>
            </a:r>
            <a:r>
              <a:rPr lang="uk-UA" sz="3200" b="1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 входять</a:t>
            </a:r>
            <a:r>
              <a:rPr lang="uk-UA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:</a:t>
            </a:r>
            <a:endParaRPr lang="pl-PL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736920" y="870120"/>
            <a:ext cx="10616760" cy="530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just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• Проектувальник. Проектування компонентів і підсистем у відповідність із загальною архітектурою, розробка архітектурно значущих модулів. 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• Проектувальник бази даних.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• Проектувальник інтерфейсу користувача.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• Розробник. Проектування, реалізація і налагодження окремих модулів системи. 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/>
          </p:nvPr>
        </p:nvSpPr>
        <p:spPr>
          <a:xfrm>
            <a:off x="497160" y="284040"/>
            <a:ext cx="10856160" cy="5892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28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Група тестування в проекті складається з наступних ролей: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• Проектувальник тестів. Розробка тестових сценаріїв. 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• Розробник автоматизованих тестів.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• Тестувальник. Тестування продукту. Аналіз та документування результатів. 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4" name="Рисунок 3"/>
          <p:cNvPicPr/>
          <p:nvPr/>
        </p:nvPicPr>
        <p:blipFill>
          <a:blip r:embed="rId1"/>
          <a:stretch/>
        </p:blipFill>
        <p:spPr>
          <a:xfrm>
            <a:off x="4190400" y="3107880"/>
            <a:ext cx="4475160" cy="3068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/>
          </p:nvPr>
        </p:nvSpPr>
        <p:spPr>
          <a:xfrm>
            <a:off x="257400" y="310680"/>
            <a:ext cx="11656080" cy="6187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indent="0" algn="just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Учасники групи </a:t>
            </a: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забезпечення</a:t>
            </a: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, як правило, не входять у команду проекту.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Вони виконують роботи в рамках своєї процесної діяльності. До групи забезпечення можна віднести наступні проектні ролі: 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• Технічний письменник. 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• Перекладач. 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• Дизайнер графічного інтерфейсу. 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• Розробник навчальних курсів, тренер. 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• Учасник рецензування. 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• Продажі та маркетинг.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• Системний адміністратор. 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• Технолог. 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• Інші.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/>
          </p:nvPr>
        </p:nvSpPr>
        <p:spPr>
          <a:xfrm>
            <a:off x="222120" y="248400"/>
            <a:ext cx="11860200" cy="6276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just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Залежно від масштабу проекту одну роль можуть виконувати кілька людей. Наприклад, розробники, тестувальники, технічні письменники. Деякі ролі завжди повинен виконувати тільки один чоловік. Наприклад, Керівник  проекту, Системний архітектор. 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Одна людина може виконувати кілька ролей. Можливі такі поєднання ролей: 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• Керівник проекту + системний аналітик (+ системний архітектор) 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• Системний архітектор + розробник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• Системний аналітик + проектувальник тестів (+ технічний письменник)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• Системний аналітик + проектувальник інтерфейсу користувача 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• Відповідальний за керування конфігураціями + відповідальний за складання і постачання (+ розробник)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/>
          </p:nvPr>
        </p:nvSpPr>
        <p:spPr>
          <a:xfrm>
            <a:off x="603720" y="443880"/>
            <a:ext cx="10749600" cy="573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just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uk-UA" sz="28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Вкрай небажано поєднувати такі ролі</a:t>
            </a:r>
            <a:r>
              <a:rPr lang="uk-UA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: 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uk-UA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• Розробник + керівник проекту 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uk-UA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• Розробник + системний аналітик. 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uk-UA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• Розробник + проектувальник інтерфейсів користувача. 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uk-UA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• Розробник + тестувальник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/>
          </p:nvPr>
        </p:nvSpPr>
        <p:spPr>
          <a:xfrm>
            <a:off x="328320" y="399600"/>
            <a:ext cx="11025000" cy="577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just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Організаційна структура проекту обов'язково повинна включати в себе ефективну систему звітності, оцінки ходу виконання проекту і систему прийняття рішень. Можна рекомендувати щотижневі збори за статусом проекту, на яких аналізуються ризики, оцінюються результати, досягнуті на попередньому тижні, та уточнюються завдання на новий період.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Організаційна структура проекту — «живий» організм. Вона починає складатися на стадії планування та може змінюватися в ході проекту. Нестабільність організаційної структури (часті заміни виконавців) - серйозна проблема в управлінні складними програмними проектами, оскільки існує час входження в контекст проекту, яке може вимірюватися місяцями.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967680" y="365040"/>
            <a:ext cx="10385640" cy="504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5000" lnSpcReduction="19999"/>
          </a:bodyPr>
          <a:p>
            <a:pPr indent="0" defTabSz="914400">
              <a:lnSpc>
                <a:spcPct val="90000"/>
              </a:lnSpc>
              <a:buNone/>
            </a:pPr>
            <a:r>
              <a:rPr lang="ru-RU" sz="44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Життєвий цикл проекту. Фази і продукти</a:t>
            </a:r>
            <a:endParaRPr lang="pl-PL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399600" y="754560"/>
            <a:ext cx="11407320" cy="5738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indent="0" algn="just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На фазі </a:t>
            </a:r>
            <a:r>
              <a:rPr lang="uk-UA" sz="24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ініціації </a:t>
            </a: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проекту необхідно зрозуміти, що і навіщо ми будемо робити - розробити концепцію проекту. Фаза </a:t>
            </a:r>
            <a:r>
              <a:rPr lang="uk-UA" sz="24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планування</a:t>
            </a: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визначає, як ми будемо це робити. На фазі </a:t>
            </a:r>
            <a:r>
              <a:rPr lang="uk-UA" sz="24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реалізації </a:t>
            </a: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відбувається матеріалізація наших ідей у вигляді документованого і протестованого програмного продукту. І, нарешті, на фазі </a:t>
            </a:r>
            <a:r>
              <a:rPr lang="uk-UA" sz="24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завершення</a:t>
            </a: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ми повинні підтвердити, що ми розробили саме той продукт, який задумали в концепції проекту, а також провести приймально-здавальні випробування (ПСІ) продукту на предмет відповідності його властивостей, визначеним раніше вимогам. 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Як правило, рідко проект виконується у відповідність з початковими планами, тому важливим елементом фази завершення є «зворотний зв'язок»: аналіз причин розбіжності і засвоєння уроків на майбутнє. Керуюча система без зворотного зв'язку не може бути стійкою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/>
          </p:nvPr>
        </p:nvSpPr>
        <p:spPr>
          <a:xfrm>
            <a:off x="497160" y="284040"/>
            <a:ext cx="10856160" cy="5892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indent="0" algn="just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Ефективні процеси </a:t>
            </a:r>
            <a:r>
              <a:rPr lang="uk-UA" sz="24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ініціації</a:t>
            </a: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програмного проекту мінімум наполовину визначають його майбутню успішність. Недостатня увага саме цій фазі проекту неминуче призводить до суттєвих проблем при плануванні, реалізації та завершення проекту. Ініціація складається з процесів, що сприяють формальної авторизації початку нового проекту або фази проекту. Процеси ініціації часто виконуються поза рамками проекту і пов'язані з організаційними, програмними або портфельними процесами. У ході процесу ініціації уточнюються первісний опис змісту і ресурси, які організація планує вкласти. На цьому етапі також вибирається менеджер проекту, якщо він ще не призначений, і документуються вихідні припущення та обмеження. Ця інформація заноситься в Статут проекту і, якщо він схвалюється, проект офіційно авторизується.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/>
          </p:nvPr>
        </p:nvSpPr>
        <p:spPr>
          <a:xfrm>
            <a:off x="168840" y="310680"/>
            <a:ext cx="11184840" cy="586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9999"/>
          </a:bodyPr>
          <a:p>
            <a:pPr indent="0" algn="just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Статут проект</a:t>
            </a: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у — документ, випущений ініціатором або спонсором проекту, який формально узаконює існування проекту і надає менеджеру проекту повноваження використовувати організаційні ресурси в операціях проекту. 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У компанії, яка приймає рішення про старт того чи іншого проекту розробки ПО, повинна існувати єдина </a:t>
            </a:r>
            <a:r>
              <a:rPr lang="uk-UA" sz="24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система критеріїв </a:t>
            </a: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для оцінки його значимості. Система критеріїв повинна дозволяти з безлічі можливих для реалізації проектів вибрати найбільш пріоритетні для компанії.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Пріоритет будь-якого проекту має визначатися на основі оцінки трьох його характеристик: 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• Фінансова цінність. 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• Стратегічна цінність.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• Рівень ризиків</a:t>
            </a: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. </a:t>
            </a:r>
            <a:endParaRPr lang="pl-PL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/>
          </p:nvPr>
        </p:nvSpPr>
        <p:spPr>
          <a:xfrm>
            <a:off x="346320" y="301680"/>
            <a:ext cx="11656080" cy="6382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000" lnSpcReduction="9999"/>
          </a:bodyPr>
          <a:p>
            <a:pPr indent="0" algn="just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uk-UA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Шкала оцінки фінансової цінності проекту може виглядати наступним чином: 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uk-UA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• </a:t>
            </a:r>
            <a:r>
              <a:rPr lang="uk-UA" sz="28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Висока.</a:t>
            </a:r>
            <a:r>
              <a:rPr lang="uk-UA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Очікувана окупність до 1 року. Очікувані доходи від проекту не менш ніж у 1.5 разів перевищують витрати. Всі допущення при проведенні цих оцінок чітко обґрунтовані. 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uk-UA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• </a:t>
            </a:r>
            <a:r>
              <a:rPr lang="uk-UA" sz="28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Вище середнього</a:t>
            </a:r>
            <a:r>
              <a:rPr lang="uk-UA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. Очікувана окупність проекту від 1 року до 3 років. Очікувані доходи від проекту не менш ніж в 1.3 рази перевищують витрати. Більшість припущень при проведенні цих оцінок мають під собою певні підстави. 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uk-UA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• </a:t>
            </a:r>
            <a:r>
              <a:rPr lang="uk-UA" sz="28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Середня.</a:t>
            </a:r>
            <a:r>
              <a:rPr lang="uk-UA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Проект дозволяє поліпшити ефективність виробництва в Компанії і потенційно може знизити витрати компанії не менш ніж на 30%. Проект може мати інформаційну цінність або допомогти краще контролювати бізнес. 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uk-UA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• </a:t>
            </a:r>
            <a:r>
              <a:rPr lang="uk-UA" sz="28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Низька</a:t>
            </a:r>
            <a:r>
              <a:rPr lang="uk-UA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. Проект трохи знижує витрати компанії не менш ніж на 10% і дає деякі поліпшення продуктивності виробництва.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/>
          </p:nvPr>
        </p:nvSpPr>
        <p:spPr>
          <a:xfrm>
            <a:off x="150840" y="142200"/>
            <a:ext cx="11806920" cy="6524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9999"/>
          </a:bodyPr>
          <a:p>
            <a:pPr indent="0" algn="just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Однією фінансової цінності для визначення пріоритету проекту недостатньо. Важливим показником пріоритету проекту є його відповідність стратегічним цілям компанії. 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Шкала оцінки </a:t>
            </a:r>
            <a:r>
              <a:rPr lang="uk-UA" sz="24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стратегічної цінності </a:t>
            </a: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проекту може мати такий вигляд: 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• </a:t>
            </a:r>
            <a:r>
              <a:rPr lang="uk-UA" sz="24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Висока</a:t>
            </a: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. Забезпечує стратегічну перевагу, дає стійке збільшення ринку або дозволяє вийти на новий ринок. Вирішує значні проблеми, спільні для більшості важливих клієнтів. Повторення конкурентами утруднене або потребуватиме від 1 до 2 років.  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• </a:t>
            </a:r>
            <a:r>
              <a:rPr lang="uk-UA" sz="24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Вище середнього</a:t>
            </a: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. Створює тимчасові конкурентні переваги. Виконання зобов'язань перед багатьма важливими клієнтами. Конкурентна перевага може бути утримано протягом 1 року. 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• </a:t>
            </a:r>
            <a:r>
              <a:rPr lang="uk-UA" sz="24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Середня</a:t>
            </a: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. Підтримується довіра ринку до компанії. Підвищує думку клієнтів про якість надаваних послуг або сприяє виконанню зобов'язань перед кількома клієнтами. Конкуренти вже мають або здатні повторити нові можливості в межах року. 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• </a:t>
            </a:r>
            <a:r>
              <a:rPr lang="uk-UA" sz="24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Низька.</a:t>
            </a: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Стратегічне вплив відсутній або незначно. Вплив на клієнтів несуттєво. Конкуренти можуть легко повторити результати проекту.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/>
          </p:nvPr>
        </p:nvSpPr>
        <p:spPr>
          <a:xfrm>
            <a:off x="168840" y="213120"/>
            <a:ext cx="11833560" cy="648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000" lnSpcReduction="9999"/>
          </a:bodyPr>
          <a:p>
            <a:pPr indent="0" algn="just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uk-UA" sz="28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Третім</a:t>
            </a:r>
            <a:r>
              <a:rPr lang="uk-UA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обов'язковим показником пріоритету проекту повинна бути оцінка рівня його </a:t>
            </a:r>
            <a:r>
              <a:rPr lang="uk-UA" sz="28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ризику. </a:t>
            </a:r>
            <a:r>
              <a:rPr lang="uk-UA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Ні один проект, який має найвищу оцінку фінансової вигідності, не буде запущений у виробництво, якщо досягнення цієї супервигідності має мінімальні шанси. Приблизна шкала оцінки рівня ризиків проекту може мати такий вигляд: 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uk-UA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• </a:t>
            </a:r>
            <a:r>
              <a:rPr lang="uk-UA" sz="28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Низький.</a:t>
            </a:r>
            <a:r>
              <a:rPr lang="uk-UA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Цілі проекту та вимоги добре зрозумілі і документовані. Масштаб і рамки проекту визначені чітко. Ресурси необхідної кваліфікації доступні в повному обсязі. Розроблювані системи не вимагатимуть нової технологічної платформи. 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uk-UA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• </a:t>
            </a:r>
            <a:r>
              <a:rPr lang="uk-UA" sz="28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Середній.</a:t>
            </a:r>
            <a:r>
              <a:rPr lang="uk-UA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Цілі проекту визначені більш-менш чітко. Гарне розуміння вимог до системи. Масштаб і рамки проекту визначені досить добре. Ресурси необхідної кваліфікації доступні в основному. Системи створюються на новій, але стабільною технологічній платформі. 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/>
          </p:nvPr>
        </p:nvSpPr>
        <p:spPr>
          <a:xfrm>
            <a:off x="293040" y="452880"/>
            <a:ext cx="11638440" cy="632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indent="0" algn="just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uk-UA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• </a:t>
            </a:r>
            <a:r>
              <a:rPr lang="uk-UA" sz="28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Вище середнього</a:t>
            </a:r>
            <a:r>
              <a:rPr lang="uk-UA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. Цілі проекту недостатньо чіткі. Завдання системи або бізнес-додатки зрозумілі недостатньо повно. Розуміння масштабу і рамок проекту недостатньо. Ресурси необхідної кваліфікації сильно обмежені. Системи створюються на новій технологічній платформі, сумніви в ринковій стабільності платформи. 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uk-UA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• </a:t>
            </a:r>
            <a:r>
              <a:rPr lang="uk-UA" sz="28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Високий</a:t>
            </a:r>
            <a:r>
              <a:rPr lang="uk-UA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. Цілі проекту нечіткі. Основні функціональні компоненти системи не визначені. Масштаб і рамки проекту незрозумілі. Ресурси необхідної кваліфікації практично відсутні. Системи створюються на новій технологічній платформі, щодо якої вкрай мало ясності. Технології мають непідтверджену стабільність.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950040" y="365040"/>
            <a:ext cx="10403640" cy="38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5000" lnSpcReduction="19999"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uk-UA" sz="32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Концепція проекту</a:t>
            </a:r>
            <a:endParaRPr lang="pl-PL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372960" y="754560"/>
            <a:ext cx="11513880" cy="5876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just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У кожного проекту має бути концепція. Концепція проекту розробляється на основі аналізу потреб бізнесу. Головна функція документа — підтвердження і узгодження єдиного бачення цілей, завдань і результатів усіма учасниками проекту. Концепція визначає що і навіщо робиться у проекті. </a:t>
            </a: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Концепція проекту-це ключовий документ</a:t>
            </a: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, який використовується для прийняття рішень у ході всього проекту, а також на фазі приймання — для підтвердження результату. Вона містить, як правило, є наступні розділи:</a:t>
            </a: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endParaRPr lang="pl-PL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just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Назва проекту • Цілі проекту • Результати проекту • Допущення та обмеження • Ключові учасники і зацікавлені сторони • Ресурси проекту • Терміни • Ризики • Критерії приймання • Обґрунтування корисності проекту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/>
          </p:nvPr>
        </p:nvSpPr>
        <p:spPr>
          <a:xfrm>
            <a:off x="159840" y="213120"/>
            <a:ext cx="11895840" cy="649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0000" lnSpcReduction="19999"/>
          </a:bodyPr>
          <a:p>
            <a:pPr indent="0" algn="just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34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Цілі проекту </a:t>
            </a:r>
            <a:r>
              <a:rPr lang="ru-RU" sz="3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повинні відповідати на питання, навіщо цей проект потрібен. Цілі проекту повинні описувати бізнес-потреби і завдання, які вирішуються в результаті виконання проекту. Цілями проекту можуть бути:</a:t>
            </a:r>
            <a:endParaRPr lang="pl-PL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3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• Зміни в Компанії. Наприклад, автоматизація ряду бізнес-процесів для підвищення ефективності основної виробничої діяльності </a:t>
            </a:r>
            <a:endParaRPr lang="pl-PL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3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• Реалізація стратегічних планів. Наприклад, завоювання значної частки зростаючого ринку за рахунок виведення на нього нового продукту. </a:t>
            </a:r>
            <a:endParaRPr lang="pl-PL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3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• Виконання контрактів. Наприклад, розробка програмного забезпечення на замовлення. </a:t>
            </a:r>
            <a:endParaRPr lang="pl-PL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3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• Вирішення специфічних проблем. Наприклад, доопрацювання програмного продукту з метою приведення його у відповідність із змінами в законодавстві.</a:t>
            </a:r>
            <a:endParaRPr lang="pl-PL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3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ru-RU" sz="3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Цілі повинні бути значущими (спрямованими на досягнення стратегічних цілей Компанії), конкретними (специфічними для даного проекту), вимірюваними (тобто мати перевіряються кількісні оцінки), реальними (досяжними). </a:t>
            </a:r>
            <a:endParaRPr lang="pl-PL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/>
          </p:nvPr>
        </p:nvSpPr>
        <p:spPr>
          <a:xfrm>
            <a:off x="408240" y="328320"/>
            <a:ext cx="10945080" cy="584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just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28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Результати проекту </a:t>
            </a: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відповідають на питання, що має бути отримано після його завершення. Результати проекту повинні визначати: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• Які саме бізнес-вигоди отримає замовник у результаті проекту.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• Будь-який продукт або послуга. Що конкретно буде зроблено по закінченні проекту.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Результати проекту повинні бути вимірними. Це означає, що при оцінці результатів проекту має бути можливість зробити висновок досягнуті обумовлені в концепції результати чи ні.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1171800" y="365040"/>
            <a:ext cx="10181520" cy="504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uk-UA" sz="28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Допущення та обмеження 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497160" y="710280"/>
            <a:ext cx="10856160" cy="5466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indent="0" algn="just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Даний розділ описує вихідні припущення та обмеження. Допущення, як правило, тісно пов'язані із управлінням ризиками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Обмеження, як правило, скорочують можливості проектної команди у виборі рішень. Зокрема вони можуть містити: 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• Специфічні нормативні вимоги. Наприклад, обов'язкова сертифікація продукту, послуги на відповідність певним стандартам. 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• Специфічні технічні вимоги. Наприклад, розробка під задану програмноапаратну платформу. 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• Специфічні вимоги до захисту інформації.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1162800" y="124200"/>
            <a:ext cx="10199520" cy="59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Ключові учасники і зацікавлені сторони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79920" y="586080"/>
            <a:ext cx="11966760" cy="627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just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Одне із завдань фази ініціації проекту це виявити і описати всіх його учасників. До учасників проекту відносяться всі зацікавлені сторони (stakeholders), особи і організації, наприклад, замовники, спонсори, виконуюча організація, які активно беруть участь у проекті, або чиї інтереси можуть бути порушені при виконанні або завершення проекту. Учасники також можуть впливати на проект і його результати поставки. До ключовим учасникам програмного проекту, як правило, належать: 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• </a:t>
            </a: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Спонсор проекту </a:t>
            </a: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— особа або група осіб, що надає фінансові ресурси для проекту в будь-якому вигляді.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• </a:t>
            </a: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Замовник проекту </a:t>
            </a: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— особа або організація, які будуть використовувати продукт, послугу або результат проекту. Слід враховувати, що замовник і спонсор проекту не завжди збігаються. 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• </a:t>
            </a: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Користувачі результатів проекту</a:t>
            </a: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.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• </a:t>
            </a: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Куратор проекту </a:t>
            </a: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— представник виконавця, уповноважений приймати рішення про виділення ресурсів і зміни в проекті. 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• </a:t>
            </a: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Керівник проекту </a:t>
            </a: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— представник виконавця, відповідальний за реалізацію проекту в строк, у межах бюджету і з заданою якістю.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• </a:t>
            </a: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Співвиконавці</a:t>
            </a: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проекту. Субпідрядники та постачальники.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315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70000" lnSpcReduction="19999"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uk-UA" sz="28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Ресурси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506160" y="834480"/>
            <a:ext cx="10847520" cy="534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just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Для того щоб зрозуміти, скільки буде коштувати реалізація програмного проекту, потрібно визначити та оцінити ресурси, необхідні для його виконання: 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• Людські ресурси і вимоги до кваліфікації персоналу.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• Обладнання, послуги, витратні матеріали, ліцензії на ПЗ, критичні комп'ютерні ресурси. 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• Бюджет проекту. План витрат і, при необхідності, передбачуваних доходів проекту з розбивкою за статтями і фазам/етапів проекту</a:t>
            </a:r>
            <a:r>
              <a:rPr lang="uk-UA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.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/>
          </p:nvPr>
        </p:nvSpPr>
        <p:spPr>
          <a:xfrm>
            <a:off x="408240" y="594720"/>
            <a:ext cx="10945080" cy="558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just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Специфіка програмного проекту </a:t>
            </a: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полягає в тому, що людські ресурси вносять основний внесок у його вартість. Всі інші витрати, як правило, незначні, порівняно з цим витратами.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     Необхідно пам'ятати, що крім безпосередньо програмування в проекті розробки ПЗ є багато інших процесів, які вимагають ресурси відповідної кваліфікації, а саме програмування становить лише чверть усіх витрат. Розподіл роботи по основним виробничим процесам при сучасному процесі розробки ПЗ виглядає в середньому наступним чином: 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50000"/>
              </a:lnSpc>
              <a:buNone/>
              <a:tabLst>
                <a:tab algn="l" pos="0"/>
              </a:tabLst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- розробка 25%,  -тестування – 25%, проектування – 15%, аналіз -10%, конфігурування- 10%, управління -10%, підготовка документів -5%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/>
          </p:nvPr>
        </p:nvSpPr>
        <p:spPr>
          <a:xfrm>
            <a:off x="354960" y="363960"/>
            <a:ext cx="10998360" cy="5812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just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Тому, якщо у вашої оцінки для реалізації необхідної функціональності в проекті необхідно написати 10 </a:t>
            </a:r>
            <a:r>
              <a:rPr lang="pl-PL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KSLOC (</a:t>
            </a: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тисяч рядків вихідного програмного коду), програмісти пишуть в середньому по 100 </a:t>
            </a:r>
            <a:r>
              <a:rPr lang="pl-PL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SLOC </a:t>
            </a: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в день, то загальні витрати на проект будуть не 100 чол.*днів, а не менш ніж 400 чол.*днів. Інші ресурси потрібні на аналіз і уточнення вимог, проектування, документування, тестування та інші проектні роботи.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1091880" y="365040"/>
            <a:ext cx="10261440" cy="495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uk-UA" sz="24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Терміни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408240" y="861120"/>
            <a:ext cx="10945080" cy="592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just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Є формула, яка була виведена Барії Боэмом (</a:t>
            </a:r>
            <a:r>
              <a:rPr lang="pl-PL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Barry Boehm) </a:t>
            </a: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на основі аналізу результатів 63 проектів розробки ПЗ, в основному в аерокосмічній галузі. Згідно цій формулі, для проекту, загальна  трудомісткість якого становить </a:t>
            </a:r>
            <a:r>
              <a:rPr lang="pl-PL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N </a:t>
            </a: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ч.*м. (людино-місяців), можно стверджувати що існує оптимальне, з точки зору витрат, час виконання графіка для першої поставки: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01" name="Рисунок 4"/>
          <p:cNvPicPr/>
          <p:nvPr/>
        </p:nvPicPr>
        <p:blipFill>
          <a:blip r:embed="rId1"/>
          <a:stretch/>
        </p:blipFill>
        <p:spPr>
          <a:xfrm>
            <a:off x="4377600" y="3582000"/>
            <a:ext cx="2495160" cy="590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" name="TextBox 6"/>
          <p:cNvSpPr/>
          <p:nvPr/>
        </p:nvSpPr>
        <p:spPr>
          <a:xfrm>
            <a:off x="88920" y="4057200"/>
            <a:ext cx="11762640" cy="22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Тобто оптимальний час в місяцях пропорційно кореню кубічному передбачуваного обсягу робіт у людино-місяцях. Наслідком є крива, що дає оптимальну чисельність проектної команди.</a:t>
            </a: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Практично жоден проект неможливо завершити швидше, ніж за 3/4 розрахункового оптимального графіка незалежно від кількості зайнятих в ньому!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/>
          </p:nvPr>
        </p:nvSpPr>
        <p:spPr>
          <a:xfrm>
            <a:off x="293040" y="204120"/>
            <a:ext cx="11060640" cy="59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just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Цей примітний результат дає менеджеру програмного проекту солідне підкріплення, коли вище керівництво вимагає прийняття неможливого графіка. Для серйозного програмного проекту недостатньо визначити тільки термін його завершення. 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Необхідно ще визначити його етапи — контрольні точки, в яких буде відбуватися переоцінка проекту на основі реально досягнутих показників. 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Контрольна точка — важливий момент або подія в розкладі проекту, відзначає досягнення заданого результату і/або початок / завершення певного обсягу роботи. Кожна контрольна точка характеризується датою та об'єктивними критеріями її досягнення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923400" y="365040"/>
            <a:ext cx="10430280" cy="84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uk-UA" sz="28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Ризики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754560" y="1047600"/>
            <a:ext cx="10598760" cy="512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indent="0" algn="just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Ризик — невизначений подія або умова, наступ якого негативно або позитивно позначається на цілях проекту. Як правило, у випадку виникнення значного ризику, майже завжди вартість проекту збільшується і відбувається затримка у виконанні заходів, передбачених розкладом проекту. На етапі ініціації, коли немає необхідних даних для проведення детального аналізу, часто доводиться обмежуватися якісною оцінкою загального рівня ризиків: низький, середній, високий.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905400" y="365040"/>
            <a:ext cx="10447920" cy="566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uk-UA" sz="24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Критерії приймання та Обґрунтування корисності проекту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337320" y="1047600"/>
            <a:ext cx="11016000" cy="562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indent="0" algn="just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Критерії приймання повинні визначати числові значення характеристик системи, які повинні бути продемонстровані за результатами приймально-здавальних випробувань чи пробної експлуатації і однозначно свідчити про досягнення цілей проекту.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Для кого призначені результати проекту. 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• Опис поточної ситуації «As Is». Які у потенційного замовника існують проблеми.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• Яким чином результати проекту вирішують ці проблеми («To Be»). 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• Наскільки значимо для клієнта рішення даних проблем (оцінка економічного ефекту).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• Які переваги в результаті цього може отримати компанія-виконавець проекту.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1020960" y="365040"/>
            <a:ext cx="10332360" cy="59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ru-RU" sz="28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Висновки</a:t>
            </a: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754560" y="958680"/>
            <a:ext cx="10598760" cy="521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9999"/>
          </a:bodyPr>
          <a:p>
            <a:pPr indent="0" algn="just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Ефективні процеси ініціації програмного проекту багато в чому визначають його майбутню успішність. Недостатня увага цій фазі проекту неминуче призводить до суттєвих проблем при плануванні, реалізації та завершення. Концепція проекту-це ключовий документ, який використовується для прийняття рішень у ході всього проекту, а також на фазі приймання — для підтвердження результату. Пріоритет проекту визначається на основі оцінки трьох показників: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• Фінансова цінність. 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• Стратегічна цінність. 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• Рівень ризиків.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lang="pl-PL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uk-UA" sz="4400" b="0" u="none" strike="noStrike">
                <a:solidFill>
                  <a:schemeClr val="accent5">
                    <a:lumMod val="75000"/>
                  </a:schemeClr>
                </a:solidFill>
                <a:effectLst/>
                <a:uFillTx/>
                <a:latin typeface="Calibri"/>
              </a:rPr>
              <a:t>ДЯКУЮ</a:t>
            </a:r>
            <a:endParaRPr lang="pl-PL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lang="pl-PL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pl-PL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Офіс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223</TotalTime>
  <Application>LibreOffice/25.8.4.2$Linux_X86_64 LibreOffice_project/580$Build-2</Application>
  <AppVersion>15.0000</AppVersion>
  <Words>3155</Words>
  <Paragraphs>149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2025-04-22T10:36:20Z</dcterms:created>
  <dc:creator>Olena Korchynska</dc:creator>
  <dc:description/>
  <dc:language>en-US</dc:language>
  <cp:lastModifiedBy>Olena Korchynska</cp:lastModifiedBy>
  <dcterms:modified xsi:type="dcterms:W3CDTF">2025-04-23T12:11:01Z</dcterms:modified>
  <cp:revision>59</cp:revision>
  <dc:subject/>
  <dc:title>Управління програмними проектами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Широкий екран</vt:lpwstr>
  </property>
  <property fmtid="{D5CDD505-2E9C-101B-9397-08002B2CF9AE}" pid="3" name="Slides">
    <vt:r8>35</vt:r8>
  </property>
</Properties>
</file>