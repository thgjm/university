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и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04C2E9-9E08-4C2D-8ACD-E9A4F58A988F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і вертикальни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85AFC5-F099-47AF-B601-F24D0E507EB0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ий заголовок і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26C445-F92E-4DD4-8195-86CE3ACA4739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Назва та вмі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4F6861-7805-4AC9-9D39-F62A7ECEA512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Назва розділ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E92867-F6B6-4E68-BEF2-46A4F1455011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’єкт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8A34CB-9FBA-4339-94EC-47E22917BCF8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рівняння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965845-0C08-45CA-B97B-A2546C13113F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Лише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065D6E-2964-4618-A16E-7D31E7E00725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и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864C6C-C7A3-44E8-B78D-F8DF6C57DFDD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міст і підпис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C76835-EBC1-4549-BC71-3DA56A0D323A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і підпис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634087-EBD6-4D89-B9BE-732579996EBD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ПРАКТИЧНЕ ЗАНЯТТЯ 3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ТИПИ РИНКІВ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/>
          </p:nvPr>
        </p:nvSpPr>
        <p:spPr>
          <a:xfrm>
            <a:off x="660600" y="8492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Задача 1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3" name="Рисунок 6"/>
          <p:cNvPicPr/>
          <p:nvPr/>
        </p:nvPicPr>
        <p:blipFill>
          <a:blip r:embed="rId1"/>
          <a:stretch/>
        </p:blipFill>
        <p:spPr>
          <a:xfrm>
            <a:off x="660600" y="1903680"/>
            <a:ext cx="11111040" cy="224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Прямокутник 7"/>
          <p:cNvSpPr/>
          <p:nvPr/>
        </p:nvSpPr>
        <p:spPr>
          <a:xfrm>
            <a:off x="660600" y="2041920"/>
            <a:ext cx="1487520" cy="461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Місце для вмісту 4"/>
          <p:cNvPicPr/>
          <p:nvPr/>
        </p:nvPicPr>
        <p:blipFill>
          <a:blip r:embed="rId1"/>
          <a:stretch/>
        </p:blipFill>
        <p:spPr>
          <a:xfrm>
            <a:off x="1407240" y="674640"/>
            <a:ext cx="8791200" cy="175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Рисунок 6"/>
          <p:cNvPicPr/>
          <p:nvPr/>
        </p:nvPicPr>
        <p:blipFill>
          <a:blip r:embed="rId2"/>
          <a:stretch/>
        </p:blipFill>
        <p:spPr>
          <a:xfrm>
            <a:off x="1748880" y="2647080"/>
            <a:ext cx="7842240" cy="141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Рисунок 8"/>
          <p:cNvPicPr/>
          <p:nvPr/>
        </p:nvPicPr>
        <p:blipFill>
          <a:blip r:embed="rId3"/>
          <a:stretch/>
        </p:blipFill>
        <p:spPr>
          <a:xfrm>
            <a:off x="1048320" y="3888360"/>
            <a:ext cx="10095480" cy="2565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Місце для вмісту 4"/>
          <p:cNvPicPr/>
          <p:nvPr/>
        </p:nvPicPr>
        <p:blipFill>
          <a:blip r:embed="rId1"/>
          <a:stretch/>
        </p:blipFill>
        <p:spPr>
          <a:xfrm>
            <a:off x="1939680" y="807840"/>
            <a:ext cx="8020440" cy="503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Місце для вмісту 4"/>
          <p:cNvPicPr/>
          <p:nvPr/>
        </p:nvPicPr>
        <p:blipFill>
          <a:blip r:embed="rId1"/>
          <a:stretch/>
        </p:blipFill>
        <p:spPr>
          <a:xfrm>
            <a:off x="970200" y="957240"/>
            <a:ext cx="9842400" cy="419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Місце для вмісту 4"/>
          <p:cNvPicPr/>
          <p:nvPr/>
        </p:nvPicPr>
        <p:blipFill>
          <a:blip r:embed="rId1"/>
          <a:stretch/>
        </p:blipFill>
        <p:spPr>
          <a:xfrm>
            <a:off x="823320" y="461520"/>
            <a:ext cx="10358640" cy="245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Рисунок 6"/>
          <p:cNvPicPr/>
          <p:nvPr/>
        </p:nvPicPr>
        <p:blipFill>
          <a:blip r:embed="rId2"/>
          <a:stretch/>
        </p:blipFill>
        <p:spPr>
          <a:xfrm>
            <a:off x="1704600" y="3297240"/>
            <a:ext cx="8530920" cy="152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Місце для вмісту 4"/>
          <p:cNvPicPr/>
          <p:nvPr/>
        </p:nvPicPr>
        <p:blipFill>
          <a:blip r:embed="rId1"/>
          <a:stretch/>
        </p:blipFill>
        <p:spPr>
          <a:xfrm>
            <a:off x="1914120" y="916920"/>
            <a:ext cx="7067160" cy="2990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Місце для вмісту 4"/>
          <p:cNvPicPr/>
          <p:nvPr/>
        </p:nvPicPr>
        <p:blipFill>
          <a:blip r:embed="rId1"/>
          <a:stretch/>
        </p:blipFill>
        <p:spPr>
          <a:xfrm>
            <a:off x="983160" y="958680"/>
            <a:ext cx="10225080" cy="419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Прямокутник 5"/>
          <p:cNvSpPr/>
          <p:nvPr/>
        </p:nvSpPr>
        <p:spPr>
          <a:xfrm>
            <a:off x="1189440" y="1180800"/>
            <a:ext cx="1526760" cy="47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2396880" y="488160"/>
            <a:ext cx="53172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Задача </a:t>
            </a: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Місце для вмісту 4"/>
          <p:cNvPicPr/>
          <p:nvPr/>
        </p:nvPicPr>
        <p:blipFill>
          <a:blip r:embed="rId1"/>
          <a:stretch/>
        </p:blipFill>
        <p:spPr>
          <a:xfrm>
            <a:off x="1686600" y="664920"/>
            <a:ext cx="8282160" cy="207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Рисунок 6"/>
          <p:cNvPicPr/>
          <p:nvPr/>
        </p:nvPicPr>
        <p:blipFill>
          <a:blip r:embed="rId2"/>
          <a:stretch/>
        </p:blipFill>
        <p:spPr>
          <a:xfrm>
            <a:off x="1766160" y="2751120"/>
            <a:ext cx="7945560" cy="344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Місце для вмісту 4"/>
          <p:cNvPicPr/>
          <p:nvPr/>
        </p:nvPicPr>
        <p:blipFill>
          <a:blip r:embed="rId1"/>
          <a:stretch/>
        </p:blipFill>
        <p:spPr>
          <a:xfrm>
            <a:off x="950040" y="339120"/>
            <a:ext cx="9827280" cy="623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Місце для вмісту 4"/>
          <p:cNvPicPr/>
          <p:nvPr/>
        </p:nvPicPr>
        <p:blipFill>
          <a:blip r:embed="rId1"/>
          <a:stretch/>
        </p:blipFill>
        <p:spPr>
          <a:xfrm>
            <a:off x="1500480" y="908640"/>
            <a:ext cx="7876800" cy="126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Рисунок 6"/>
          <p:cNvPicPr/>
          <p:nvPr/>
        </p:nvPicPr>
        <p:blipFill>
          <a:blip r:embed="rId2"/>
          <a:stretch/>
        </p:blipFill>
        <p:spPr>
          <a:xfrm>
            <a:off x="615960" y="2471040"/>
            <a:ext cx="5952600" cy="402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Рисунок 8"/>
          <p:cNvPicPr/>
          <p:nvPr/>
        </p:nvPicPr>
        <p:blipFill>
          <a:blip r:embed="rId3"/>
          <a:stretch/>
        </p:blipFill>
        <p:spPr>
          <a:xfrm>
            <a:off x="5746320" y="2709000"/>
            <a:ext cx="6114600" cy="37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Місце для вмісту 4"/>
          <p:cNvPicPr/>
          <p:nvPr/>
        </p:nvPicPr>
        <p:blipFill>
          <a:blip r:embed="rId1"/>
          <a:stretch/>
        </p:blipFill>
        <p:spPr>
          <a:xfrm>
            <a:off x="1486080" y="355320"/>
            <a:ext cx="8305920" cy="116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Прямокутник 5"/>
          <p:cNvSpPr/>
          <p:nvPr/>
        </p:nvSpPr>
        <p:spPr>
          <a:xfrm>
            <a:off x="8025480" y="1162800"/>
            <a:ext cx="1029600" cy="257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4" name="Рисунок 7"/>
          <p:cNvPicPr/>
          <p:nvPr/>
        </p:nvPicPr>
        <p:blipFill>
          <a:blip r:embed="rId2"/>
          <a:stretch/>
        </p:blipFill>
        <p:spPr>
          <a:xfrm>
            <a:off x="409680" y="1911600"/>
            <a:ext cx="5229000" cy="402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Рисунок 9"/>
          <p:cNvPicPr/>
          <p:nvPr/>
        </p:nvPicPr>
        <p:blipFill>
          <a:blip r:embed="rId3"/>
          <a:stretch/>
        </p:blipFill>
        <p:spPr>
          <a:xfrm>
            <a:off x="5572080" y="1911600"/>
            <a:ext cx="6210000" cy="4000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Місце для вмісту 4"/>
          <p:cNvPicPr/>
          <p:nvPr/>
        </p:nvPicPr>
        <p:blipFill>
          <a:blip r:embed="rId1"/>
          <a:stretch/>
        </p:blipFill>
        <p:spPr>
          <a:xfrm>
            <a:off x="1095840" y="130680"/>
            <a:ext cx="9450360" cy="645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Місце для вмісту 4"/>
          <p:cNvPicPr/>
          <p:nvPr/>
        </p:nvPicPr>
        <p:blipFill>
          <a:blip r:embed="rId1"/>
          <a:stretch/>
        </p:blipFill>
        <p:spPr>
          <a:xfrm>
            <a:off x="1155960" y="523800"/>
            <a:ext cx="9153360" cy="353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Місце для вмісту 4"/>
          <p:cNvPicPr/>
          <p:nvPr/>
        </p:nvPicPr>
        <p:blipFill>
          <a:blip r:embed="rId1"/>
          <a:stretch/>
        </p:blipFill>
        <p:spPr>
          <a:xfrm>
            <a:off x="455400" y="807840"/>
            <a:ext cx="11280960" cy="39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Прямокутник 2"/>
          <p:cNvSpPr/>
          <p:nvPr/>
        </p:nvSpPr>
        <p:spPr>
          <a:xfrm>
            <a:off x="2814120" y="2920680"/>
            <a:ext cx="168480" cy="23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Місце для вмісту 4"/>
          <p:cNvPicPr/>
          <p:nvPr/>
        </p:nvPicPr>
        <p:blipFill>
          <a:blip r:embed="rId1"/>
          <a:stretch/>
        </p:blipFill>
        <p:spPr>
          <a:xfrm>
            <a:off x="1062360" y="594720"/>
            <a:ext cx="9670680" cy="127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Прямокутник 5"/>
          <p:cNvSpPr/>
          <p:nvPr/>
        </p:nvSpPr>
        <p:spPr>
          <a:xfrm>
            <a:off x="1171800" y="727920"/>
            <a:ext cx="1180440" cy="34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Рисунок 7"/>
          <p:cNvPicPr/>
          <p:nvPr/>
        </p:nvPicPr>
        <p:blipFill>
          <a:blip r:embed="rId2"/>
          <a:stretch/>
        </p:blipFill>
        <p:spPr>
          <a:xfrm>
            <a:off x="1110600" y="1774800"/>
            <a:ext cx="9246960" cy="202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Рисунок 9"/>
          <p:cNvPicPr/>
          <p:nvPr/>
        </p:nvPicPr>
        <p:blipFill>
          <a:blip r:embed="rId3"/>
          <a:stretch/>
        </p:blipFill>
        <p:spPr>
          <a:xfrm>
            <a:off x="1110600" y="3474360"/>
            <a:ext cx="9160560" cy="3305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/>
          </p:nvPr>
        </p:nvSpPr>
        <p:spPr>
          <a:xfrm>
            <a:off x="621360" y="568080"/>
            <a:ext cx="10731960" cy="560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Середні витрати фірми, що працює в умовах монополістичної конкуренції, при виробництві 100 одиниць продукції становлять 100 грн, 101 одиниці – 101 грн, 102 одиниць – 102 грн. У даний момент фірма максимізує свій прибуток, виробляючи при цьому 101 одиницю продукції. До фірми звернувся покупець, який готовий заплатити їй 200 грн за виробництво тільки однієї додаткової 102-ї одиниці. Якщо виробництво і продаж цієї одиниці ніяк не вплине на інші продажі фірми, то чи варто фірмі прийняти цю пропозицію?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Місце для вмісту 4"/>
          <p:cNvPicPr/>
          <p:nvPr/>
        </p:nvPicPr>
        <p:blipFill>
          <a:blip r:embed="rId1"/>
          <a:stretch/>
        </p:blipFill>
        <p:spPr>
          <a:xfrm>
            <a:off x="1242360" y="914400"/>
            <a:ext cx="9706680" cy="188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Рисунок 6"/>
          <p:cNvPicPr/>
          <p:nvPr/>
        </p:nvPicPr>
        <p:blipFill>
          <a:blip r:embed="rId2"/>
          <a:stretch/>
        </p:blipFill>
        <p:spPr>
          <a:xfrm>
            <a:off x="978840" y="2643120"/>
            <a:ext cx="9706680" cy="306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Місце для вмісту 4"/>
          <p:cNvPicPr/>
          <p:nvPr/>
        </p:nvPicPr>
        <p:blipFill>
          <a:blip r:embed="rId1"/>
          <a:stretch/>
        </p:blipFill>
        <p:spPr>
          <a:xfrm>
            <a:off x="1003320" y="699120"/>
            <a:ext cx="9436680" cy="611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Прямокутник 5"/>
          <p:cNvSpPr/>
          <p:nvPr/>
        </p:nvSpPr>
        <p:spPr>
          <a:xfrm>
            <a:off x="1251720" y="674640"/>
            <a:ext cx="1269000" cy="381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Місце для вмісту 8"/>
          <p:cNvPicPr/>
          <p:nvPr/>
        </p:nvPicPr>
        <p:blipFill>
          <a:blip r:embed="rId1"/>
          <a:stretch/>
        </p:blipFill>
        <p:spPr>
          <a:xfrm>
            <a:off x="258480" y="919080"/>
            <a:ext cx="11369520" cy="250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Місце для вмісту 5"/>
          <p:cNvPicPr/>
          <p:nvPr/>
        </p:nvPicPr>
        <p:blipFill>
          <a:blip r:embed="rId1"/>
          <a:stretch/>
        </p:blipFill>
        <p:spPr>
          <a:xfrm>
            <a:off x="541080" y="228600"/>
            <a:ext cx="6429960" cy="360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Рисунок 7"/>
          <p:cNvPicPr/>
          <p:nvPr/>
        </p:nvPicPr>
        <p:blipFill>
          <a:blip r:embed="rId2"/>
          <a:stretch/>
        </p:blipFill>
        <p:spPr>
          <a:xfrm>
            <a:off x="702360" y="3924000"/>
            <a:ext cx="6429960" cy="270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Рисунок 9"/>
          <p:cNvPicPr/>
          <p:nvPr/>
        </p:nvPicPr>
        <p:blipFill>
          <a:blip r:embed="rId3"/>
          <a:stretch/>
        </p:blipFill>
        <p:spPr>
          <a:xfrm>
            <a:off x="6095880" y="403560"/>
            <a:ext cx="6050880" cy="85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104" name="Місце для вмісту 4"/>
          <p:cNvPicPr/>
          <p:nvPr/>
        </p:nvPicPr>
        <p:blipFill>
          <a:blip r:embed="rId1"/>
          <a:stretch/>
        </p:blipFill>
        <p:spPr>
          <a:xfrm>
            <a:off x="673560" y="595800"/>
            <a:ext cx="10845000" cy="37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Прямокутник 5"/>
          <p:cNvSpPr/>
          <p:nvPr/>
        </p:nvSpPr>
        <p:spPr>
          <a:xfrm>
            <a:off x="914400" y="701280"/>
            <a:ext cx="1420200" cy="327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Місце для вмісту 4"/>
          <p:cNvPicPr/>
          <p:nvPr/>
        </p:nvPicPr>
        <p:blipFill>
          <a:blip r:embed="rId1"/>
          <a:stretch/>
        </p:blipFill>
        <p:spPr>
          <a:xfrm>
            <a:off x="515880" y="834480"/>
            <a:ext cx="10974600" cy="394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Місце для вмісту 4"/>
          <p:cNvPicPr/>
          <p:nvPr/>
        </p:nvPicPr>
        <p:blipFill>
          <a:blip r:embed="rId1"/>
          <a:stretch/>
        </p:blipFill>
        <p:spPr>
          <a:xfrm>
            <a:off x="789840" y="497160"/>
            <a:ext cx="10272600" cy="428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Рисунок 6"/>
          <p:cNvPicPr/>
          <p:nvPr/>
        </p:nvPicPr>
        <p:blipFill>
          <a:blip r:embed="rId2"/>
          <a:stretch/>
        </p:blipFill>
        <p:spPr>
          <a:xfrm>
            <a:off x="1278360" y="4626360"/>
            <a:ext cx="10123560" cy="163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110" name="Місце для вмісту 4"/>
          <p:cNvPicPr/>
          <p:nvPr/>
        </p:nvPicPr>
        <p:blipFill>
          <a:blip r:embed="rId1"/>
          <a:stretch/>
        </p:blipFill>
        <p:spPr>
          <a:xfrm>
            <a:off x="1591560" y="403560"/>
            <a:ext cx="9008640" cy="609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Прямокутник 5"/>
          <p:cNvSpPr/>
          <p:nvPr/>
        </p:nvSpPr>
        <p:spPr>
          <a:xfrm>
            <a:off x="5504040" y="365040"/>
            <a:ext cx="2796120" cy="38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Прямокутник 7"/>
          <p:cNvSpPr/>
          <p:nvPr/>
        </p:nvSpPr>
        <p:spPr>
          <a:xfrm>
            <a:off x="4388040" y="5282280"/>
            <a:ext cx="1000440" cy="39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029960" y="185040"/>
            <a:ext cx="10323720" cy="49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ЗАДАЧІ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381600" y="612720"/>
            <a:ext cx="11647080" cy="617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</a:pPr>
            <a:endParaRPr lang="pl-PL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</a:pPr>
            <a:endParaRPr lang="pl-PL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lang="pl-PL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l-PL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l-PL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l-PL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l-PL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3. Попит на продукцію монополістичного конкурента описується рівнянням </a:t>
            </a: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Qd = 300 – 5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Р, функція загальних витрат має вигляд </a:t>
            </a: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 = 200 + 30</a:t>
            </a: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Q. 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Визначте оптимальний обсяг випуску і ціни, які дозволять максимізувати прибуток фірми. </a:t>
            </a:r>
            <a:endParaRPr lang="pl-PL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4.    Фірма працює на ринку з олігополією, де всі виробники аналогічних товарів добре інформовані щодо поведінки своїх конкурентів. Попит на продукцію фірми описується ламаною кривою з двома різними нахилами. Вище точки перелому функція попиту виглядає так: </a:t>
            </a: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P1=120−q1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​, 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а нижче точки перелому: </a:t>
            </a: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P2=150−5q2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​. 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Функція сукупних витрат фірми задана рівнянням: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TC = 500 + 40q + 0.5q^2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Користуючись моделлю ламаної кривої попиту, визначте обсяг виробництва, ціну і прибуток фірми в точці зламу графіка попиту.</a:t>
            </a:r>
            <a:endParaRPr lang="pl-PL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5" name="Рисунок 4"/>
          <p:cNvPicPr/>
          <p:nvPr/>
        </p:nvPicPr>
        <p:blipFill>
          <a:blip r:embed="rId1"/>
          <a:stretch/>
        </p:blipFill>
        <p:spPr>
          <a:xfrm>
            <a:off x="381600" y="2095560"/>
            <a:ext cx="11647080" cy="153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Рисунок 6"/>
          <p:cNvPicPr/>
          <p:nvPr/>
        </p:nvPicPr>
        <p:blipFill>
          <a:blip r:embed="rId2"/>
          <a:stretch/>
        </p:blipFill>
        <p:spPr>
          <a:xfrm>
            <a:off x="514800" y="519480"/>
            <a:ext cx="10990080" cy="1590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</TotalTime>
  <Application>LibreOffice/25.8.4.2$Linux_X86_64 LibreOffice_project/580$Build-2</Application>
  <AppVersion>15.0000</AppVersion>
  <Words>233</Words>
  <Paragraphs>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2025-03-23T11:15:38Z</dcterms:created>
  <dc:creator>Olena Korchynska</dc:creator>
  <dc:description/>
  <dc:language>en-US</dc:language>
  <cp:lastModifiedBy>Olena Korchynska</cp:lastModifiedBy>
  <dcterms:modified xsi:type="dcterms:W3CDTF">2026-03-31T19:37:23Z</dcterms:modified>
  <cp:revision>45</cp:revision>
  <dc:subject/>
  <dc:title>ПРАКТИЧНЕ ЗАНЯТТЯ 3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Широкий екран</vt:lpwstr>
  </property>
  <property fmtid="{D5CDD505-2E9C-101B-9397-08002B2CF9AE}" pid="3" name="Slides">
    <vt:r8>26</vt:r8>
  </property>
</Properties>
</file>