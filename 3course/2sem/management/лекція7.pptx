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7.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Титульний слайд">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1FC9AE97-FA1E-4D9C-AD1A-DA15ED7D94FB}"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pl-PL" sz="2800" b="0" u="none" strike="noStrike">
                <a:solidFill>
                  <a:schemeClr val="dk1"/>
                </a:solidFill>
                <a:effectLst/>
                <a:uFillTx/>
                <a:latin typeface="Calibri"/>
              </a:rPr>
              <a:t>Click to edit the outline text format</a:t>
            </a:r>
            <a:endParaRPr lang="pl-PL" sz="28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pl-PL" sz="2000" b="0" u="none" strike="noStrike">
                <a:solidFill>
                  <a:schemeClr val="dk1"/>
                </a:solidFill>
                <a:effectLst/>
                <a:uFillTx/>
                <a:latin typeface="Calibri"/>
              </a:rPr>
              <a:t>Second Outline Level</a:t>
            </a:r>
            <a:endParaRPr lang="pl-PL" sz="20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pl-PL" sz="1800" b="0" u="none" strike="noStrike">
                <a:solidFill>
                  <a:schemeClr val="dk1"/>
                </a:solidFill>
                <a:effectLst/>
                <a:uFillTx/>
                <a:latin typeface="Calibri"/>
              </a:rPr>
              <a:t>Third Outline Level</a:t>
            </a:r>
            <a:endParaRPr lang="pl-PL" sz="18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pl-PL" sz="1800" b="0" u="none" strike="noStrike">
                <a:solidFill>
                  <a:schemeClr val="dk1"/>
                </a:solidFill>
                <a:effectLst/>
                <a:uFillTx/>
                <a:latin typeface="Calibri"/>
              </a:rPr>
              <a:t>Fourth Outline Level</a:t>
            </a:r>
            <a:endParaRPr lang="pl-PL" sz="18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Fifth Outline Level</a:t>
            </a:r>
            <a:endParaRPr lang="pl-PL" sz="20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Sixth Outline Level</a:t>
            </a:r>
            <a:endParaRPr lang="pl-PL" sz="20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Seventh Outline Level</a:t>
            </a:r>
            <a:endParaRPr lang="pl-PL"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Заголовок і вертикальний текст">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9290F0C0-47BF-43ED-B5E3-CB475F51205A}"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Вертикальний заголовок і текст">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87F32A01-CD21-4108-AC2E-2655740D6380}"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Назва та вміст">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D43E58F1-2FC6-469A-8348-A35DABB6EAA2}"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Назва розділу">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2400" b="0" u="none" strike="noStrike">
                <a:solidFill>
                  <a:schemeClr val="dk1">
                    <a:tint val="75000"/>
                  </a:schemeClr>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44EB3EB2-79F8-43DE-B760-C7621F6B13B4}"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Два об’єкти">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98D18016-1AD7-4ABD-8C8F-533F74252265}"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орівняння">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9E4C1EA5-BB02-437E-B081-B76F2FE7CFA5}"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Лише заголовок">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8DB31C95-2F26-4068-BD15-8ED65C60FC1A}"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устий слайд">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4C2811F7-135D-45C2-B337-50B0F725E3B7}"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Вміст і підпис">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3200" b="0" u="none" strike="noStrike">
                <a:solidFill>
                  <a:schemeClr val="dk1"/>
                </a:solidFill>
                <a:effectLst/>
                <a:uFillTx/>
                <a:latin typeface="Calibri"/>
              </a:rPr>
              <a:t>Клацніть, щоб відредагувати стилі зразків тексту</a:t>
            </a:r>
            <a:endParaRPr lang="pl-PL"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800" b="0" u="none" strike="noStrike">
                <a:solidFill>
                  <a:schemeClr val="dk1"/>
                </a:solidFill>
                <a:effectLst/>
                <a:uFillTx/>
                <a:latin typeface="Calibri"/>
              </a:rPr>
              <a:t>Другий рівень</a:t>
            </a:r>
            <a:endParaRPr lang="pl-PL"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Третій рівень</a:t>
            </a:r>
            <a:endParaRPr lang="pl-PL"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Четвертий рівень</a:t>
            </a:r>
            <a:endParaRPr lang="pl-PL"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П’ятий рівень</a:t>
            </a:r>
            <a:endParaRPr lang="pl-PL" sz="2000" b="0" u="none" strike="noStrike">
              <a:solidFill>
                <a:schemeClr val="dk1"/>
              </a:solidFill>
              <a:effectLst/>
              <a:uFillTx/>
              <a:latin typeface="Calibri"/>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FE1598D0-8F95-4AB3-9DEF-4063B5AAECDF}"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Рисунок і підпис">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pl-PL" sz="3200" b="0" u="none" strike="noStrike">
                <a:solidFill>
                  <a:schemeClr val="dk1"/>
                </a:solidFill>
                <a:effectLst/>
                <a:uFillTx/>
                <a:latin typeface="Calibri"/>
              </a:rPr>
              <a:t>Click to edit the outline text format</a:t>
            </a:r>
            <a:endParaRPr lang="pl-PL" sz="32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pl-PL" sz="3200" b="0" u="none" strike="noStrike">
                <a:solidFill>
                  <a:schemeClr val="dk1"/>
                </a:solidFill>
                <a:effectLst/>
                <a:uFillTx/>
                <a:latin typeface="Calibri"/>
              </a:rPr>
              <a:t>Second Outline Level</a:t>
            </a:r>
            <a:endParaRPr lang="pl-PL" sz="32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pl-PL" sz="3200" b="0" u="none" strike="noStrike">
                <a:solidFill>
                  <a:schemeClr val="dk1"/>
                </a:solidFill>
                <a:effectLst/>
                <a:uFillTx/>
                <a:latin typeface="Calibri"/>
              </a:rPr>
              <a:t>Third Outline Level</a:t>
            </a:r>
            <a:endParaRPr lang="pl-PL" sz="32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pl-PL" sz="3200" b="0" u="none" strike="noStrike">
                <a:solidFill>
                  <a:schemeClr val="dk1"/>
                </a:solidFill>
                <a:effectLst/>
                <a:uFillTx/>
                <a:latin typeface="Calibri"/>
              </a:rPr>
              <a:t>Fourth Outline Level</a:t>
            </a:r>
            <a:endParaRPr lang="pl-PL" sz="32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Fifth Outline Level</a:t>
            </a:r>
            <a:endParaRPr lang="pl-PL" sz="32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Sixth Outline Level</a:t>
            </a:r>
            <a:endParaRPr lang="pl-PL" sz="32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Seventh Outline Level</a:t>
            </a:r>
            <a:endParaRPr lang="pl-PL" sz="3200" b="0" u="none" strike="noStrike">
              <a:solidFill>
                <a:schemeClr val="dk1"/>
              </a:solidFill>
              <a:effectLst/>
              <a:uFillTx/>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2F1197DD-7CF2-4B65-904B-6A90418A600C}"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rmAutofit fontScale="92500" lnSpcReduction="9999"/>
          </a:bodyPr>
          <a:p>
            <a:pPr indent="0" algn="ctr" defTabSz="914400">
              <a:lnSpc>
                <a:spcPct val="90000"/>
              </a:lnSpc>
              <a:buNone/>
            </a:pPr>
            <a:r>
              <a:rPr lang="uk-UA" sz="6000" b="0" u="none" strike="noStrike">
                <a:solidFill>
                  <a:schemeClr val="dk1"/>
                </a:solidFill>
                <a:effectLst/>
                <a:uFillTx/>
                <a:latin typeface="Calibri Light"/>
              </a:rPr>
              <a:t>Прийняття управлінських рішень на основі методу аналізу ієрархій Сааті</a:t>
            </a:r>
            <a:endParaRPr lang="pl-PL" sz="6000" b="0" u="none" strike="noStrike">
              <a:solidFill>
                <a:schemeClr val="dk1"/>
              </a:solidFill>
              <a:effectLst/>
              <a:uFillTx/>
              <a:latin typeface="Calibri"/>
            </a:endParaRPr>
          </a:p>
        </p:txBody>
      </p:sp>
      <p:sp>
        <p:nvSpPr>
          <p:cNvPr id="61" name="PlaceHolder 2"/>
          <p:cNvSpPr>
            <a:spLocks noGrp="1"/>
          </p:cNvSpPr>
          <p:nvPr>
            <p:ph type="subTitle"/>
          </p:nvPr>
        </p:nvSpPr>
        <p:spPr>
          <a:xfrm>
            <a:off x="1523880" y="3602160"/>
            <a:ext cx="9143640" cy="1655280"/>
          </a:xfrm>
          <a:prstGeom prst="rect">
            <a:avLst/>
          </a:prstGeom>
          <a:noFill/>
          <a:ln w="0">
            <a:noFill/>
          </a:ln>
        </p:spPr>
        <p:txBody>
          <a:bodyPr lIns="91440" rIns="91440" tIns="45720" bIns="45720" anchor="t">
            <a:noAutofit/>
          </a:bodyPr>
          <a:p>
            <a:pPr indent="0" algn="ctr">
              <a:buNone/>
            </a:pPr>
            <a:endParaRPr lang="en-US" sz="2400" b="0" u="none" strike="noStrike">
              <a:solidFill>
                <a:schemeClr val="dk1"/>
              </a:solidFill>
              <a:effectLst/>
              <a:uFillTx/>
              <a:latin typeface="Calibri"/>
            </a:endParaRPr>
          </a:p>
        </p:txBody>
      </p:sp>
      <p:pic>
        <p:nvPicPr>
          <p:cNvPr id="62" name="Рисунок 3"/>
          <p:cNvPicPr/>
          <p:nvPr/>
        </p:nvPicPr>
        <p:blipFill>
          <a:blip r:embed="rId1"/>
          <a:stretch/>
        </p:blipFill>
        <p:spPr>
          <a:xfrm>
            <a:off x="3930480" y="3510000"/>
            <a:ext cx="4330440" cy="31093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p:nvPr>
        </p:nvSpPr>
        <p:spPr>
          <a:xfrm>
            <a:off x="403200" y="76680"/>
            <a:ext cx="10515240" cy="4350960"/>
          </a:xfrm>
          <a:prstGeom prst="rect">
            <a:avLst/>
          </a:prstGeom>
          <a:noFill/>
          <a:ln w="0">
            <a:noFill/>
          </a:ln>
        </p:spPr>
        <p:txBody>
          <a:bodyPr lIns="91440" rIns="91440" tIns="45720" bIns="45720" anchor="t">
            <a:noAutofit/>
          </a:bodyPr>
          <a:p>
            <a:pPr indent="0" algn="just" defTabSz="914400">
              <a:lnSpc>
                <a:spcPct val="150000"/>
              </a:lnSpc>
              <a:buNone/>
              <a:tabLst>
                <a:tab algn="l" pos="0"/>
              </a:tabLst>
            </a:pPr>
            <a:r>
              <a:rPr lang="uk-UA" sz="2800" b="0" u="none" strike="noStrike">
                <a:solidFill>
                  <a:schemeClr val="dk1"/>
                </a:solidFill>
                <a:effectLst/>
                <a:uFillTx/>
                <a:latin typeface="Times New Roman"/>
              </a:rPr>
              <a:t>Метод аналізу ієрархії, запропонований Томасом Сааті, отримав світове визнання та використовується для вирішення проблем прийняття рішень в різних сферах. Є різні модифікації цього методу, що враховують специфіку задачі та можуть зменшити існуючі обмеження.</a:t>
            </a:r>
            <a:endParaRPr lang="pl-PL" sz="2800" b="0" u="none" strike="noStrike">
              <a:solidFill>
                <a:schemeClr val="dk1"/>
              </a:solidFill>
              <a:effectLst/>
              <a:uFillTx/>
              <a:latin typeface="Calibri"/>
            </a:endParaRPr>
          </a:p>
        </p:txBody>
      </p:sp>
      <p:pic>
        <p:nvPicPr>
          <p:cNvPr id="64" name="Рисунок 4"/>
          <p:cNvPicPr/>
          <p:nvPr/>
        </p:nvPicPr>
        <p:blipFill>
          <a:blip r:embed="rId1"/>
          <a:stretch/>
        </p:blipFill>
        <p:spPr>
          <a:xfrm>
            <a:off x="7200360" y="2795400"/>
            <a:ext cx="2638080" cy="37526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p:nvPr>
        </p:nvSpPr>
        <p:spPr>
          <a:xfrm>
            <a:off x="461520" y="195480"/>
            <a:ext cx="11363040" cy="6577920"/>
          </a:xfrm>
          <a:prstGeom prst="rect">
            <a:avLst/>
          </a:prstGeom>
          <a:noFill/>
          <a:ln w="0">
            <a:noFill/>
          </a:ln>
        </p:spPr>
        <p:txBody>
          <a:bodyPr lIns="91440" rIns="91440" tIns="45720" bIns="45720" anchor="t">
            <a:noAutofit/>
          </a:bodyPr>
          <a:p>
            <a:pPr indent="0" algn="just" defTabSz="914400">
              <a:lnSpc>
                <a:spcPct val="150000"/>
              </a:lnSpc>
              <a:spcBef>
                <a:spcPts val="1001"/>
              </a:spcBef>
              <a:buNone/>
              <a:tabLst>
                <a:tab algn="l" pos="0"/>
              </a:tabLst>
            </a:pPr>
            <a:r>
              <a:rPr lang="uk-UA" sz="2000" b="0" u="none" strike="noStrike">
                <a:solidFill>
                  <a:schemeClr val="dk1"/>
                </a:solidFill>
                <a:effectLst/>
                <a:uFillTx/>
                <a:latin typeface="Times New Roman"/>
              </a:rPr>
              <a:t>Метод спрямований на кількісну оцінку відносного пріоритету даного набору відповідно до необхідної шкали значень. Зазвичай рішення базується на уявленні індивіда, який повинен прийняти остаточне рішення, та оцінки пріоритетів, підкреслюючи важливість послідовності та співвідношення альтернатив, які порівнюються у всьому процесі прийняття рішень.</a:t>
            </a:r>
            <a:endParaRPr lang="pl-PL" sz="20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000" b="0" u="none" strike="noStrike">
                <a:solidFill>
                  <a:schemeClr val="dk1"/>
                </a:solidFill>
                <a:effectLst/>
                <a:uFillTx/>
                <a:latin typeface="Times New Roman"/>
              </a:rPr>
              <a:t>МАІ розглядає набір критеріїв оцінки та набір альтернативних варіантів, серед яких слід прийняти найкраще рішення. Важливо зауважити, що, оскільки деякі критерії можуть бути контрастними, в цілому не вірно, що найкращим варіантом є той, який оптимізує кожен окремий критерій. МАІ створює вагу для кожного критерію оцінювання відповідно до парних порівнянь критеріїв, які приймає рішення. Чим більша вага, тим важливіший відповідний критерій. Далі, для фіксованого критерію, МАІ присвоює бал кожному варіанту відповідно до парних порівнянь тих, хто приймає рішення, на основі цього критерію. Чим вища оцінка, тим краща ефективність варіанту щодо розглянутого критерію. Нарешті, МАІ поєднує ваги критеріїв та балів варіантів, таким чином визначаючи загальний бал за кожним варіантом та відповідно рейтинг. Загальний бал для даного варіанту - це зважена сума оцінок, отриманих ним за усіма критеріями.</a:t>
            </a:r>
            <a:endParaRPr lang="pl-PL" sz="20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p:nvPr>
        </p:nvSpPr>
        <p:spPr>
          <a:xfrm>
            <a:off x="514800" y="372960"/>
            <a:ext cx="10838520" cy="5803920"/>
          </a:xfrm>
          <a:prstGeom prst="rect">
            <a:avLst/>
          </a:prstGeom>
          <a:noFill/>
          <a:ln w="0">
            <a:noFill/>
          </a:ln>
        </p:spPr>
        <p:txBody>
          <a:bodyPr lIns="91440" rIns="91440" tIns="45720" bIns="45720" anchor="t">
            <a:normAutofit fontScale="85000" lnSpcReduction="9999"/>
          </a:bodyPr>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Метод МАІ є дуже гнучким, оскільки він дає найпростіший спосіб знайти взаємозв'язок між критеріями та альтернативами. Цей метод оцінює актуальність критеріїв у реальному світі та визначає взаємодію між критеріями у разі складних проблем із багатьма критеріями та відносно великою кількістю альтернатив. Застосовуючи цей метод, комплексні проблеми можуть бути розкладені в конкретних ієрархіях, тому аналіз буде включати кількісні та якісні аспекти проблеми. МАІ з'єднує всі рівні ієрархії. Це дозволяє визначити, як зміна одного критерію впливає на інші критерії та альтернативи. МАІ - це багатокритеріальна методика, яка ґрунтується на потребі складних проблем, що розгалужуються на ієрархічну структуру конкретних елементів, які є об'єктивними критеріями та альтернативами.</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p:nvPr>
        </p:nvSpPr>
        <p:spPr>
          <a:xfrm>
            <a:off x="603720" y="497160"/>
            <a:ext cx="10749600" cy="567936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Метод аналізу ієрархій включає наступні основні етапи:</a:t>
            </a:r>
            <a:endParaRPr lang="pl-PL" sz="24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Arial"/>
              <a:buChar char="•"/>
              <a:tabLst>
                <a:tab algn="l" pos="0"/>
              </a:tabLst>
            </a:pPr>
            <a:r>
              <a:rPr lang="uk-UA" sz="2400" b="0" u="none" strike="noStrike">
                <a:solidFill>
                  <a:schemeClr val="dk1"/>
                </a:solidFill>
                <a:effectLst/>
                <a:uFillTx/>
                <a:latin typeface="Times New Roman"/>
              </a:rPr>
              <a:t>  декомпозиція проблеми;</a:t>
            </a:r>
            <a:endParaRPr lang="pl-PL" sz="24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Arial"/>
              <a:buChar char="•"/>
              <a:tabLst>
                <a:tab algn="l" pos="0"/>
              </a:tabLst>
            </a:pPr>
            <a:r>
              <a:rPr lang="uk-UA" sz="2400" b="0" u="none" strike="noStrike">
                <a:solidFill>
                  <a:schemeClr val="dk1"/>
                </a:solidFill>
                <a:effectLst/>
                <a:uFillTx/>
                <a:latin typeface="Times New Roman"/>
              </a:rPr>
              <a:t> побудова ієрархічної структури моделі проблеми;</a:t>
            </a:r>
            <a:endParaRPr lang="pl-PL" sz="24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Arial"/>
              <a:buChar char="•"/>
              <a:tabLst>
                <a:tab algn="l" pos="0"/>
              </a:tabLst>
            </a:pPr>
            <a:r>
              <a:rPr lang="uk-UA" sz="2400" b="0" u="none" strike="noStrike">
                <a:solidFill>
                  <a:schemeClr val="dk1"/>
                </a:solidFill>
                <a:effectLst/>
                <a:uFillTx/>
                <a:latin typeface="Times New Roman"/>
              </a:rPr>
              <a:t>  експертне оцінювання переваг;</a:t>
            </a:r>
            <a:endParaRPr lang="pl-PL" sz="24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Arial"/>
              <a:buChar char="•"/>
              <a:tabLst>
                <a:tab algn="l" pos="0"/>
              </a:tabLst>
            </a:pPr>
            <a:r>
              <a:rPr lang="uk-UA" sz="2400" b="0" u="none" strike="noStrike">
                <a:solidFill>
                  <a:schemeClr val="dk1"/>
                </a:solidFill>
                <a:effectLst/>
                <a:uFillTx/>
                <a:latin typeface="Times New Roman"/>
              </a:rPr>
              <a:t> побудова локальних пріоритетів;</a:t>
            </a:r>
            <a:endParaRPr lang="pl-PL" sz="24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Arial"/>
              <a:buChar char="•"/>
              <a:tabLst>
                <a:tab algn="l" pos="0"/>
              </a:tabLst>
            </a:pPr>
            <a:r>
              <a:rPr lang="uk-UA" sz="2400" b="0" u="none" strike="noStrike">
                <a:solidFill>
                  <a:schemeClr val="dk1"/>
                </a:solidFill>
                <a:effectLst/>
                <a:uFillTx/>
                <a:latin typeface="Times New Roman"/>
              </a:rPr>
              <a:t> оцінка погодженості суджень;</a:t>
            </a:r>
            <a:endParaRPr lang="pl-PL" sz="24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Arial"/>
              <a:buChar char="•"/>
              <a:tabLst>
                <a:tab algn="l" pos="0"/>
              </a:tabLst>
            </a:pPr>
            <a:r>
              <a:rPr lang="uk-UA" sz="2400" b="0" u="none" strike="noStrike">
                <a:solidFill>
                  <a:schemeClr val="dk1"/>
                </a:solidFill>
                <a:effectLst/>
                <a:uFillTx/>
                <a:latin typeface="Times New Roman"/>
              </a:rPr>
              <a:t> синтез локальних пріоритетів;</a:t>
            </a:r>
            <a:endParaRPr lang="pl-PL" sz="24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Arial"/>
              <a:buChar char="•"/>
              <a:tabLst>
                <a:tab algn="l" pos="0"/>
              </a:tabLst>
            </a:pPr>
            <a:r>
              <a:rPr lang="uk-UA" sz="2400" b="0" u="none" strike="noStrike">
                <a:solidFill>
                  <a:schemeClr val="dk1"/>
                </a:solidFill>
                <a:effectLst/>
                <a:uFillTx/>
                <a:latin typeface="Times New Roman"/>
              </a:rPr>
              <a:t> висновки й пропозиції для прийняття рішень.</a:t>
            </a:r>
            <a:endParaRPr lang="pl-PL" sz="2400" b="0" u="none" strike="noStrike">
              <a:solidFill>
                <a:schemeClr val="dk1"/>
              </a:solidFill>
              <a:effectLst/>
              <a:uFillTx/>
              <a:latin typeface="Calibri"/>
            </a:endParaRPr>
          </a:p>
        </p:txBody>
      </p:sp>
      <p:pic>
        <p:nvPicPr>
          <p:cNvPr id="68" name="Рисунок 4"/>
          <p:cNvPicPr/>
          <p:nvPr/>
        </p:nvPicPr>
        <p:blipFill>
          <a:blip r:embed="rId1"/>
          <a:stretch/>
        </p:blipFill>
        <p:spPr>
          <a:xfrm>
            <a:off x="5903640" y="2515320"/>
            <a:ext cx="5836320" cy="257256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p:nvPr>
        </p:nvSpPr>
        <p:spPr>
          <a:xfrm>
            <a:off x="710280" y="417240"/>
            <a:ext cx="10643400" cy="5759280"/>
          </a:xfrm>
          <a:prstGeom prst="rect">
            <a:avLst/>
          </a:prstGeom>
          <a:noFill/>
          <a:ln w="0">
            <a:noFill/>
          </a:ln>
        </p:spPr>
        <p:txBody>
          <a:bodyPr lIns="91440" rIns="91440" tIns="45720" bIns="45720" anchor="t">
            <a:normAutofit/>
          </a:bodyPr>
          <a:p>
            <a:pPr indent="0" algn="just" defTabSz="914400">
              <a:lnSpc>
                <a:spcPct val="150000"/>
              </a:lnSpc>
              <a:buNone/>
              <a:tabLst>
                <a:tab algn="l" pos="0"/>
              </a:tabLst>
            </a:pPr>
            <a:r>
              <a:rPr lang="ru-RU" sz="2400" b="0" u="none" strike="noStrike">
                <a:solidFill>
                  <a:schemeClr val="dk1"/>
                </a:solidFill>
                <a:effectLst/>
                <a:uFillTx/>
                <a:latin typeface="Times New Roman"/>
              </a:rPr>
              <a:t>Метод аналізу ієрархій при побудові єдиної шкали для різних компонентів проблеми використовує міру ступеня впливу кожного фактора одного рівня на фактори верхнього рівня або на кінцеву мету. Ця міра утвориться в результаті висловлення суджень про ступінь впливу (важливості) цих факторів.</a:t>
            </a:r>
            <a:endParaRPr lang="pl-PL" sz="2400" b="0" u="none" strike="noStrike">
              <a:solidFill>
                <a:schemeClr val="dk1"/>
              </a:solidFill>
              <a:effectLst/>
              <a:uFillTx/>
              <a:latin typeface="Calibri"/>
            </a:endParaRPr>
          </a:p>
          <a:p>
            <a:pPr indent="0" algn="just" defTabSz="914400">
              <a:lnSpc>
                <a:spcPct val="150000"/>
              </a:lnSpc>
              <a:buNone/>
              <a:tabLst>
                <a:tab algn="l" pos="0"/>
              </a:tabLst>
            </a:pP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На кожному рівні ієрархії проводиться порівняння в парах елементів структури, де уподобання особи, що приймає рішення, виражаються за допомогою шкали відносних рівнів важливості Сааті. Шкала містить 5 рівнів і 4 підрівні, які описують інтенсивність, з відповідними числовими значеннями в межах від 1 до 9.</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lgn="ctr" defTabSz="914400">
              <a:lnSpc>
                <a:spcPct val="90000"/>
              </a:lnSpc>
              <a:buNone/>
            </a:pPr>
            <a:r>
              <a:rPr lang="uk-UA" sz="2800" b="1" u="none" strike="noStrike">
                <a:solidFill>
                  <a:schemeClr val="dk1"/>
                </a:solidFill>
                <a:effectLst/>
                <a:uFillTx/>
                <a:latin typeface="Times New Roman"/>
              </a:rPr>
              <a:t>Шкала відносної значущості Сааті</a:t>
            </a:r>
            <a:endParaRPr lang="pl-PL" sz="2800" b="0" u="none" strike="noStrike">
              <a:solidFill>
                <a:schemeClr val="dk1"/>
              </a:solidFill>
              <a:effectLst/>
              <a:uFillTx/>
              <a:latin typeface="Calibri"/>
            </a:endParaRPr>
          </a:p>
        </p:txBody>
      </p:sp>
      <p:pic>
        <p:nvPicPr>
          <p:cNvPr id="71" name="Місце для вмісту 4"/>
          <p:cNvPicPr/>
          <p:nvPr/>
        </p:nvPicPr>
        <p:blipFill>
          <a:blip r:embed="rId1"/>
          <a:stretch/>
        </p:blipFill>
        <p:spPr>
          <a:xfrm>
            <a:off x="2309760" y="1281960"/>
            <a:ext cx="7572240" cy="529020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p:nvPr>
        </p:nvSpPr>
        <p:spPr>
          <a:xfrm>
            <a:off x="523800" y="461520"/>
            <a:ext cx="10829520" cy="571500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Для побудови шкали пріоритетів (переваг), одержуваної при експертному висловленні суджень про рівень розходження між порівнюваними об'єктами в МАІ застосовується метод парних порівнянь. Якщо для порівняння обране </a:t>
            </a:r>
            <a:r>
              <a:rPr lang="pl-PL" sz="2400" b="0" u="none" strike="noStrike">
                <a:solidFill>
                  <a:schemeClr val="dk1"/>
                </a:solidFill>
                <a:effectLst/>
                <a:uFillTx/>
                <a:latin typeface="Times New Roman"/>
              </a:rPr>
              <a:t>n (A1, A2,…,An) </a:t>
            </a:r>
            <a:r>
              <a:rPr lang="uk-UA" sz="2400" b="0" u="none" strike="noStrike">
                <a:solidFill>
                  <a:schemeClr val="dk1"/>
                </a:solidFill>
                <a:effectLst/>
                <a:uFillTx/>
                <a:latin typeface="Times New Roman"/>
              </a:rPr>
              <a:t>об'єктів, то результати порівнянь заносяться в квадратну </a:t>
            </a:r>
            <a:r>
              <a:rPr lang="pl-PL" sz="2400" b="0" u="none" strike="noStrike">
                <a:solidFill>
                  <a:schemeClr val="dk1"/>
                </a:solidFill>
                <a:effectLst/>
                <a:uFillTx/>
                <a:latin typeface="Times New Roman"/>
              </a:rPr>
              <a:t>n -</a:t>
            </a:r>
            <a:r>
              <a:rPr lang="uk-UA" sz="2400" b="0" u="none" strike="noStrike">
                <a:solidFill>
                  <a:schemeClr val="dk1"/>
                </a:solidFill>
                <a:effectLst/>
                <a:uFillTx/>
                <a:latin typeface="Times New Roman"/>
              </a:rPr>
              <a:t>мірну матрицю (рис)</a:t>
            </a:r>
            <a:endParaRPr lang="pl-PL" sz="2400" b="0" u="none" strike="noStrike">
              <a:solidFill>
                <a:schemeClr val="dk1"/>
              </a:solidFill>
              <a:effectLst/>
              <a:uFillTx/>
              <a:latin typeface="Calibri"/>
            </a:endParaRPr>
          </a:p>
        </p:txBody>
      </p:sp>
      <p:pic>
        <p:nvPicPr>
          <p:cNvPr id="73" name="Рисунок 4"/>
          <p:cNvPicPr/>
          <p:nvPr/>
        </p:nvPicPr>
        <p:blipFill>
          <a:blip r:embed="rId1"/>
          <a:stretch/>
        </p:blipFill>
        <p:spPr>
          <a:xfrm>
            <a:off x="3586680" y="3157920"/>
            <a:ext cx="4447440" cy="28843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p:nvPr>
        </p:nvSpPr>
        <p:spPr>
          <a:xfrm>
            <a:off x="710280" y="230760"/>
            <a:ext cx="10643400" cy="5945760"/>
          </a:xfrm>
          <a:prstGeom prst="rect">
            <a:avLst/>
          </a:prstGeom>
          <a:noFill/>
          <a:ln w="0">
            <a:noFill/>
          </a:ln>
        </p:spPr>
        <p:txBody>
          <a:bodyPr lIns="91440" rIns="91440" tIns="45720" bIns="45720" anchor="t">
            <a:normAutofit/>
          </a:bodyPr>
          <a:p>
            <a:pPr indent="0" algn="just" defTabSz="914400">
              <a:lnSpc>
                <a:spcPct val="150000"/>
              </a:lnSpc>
              <a:buNone/>
              <a:tabLst>
                <a:tab algn="l" pos="0"/>
              </a:tabLst>
            </a:pPr>
            <a:r>
              <a:rPr lang="uk-UA" sz="2400" b="0" u="none" strike="noStrike">
                <a:solidFill>
                  <a:schemeClr val="dk1"/>
                </a:solidFill>
                <a:effectLst/>
                <a:uFillTx/>
                <a:latin typeface="Times New Roman"/>
              </a:rPr>
              <a:t>Елементом цієї матриці </a:t>
            </a:r>
            <a:r>
              <a:rPr lang="pl-PL" sz="2400" b="0" u="none" strike="noStrike">
                <a:solidFill>
                  <a:schemeClr val="dk1"/>
                </a:solidFill>
                <a:effectLst/>
                <a:uFillTx/>
                <a:latin typeface="Times New Roman"/>
              </a:rPr>
              <a:t>aij </a:t>
            </a:r>
            <a:r>
              <a:rPr lang="uk-UA" sz="2400" b="0" u="none" strike="noStrike">
                <a:solidFill>
                  <a:schemeClr val="dk1"/>
                </a:solidFill>
                <a:effectLst/>
                <a:uFillTx/>
                <a:latin typeface="Times New Roman"/>
              </a:rPr>
              <a:t>є міра переваги об’єкта </a:t>
            </a:r>
            <a:r>
              <a:rPr lang="pl-PL" sz="2400" b="0" u="none" strike="noStrike">
                <a:solidFill>
                  <a:schemeClr val="dk1"/>
                </a:solidFill>
                <a:effectLst/>
                <a:uFillTx/>
                <a:latin typeface="Times New Roman"/>
              </a:rPr>
              <a:t>Ai </a:t>
            </a:r>
            <a:r>
              <a:rPr lang="uk-UA" sz="2400" b="0" u="none" strike="noStrike">
                <a:solidFill>
                  <a:schemeClr val="dk1"/>
                </a:solidFill>
                <a:effectLst/>
                <a:uFillTx/>
                <a:latin typeface="Times New Roman"/>
              </a:rPr>
              <a:t>у порівнянні з об’єктом </a:t>
            </a:r>
            <a:r>
              <a:rPr lang="pl-PL" sz="2400" b="0" u="none" strike="noStrike">
                <a:solidFill>
                  <a:schemeClr val="dk1"/>
                </a:solidFill>
                <a:effectLst/>
                <a:uFillTx/>
                <a:latin typeface="Times New Roman"/>
              </a:rPr>
              <a:t>Aj. </a:t>
            </a:r>
            <a:r>
              <a:rPr lang="uk-UA" sz="2400" b="0" u="none" strike="noStrike">
                <a:solidFill>
                  <a:schemeClr val="dk1"/>
                </a:solidFill>
                <a:effectLst/>
                <a:uFillTx/>
                <a:latin typeface="Times New Roman"/>
              </a:rPr>
              <a:t>Таким чином, </a:t>
            </a:r>
            <a:r>
              <a:rPr lang="pl-PL" sz="2400" b="0" u="none" strike="noStrike">
                <a:solidFill>
                  <a:schemeClr val="dk1"/>
                </a:solidFill>
                <a:effectLst/>
                <a:uFillTx/>
                <a:latin typeface="Times New Roman"/>
              </a:rPr>
              <a:t>i-</a:t>
            </a:r>
            <a:r>
              <a:rPr lang="uk-UA" sz="2400" b="0" u="none" strike="noStrike">
                <a:solidFill>
                  <a:schemeClr val="dk1"/>
                </a:solidFill>
                <a:effectLst/>
                <a:uFillTx/>
                <a:latin typeface="Times New Roman"/>
              </a:rPr>
              <a:t>й рядок матриці показує міру переваги </a:t>
            </a:r>
            <a:r>
              <a:rPr lang="pl-PL" sz="2400" b="0" u="none" strike="noStrike">
                <a:solidFill>
                  <a:schemeClr val="dk1"/>
                </a:solidFill>
                <a:effectLst/>
                <a:uFillTx/>
                <a:latin typeface="Times New Roman"/>
              </a:rPr>
              <a:t>i-</a:t>
            </a:r>
            <a:r>
              <a:rPr lang="uk-UA" sz="2400" b="0" u="none" strike="noStrike">
                <a:solidFill>
                  <a:schemeClr val="dk1"/>
                </a:solidFill>
                <a:effectLst/>
                <a:uFillTx/>
                <a:latin typeface="Times New Roman"/>
              </a:rPr>
              <a:t>го об’єкта над іншими (</a:t>
            </a:r>
            <a:r>
              <a:rPr lang="pl-PL" sz="2400" b="0" u="none" strike="noStrike">
                <a:solidFill>
                  <a:schemeClr val="dk1"/>
                </a:solidFill>
                <a:effectLst/>
                <a:uFillTx/>
                <a:latin typeface="Times New Roman"/>
              </a:rPr>
              <a:t>n-1) </a:t>
            </a:r>
            <a:r>
              <a:rPr lang="uk-UA" sz="2400" b="0" u="none" strike="noStrike">
                <a:solidFill>
                  <a:schemeClr val="dk1"/>
                </a:solidFill>
                <a:effectLst/>
                <a:uFillTx/>
                <a:latin typeface="Times New Roman"/>
              </a:rPr>
              <a:t>об’єктами і над самим собою. Міра переваги виражається експертом у шкалі Сааті і приймає значення від 1 до 9, якщо об’єкт </a:t>
            </a:r>
            <a:r>
              <a:rPr lang="pl-PL" sz="2400" b="0" u="none" strike="noStrike">
                <a:solidFill>
                  <a:schemeClr val="dk1"/>
                </a:solidFill>
                <a:effectLst/>
                <a:uFillTx/>
                <a:latin typeface="Times New Roman"/>
              </a:rPr>
              <a:t>Ai </a:t>
            </a:r>
            <a:r>
              <a:rPr lang="uk-UA" sz="2400" b="0" u="none" strike="noStrike">
                <a:solidFill>
                  <a:schemeClr val="dk1"/>
                </a:solidFill>
                <a:effectLst/>
                <a:uFillTx/>
                <a:latin typeface="Times New Roman"/>
              </a:rPr>
              <a:t>більш важливий, чим об’єкт </a:t>
            </a:r>
            <a:r>
              <a:rPr lang="pl-PL" sz="2400" b="0" u="none" strike="noStrike">
                <a:solidFill>
                  <a:schemeClr val="dk1"/>
                </a:solidFill>
                <a:effectLst/>
                <a:uFillTx/>
                <a:latin typeface="Times New Roman"/>
              </a:rPr>
              <a:t>Aj. </a:t>
            </a:r>
            <a:r>
              <a:rPr lang="uk-UA" sz="2400" b="0" u="none" strike="noStrike">
                <a:solidFill>
                  <a:schemeClr val="dk1"/>
                </a:solidFill>
                <a:effectLst/>
                <a:uFillTx/>
                <a:latin typeface="Times New Roman"/>
              </a:rPr>
              <a:t>У випадку, коли </a:t>
            </a:r>
            <a:r>
              <a:rPr lang="pl-PL" sz="2400" b="0" u="none" strike="noStrike">
                <a:solidFill>
                  <a:schemeClr val="dk1"/>
                </a:solidFill>
                <a:effectLst/>
                <a:uFillTx/>
                <a:latin typeface="Times New Roman"/>
              </a:rPr>
              <a:t>i = j, </a:t>
            </a:r>
            <a:r>
              <a:rPr lang="uk-UA" sz="2400" b="0" u="none" strike="noStrike">
                <a:solidFill>
                  <a:schemeClr val="dk1"/>
                </a:solidFill>
                <a:effectLst/>
                <a:uFillTx/>
                <a:latin typeface="Times New Roman"/>
              </a:rPr>
              <a:t>міра переваги дорівнює 1, тобто діагональні елементи</a:t>
            </a:r>
            <a:r>
              <a:rPr lang="ru-RU" sz="1600" b="0" u="none" strike="noStrike">
                <a:solidFill>
                  <a:schemeClr val="dk1"/>
                </a:solidFill>
                <a:effectLst/>
                <a:uFillTx/>
                <a:latin typeface="Calibri"/>
              </a:rPr>
              <a:t>  </a:t>
            </a:r>
            <a:r>
              <a:rPr lang="ru-RU" sz="2400" b="0" u="none" strike="noStrike">
                <a:solidFill>
                  <a:schemeClr val="dk1"/>
                </a:solidFill>
                <a:effectLst/>
                <a:uFillTx/>
                <a:latin typeface="Times New Roman"/>
              </a:rPr>
              <a:t>парних порівнянь завжди рівні 1. Варто враховувати, що для матриці парних порівнянь виконується така умова:</a:t>
            </a:r>
            <a:endParaRPr lang="pl-PL" sz="2400" b="0" u="none" strike="noStrike">
              <a:solidFill>
                <a:schemeClr val="dk1"/>
              </a:solidFill>
              <a:effectLst/>
              <a:uFillTx/>
              <a:latin typeface="Calibri"/>
            </a:endParaRPr>
          </a:p>
          <a:p>
            <a:pPr indent="0" algn="just" defTabSz="914400">
              <a:lnSpc>
                <a:spcPct val="150000"/>
              </a:lnSpc>
              <a:buNone/>
              <a:tabLst>
                <a:tab algn="l" pos="0"/>
              </a:tabLst>
            </a:pPr>
            <a:endParaRPr lang="pl-PL" sz="2400" b="0" u="none" strike="noStrike">
              <a:solidFill>
                <a:schemeClr val="dk1"/>
              </a:solidFill>
              <a:effectLst/>
              <a:uFillTx/>
              <a:latin typeface="Calibri"/>
            </a:endParaRPr>
          </a:p>
        </p:txBody>
      </p:sp>
      <p:pic>
        <p:nvPicPr>
          <p:cNvPr id="75" name="Рисунок 4"/>
          <p:cNvPicPr/>
          <p:nvPr/>
        </p:nvPicPr>
        <p:blipFill>
          <a:blip r:embed="rId1"/>
          <a:stretch/>
        </p:blipFill>
        <p:spPr>
          <a:xfrm>
            <a:off x="4474440" y="4490280"/>
            <a:ext cx="2680560" cy="13129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Місце для вмісту 4"/>
          <p:cNvPicPr/>
          <p:nvPr/>
        </p:nvPicPr>
        <p:blipFill>
          <a:blip r:embed="rId1"/>
          <a:stretch/>
        </p:blipFill>
        <p:spPr>
          <a:xfrm>
            <a:off x="3188520" y="1463040"/>
            <a:ext cx="6007680" cy="2653560"/>
          </a:xfrm>
          <a:prstGeom prst="rect">
            <a:avLst/>
          </a:prstGeom>
          <a:noFill/>
          <a:ln w="0">
            <a:noFill/>
          </a:ln>
        </p:spPr>
      </p:pic>
      <p:sp>
        <p:nvSpPr>
          <p:cNvPr id="77" name="TextBox 6"/>
          <p:cNvSpPr/>
          <p:nvPr/>
        </p:nvSpPr>
        <p:spPr>
          <a:xfrm>
            <a:off x="1109880" y="417960"/>
            <a:ext cx="9285840" cy="4611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ru-RU" sz="2400" b="0" u="none" strike="noStrike">
                <a:solidFill>
                  <a:schemeClr val="dk1"/>
                </a:solidFill>
                <a:effectLst/>
                <a:uFillTx/>
                <a:latin typeface="Times New Roman"/>
              </a:rPr>
              <a:t>Матриця парних порівнянь для чотирьох порівнюваних об'єктів</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p:nvPr>
        </p:nvSpPr>
        <p:spPr>
          <a:xfrm>
            <a:off x="870120" y="106560"/>
            <a:ext cx="10483560" cy="606996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uk-UA" sz="2400" b="1" u="none" strike="noStrike">
                <a:solidFill>
                  <a:schemeClr val="dk1"/>
                </a:solidFill>
                <a:effectLst/>
                <a:uFillTx/>
                <a:latin typeface="Times New Roman"/>
              </a:rPr>
              <a:t>Ступінь погодженості</a:t>
            </a:r>
            <a:endParaRPr lang="pl-PL" sz="2400" b="0" u="none" strike="noStrike">
              <a:solidFill>
                <a:schemeClr val="dk1"/>
              </a:solidFill>
              <a:effectLst/>
              <a:uFillTx/>
              <a:latin typeface="Calibri"/>
            </a:endParaRPr>
          </a:p>
        </p:txBody>
      </p:sp>
      <p:pic>
        <p:nvPicPr>
          <p:cNvPr id="79" name="Рисунок 4"/>
          <p:cNvPicPr/>
          <p:nvPr/>
        </p:nvPicPr>
        <p:blipFill>
          <a:blip r:embed="rId1"/>
          <a:stretch/>
        </p:blipFill>
        <p:spPr>
          <a:xfrm>
            <a:off x="870120" y="929520"/>
            <a:ext cx="10684800" cy="2499120"/>
          </a:xfrm>
          <a:prstGeom prst="rect">
            <a:avLst/>
          </a:prstGeom>
          <a:noFill/>
          <a:ln w="0">
            <a:noFill/>
          </a:ln>
        </p:spPr>
      </p:pic>
      <p:pic>
        <p:nvPicPr>
          <p:cNvPr id="80" name="Рисунок 6"/>
          <p:cNvPicPr/>
          <p:nvPr/>
        </p:nvPicPr>
        <p:blipFill>
          <a:blip r:embed="rId2"/>
          <a:stretch/>
        </p:blipFill>
        <p:spPr>
          <a:xfrm>
            <a:off x="301680" y="3586680"/>
            <a:ext cx="11700720" cy="17035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p:nvPr>
        </p:nvSpPr>
        <p:spPr>
          <a:xfrm>
            <a:off x="683640" y="479520"/>
            <a:ext cx="10669680" cy="5697360"/>
          </a:xfrm>
          <a:prstGeom prst="rect">
            <a:avLst/>
          </a:prstGeom>
          <a:noFill/>
          <a:ln w="0">
            <a:noFill/>
          </a:ln>
        </p:spPr>
        <p:txBody>
          <a:bodyPr lIns="91440" rIns="91440" tIns="45720" bIns="45720" anchor="t">
            <a:normAutofit/>
          </a:bodyPr>
          <a:p>
            <a:pPr indent="0" algn="just" defTabSz="914400">
              <a:lnSpc>
                <a:spcPct val="150000"/>
              </a:lnSpc>
              <a:buNone/>
              <a:tabLst>
                <a:tab algn="l" pos="0"/>
              </a:tabLst>
            </a:pPr>
            <a:r>
              <a:rPr lang="ru-RU" sz="2400" b="0" u="none" strike="noStrike">
                <a:solidFill>
                  <a:schemeClr val="dk1"/>
                </a:solidFill>
                <a:effectLst/>
                <a:uFillTx/>
                <a:latin typeface="Times New Roman"/>
              </a:rPr>
              <a:t>Очевидно, що домогтися повної погодженості матриці парних порівнянь при експертних оцінках об’єктів неможливо. Природно після експертних оцінок по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методу парних порівнянь порушити питання про ступінь погодженості отриманих оцінок. Як міру погодженості розглядають два показники: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 індекс погодженості (ІП);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 відношення погодженості (ВП).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З теорії матриць відомо, що погодженість зворотно симетричної матриці (яка виходить як результат застосування експертом методу парних порівнянь по шкалі Сааті) еквівалентна вимозі рівності її максимального власного значення </a:t>
            </a:r>
            <a:r>
              <a:rPr lang="el-GR" sz="2400" b="0" u="none" strike="noStrike">
                <a:solidFill>
                  <a:schemeClr val="dk1"/>
                </a:solidFill>
                <a:effectLst/>
                <a:uFillTx/>
                <a:latin typeface="Times New Roman"/>
              </a:rPr>
              <a:t>λ</a:t>
            </a:r>
            <a:r>
              <a:rPr lang="pl-PL" sz="2400" b="0" u="none" strike="noStrike">
                <a:solidFill>
                  <a:schemeClr val="dk1"/>
                </a:solidFill>
                <a:effectLst/>
                <a:uFillTx/>
                <a:latin typeface="Times New Roman"/>
              </a:rPr>
              <a:t>max </a:t>
            </a:r>
            <a:r>
              <a:rPr lang="uk-UA" sz="2400" b="0" u="none" strike="noStrike">
                <a:solidFill>
                  <a:schemeClr val="dk1"/>
                </a:solidFill>
                <a:effectLst/>
                <a:uFillTx/>
                <a:latin typeface="Times New Roman"/>
              </a:rPr>
              <a:t>і числа порівнюваних об’єктів </a:t>
            </a:r>
            <a:r>
              <a:rPr lang="pl-PL" sz="2400" b="0" u="none" strike="noStrike">
                <a:solidFill>
                  <a:schemeClr val="dk1"/>
                </a:solidFill>
                <a:effectLst/>
                <a:uFillTx/>
                <a:latin typeface="Times New Roman"/>
              </a:rPr>
              <a:t>n (</a:t>
            </a:r>
            <a:r>
              <a:rPr lang="el-GR" sz="2400" b="0" u="none" strike="noStrike">
                <a:solidFill>
                  <a:schemeClr val="dk1"/>
                </a:solidFill>
                <a:effectLst/>
                <a:uFillTx/>
                <a:latin typeface="Times New Roman"/>
              </a:rPr>
              <a:t>λ</a:t>
            </a:r>
            <a:r>
              <a:rPr lang="pl-PL" sz="2400" b="0" u="none" strike="noStrike">
                <a:solidFill>
                  <a:schemeClr val="dk1"/>
                </a:solidFill>
                <a:effectLst/>
                <a:uFillTx/>
                <a:latin typeface="Times New Roman"/>
              </a:rPr>
              <a:t>max= n).</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Місце для вмісту 4"/>
          <p:cNvPicPr/>
          <p:nvPr/>
        </p:nvPicPr>
        <p:blipFill>
          <a:blip r:embed="rId1"/>
          <a:stretch/>
        </p:blipFill>
        <p:spPr>
          <a:xfrm>
            <a:off x="703080" y="825480"/>
            <a:ext cx="10515960" cy="1932840"/>
          </a:xfrm>
          <a:prstGeom prst="rect">
            <a:avLst/>
          </a:prstGeom>
          <a:noFill/>
          <a:ln w="0">
            <a:noFill/>
          </a:ln>
        </p:spPr>
      </p:pic>
      <p:pic>
        <p:nvPicPr>
          <p:cNvPr id="83" name="Рисунок 6"/>
          <p:cNvPicPr/>
          <p:nvPr/>
        </p:nvPicPr>
        <p:blipFill>
          <a:blip r:embed="rId2"/>
          <a:stretch/>
        </p:blipFill>
        <p:spPr>
          <a:xfrm>
            <a:off x="1447200" y="2500920"/>
            <a:ext cx="9072000" cy="390132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Місце для вмісту 4"/>
          <p:cNvPicPr/>
          <p:nvPr/>
        </p:nvPicPr>
        <p:blipFill>
          <a:blip r:embed="rId1"/>
          <a:stretch/>
        </p:blipFill>
        <p:spPr>
          <a:xfrm>
            <a:off x="2351160" y="399600"/>
            <a:ext cx="7489440" cy="743400"/>
          </a:xfrm>
          <a:prstGeom prst="rect">
            <a:avLst/>
          </a:prstGeom>
          <a:noFill/>
          <a:ln w="0">
            <a:noFill/>
          </a:ln>
        </p:spPr>
      </p:pic>
      <p:pic>
        <p:nvPicPr>
          <p:cNvPr id="85" name="Рисунок 6"/>
          <p:cNvPicPr/>
          <p:nvPr/>
        </p:nvPicPr>
        <p:blipFill>
          <a:blip r:embed="rId2"/>
          <a:stretch/>
        </p:blipFill>
        <p:spPr>
          <a:xfrm>
            <a:off x="657720" y="1712160"/>
            <a:ext cx="10875960" cy="20088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Місце для вмісту 4"/>
          <p:cNvPicPr/>
          <p:nvPr/>
        </p:nvPicPr>
        <p:blipFill>
          <a:blip r:embed="rId1"/>
          <a:stretch/>
        </p:blipFill>
        <p:spPr>
          <a:xfrm>
            <a:off x="1145160" y="510840"/>
            <a:ext cx="9170280" cy="60120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7" name="Місце для вмісту 4"/>
          <p:cNvPicPr/>
          <p:nvPr/>
        </p:nvPicPr>
        <p:blipFill>
          <a:blip r:embed="rId1"/>
          <a:stretch/>
        </p:blipFill>
        <p:spPr>
          <a:xfrm>
            <a:off x="1186200" y="197280"/>
            <a:ext cx="9286560" cy="2476080"/>
          </a:xfrm>
          <a:prstGeom prst="rect">
            <a:avLst/>
          </a:prstGeom>
          <a:noFill/>
          <a:ln w="0">
            <a:noFill/>
          </a:ln>
        </p:spPr>
      </p:pic>
      <p:pic>
        <p:nvPicPr>
          <p:cNvPr id="88" name="Рисунок 8"/>
          <p:cNvPicPr/>
          <p:nvPr/>
        </p:nvPicPr>
        <p:blipFill>
          <a:blip r:embed="rId2"/>
          <a:stretch/>
        </p:blipFill>
        <p:spPr>
          <a:xfrm>
            <a:off x="4847040" y="2540160"/>
            <a:ext cx="3971520" cy="428400"/>
          </a:xfrm>
          <a:prstGeom prst="rect">
            <a:avLst/>
          </a:prstGeom>
          <a:noFill/>
          <a:ln w="0">
            <a:noFill/>
          </a:ln>
        </p:spPr>
      </p:pic>
      <p:pic>
        <p:nvPicPr>
          <p:cNvPr id="89" name="Рисунок 10"/>
          <p:cNvPicPr/>
          <p:nvPr/>
        </p:nvPicPr>
        <p:blipFill>
          <a:blip r:embed="rId3"/>
          <a:stretch/>
        </p:blipFill>
        <p:spPr>
          <a:xfrm>
            <a:off x="1521360" y="3066120"/>
            <a:ext cx="5829120" cy="32284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Місце для вмісту 4"/>
          <p:cNvPicPr/>
          <p:nvPr/>
        </p:nvPicPr>
        <p:blipFill>
          <a:blip r:embed="rId1"/>
          <a:stretch/>
        </p:blipFill>
        <p:spPr>
          <a:xfrm>
            <a:off x="1095120" y="334080"/>
            <a:ext cx="9219960" cy="2114280"/>
          </a:xfrm>
          <a:prstGeom prst="rect">
            <a:avLst/>
          </a:prstGeom>
          <a:noFill/>
          <a:ln w="0">
            <a:noFill/>
          </a:ln>
        </p:spPr>
      </p:pic>
      <p:pic>
        <p:nvPicPr>
          <p:cNvPr id="91" name="Рисунок 6"/>
          <p:cNvPicPr/>
          <p:nvPr/>
        </p:nvPicPr>
        <p:blipFill>
          <a:blip r:embed="rId2"/>
          <a:stretch/>
        </p:blipFill>
        <p:spPr>
          <a:xfrm>
            <a:off x="4019760" y="2448360"/>
            <a:ext cx="5447880" cy="495000"/>
          </a:xfrm>
          <a:prstGeom prst="rect">
            <a:avLst/>
          </a:prstGeom>
          <a:noFill/>
          <a:ln w="0">
            <a:noFill/>
          </a:ln>
        </p:spPr>
      </p:pic>
      <p:pic>
        <p:nvPicPr>
          <p:cNvPr id="92" name="Рисунок 8"/>
          <p:cNvPicPr/>
          <p:nvPr/>
        </p:nvPicPr>
        <p:blipFill>
          <a:blip r:embed="rId3"/>
          <a:stretch/>
        </p:blipFill>
        <p:spPr>
          <a:xfrm>
            <a:off x="1793520" y="2943720"/>
            <a:ext cx="6048000" cy="320004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Місце для вмісту 4"/>
          <p:cNvPicPr/>
          <p:nvPr/>
        </p:nvPicPr>
        <p:blipFill>
          <a:blip r:embed="rId1"/>
          <a:stretch/>
        </p:blipFill>
        <p:spPr>
          <a:xfrm>
            <a:off x="1008720" y="394200"/>
            <a:ext cx="9286560" cy="2952360"/>
          </a:xfrm>
          <a:prstGeom prst="rect">
            <a:avLst/>
          </a:prstGeom>
          <a:noFill/>
          <a:ln w="0">
            <a:noFill/>
          </a:ln>
        </p:spPr>
      </p:pic>
      <p:pic>
        <p:nvPicPr>
          <p:cNvPr id="94" name="Рисунок 6"/>
          <p:cNvPicPr/>
          <p:nvPr/>
        </p:nvPicPr>
        <p:blipFill>
          <a:blip r:embed="rId2"/>
          <a:stretch/>
        </p:blipFill>
        <p:spPr>
          <a:xfrm>
            <a:off x="4426200" y="3147840"/>
            <a:ext cx="3552480" cy="561600"/>
          </a:xfrm>
          <a:prstGeom prst="rect">
            <a:avLst/>
          </a:prstGeom>
          <a:noFill/>
          <a:ln w="0">
            <a:noFill/>
          </a:ln>
        </p:spPr>
      </p:pic>
      <p:pic>
        <p:nvPicPr>
          <p:cNvPr id="95" name="Рисунок 8"/>
          <p:cNvPicPr/>
          <p:nvPr/>
        </p:nvPicPr>
        <p:blipFill>
          <a:blip r:embed="rId3"/>
          <a:stretch/>
        </p:blipFill>
        <p:spPr>
          <a:xfrm>
            <a:off x="1008720" y="3606120"/>
            <a:ext cx="6057720" cy="314280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 name="Місце для вмісту 4"/>
          <p:cNvPicPr/>
          <p:nvPr/>
        </p:nvPicPr>
        <p:blipFill>
          <a:blip r:embed="rId1"/>
          <a:stretch/>
        </p:blipFill>
        <p:spPr>
          <a:xfrm>
            <a:off x="1089000" y="365040"/>
            <a:ext cx="8730360" cy="2256120"/>
          </a:xfrm>
          <a:prstGeom prst="rect">
            <a:avLst/>
          </a:prstGeom>
          <a:noFill/>
          <a:ln w="0">
            <a:noFill/>
          </a:ln>
        </p:spPr>
      </p:pic>
      <p:pic>
        <p:nvPicPr>
          <p:cNvPr id="97" name="Рисунок 6"/>
          <p:cNvPicPr/>
          <p:nvPr/>
        </p:nvPicPr>
        <p:blipFill>
          <a:blip r:embed="rId2"/>
          <a:stretch/>
        </p:blipFill>
        <p:spPr>
          <a:xfrm>
            <a:off x="2080800" y="2851920"/>
            <a:ext cx="6902640" cy="262512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Місце для вмісту 4"/>
          <p:cNvPicPr/>
          <p:nvPr/>
        </p:nvPicPr>
        <p:blipFill>
          <a:blip r:embed="rId1"/>
          <a:stretch/>
        </p:blipFill>
        <p:spPr>
          <a:xfrm>
            <a:off x="1211040" y="655200"/>
            <a:ext cx="7515000" cy="2323800"/>
          </a:xfrm>
          <a:prstGeom prst="rect">
            <a:avLst/>
          </a:prstGeom>
          <a:noFill/>
          <a:ln w="0">
            <a:noFill/>
          </a:ln>
        </p:spPr>
      </p:pic>
      <p:pic>
        <p:nvPicPr>
          <p:cNvPr id="99" name="Рисунок 6"/>
          <p:cNvPicPr/>
          <p:nvPr/>
        </p:nvPicPr>
        <p:blipFill>
          <a:blip r:embed="rId2"/>
          <a:stretch/>
        </p:blipFill>
        <p:spPr>
          <a:xfrm>
            <a:off x="1211040" y="3249360"/>
            <a:ext cx="7810200" cy="215244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Місце для вмісту 4"/>
          <p:cNvPicPr/>
          <p:nvPr/>
        </p:nvPicPr>
        <p:blipFill>
          <a:blip r:embed="rId1"/>
          <a:stretch/>
        </p:blipFill>
        <p:spPr>
          <a:xfrm>
            <a:off x="873360" y="616320"/>
            <a:ext cx="2215800" cy="2215800"/>
          </a:xfrm>
          <a:prstGeom prst="rect">
            <a:avLst/>
          </a:prstGeom>
          <a:noFill/>
          <a:ln w="0">
            <a:noFill/>
          </a:ln>
        </p:spPr>
      </p:pic>
      <p:pic>
        <p:nvPicPr>
          <p:cNvPr id="101" name="Рисунок 6"/>
          <p:cNvPicPr/>
          <p:nvPr/>
        </p:nvPicPr>
        <p:blipFill>
          <a:blip r:embed="rId2"/>
          <a:stretch/>
        </p:blipFill>
        <p:spPr>
          <a:xfrm>
            <a:off x="3089520" y="772560"/>
            <a:ext cx="7886520" cy="2276280"/>
          </a:xfrm>
          <a:prstGeom prst="rect">
            <a:avLst/>
          </a:prstGeom>
          <a:noFill/>
          <a:ln w="0">
            <a:noFill/>
          </a:ln>
        </p:spPr>
      </p:pic>
      <p:pic>
        <p:nvPicPr>
          <p:cNvPr id="102" name="Рисунок 8"/>
          <p:cNvPicPr/>
          <p:nvPr/>
        </p:nvPicPr>
        <p:blipFill>
          <a:blip r:embed="rId3"/>
          <a:stretch/>
        </p:blipFill>
        <p:spPr>
          <a:xfrm>
            <a:off x="630360" y="3133440"/>
            <a:ext cx="4847760" cy="2423520"/>
          </a:xfrm>
          <a:prstGeom prst="rect">
            <a:avLst/>
          </a:prstGeom>
          <a:noFill/>
          <a:ln w="0">
            <a:noFill/>
          </a:ln>
        </p:spPr>
      </p:pic>
      <p:pic>
        <p:nvPicPr>
          <p:cNvPr id="103" name="Рисунок 10"/>
          <p:cNvPicPr/>
          <p:nvPr/>
        </p:nvPicPr>
        <p:blipFill>
          <a:blip r:embed="rId4"/>
          <a:stretch/>
        </p:blipFill>
        <p:spPr>
          <a:xfrm>
            <a:off x="4741920" y="3110760"/>
            <a:ext cx="7462800" cy="314748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p:nvPr>
        </p:nvSpPr>
        <p:spPr>
          <a:xfrm>
            <a:off x="772200" y="390600"/>
            <a:ext cx="10581120" cy="57859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r>
              <a:rPr lang="uk-UA" sz="2400" b="0" u="none" strike="noStrike">
                <a:solidFill>
                  <a:schemeClr val="dk1"/>
                </a:solidFill>
                <a:effectLst/>
                <a:uFillTx/>
                <a:latin typeface="Times New Roman"/>
              </a:rPr>
              <a:t>Наближені значення </a:t>
            </a:r>
            <a:r>
              <a:rPr lang="el-GR" sz="2400" b="0" u="none" strike="noStrike">
                <a:solidFill>
                  <a:schemeClr val="dk1"/>
                </a:solidFill>
                <a:effectLst/>
                <a:uFillTx/>
                <a:latin typeface="Times New Roman"/>
              </a:rPr>
              <a:t>λ</a:t>
            </a:r>
            <a:r>
              <a:rPr lang="pl-PL" sz="2400" b="0" u="none" strike="noStrike">
                <a:solidFill>
                  <a:schemeClr val="dk1"/>
                </a:solidFill>
                <a:effectLst/>
                <a:uFillTx/>
                <a:latin typeface="Times New Roman"/>
              </a:rPr>
              <a:t>max </a:t>
            </a:r>
            <a:r>
              <a:rPr lang="uk-UA" sz="2400" b="0" u="none" strike="noStrike">
                <a:solidFill>
                  <a:schemeClr val="dk1"/>
                </a:solidFill>
                <a:effectLst/>
                <a:uFillTx/>
                <a:latin typeface="Times New Roman"/>
              </a:rPr>
              <a:t>для оцінки відносини погодженості можна розрахувати за наступною формулою: </a:t>
            </a: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400" b="0" u="none" strike="noStrike">
              <a:solidFill>
                <a:schemeClr val="dk1"/>
              </a:solidFill>
              <a:effectLst/>
              <a:uFillTx/>
              <a:latin typeface="Calibri"/>
            </a:endParaRPr>
          </a:p>
        </p:txBody>
      </p:sp>
      <p:pic>
        <p:nvPicPr>
          <p:cNvPr id="105" name="Рисунок 4"/>
          <p:cNvPicPr/>
          <p:nvPr/>
        </p:nvPicPr>
        <p:blipFill>
          <a:blip r:embed="rId1"/>
          <a:stretch/>
        </p:blipFill>
        <p:spPr>
          <a:xfrm>
            <a:off x="1548360" y="1775520"/>
            <a:ext cx="9094680" cy="282276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p:nvPr>
        </p:nvSpPr>
        <p:spPr>
          <a:xfrm>
            <a:off x="727920" y="568080"/>
            <a:ext cx="10625400" cy="5608440"/>
          </a:xfrm>
          <a:prstGeom prst="rect">
            <a:avLst/>
          </a:prstGeom>
          <a:noFill/>
          <a:ln w="0">
            <a:noFill/>
          </a:ln>
        </p:spPr>
        <p:txBody>
          <a:bodyPr lIns="91440" rIns="91440" tIns="45720" bIns="45720" anchor="t">
            <a:normAutofit/>
          </a:bodyPr>
          <a:p>
            <a:pPr indent="0" algn="just" defTabSz="914400">
              <a:lnSpc>
                <a:spcPct val="150000"/>
              </a:lnSpc>
              <a:buNone/>
              <a:tabLst>
                <a:tab algn="l" pos="0"/>
              </a:tabLst>
            </a:pPr>
            <a:r>
              <a:rPr lang="uk-UA" sz="2400" b="0" u="none" strike="noStrike">
                <a:solidFill>
                  <a:schemeClr val="dk1"/>
                </a:solidFill>
                <a:effectLst/>
                <a:uFillTx/>
                <a:latin typeface="Times New Roman"/>
              </a:rPr>
              <a:t>Після побудови ієрархічної моделі проблеми починаємо перший етап аналізу, що складається в дослідженні ступеня впливу показників властивостей </a:t>
            </a:r>
            <a:r>
              <a:rPr lang="en-US" sz="2400" b="0" u="none" strike="noStrike">
                <a:solidFill>
                  <a:schemeClr val="dk1"/>
                </a:solidFill>
                <a:effectLst/>
                <a:uFillTx/>
                <a:latin typeface="Times New Roman"/>
              </a:rPr>
              <a:t>(</a:t>
            </a:r>
            <a:r>
              <a:rPr lang="ru-RU" sz="2400" b="0" u="none" strike="noStrike">
                <a:solidFill>
                  <a:schemeClr val="dk1"/>
                </a:solidFill>
                <a:effectLst/>
                <a:uFillTx/>
                <a:latin typeface="Times New Roman"/>
              </a:rPr>
              <a:t>характеристик) </a:t>
            </a:r>
            <a:r>
              <a:rPr lang="uk-UA" sz="2400" b="0" u="none" strike="noStrike">
                <a:solidFill>
                  <a:schemeClr val="dk1"/>
                </a:solidFill>
                <a:effectLst/>
                <a:uFillTx/>
                <a:latin typeface="Times New Roman"/>
              </a:rPr>
              <a:t>на загальне рішення. У формальному виді цей етап складається в аналізі впливу факторів першого рівня ієрархії на мету аналізу – нульовий рівень. Заповнюємо матрицю парних порівнянь для факторів 1-го рівня судженнями експерта по шкалі Сааті. На підставі цих даних визначаємо вектор пріоритетів, </a:t>
            </a:r>
            <a:r>
              <a:rPr lang="el-GR" sz="2400" b="0" u="none" strike="noStrike">
                <a:solidFill>
                  <a:schemeClr val="dk1"/>
                </a:solidFill>
                <a:effectLst/>
                <a:uFillTx/>
                <a:latin typeface="Times New Roman"/>
              </a:rPr>
              <a:t>λ</a:t>
            </a:r>
            <a:r>
              <a:rPr lang="pl-PL" sz="2400" b="0" u="none" strike="noStrike">
                <a:solidFill>
                  <a:schemeClr val="dk1"/>
                </a:solidFill>
                <a:effectLst/>
                <a:uFillTx/>
                <a:latin typeface="Times New Roman"/>
              </a:rPr>
              <a:t>max, </a:t>
            </a:r>
            <a:r>
              <a:rPr lang="uk-UA" sz="2400" b="0" u="none" strike="noStrike">
                <a:solidFill>
                  <a:schemeClr val="dk1"/>
                </a:solidFill>
                <a:effectLst/>
                <a:uFillTx/>
                <a:latin typeface="Times New Roman"/>
              </a:rPr>
              <a:t>ІП, ВП.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p:nvPr>
        </p:nvSpPr>
        <p:spPr>
          <a:xfrm>
            <a:off x="896760" y="479520"/>
            <a:ext cx="10456920" cy="5697360"/>
          </a:xfrm>
          <a:prstGeom prst="rect">
            <a:avLst/>
          </a:prstGeom>
          <a:noFill/>
          <a:ln w="0">
            <a:noFill/>
          </a:ln>
        </p:spPr>
        <p:txBody>
          <a:bodyPr lIns="91440" rIns="91440" tIns="45720" bIns="45720" anchor="t">
            <a:normAutofit/>
          </a:bodyPr>
          <a:p>
            <a:pPr indent="0" algn="just" defTabSz="914400">
              <a:lnSpc>
                <a:spcPct val="150000"/>
              </a:lnSpc>
              <a:buNone/>
              <a:tabLst>
                <a:tab algn="l" pos="0"/>
              </a:tabLst>
            </a:pPr>
            <a:r>
              <a:rPr lang="ru-RU" sz="2400" b="0" u="none" strike="noStrike">
                <a:solidFill>
                  <a:schemeClr val="dk1"/>
                </a:solidFill>
                <a:effectLst/>
                <a:uFillTx/>
                <a:latin typeface="Times New Roman"/>
              </a:rPr>
              <a:t>На другому етапі переходимо до розгляду впливу факторів іншого  рівня на фактори попереднього  рівня, тобто до аналізу «ваги» (переваги) кожного з розглянутих факторів стосовно кожного фактора першого рівня. Для цього необхідно сформувати й обробити стільки експертних матриць парного порівняння скільки є факторів верхнього  рівня.</a:t>
            </a:r>
            <a:r>
              <a:rPr lang="uk-UA" sz="2400" b="0" u="none" strike="noStrike">
                <a:solidFill>
                  <a:schemeClr val="dk1"/>
                </a:solidFill>
                <a:effectLst/>
                <a:uFillTx/>
                <a:latin typeface="Times New Roman"/>
              </a:rPr>
              <a:t> І так поки не дойдемо до рівня альтернатив.</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Заповнюємо матрицю парних порівнянь для факторів інших рівнів судженнями експерта по шкалі Сааті. На підставі цих даних також визначаємо вектор пріоритетів, </a:t>
            </a:r>
            <a:r>
              <a:rPr lang="el-GR" sz="2400" b="0" u="none" strike="noStrike">
                <a:solidFill>
                  <a:schemeClr val="dk1"/>
                </a:solidFill>
                <a:effectLst/>
                <a:uFillTx/>
                <a:latin typeface="Times New Roman"/>
              </a:rPr>
              <a:t>λ</a:t>
            </a:r>
            <a:r>
              <a:rPr lang="pl-PL" sz="2400" b="0" u="none" strike="noStrike">
                <a:solidFill>
                  <a:schemeClr val="dk1"/>
                </a:solidFill>
                <a:effectLst/>
                <a:uFillTx/>
                <a:latin typeface="Times New Roman"/>
              </a:rPr>
              <a:t>max, </a:t>
            </a:r>
            <a:r>
              <a:rPr lang="uk-UA" sz="2400" b="0" u="none" strike="noStrike">
                <a:solidFill>
                  <a:schemeClr val="dk1"/>
                </a:solidFill>
                <a:effectLst/>
                <a:uFillTx/>
                <a:latin typeface="Times New Roman"/>
              </a:rPr>
              <a:t>ІП, ВП.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p:nvPr>
        </p:nvSpPr>
        <p:spPr>
          <a:xfrm>
            <a:off x="648000" y="506160"/>
            <a:ext cx="10705320" cy="5670720"/>
          </a:xfrm>
          <a:prstGeom prst="rect">
            <a:avLst/>
          </a:prstGeom>
          <a:noFill/>
          <a:ln w="0">
            <a:noFill/>
          </a:ln>
        </p:spPr>
        <p:txBody>
          <a:bodyPr lIns="91440" rIns="91440" tIns="45720" bIns="45720" anchor="t">
            <a:normAutofit/>
          </a:bodyPr>
          <a:p>
            <a:pPr indent="0" algn="just" defTabSz="914400">
              <a:lnSpc>
                <a:spcPct val="150000"/>
              </a:lnSpc>
              <a:buNone/>
              <a:tabLst>
                <a:tab algn="l" pos="0"/>
              </a:tabLst>
            </a:pPr>
            <a:r>
              <a:rPr lang="uk-UA" sz="2400" b="0" u="none" strike="noStrike">
                <a:solidFill>
                  <a:schemeClr val="dk1"/>
                </a:solidFill>
                <a:effectLst/>
                <a:uFillTx/>
                <a:latin typeface="Times New Roman"/>
              </a:rPr>
              <a:t>На третьому етапі здійснюється синтез локальних пріоритетів або оцінка узагальнених (глобальних) пріоритетів. Для цього матрицю локальних пріоритетів нижнього рівня множать на вектор локальних пріоритетів верхнього рівня першого рівня і далі. У результаті одержуємо узагальнений (глобальний) вектор пріоритетів стосовно кінцевої мети –вибір оптимального рішення.</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9" name="Місце для вмісту 4"/>
          <p:cNvPicPr/>
          <p:nvPr/>
        </p:nvPicPr>
        <p:blipFill>
          <a:blip r:embed="rId1"/>
          <a:stretch/>
        </p:blipFill>
        <p:spPr>
          <a:xfrm>
            <a:off x="991800" y="294120"/>
            <a:ext cx="9391320" cy="1199880"/>
          </a:xfrm>
          <a:prstGeom prst="rect">
            <a:avLst/>
          </a:prstGeom>
          <a:noFill/>
          <a:ln w="0">
            <a:noFill/>
          </a:ln>
        </p:spPr>
      </p:pic>
      <p:pic>
        <p:nvPicPr>
          <p:cNvPr id="110" name="Рисунок 6"/>
          <p:cNvPicPr/>
          <p:nvPr/>
        </p:nvPicPr>
        <p:blipFill>
          <a:blip r:embed="rId2"/>
          <a:stretch/>
        </p:blipFill>
        <p:spPr>
          <a:xfrm>
            <a:off x="1808640" y="1176480"/>
            <a:ext cx="6533640" cy="2723760"/>
          </a:xfrm>
          <a:prstGeom prst="rect">
            <a:avLst/>
          </a:prstGeom>
          <a:noFill/>
          <a:ln w="0">
            <a:noFill/>
          </a:ln>
        </p:spPr>
      </p:pic>
      <p:pic>
        <p:nvPicPr>
          <p:cNvPr id="111" name="Рисунок 8"/>
          <p:cNvPicPr/>
          <p:nvPr/>
        </p:nvPicPr>
        <p:blipFill>
          <a:blip r:embed="rId3"/>
          <a:stretch/>
        </p:blipFill>
        <p:spPr>
          <a:xfrm>
            <a:off x="1514880" y="3900600"/>
            <a:ext cx="8172000" cy="2781000"/>
          </a:xfrm>
          <a:prstGeom prst="rect">
            <a:avLst/>
          </a:prstGeom>
          <a:noFill/>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 name="Місце для вмісту 4"/>
          <p:cNvPicPr/>
          <p:nvPr/>
        </p:nvPicPr>
        <p:blipFill>
          <a:blip r:embed="rId1"/>
          <a:stretch/>
        </p:blipFill>
        <p:spPr>
          <a:xfrm>
            <a:off x="1078560" y="532800"/>
            <a:ext cx="10035000" cy="485388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3" name="Місце для вмісту 4"/>
          <p:cNvPicPr/>
          <p:nvPr/>
        </p:nvPicPr>
        <p:blipFill>
          <a:blip r:embed="rId1"/>
          <a:stretch/>
        </p:blipFill>
        <p:spPr>
          <a:xfrm>
            <a:off x="1804320" y="346320"/>
            <a:ext cx="9032760" cy="371520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4" name="Місце для вмісту 4"/>
          <p:cNvPicPr/>
          <p:nvPr/>
        </p:nvPicPr>
        <p:blipFill>
          <a:blip r:embed="rId1"/>
          <a:stretch/>
        </p:blipFill>
        <p:spPr>
          <a:xfrm>
            <a:off x="1071360" y="639360"/>
            <a:ext cx="10049040" cy="4698360"/>
          </a:xfrm>
          <a:prstGeom prst="rect">
            <a:avLst/>
          </a:prstGeom>
          <a:noFill/>
          <a:ln w="0">
            <a:noFill/>
          </a:ln>
        </p:spPr>
      </p:pic>
      <p:pic>
        <p:nvPicPr>
          <p:cNvPr id="115" name="Рисунок 6"/>
          <p:cNvPicPr/>
          <p:nvPr/>
        </p:nvPicPr>
        <p:blipFill>
          <a:blip r:embed="rId2"/>
          <a:stretch/>
        </p:blipFill>
        <p:spPr>
          <a:xfrm>
            <a:off x="1908000" y="5569560"/>
            <a:ext cx="8553240" cy="49500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6" name="Місце для вмісту 4"/>
          <p:cNvPicPr/>
          <p:nvPr/>
        </p:nvPicPr>
        <p:blipFill>
          <a:blip r:embed="rId1"/>
          <a:stretch/>
        </p:blipFill>
        <p:spPr>
          <a:xfrm>
            <a:off x="1895040" y="425160"/>
            <a:ext cx="7762680" cy="475920"/>
          </a:xfrm>
          <a:prstGeom prst="rect">
            <a:avLst/>
          </a:prstGeom>
          <a:noFill/>
          <a:ln w="0">
            <a:noFill/>
          </a:ln>
        </p:spPr>
      </p:pic>
      <p:pic>
        <p:nvPicPr>
          <p:cNvPr id="117" name="Рисунок 6"/>
          <p:cNvPicPr/>
          <p:nvPr/>
        </p:nvPicPr>
        <p:blipFill>
          <a:blip r:embed="rId2"/>
          <a:stretch/>
        </p:blipFill>
        <p:spPr>
          <a:xfrm>
            <a:off x="1386000" y="901440"/>
            <a:ext cx="9419760" cy="493344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8" name="Місце для вмісту 4"/>
          <p:cNvPicPr/>
          <p:nvPr/>
        </p:nvPicPr>
        <p:blipFill>
          <a:blip r:embed="rId1"/>
          <a:stretch/>
        </p:blipFill>
        <p:spPr>
          <a:xfrm>
            <a:off x="993600" y="328320"/>
            <a:ext cx="9686880" cy="511128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9" name="Місце для вмісту 4"/>
          <p:cNvPicPr/>
          <p:nvPr/>
        </p:nvPicPr>
        <p:blipFill>
          <a:blip r:embed="rId1"/>
          <a:stretch/>
        </p:blipFill>
        <p:spPr>
          <a:xfrm>
            <a:off x="755280" y="559440"/>
            <a:ext cx="10369080" cy="5200200"/>
          </a:xfrm>
          <a:prstGeom prst="rect">
            <a:avLst/>
          </a:prstGeom>
          <a:noFill/>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Місце для вмісту 4"/>
          <p:cNvPicPr/>
          <p:nvPr/>
        </p:nvPicPr>
        <p:blipFill>
          <a:blip r:embed="rId1"/>
          <a:stretch/>
        </p:blipFill>
        <p:spPr>
          <a:xfrm>
            <a:off x="695160" y="532800"/>
            <a:ext cx="10318320" cy="4853880"/>
          </a:xfrm>
          <a:prstGeom prst="rect">
            <a:avLst/>
          </a:prstGeom>
          <a:noFill/>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1" name="Місце для вмісту 4"/>
          <p:cNvPicPr/>
          <p:nvPr/>
        </p:nvPicPr>
        <p:blipFill>
          <a:blip r:embed="rId1"/>
          <a:stretch/>
        </p:blipFill>
        <p:spPr>
          <a:xfrm>
            <a:off x="1089720" y="532800"/>
            <a:ext cx="9813240" cy="5120280"/>
          </a:xfrm>
          <a:prstGeom prst="rect">
            <a:avLst/>
          </a:prstGeom>
          <a:noFill/>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2" name="Місце для вмісту 4"/>
          <p:cNvPicPr/>
          <p:nvPr/>
        </p:nvPicPr>
        <p:blipFill>
          <a:blip r:embed="rId1"/>
          <a:stretch/>
        </p:blipFill>
        <p:spPr>
          <a:xfrm>
            <a:off x="2123640" y="681120"/>
            <a:ext cx="7429320" cy="390240"/>
          </a:xfrm>
          <a:prstGeom prst="rect">
            <a:avLst/>
          </a:prstGeom>
          <a:noFill/>
          <a:ln w="0">
            <a:noFill/>
          </a:ln>
        </p:spPr>
      </p:pic>
      <p:pic>
        <p:nvPicPr>
          <p:cNvPr id="123" name="Рисунок 6"/>
          <p:cNvPicPr/>
          <p:nvPr/>
        </p:nvPicPr>
        <p:blipFill>
          <a:blip r:embed="rId2"/>
          <a:stretch/>
        </p:blipFill>
        <p:spPr>
          <a:xfrm>
            <a:off x="1518840" y="1568520"/>
            <a:ext cx="8905680" cy="2104560"/>
          </a:xfrm>
          <a:prstGeom prst="rect">
            <a:avLst/>
          </a:prstGeom>
          <a:noFill/>
          <a:ln w="0">
            <a:noFill/>
          </a:ln>
        </p:spPr>
      </p:pic>
      <p:pic>
        <p:nvPicPr>
          <p:cNvPr id="124" name="Рисунок 8"/>
          <p:cNvPicPr/>
          <p:nvPr/>
        </p:nvPicPr>
        <p:blipFill>
          <a:blip r:embed="rId3"/>
          <a:stretch/>
        </p:blipFill>
        <p:spPr>
          <a:xfrm>
            <a:off x="1666440" y="4461480"/>
            <a:ext cx="9391320" cy="704520"/>
          </a:xfrm>
          <a:prstGeom prst="rect">
            <a:avLst/>
          </a:prstGeom>
          <a:noFill/>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p:nvPr>
        </p:nvSpPr>
        <p:spPr>
          <a:xfrm>
            <a:off x="718920" y="301680"/>
            <a:ext cx="10634400" cy="587484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pl-PL" sz="2400" b="0" u="none" strike="noStrike">
                <a:solidFill>
                  <a:schemeClr val="dk1"/>
                </a:solidFill>
                <a:effectLst/>
                <a:uFillTx/>
                <a:latin typeface="Times New Roman"/>
                <a:ea typeface="Times New Roman"/>
              </a:rPr>
              <a:t>Метод Сааті дозволяє менеджерам програмної інженерії ухвалювати </a:t>
            </a:r>
            <a:r>
              <a:rPr lang="pl-PL" sz="2400" b="1" u="none" strike="noStrike">
                <a:solidFill>
                  <a:schemeClr val="dk1"/>
                </a:solidFill>
                <a:effectLst/>
                <a:uFillTx/>
                <a:latin typeface="Times New Roman"/>
                <a:ea typeface="Times New Roman"/>
              </a:rPr>
              <a:t>обґрунтовані та ефективні рішення</a:t>
            </a:r>
            <a:r>
              <a:rPr lang="pl-PL" sz="2400" b="0" u="none" strike="noStrike">
                <a:solidFill>
                  <a:schemeClr val="dk1"/>
                </a:solidFill>
                <a:effectLst/>
                <a:uFillTx/>
                <a:latin typeface="Times New Roman"/>
                <a:ea typeface="Times New Roman"/>
              </a:rPr>
              <a:t> шляхом структурованого аналізу складних факторів та альтернатив.</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ru-RU" sz="2400" b="0" u="none" strike="noStrike">
                <a:solidFill>
                  <a:schemeClr val="dk1"/>
                </a:solidFill>
                <a:effectLst/>
                <a:uFillTx/>
                <a:latin typeface="Times New Roman"/>
                <a:ea typeface="Times New Roman"/>
              </a:rPr>
              <a:t>Метод аналізу ієрархій (МАІ) використовується в </a:t>
            </a:r>
            <a:r>
              <a:rPr lang="ru-RU" sz="2400" b="1" u="none" strike="noStrike">
                <a:solidFill>
                  <a:schemeClr val="dk1"/>
                </a:solidFill>
                <a:effectLst/>
                <a:uFillTx/>
                <a:latin typeface="Times New Roman"/>
                <a:ea typeface="Times New Roman"/>
              </a:rPr>
              <a:t>управлінні проєктами, виборі технологій, оцінці ризиків</a:t>
            </a:r>
            <a:r>
              <a:rPr lang="ru-RU" sz="2400" b="0" u="none" strike="noStrike">
                <a:solidFill>
                  <a:schemeClr val="dk1"/>
                </a:solidFill>
                <a:effectLst/>
                <a:uFillTx/>
                <a:latin typeface="Times New Roman"/>
                <a:ea typeface="Times New Roman"/>
              </a:rPr>
              <a:t> та інших завданнях програмної інженерії.</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endParaRPr lang="pl-PL" sz="2400" b="0" u="none" strike="noStrike">
              <a:solidFill>
                <a:schemeClr val="dk1"/>
              </a:solidFill>
              <a:effectLst/>
              <a:uFillTx/>
              <a:latin typeface="Calibri"/>
            </a:endParaRPr>
          </a:p>
          <a:p>
            <a:pPr indent="0" algn="just" defTabSz="914400">
              <a:lnSpc>
                <a:spcPct val="150000"/>
              </a:lnSpc>
              <a:spcBef>
                <a:spcPts val="1001"/>
              </a:spcBef>
              <a:spcAft>
                <a:spcPts val="799"/>
              </a:spcAft>
              <a:buNone/>
              <a:tabLst>
                <a:tab algn="l" pos="0"/>
              </a:tabLst>
            </a:pPr>
            <a:r>
              <a:rPr lang="ru-RU" sz="2400" b="0" u="none" strike="noStrike">
                <a:solidFill>
                  <a:schemeClr val="dk1"/>
                </a:solidFill>
                <a:effectLst/>
                <a:uFillTx/>
                <a:latin typeface="Times New Roman"/>
                <a:ea typeface="Calibri"/>
              </a:rPr>
              <a:t>Наприклад, вибір </a:t>
            </a:r>
            <a:r>
              <a:rPr lang="ru-RU" sz="2400" b="0" u="none" strike="noStrike">
                <a:solidFill>
                  <a:schemeClr val="dk1"/>
                </a:solidFill>
                <a:effectLst/>
                <a:uFillTx/>
                <a:latin typeface="Times New Roman"/>
                <a:ea typeface="Times New Roman"/>
              </a:rPr>
              <a:t>найкращої хмарної платформи для розгортання свого продукту, враховуючи :  </a:t>
            </a:r>
            <a:r>
              <a:rPr lang="pl-PL" sz="1800" b="1" u="none" strike="noStrike">
                <a:solidFill>
                  <a:schemeClr val="dk1"/>
                </a:solidFill>
                <a:effectLst/>
                <a:uFillTx/>
                <a:latin typeface="Times New Roman"/>
                <a:ea typeface="Times New Roman"/>
              </a:rPr>
              <a:t> </a:t>
            </a:r>
            <a:r>
              <a:rPr lang="uk-UA" sz="2400" b="0" u="none" strike="noStrike">
                <a:solidFill>
                  <a:schemeClr val="dk1"/>
                </a:solidFill>
                <a:effectLst/>
                <a:uFillTx/>
                <a:latin typeface="Times New Roman"/>
                <a:ea typeface="Times New Roman"/>
              </a:rPr>
              <a:t>п</a:t>
            </a:r>
            <a:r>
              <a:rPr lang="pl-PL" sz="2400" b="0" u="none" strike="noStrike">
                <a:solidFill>
                  <a:schemeClr val="dk1"/>
                </a:solidFill>
                <a:effectLst/>
                <a:uFillTx/>
                <a:latin typeface="Times New Roman"/>
                <a:ea typeface="Times New Roman"/>
              </a:rPr>
              <a:t>родуктивність</a:t>
            </a:r>
            <a:r>
              <a:rPr lang="uk-UA" sz="2400" b="0" u="none" strike="noStrike">
                <a:solidFill>
                  <a:schemeClr val="dk1"/>
                </a:solidFill>
                <a:effectLst/>
                <a:uFillTx/>
                <a:latin typeface="Times New Roman"/>
                <a:ea typeface="Times New Roman"/>
              </a:rPr>
              <a:t>, в</a:t>
            </a:r>
            <a:r>
              <a:rPr lang="pl-PL" sz="2400" b="0" u="none" strike="noStrike">
                <a:solidFill>
                  <a:schemeClr val="dk1"/>
                </a:solidFill>
                <a:effectLst/>
                <a:uFillTx/>
                <a:latin typeface="Times New Roman"/>
                <a:ea typeface="Times New Roman"/>
              </a:rPr>
              <a:t>артість</a:t>
            </a:r>
            <a:r>
              <a:rPr lang="uk-UA" sz="2400" b="0" u="none" strike="noStrike">
                <a:solidFill>
                  <a:schemeClr val="dk1"/>
                </a:solidFill>
                <a:effectLst/>
                <a:uFillTx/>
                <a:latin typeface="Times New Roman"/>
                <a:ea typeface="Times New Roman"/>
              </a:rPr>
              <a:t>, б</a:t>
            </a:r>
            <a:r>
              <a:rPr lang="pl-PL" sz="2400" b="0" u="none" strike="noStrike">
                <a:solidFill>
                  <a:schemeClr val="dk1"/>
                </a:solidFill>
                <a:effectLst/>
                <a:uFillTx/>
                <a:latin typeface="Times New Roman"/>
                <a:ea typeface="Times New Roman"/>
              </a:rPr>
              <a:t>езпек</a:t>
            </a:r>
            <a:r>
              <a:rPr lang="uk-UA" sz="2400" b="0" u="none" strike="noStrike">
                <a:solidFill>
                  <a:schemeClr val="dk1"/>
                </a:solidFill>
                <a:effectLst/>
                <a:uFillTx/>
                <a:latin typeface="Times New Roman"/>
                <a:ea typeface="Times New Roman"/>
              </a:rPr>
              <a:t>у, г</a:t>
            </a:r>
            <a:r>
              <a:rPr lang="pl-PL" sz="2400" b="0" u="none" strike="noStrike">
                <a:solidFill>
                  <a:schemeClr val="dk1"/>
                </a:solidFill>
                <a:effectLst/>
                <a:uFillTx/>
                <a:latin typeface="Times New Roman"/>
                <a:ea typeface="Times New Roman"/>
              </a:rPr>
              <a:t>нучкість і масштабованість</a:t>
            </a:r>
            <a:r>
              <a:rPr lang="uk-UA" sz="2400" b="0" u="none" strike="noStrike">
                <a:solidFill>
                  <a:schemeClr val="dk1"/>
                </a:solidFill>
                <a:effectLst/>
                <a:uFillTx/>
                <a:latin typeface="Times New Roman"/>
                <a:ea typeface="Times New Roman"/>
              </a:rPr>
              <a:t>, а також п</a:t>
            </a:r>
            <a:r>
              <a:rPr lang="pl-PL" sz="2400" b="0" u="none" strike="noStrike">
                <a:solidFill>
                  <a:schemeClr val="dk1"/>
                </a:solidFill>
                <a:effectLst/>
                <a:uFillTx/>
                <a:latin typeface="Times New Roman"/>
                <a:ea typeface="Times New Roman"/>
              </a:rPr>
              <a:t>ідтримк</a:t>
            </a:r>
            <a:r>
              <a:rPr lang="uk-UA" sz="2400" b="0" u="none" strike="noStrike">
                <a:solidFill>
                  <a:schemeClr val="dk1"/>
                </a:solidFill>
                <a:effectLst/>
                <a:uFillTx/>
                <a:latin typeface="Times New Roman"/>
                <a:ea typeface="Times New Roman"/>
              </a:rPr>
              <a:t>у</a:t>
            </a:r>
            <a:r>
              <a:rPr lang="pl-PL" sz="2400" b="0" u="none" strike="noStrike">
                <a:solidFill>
                  <a:schemeClr val="dk1"/>
                </a:solidFill>
                <a:effectLst/>
                <a:uFillTx/>
                <a:latin typeface="Times New Roman"/>
                <a:ea typeface="Times New Roman"/>
              </a:rPr>
              <a:t> та екосистем</a:t>
            </a:r>
            <a:r>
              <a:rPr lang="uk-UA" sz="2400" b="0" u="none" strike="noStrike">
                <a:solidFill>
                  <a:schemeClr val="dk1"/>
                </a:solidFill>
                <a:effectLst/>
                <a:uFillTx/>
                <a:latin typeface="Times New Roman"/>
                <a:ea typeface="Times New Roman"/>
              </a:rPr>
              <a:t>у.</a:t>
            </a:r>
            <a:endParaRPr lang="pl-PL" sz="2400" b="0" u="none" strike="noStrike">
              <a:solidFill>
                <a:schemeClr val="dk1"/>
              </a:solidFill>
              <a:effectLst/>
              <a:uFillTx/>
              <a:latin typeface="Calibri"/>
            </a:endParaRPr>
          </a:p>
          <a:p>
            <a:pPr indent="0" defTabSz="914400">
              <a:lnSpc>
                <a:spcPct val="150000"/>
              </a:lnSpc>
              <a:spcBef>
                <a:spcPts val="1001"/>
              </a:spcBef>
              <a:buNone/>
              <a:tabLst>
                <a:tab algn="l" pos="0"/>
              </a:tabLst>
            </a:pPr>
            <a:endParaRPr lang="pl-PL"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p:nvPr>
        </p:nvSpPr>
        <p:spPr>
          <a:xfrm>
            <a:off x="514080" y="0"/>
            <a:ext cx="10839240" cy="61765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lang="ru-RU" sz="2400" b="0" u="none" strike="noStrike">
                <a:solidFill>
                  <a:schemeClr val="dk1"/>
                </a:solidFill>
                <a:effectLst/>
                <a:uFillTx/>
                <a:latin typeface="Times New Roman"/>
                <a:ea typeface="Times New Roman"/>
              </a:rPr>
              <a:t>Вибір програмної мови для нового продукту, за такими критеріями, як</a:t>
            </a:r>
            <a:endParaRPr lang="pl-PL" sz="2400" b="0" u="none" strike="noStrike">
              <a:solidFill>
                <a:schemeClr val="dk1"/>
              </a:solidFill>
              <a:effectLst/>
              <a:uFillTx/>
              <a:latin typeface="Calibri"/>
            </a:endParaRPr>
          </a:p>
        </p:txBody>
      </p:sp>
      <p:sp>
        <p:nvSpPr>
          <p:cNvPr id="127" name="TextBox 4"/>
          <p:cNvSpPr/>
          <p:nvPr/>
        </p:nvSpPr>
        <p:spPr>
          <a:xfrm>
            <a:off x="1003320" y="423720"/>
            <a:ext cx="10839240" cy="837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en-US" sz="1800" b="0" u="none" strike="noStrike">
              <a:solidFill>
                <a:srgbClr val="000000"/>
              </a:solidFill>
              <a:effectLst/>
              <a:uFillTx/>
              <a:latin typeface="Arial"/>
            </a:endParaRPr>
          </a:p>
          <a:p>
            <a:pPr marL="743040" lvl="1" indent="-285840" defTabSz="914400">
              <a:lnSpc>
                <a:spcPct val="107000"/>
              </a:lnSpc>
              <a:spcAft>
                <a:spcPts val="799"/>
              </a:spcAft>
              <a:buClr>
                <a:srgbClr val="000000"/>
              </a:buClr>
              <a:buFont typeface="Courier New"/>
              <a:buChar char="o"/>
              <a:tabLst>
                <a:tab algn="l" pos="914400"/>
              </a:tabLst>
            </a:pPr>
            <a:r>
              <a:rPr lang="pl-PL" sz="2400" b="0" u="none" strike="noStrike">
                <a:solidFill>
                  <a:schemeClr val="dk1"/>
                </a:solidFill>
                <a:effectLst/>
                <a:uFillTx/>
                <a:latin typeface="Times New Roman"/>
                <a:ea typeface="Times New Roman"/>
              </a:rPr>
              <a:t>Продуктивність</a:t>
            </a:r>
            <a:endParaRPr lang="en-US" sz="2400" b="0" u="none" strike="noStrike">
              <a:solidFill>
                <a:srgbClr val="000000"/>
              </a:solidFill>
              <a:effectLst/>
              <a:uFillTx/>
              <a:latin typeface="Arial"/>
            </a:endParaRPr>
          </a:p>
          <a:p>
            <a:pPr marL="743040" lvl="1" indent="-285840" defTabSz="914400">
              <a:lnSpc>
                <a:spcPct val="107000"/>
              </a:lnSpc>
              <a:spcAft>
                <a:spcPts val="799"/>
              </a:spcAft>
              <a:buClr>
                <a:srgbClr val="000000"/>
              </a:buClr>
              <a:buFont typeface="Courier New"/>
              <a:buChar char="o"/>
              <a:tabLst>
                <a:tab algn="l" pos="914400"/>
              </a:tabLst>
            </a:pPr>
            <a:r>
              <a:rPr lang="pl-PL" sz="2400" b="0" u="none" strike="noStrike">
                <a:solidFill>
                  <a:schemeClr val="dk1"/>
                </a:solidFill>
                <a:effectLst/>
                <a:uFillTx/>
                <a:latin typeface="Times New Roman"/>
                <a:ea typeface="Times New Roman"/>
              </a:rPr>
              <a:t>Простота у розробці</a:t>
            </a:r>
            <a:endParaRPr lang="en-US" sz="2400" b="0" u="none" strike="noStrike">
              <a:solidFill>
                <a:srgbClr val="000000"/>
              </a:solidFill>
              <a:effectLst/>
              <a:uFillTx/>
              <a:latin typeface="Arial"/>
            </a:endParaRPr>
          </a:p>
          <a:p>
            <a:pPr marL="743040" lvl="1" indent="-285840" defTabSz="914400">
              <a:lnSpc>
                <a:spcPct val="107000"/>
              </a:lnSpc>
              <a:spcAft>
                <a:spcPts val="799"/>
              </a:spcAft>
              <a:buClr>
                <a:srgbClr val="000000"/>
              </a:buClr>
              <a:buFont typeface="Courier New"/>
              <a:buChar char="o"/>
              <a:tabLst>
                <a:tab algn="l" pos="914400"/>
              </a:tabLst>
            </a:pPr>
            <a:r>
              <a:rPr lang="pl-PL" sz="2400" b="0" u="none" strike="noStrike">
                <a:solidFill>
                  <a:schemeClr val="dk1"/>
                </a:solidFill>
                <a:effectLst/>
                <a:uFillTx/>
                <a:latin typeface="Times New Roman"/>
                <a:ea typeface="Times New Roman"/>
              </a:rPr>
              <a:t>Підтримка спільноти</a:t>
            </a:r>
            <a:endParaRPr lang="en-US" sz="2400" b="0" u="none" strike="noStrike">
              <a:solidFill>
                <a:srgbClr val="000000"/>
              </a:solidFill>
              <a:effectLst/>
              <a:uFillTx/>
              <a:latin typeface="Arial"/>
            </a:endParaRPr>
          </a:p>
          <a:p>
            <a:pPr marL="743040" lvl="1" indent="-285840" defTabSz="914400">
              <a:lnSpc>
                <a:spcPct val="107000"/>
              </a:lnSpc>
              <a:spcAft>
                <a:spcPts val="799"/>
              </a:spcAft>
              <a:buClr>
                <a:srgbClr val="000000"/>
              </a:buClr>
              <a:buFont typeface="Courier New"/>
              <a:buChar char="o"/>
              <a:tabLst>
                <a:tab algn="l" pos="914400"/>
              </a:tabLst>
            </a:pPr>
            <a:r>
              <a:rPr lang="pl-PL" sz="2400" b="0" u="none" strike="noStrike">
                <a:solidFill>
                  <a:schemeClr val="dk1"/>
                </a:solidFill>
                <a:effectLst/>
                <a:uFillTx/>
                <a:latin typeface="Times New Roman"/>
                <a:ea typeface="Times New Roman"/>
              </a:rPr>
              <a:t>Безпека</a:t>
            </a:r>
            <a:endParaRPr lang="en-US" sz="2400" b="0" u="none" strike="noStrike">
              <a:solidFill>
                <a:srgbClr val="000000"/>
              </a:solidFill>
              <a:effectLst/>
              <a:uFillTx/>
              <a:latin typeface="Arial"/>
            </a:endParaRPr>
          </a:p>
          <a:p>
            <a:pPr marL="743040" lvl="1" indent="-285840" defTabSz="914400">
              <a:lnSpc>
                <a:spcPct val="107000"/>
              </a:lnSpc>
              <a:spcAft>
                <a:spcPts val="799"/>
              </a:spcAft>
              <a:buClr>
                <a:srgbClr val="000000"/>
              </a:buClr>
              <a:buFont typeface="Courier New"/>
              <a:buChar char="o"/>
              <a:tabLst>
                <a:tab algn="l" pos="914400"/>
              </a:tabLst>
            </a:pPr>
            <a:r>
              <a:rPr lang="pl-PL" sz="2400" b="0" u="none" strike="noStrike">
                <a:solidFill>
                  <a:schemeClr val="dk1"/>
                </a:solidFill>
                <a:effectLst/>
                <a:uFillTx/>
                <a:latin typeface="Times New Roman"/>
                <a:ea typeface="Times New Roman"/>
              </a:rPr>
              <a:t>Вартість розробки</a:t>
            </a:r>
            <a:endParaRPr lang="en-US" sz="2400" b="0" u="none" strike="noStrike">
              <a:solidFill>
                <a:srgbClr val="000000"/>
              </a:solidFill>
              <a:effectLst/>
              <a:uFillTx/>
              <a:latin typeface="Arial"/>
            </a:endParaRPr>
          </a:p>
          <a:p>
            <a:pPr defTabSz="914400">
              <a:lnSpc>
                <a:spcPct val="107000"/>
              </a:lnSpc>
              <a:spcAft>
                <a:spcPts val="799"/>
              </a:spcAft>
              <a:tabLst>
                <a:tab algn="l" pos="914400"/>
              </a:tabLst>
            </a:pPr>
            <a:endParaRPr lang="en-US" sz="2400" b="0" u="none" strike="noStrike">
              <a:solidFill>
                <a:srgbClr val="000000"/>
              </a:solidFill>
              <a:effectLst/>
              <a:uFillTx/>
              <a:latin typeface="Arial"/>
            </a:endParaRPr>
          </a:p>
          <a:p>
            <a:pPr marL="457200" defTabSz="914400">
              <a:lnSpc>
                <a:spcPct val="107000"/>
              </a:lnSpc>
              <a:spcAft>
                <a:spcPts val="799"/>
              </a:spcAft>
              <a:tabLst>
                <a:tab algn="l" pos="914400"/>
              </a:tabLst>
            </a:pPr>
            <a:r>
              <a:rPr lang="ru-RU" sz="1800" b="1" u="none" strike="noStrike">
                <a:solidFill>
                  <a:schemeClr val="dk1"/>
                </a:solidFill>
                <a:effectLst/>
                <a:uFillTx/>
                <a:latin typeface="Times New Roman"/>
                <a:ea typeface="Times New Roman"/>
              </a:rPr>
              <a:t> </a:t>
            </a:r>
            <a:r>
              <a:rPr lang="ru-RU" sz="2400" b="0" u="none" strike="noStrike">
                <a:solidFill>
                  <a:schemeClr val="dk1"/>
                </a:solidFill>
                <a:effectLst/>
                <a:uFillTx/>
                <a:latin typeface="Times New Roman"/>
                <a:ea typeface="Times New Roman"/>
              </a:rPr>
              <a:t>Оцінка ризиків у розробці програмного забезпечення за такими критеріями, як </a:t>
            </a:r>
            <a:endParaRPr lang="en-US" sz="2400" b="0" u="none" strike="noStrike">
              <a:solidFill>
                <a:srgbClr val="000000"/>
              </a:solidFill>
              <a:effectLst/>
              <a:uFillTx/>
              <a:latin typeface="Arial"/>
            </a:endParaRPr>
          </a:p>
          <a:p>
            <a:pPr defTabSz="914400">
              <a:lnSpc>
                <a:spcPct val="100000"/>
              </a:lnSpc>
              <a:tabLst>
                <a:tab algn="l" pos="914400"/>
              </a:tabLst>
            </a:pPr>
            <a:endParaRPr lang="en-US" sz="1800" b="0" u="none" strike="noStrike">
              <a:solidFill>
                <a:srgbClr val="000000"/>
              </a:solidFill>
              <a:effectLst/>
              <a:uFillTx/>
              <a:latin typeface="Arial"/>
            </a:endParaRPr>
          </a:p>
          <a:p>
            <a:pPr marL="743040" lvl="1" indent="-285840" defTabSz="914400">
              <a:lnSpc>
                <a:spcPct val="107000"/>
              </a:lnSpc>
              <a:spcAft>
                <a:spcPts val="799"/>
              </a:spcAft>
              <a:buClr>
                <a:srgbClr val="000000"/>
              </a:buClr>
              <a:buFont typeface="Courier New"/>
              <a:buChar char="o"/>
              <a:tabLst>
                <a:tab algn="l" pos="914400"/>
              </a:tabLst>
            </a:pPr>
            <a:r>
              <a:rPr lang="pl-PL" sz="2400" b="0" u="none" strike="noStrike">
                <a:solidFill>
                  <a:schemeClr val="dk1"/>
                </a:solidFill>
                <a:effectLst/>
                <a:uFillTx/>
                <a:latin typeface="Times New Roman"/>
                <a:ea typeface="Times New Roman"/>
              </a:rPr>
              <a:t>Імовірність виникнення</a:t>
            </a:r>
            <a:endParaRPr lang="en-US" sz="2400" b="0" u="none" strike="noStrike">
              <a:solidFill>
                <a:srgbClr val="000000"/>
              </a:solidFill>
              <a:effectLst/>
              <a:uFillTx/>
              <a:latin typeface="Arial"/>
            </a:endParaRPr>
          </a:p>
          <a:p>
            <a:pPr marL="743040" lvl="1" indent="-285840" defTabSz="914400">
              <a:lnSpc>
                <a:spcPct val="107000"/>
              </a:lnSpc>
              <a:spcAft>
                <a:spcPts val="799"/>
              </a:spcAft>
              <a:buClr>
                <a:srgbClr val="000000"/>
              </a:buClr>
              <a:buFont typeface="Courier New"/>
              <a:buChar char="o"/>
              <a:tabLst>
                <a:tab algn="l" pos="914400"/>
              </a:tabLst>
            </a:pPr>
            <a:r>
              <a:rPr lang="pl-PL" sz="2400" b="0" u="none" strike="noStrike">
                <a:solidFill>
                  <a:schemeClr val="dk1"/>
                </a:solidFill>
                <a:effectLst/>
                <a:uFillTx/>
                <a:latin typeface="Times New Roman"/>
                <a:ea typeface="Times New Roman"/>
              </a:rPr>
              <a:t>Вплив на проєкт</a:t>
            </a:r>
            <a:endParaRPr lang="en-US" sz="2400" b="0" u="none" strike="noStrike">
              <a:solidFill>
                <a:srgbClr val="000000"/>
              </a:solidFill>
              <a:effectLst/>
              <a:uFillTx/>
              <a:latin typeface="Arial"/>
            </a:endParaRPr>
          </a:p>
          <a:p>
            <a:pPr marL="743040" lvl="1" indent="-285840" defTabSz="914400">
              <a:lnSpc>
                <a:spcPct val="107000"/>
              </a:lnSpc>
              <a:spcAft>
                <a:spcPts val="799"/>
              </a:spcAft>
              <a:buClr>
                <a:srgbClr val="000000"/>
              </a:buClr>
              <a:buFont typeface="Courier New"/>
              <a:buChar char="o"/>
              <a:tabLst>
                <a:tab algn="l" pos="914400"/>
              </a:tabLst>
            </a:pPr>
            <a:r>
              <a:rPr lang="pl-PL" sz="2400" b="0" u="none" strike="noStrike">
                <a:solidFill>
                  <a:schemeClr val="dk1"/>
                </a:solidFill>
                <a:effectLst/>
                <a:uFillTx/>
                <a:latin typeface="Times New Roman"/>
                <a:ea typeface="Times New Roman"/>
              </a:rPr>
              <a:t>Вартість усунення</a:t>
            </a:r>
            <a:endParaRPr lang="en-US" sz="2400" b="0" u="none" strike="noStrike">
              <a:solidFill>
                <a:srgbClr val="000000"/>
              </a:solidFill>
              <a:effectLst/>
              <a:uFillTx/>
              <a:latin typeface="Arial"/>
            </a:endParaRPr>
          </a:p>
          <a:p>
            <a:pPr marL="743040" lvl="1" indent="-285840" defTabSz="914400">
              <a:lnSpc>
                <a:spcPct val="107000"/>
              </a:lnSpc>
              <a:spcAft>
                <a:spcPts val="799"/>
              </a:spcAft>
              <a:buClr>
                <a:srgbClr val="000000"/>
              </a:buClr>
              <a:buFont typeface="Courier New"/>
              <a:buChar char="o"/>
              <a:tabLst>
                <a:tab algn="l" pos="914400"/>
              </a:tabLst>
            </a:pPr>
            <a:r>
              <a:rPr lang="pl-PL" sz="2400" b="0" u="none" strike="noStrike">
                <a:solidFill>
                  <a:schemeClr val="dk1"/>
                </a:solidFill>
                <a:effectLst/>
                <a:uFillTx/>
                <a:latin typeface="Times New Roman"/>
                <a:ea typeface="Times New Roman"/>
              </a:rPr>
              <a:t>Час на вирішення</a:t>
            </a:r>
            <a:endParaRPr lang="en-US" sz="2400" b="0" u="none" strike="noStrike">
              <a:solidFill>
                <a:srgbClr val="000000"/>
              </a:solidFill>
              <a:effectLst/>
              <a:uFillTx/>
              <a:latin typeface="Arial"/>
            </a:endParaRPr>
          </a:p>
          <a:p>
            <a:pPr marL="457200" defTabSz="914400">
              <a:lnSpc>
                <a:spcPct val="107000"/>
              </a:lnSpc>
              <a:spcAft>
                <a:spcPts val="799"/>
              </a:spcAft>
              <a:tabLst>
                <a:tab algn="l" pos="914400"/>
              </a:tabLst>
            </a:pPr>
            <a:endParaRPr lang="en-US" sz="2400" b="0" u="none" strike="noStrike">
              <a:solidFill>
                <a:srgbClr val="000000"/>
              </a:solidFill>
              <a:effectLst/>
              <a:uFillTx/>
              <a:latin typeface="Arial"/>
            </a:endParaRPr>
          </a:p>
          <a:p>
            <a:pPr marL="457200" defTabSz="914400">
              <a:lnSpc>
                <a:spcPct val="107000"/>
              </a:lnSpc>
              <a:spcAft>
                <a:spcPts val="799"/>
              </a:spcAft>
              <a:tabLst>
                <a:tab algn="l" pos="914400"/>
              </a:tabLst>
            </a:pPr>
            <a:endParaRPr lang="en-US" sz="2400" b="0" u="none" strike="noStrike">
              <a:solidFill>
                <a:srgbClr val="000000"/>
              </a:solidFill>
              <a:effectLst/>
              <a:uFillTx/>
              <a:latin typeface="Arial"/>
            </a:endParaRPr>
          </a:p>
          <a:p>
            <a:pPr defTabSz="914400">
              <a:lnSpc>
                <a:spcPct val="107000"/>
              </a:lnSpc>
              <a:spcAft>
                <a:spcPts val="799"/>
              </a:spcAft>
              <a:tabLst>
                <a:tab algn="l" pos="914400"/>
              </a:tabLst>
            </a:pPr>
            <a:endParaRPr lang="en-US" sz="2400" b="0" u="none" strike="noStrike">
              <a:solidFill>
                <a:srgbClr val="000000"/>
              </a:solidFill>
              <a:effectLst/>
              <a:uFillTx/>
              <a:latin typeface="Arial"/>
            </a:endParaRPr>
          </a:p>
          <a:p>
            <a:pPr defTabSz="914400">
              <a:lnSpc>
                <a:spcPct val="107000"/>
              </a:lnSpc>
              <a:spcAft>
                <a:spcPts val="799"/>
              </a:spcAft>
              <a:tabLst>
                <a:tab algn="l" pos="914400"/>
              </a:tabLst>
            </a:pP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Тема Office">
  <a:themeElements>
    <a:clrScheme name="Офіс">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269</TotalTime>
  <Application>LibreOffice/25.8.4.2$Linux_X86_64 LibreOffice_project/580$Build-2</Application>
  <AppVersion>15.0000</AppVersion>
  <Words>1110</Words>
  <Paragraphs>52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2025-04-03T17:30:17Z</dcterms:created>
  <dc:creator>Olena Korchynska</dc:creator>
  <dc:description/>
  <dc:language>en-US</dc:language>
  <cp:lastModifiedBy>Olena Korchynska</cp:lastModifiedBy>
  <dcterms:modified xsi:type="dcterms:W3CDTF">2026-04-14T16:10:40Z</dcterms:modified>
  <cp:revision>41</cp:revision>
  <dc:subject/>
  <dc:title>Прийняття управлінських рішень на основі методу аналізу ієрархій Сааті</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Широкий екран</vt:lpwstr>
  </property>
  <property fmtid="{D5CDD505-2E9C-101B-9397-08002B2CF9AE}" pid="3" name="Slides">
    <vt:r8>37</vt:r8>
  </property>
</Properties>
</file>