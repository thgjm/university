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6.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50.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52.xml" ContentType="application/vnd.openxmlformats-officedocument.presentationml.slide+xml"/>
  <Override PartName="/ppt/slides/slide14.xml" ContentType="application/vnd.openxmlformats-officedocument.presentationml.slide+xml"/>
  <Override PartName="/ppt/slides/slide5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42.xml" ContentType="application/vnd.openxmlformats-officedocument.presentationml.slide+xml"/>
  <Override PartName="/ppt/slides/slide53.xml" ContentType="application/vnd.openxmlformats-officedocument.presentationml.slide+xml"/>
  <Override PartName="/ppt/slides/slide24.xml" ContentType="application/vnd.openxmlformats-officedocument.presentationml.slide+xml"/>
  <Override PartName="/ppt/slides/slide55.xml" ContentType="application/vnd.openxmlformats-officedocument.presentationml.slide+xml"/>
  <Override PartName="/ppt/slides/slide19.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54.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Титульний слайд">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lang="uk-UA" sz="6000" b="0" u="none" strike="noStrike">
                <a:solidFill>
                  <a:schemeClr val="dk1"/>
                </a:solidFill>
                <a:effectLst/>
                <a:uFillTx/>
                <a:latin typeface="Calibri Light"/>
              </a:rPr>
              <a:t>Клацніть, щоб редагувати стиль зразка заголовка</a:t>
            </a:r>
            <a:endParaRPr lang="pl-PL"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93FDCE54-66CF-48A1-A67C-9CEB060731A9}"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pl-PL" sz="2800" b="0" u="none" strike="noStrike">
                <a:solidFill>
                  <a:schemeClr val="dk1"/>
                </a:solidFill>
                <a:effectLst/>
                <a:uFillTx/>
                <a:latin typeface="Calibri"/>
              </a:rPr>
              <a:t>Click to edit the outline text format</a:t>
            </a:r>
            <a:endParaRPr lang="pl-PL" sz="28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pl-PL" sz="2000" b="0" u="none" strike="noStrike">
                <a:solidFill>
                  <a:schemeClr val="dk1"/>
                </a:solidFill>
                <a:effectLst/>
                <a:uFillTx/>
                <a:latin typeface="Calibri"/>
              </a:rPr>
              <a:t>Second Outline Level</a:t>
            </a:r>
            <a:endParaRPr lang="pl-PL" sz="20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pl-PL" sz="1800" b="0" u="none" strike="noStrike">
                <a:solidFill>
                  <a:schemeClr val="dk1"/>
                </a:solidFill>
                <a:effectLst/>
                <a:uFillTx/>
                <a:latin typeface="Calibri"/>
              </a:rPr>
              <a:t>Third Outline Level</a:t>
            </a:r>
            <a:endParaRPr lang="pl-PL" sz="18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pl-PL" sz="1800" b="0" u="none" strike="noStrike">
                <a:solidFill>
                  <a:schemeClr val="dk1"/>
                </a:solidFill>
                <a:effectLst/>
                <a:uFillTx/>
                <a:latin typeface="Calibri"/>
              </a:rPr>
              <a:t>Fourth Outline Level</a:t>
            </a:r>
            <a:endParaRPr lang="pl-PL" sz="18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Fifth Outline Level</a:t>
            </a:r>
            <a:endParaRPr lang="pl-PL" sz="20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Sixth Outline Level</a:t>
            </a:r>
            <a:endParaRPr lang="pl-PL" sz="20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pl-PL" sz="2000" b="0" u="none" strike="noStrike">
                <a:solidFill>
                  <a:schemeClr val="dk1"/>
                </a:solidFill>
                <a:effectLst/>
                <a:uFillTx/>
                <a:latin typeface="Calibri"/>
              </a:rPr>
              <a:t>Seventh Outline Level</a:t>
            </a:r>
            <a:endParaRPr lang="pl-PL"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Заголовок і вертикальний текст">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D2EE9240-8478-49CE-9D47-DE074E220361}"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Вертикальний заголовок і текст">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823DB92F-48A7-4C6A-9FA7-9A6EB5813CA4}"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Назва та вміст">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09BDD71B-131B-4A45-90BA-A66DE2A338BC}"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Назва розділу">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lang="uk-UA" sz="6000" b="0" u="none" strike="noStrike">
                <a:solidFill>
                  <a:schemeClr val="dk1"/>
                </a:solidFill>
                <a:effectLst/>
                <a:uFillTx/>
                <a:latin typeface="Calibri Light"/>
              </a:rPr>
              <a:t>Клацніть, щоб редагувати стиль зразка заголовка</a:t>
            </a:r>
            <a:endParaRPr lang="pl-PL" sz="6000" b="0" u="none" strike="noStrike">
              <a:solidFill>
                <a:schemeClr val="dk1"/>
              </a:solidFill>
              <a:effectLst/>
              <a:uFillTx/>
              <a:latin typeface="Calibri"/>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2400" b="0" u="none" strike="noStrike">
                <a:solidFill>
                  <a:schemeClr val="dk1">
                    <a:tint val="75000"/>
                  </a:schemeClr>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F297B3D5-BE06-4BC2-9EA2-B57A6D01F6F1}"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Два об’єкти">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3A0116C1-BCD5-4F7A-9320-88F041501774}"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орівняння">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uk-UA" sz="2400" b="1" u="none" strike="noStrike">
                <a:solidFill>
                  <a:schemeClr val="dk1"/>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uk-UA" sz="2400" b="1" u="none" strike="noStrike">
                <a:solidFill>
                  <a:schemeClr val="dk1"/>
                </a:solidFill>
                <a:effectLst/>
                <a:uFillTx/>
                <a:latin typeface="Calibri"/>
              </a:rPr>
              <a:t>Клацніть, щоб відредагувати стилі зразків тексту</a:t>
            </a:r>
            <a:endParaRPr lang="pl-PL" sz="2400" b="0" u="none" strike="noStrik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2800" b="0" u="none" strike="noStrike">
                <a:solidFill>
                  <a:schemeClr val="dk1"/>
                </a:solidFill>
                <a:effectLst/>
                <a:uFillTx/>
                <a:latin typeface="Calibri"/>
              </a:rPr>
              <a:t>Клацніть, щоб відредагувати стилі зразків тексту</a:t>
            </a:r>
            <a:endParaRPr lang="pl-PL"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Другий рівень</a:t>
            </a:r>
            <a:endParaRPr lang="pl-PL"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Третій рівень</a:t>
            </a:r>
            <a:endParaRPr lang="pl-PL"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Четвертий рівень</a:t>
            </a:r>
            <a:endParaRPr lang="pl-PL"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1800" b="0" u="none" strike="noStrike">
                <a:solidFill>
                  <a:schemeClr val="dk1"/>
                </a:solidFill>
                <a:effectLst/>
                <a:uFillTx/>
                <a:latin typeface="Calibri"/>
              </a:rPr>
              <a:t>П’ятий рівень</a:t>
            </a:r>
            <a:endParaRPr lang="pl-PL" sz="1800" b="0" u="none" strike="noStrike">
              <a:solidFill>
                <a:schemeClr val="dk1"/>
              </a:solidFill>
              <a:effectLst/>
              <a:uFillTx/>
              <a:latin typeface="Calibri"/>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F8EDDE9D-2637-459F-9EAF-DB8B5746775D}"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Лише заголовок">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uk-UA" sz="4400" b="0" u="none" strike="noStrike">
                <a:solidFill>
                  <a:schemeClr val="dk1"/>
                </a:solidFill>
                <a:effectLst/>
                <a:uFillTx/>
                <a:latin typeface="Calibri Light"/>
              </a:rPr>
              <a:t>Клацніть, щоб редагувати стиль зразка заголовка</a:t>
            </a:r>
            <a:endParaRPr lang="pl-PL" sz="4400" b="0" u="none" strike="noStrike">
              <a:solidFill>
                <a:schemeClr val="dk1"/>
              </a:solidFill>
              <a:effectLst/>
              <a:uFillTx/>
              <a:latin typeface="Calibri"/>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01196CF2-CAF1-4A46-9ED5-97018DACEDBC}"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Пустий слайд">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5EA38112-A880-41D7-857D-A46B37346DF4}"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Вміст і підпис">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uk-UA" sz="3200" b="0" u="none" strike="noStrike">
                <a:solidFill>
                  <a:schemeClr val="dk1"/>
                </a:solidFill>
                <a:effectLst/>
                <a:uFillTx/>
                <a:latin typeface="Calibri Light"/>
              </a:rPr>
              <a:t>Клацніть, щоб редагувати стиль зразка заголовка</a:t>
            </a:r>
            <a:endParaRPr lang="pl-PL" sz="3200" b="0" u="none" strike="noStrike">
              <a:solidFill>
                <a:schemeClr val="dk1"/>
              </a:solidFill>
              <a:effectLst/>
              <a:uFillTx/>
              <a:latin typeface="Calibri"/>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uk-UA" sz="3200" b="0" u="none" strike="noStrike">
                <a:solidFill>
                  <a:schemeClr val="dk1"/>
                </a:solidFill>
                <a:effectLst/>
                <a:uFillTx/>
                <a:latin typeface="Calibri"/>
              </a:rPr>
              <a:t>Клацніть, щоб відредагувати стилі зразків тексту</a:t>
            </a:r>
            <a:endParaRPr lang="pl-PL" sz="32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uk-UA" sz="2800" b="0" u="none" strike="noStrike">
                <a:solidFill>
                  <a:schemeClr val="dk1"/>
                </a:solidFill>
                <a:effectLst/>
                <a:uFillTx/>
                <a:latin typeface="Calibri"/>
              </a:rPr>
              <a:t>Другий рівень</a:t>
            </a:r>
            <a:endParaRPr lang="pl-PL" sz="28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uk-UA" sz="2400" b="0" u="none" strike="noStrike">
                <a:solidFill>
                  <a:schemeClr val="dk1"/>
                </a:solidFill>
                <a:effectLst/>
                <a:uFillTx/>
                <a:latin typeface="Calibri"/>
              </a:rPr>
              <a:t>Третій рівень</a:t>
            </a:r>
            <a:endParaRPr lang="pl-PL" sz="24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Четвертий рівень</a:t>
            </a:r>
            <a:endParaRPr lang="pl-PL" sz="20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uk-UA" sz="2000" b="0" u="none" strike="noStrike">
                <a:solidFill>
                  <a:schemeClr val="dk1"/>
                </a:solidFill>
                <a:effectLst/>
                <a:uFillTx/>
                <a:latin typeface="Calibri"/>
              </a:rPr>
              <a:t>П’ятий рівень</a:t>
            </a:r>
            <a:endParaRPr lang="pl-PL" sz="2000" b="0" u="none" strike="noStrike">
              <a:solidFill>
                <a:schemeClr val="dk1"/>
              </a:solidFill>
              <a:effectLst/>
              <a:uFillTx/>
              <a:latin typeface="Calibri"/>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1600" b="0" u="none" strike="noStrike">
                <a:solidFill>
                  <a:schemeClr val="dk1"/>
                </a:solidFill>
                <a:effectLst/>
                <a:uFillTx/>
                <a:latin typeface="Calibri"/>
              </a:rPr>
              <a:t>Клацніть, щоб відредагувати стилі зразків тексту</a:t>
            </a:r>
            <a:endParaRPr lang="pl-PL" sz="1600" b="0" u="none" strike="noStrike">
              <a:solidFill>
                <a:schemeClr val="dk1"/>
              </a:solidFill>
              <a:effectLst/>
              <a:uFillTx/>
              <a:latin typeface="Calibri"/>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F39E597B-B029-407B-B205-78A83289EDFA}"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Рисунок і підпис">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uk-UA" sz="3200" b="0" u="none" strike="noStrike">
                <a:solidFill>
                  <a:schemeClr val="dk1"/>
                </a:solidFill>
                <a:effectLst/>
                <a:uFillTx/>
                <a:latin typeface="Calibri Light"/>
              </a:rPr>
              <a:t>Клацніть, щоб редагувати стиль зразка заголовка</a:t>
            </a:r>
            <a:endParaRPr lang="pl-PL" sz="3200" b="0" u="none" strike="noStrike">
              <a:solidFill>
                <a:schemeClr val="dk1"/>
              </a:solidFill>
              <a:effectLst/>
              <a:uFillTx/>
              <a:latin typeface="Calibri"/>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lang="pl-PL" sz="3200" b="0" u="none" strike="noStrike">
                <a:solidFill>
                  <a:schemeClr val="dk1"/>
                </a:solidFill>
                <a:effectLst/>
                <a:uFillTx/>
                <a:latin typeface="Calibri"/>
              </a:rPr>
              <a:t>Click to edit the outline text format</a:t>
            </a:r>
            <a:endParaRPr lang="pl-PL" sz="32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pl-PL" sz="3200" b="0" u="none" strike="noStrike">
                <a:solidFill>
                  <a:schemeClr val="dk1"/>
                </a:solidFill>
                <a:effectLst/>
                <a:uFillTx/>
                <a:latin typeface="Calibri"/>
              </a:rPr>
              <a:t>Second Outline Level</a:t>
            </a:r>
            <a:endParaRPr lang="pl-PL" sz="32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pl-PL" sz="3200" b="0" u="none" strike="noStrike">
                <a:solidFill>
                  <a:schemeClr val="dk1"/>
                </a:solidFill>
                <a:effectLst/>
                <a:uFillTx/>
                <a:latin typeface="Calibri"/>
              </a:rPr>
              <a:t>Third Outline Level</a:t>
            </a:r>
            <a:endParaRPr lang="pl-PL" sz="32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pl-PL" sz="3200" b="0" u="none" strike="noStrike">
                <a:solidFill>
                  <a:schemeClr val="dk1"/>
                </a:solidFill>
                <a:effectLst/>
                <a:uFillTx/>
                <a:latin typeface="Calibri"/>
              </a:rPr>
              <a:t>Fourth Outline Level</a:t>
            </a:r>
            <a:endParaRPr lang="pl-PL" sz="32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Fifth Outline Level</a:t>
            </a:r>
            <a:endParaRPr lang="pl-PL" sz="32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Sixth Outline Level</a:t>
            </a:r>
            <a:endParaRPr lang="pl-PL" sz="32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pl-PL" sz="3200" b="0" u="none" strike="noStrike">
                <a:solidFill>
                  <a:schemeClr val="dk1"/>
                </a:solidFill>
                <a:effectLst/>
                <a:uFillTx/>
                <a:latin typeface="Calibri"/>
              </a:rPr>
              <a:t>Seventh Outline Level</a:t>
            </a:r>
            <a:endParaRPr lang="pl-PL" sz="3200" b="0" u="none" strike="noStrike">
              <a:solidFill>
                <a:schemeClr val="dk1"/>
              </a:solidFill>
              <a:effectLst/>
              <a:uFillTx/>
              <a:latin typeface="Calibri"/>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uk-UA" sz="1600" b="0" u="none" strike="noStrike">
                <a:solidFill>
                  <a:schemeClr val="dk1"/>
                </a:solidFill>
                <a:effectLst/>
                <a:uFillTx/>
                <a:latin typeface="Calibri"/>
              </a:rPr>
              <a:t>Клацніть, щоб відредагувати стилі зразків тексту</a:t>
            </a:r>
            <a:endParaRPr lang="pl-PL" sz="1600" b="0" u="none" strike="noStrike">
              <a:solidFill>
                <a:schemeClr val="dk1"/>
              </a:solidFill>
              <a:effectLst/>
              <a:uFillTx/>
              <a:latin typeface="Calibri"/>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pl-PL" sz="1200" b="0" u="none" strike="noStrike">
                <a:solidFill>
                  <a:schemeClr val="dk1">
                    <a:tint val="75000"/>
                  </a:schemeClr>
                </a:solidFill>
                <a:effectLst/>
                <a:uFillTx/>
                <a:latin typeface="Calibri"/>
              </a:defRPr>
            </a:lvl1pPr>
          </a:lstStyle>
          <a:p>
            <a:pPr indent="0" defTabSz="914400">
              <a:lnSpc>
                <a:spcPct val="100000"/>
              </a:lnSpc>
              <a:buNone/>
            </a:pPr>
            <a:r>
              <a:rPr lang="pl-PL"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pl-PL" sz="1200" b="0" u="none" strike="noStrike">
                <a:solidFill>
                  <a:schemeClr val="dk1">
                    <a:tint val="75000"/>
                  </a:schemeClr>
                </a:solidFill>
                <a:effectLst/>
                <a:uFillTx/>
                <a:latin typeface="Calibri"/>
              </a:defRPr>
            </a:lvl1pPr>
          </a:lstStyle>
          <a:p>
            <a:pPr indent="0" algn="r" defTabSz="914400">
              <a:lnSpc>
                <a:spcPct val="100000"/>
              </a:lnSpc>
              <a:buNone/>
            </a:pPr>
            <a:fld id="{03F0C240-4B68-47D8-999E-9238A8839C60}" type="slidenum">
              <a:rPr lang="pl-PL"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5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lang="uk-UA" sz="6000" b="1" u="none" strike="noStrike">
                <a:solidFill>
                  <a:schemeClr val="dk1"/>
                </a:solidFill>
                <a:effectLst/>
                <a:uFillTx/>
                <a:latin typeface="Times New Roman"/>
              </a:rPr>
              <a:t>Управління програмними проектами</a:t>
            </a:r>
            <a:endParaRPr lang="pl-PL" sz="6000" b="0" u="none" strike="noStrike">
              <a:solidFill>
                <a:schemeClr val="dk1"/>
              </a:solidFill>
              <a:effectLst/>
              <a:uFillTx/>
              <a:latin typeface="Calibri"/>
            </a:endParaRPr>
          </a:p>
        </p:txBody>
      </p:sp>
      <p:sp>
        <p:nvSpPr>
          <p:cNvPr id="61" name="PlaceHolder 2"/>
          <p:cNvSpPr>
            <a:spLocks noGrp="1"/>
          </p:cNvSpPr>
          <p:nvPr>
            <p:ph type="subTitle"/>
          </p:nvPr>
        </p:nvSpPr>
        <p:spPr>
          <a:xfrm>
            <a:off x="1523880" y="3602160"/>
            <a:ext cx="9143640" cy="165528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ru-RU" sz="3200" b="0" u="none" strike="noStrike">
                <a:solidFill>
                  <a:schemeClr val="dk1"/>
                </a:solidFill>
                <a:effectLst/>
                <a:uFillTx/>
                <a:latin typeface="Times New Roman"/>
              </a:rPr>
              <a:t>Модел</a:t>
            </a:r>
            <a:r>
              <a:rPr lang="uk-UA" sz="3200" b="0" u="none" strike="noStrike">
                <a:solidFill>
                  <a:schemeClr val="dk1"/>
                </a:solidFill>
                <a:effectLst/>
                <a:uFillTx/>
                <a:latin typeface="Times New Roman"/>
              </a:rPr>
              <a:t>і (методології) розробки </a:t>
            </a:r>
            <a:endParaRPr lang="en-US" sz="3200" b="0" u="none" strike="noStrike">
              <a:solidFill>
                <a:srgbClr val="000000"/>
              </a:solidFill>
              <a:effectLst/>
              <a:uFillTx/>
              <a:latin typeface="Arial"/>
            </a:endParaRPr>
          </a:p>
          <a:p>
            <a:pPr indent="0" algn="ctr" defTabSz="914400">
              <a:lnSpc>
                <a:spcPct val="90000"/>
              </a:lnSpc>
              <a:spcBef>
                <a:spcPts val="1001"/>
              </a:spcBef>
              <a:buNone/>
              <a:tabLst>
                <a:tab algn="l" pos="0"/>
              </a:tabLst>
            </a:pPr>
            <a:r>
              <a:rPr lang="uk-UA" sz="3200" b="0" u="none" strike="noStrike">
                <a:solidFill>
                  <a:schemeClr val="dk1"/>
                </a:solidFill>
                <a:effectLst/>
                <a:uFillTx/>
                <a:latin typeface="Times New Roman"/>
              </a:rPr>
              <a:t>програмного забезпечення</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p:nvPr>
        </p:nvSpPr>
        <p:spPr>
          <a:xfrm>
            <a:off x="958680" y="390600"/>
            <a:ext cx="10732680" cy="5929920"/>
          </a:xfrm>
          <a:prstGeom prst="rect">
            <a:avLst/>
          </a:prstGeom>
          <a:noFill/>
          <a:ln w="0">
            <a:noFill/>
          </a:ln>
        </p:spPr>
        <p:txBody>
          <a:bodyPr lIns="91440" rIns="91440" tIns="45720" bIns="45720" anchor="t">
            <a:normAutofit fontScale="92500" lnSpcReduction="9999"/>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Моделі (або методології) процесів розробки ПЗ прийнято класифікувати за «вагою» — кількості формалізованих процесів (більшість процесів або тільки основні) і детальності їх регламентації. Чим більше процесів документовано, ніж більш детально вони описані, тим більше «вага» моделі.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СТАНДАРТИ</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Одним з перших стандартів, що мав істотний вплив на розвиток теорії проектування та розробки ІС, був стандарт </a:t>
            </a:r>
            <a:r>
              <a:rPr lang="pl-PL" sz="2400" b="0" u="none" strike="noStrike">
                <a:solidFill>
                  <a:schemeClr val="dk1"/>
                </a:solidFill>
                <a:effectLst/>
                <a:uFillTx/>
                <a:latin typeface="Times New Roman"/>
              </a:rPr>
              <a:t>BSP (Business System Planning). </a:t>
            </a:r>
            <a:r>
              <a:rPr lang="uk-UA" sz="2400" b="0" u="none" strike="noStrike">
                <a:solidFill>
                  <a:schemeClr val="dk1"/>
                </a:solidFill>
                <a:effectLst/>
                <a:uFillTx/>
                <a:latin typeface="Times New Roman"/>
              </a:rPr>
              <a:t>Даний стандарт був розроблений компанією </a:t>
            </a:r>
            <a:r>
              <a:rPr lang="pl-PL" sz="2400" b="0" u="none" strike="noStrike">
                <a:solidFill>
                  <a:schemeClr val="dk1"/>
                </a:solidFill>
                <a:effectLst/>
                <a:uFillTx/>
                <a:latin typeface="Times New Roman"/>
              </a:rPr>
              <a:t>IBM </a:t>
            </a:r>
            <a:r>
              <a:rPr lang="uk-UA" sz="2400" b="0" u="none" strike="noStrike">
                <a:solidFill>
                  <a:schemeClr val="dk1"/>
                </a:solidFill>
                <a:effectLst/>
                <a:uFillTx/>
                <a:latin typeface="Times New Roman"/>
              </a:rPr>
              <a:t>в середині 70- х рр. Процес </a:t>
            </a:r>
            <a:r>
              <a:rPr lang="pl-PL" sz="2400" b="0" u="none" strike="noStrike">
                <a:solidFill>
                  <a:schemeClr val="dk1"/>
                </a:solidFill>
                <a:effectLst/>
                <a:uFillTx/>
                <a:latin typeface="Times New Roman"/>
              </a:rPr>
              <a:t>BSP </a:t>
            </a:r>
            <a:r>
              <a:rPr lang="uk-UA" sz="2400" b="0" u="none" strike="noStrike">
                <a:solidFill>
                  <a:schemeClr val="dk1"/>
                </a:solidFill>
                <a:effectLst/>
                <a:uFillTx/>
                <a:latin typeface="Times New Roman"/>
              </a:rPr>
              <a:t>передбачав виділення в ході розробки ІС таких кроків: − отримання підтримки керівництва; − визначення процесів підприємства; − визначення класів даних; − проведення інтерв'ю; − обробка та організація результатів інтерв'ю. Найважливіші кроки процесу </a:t>
            </a:r>
            <a:r>
              <a:rPr lang="pl-PL" sz="2400" b="0" u="none" strike="noStrike">
                <a:solidFill>
                  <a:schemeClr val="dk1"/>
                </a:solidFill>
                <a:effectLst/>
                <a:uFillTx/>
                <a:latin typeface="Times New Roman"/>
              </a:rPr>
              <a:t>BSP </a:t>
            </a:r>
            <a:r>
              <a:rPr lang="uk-UA" sz="2400" b="0" u="none" strike="noStrike">
                <a:solidFill>
                  <a:schemeClr val="dk1"/>
                </a:solidFill>
                <a:effectLst/>
                <a:uFillTx/>
                <a:latin typeface="Times New Roman"/>
              </a:rPr>
              <a:t>спостерігаються у більшості формальних методик.</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p:nvPr>
        </p:nvSpPr>
        <p:spPr>
          <a:xfrm>
            <a:off x="470520" y="133200"/>
            <a:ext cx="10882800" cy="6043320"/>
          </a:xfrm>
          <a:prstGeom prst="rect">
            <a:avLst/>
          </a:prstGeom>
          <a:noFill/>
          <a:ln w="0">
            <a:noFill/>
          </a:ln>
        </p:spPr>
        <p:txBody>
          <a:bodyPr lIns="91440" rIns="91440" tIns="45720" bIns="45720" anchor="t">
            <a:normAutofit lnSpcReduction="9999"/>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На сьогодні діють такі стандарти, що регламентують процес розробки ПЗ: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ГОСТ 34.601-90 </a:t>
            </a:r>
            <a:r>
              <a:rPr lang="uk-UA" sz="2400" b="0" u="none" strike="noStrike">
                <a:solidFill>
                  <a:schemeClr val="dk1"/>
                </a:solidFill>
                <a:effectLst/>
                <a:uFillTx/>
                <a:latin typeface="Times New Roman"/>
              </a:rPr>
              <a:t>- державний стандарт, поширюється на автоматизовані системи і встановлює стадії і етапи їх створення. У стандарті міститься опис змісту робіт на кожному етапі.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pl-PL" sz="2400" b="1" u="none" strike="noStrike">
                <a:solidFill>
                  <a:schemeClr val="dk1"/>
                </a:solidFill>
                <a:effectLst/>
                <a:uFillTx/>
                <a:latin typeface="Times New Roman"/>
              </a:rPr>
              <a:t>ISO / IEC 12207 </a:t>
            </a:r>
            <a:r>
              <a:rPr lang="pl-PL" sz="2400" b="0" u="none" strike="noStrike">
                <a:solidFill>
                  <a:schemeClr val="dk1"/>
                </a:solidFill>
                <a:effectLst/>
                <a:uFillTx/>
                <a:latin typeface="Times New Roman"/>
              </a:rPr>
              <a:t>- Systems and software engineering - Software Life Cycle Processes - </a:t>
            </a:r>
            <a:r>
              <a:rPr lang="uk-UA" sz="2400" b="0" u="none" strike="noStrike">
                <a:solidFill>
                  <a:schemeClr val="dk1"/>
                </a:solidFill>
                <a:effectLst/>
                <a:uFillTx/>
                <a:latin typeface="Times New Roman"/>
              </a:rPr>
              <a:t>міжнародний стандарт на процеси розробки та організації життєвого циклу ПЗ. Поширюється на всі види замовленого ПЗ.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pl-PL" sz="2400" b="1" u="none" strike="noStrike">
                <a:solidFill>
                  <a:schemeClr val="dk1"/>
                </a:solidFill>
                <a:effectLst/>
                <a:uFillTx/>
                <a:latin typeface="Times New Roman"/>
              </a:rPr>
              <a:t>SWEBOK</a:t>
            </a:r>
            <a:r>
              <a:rPr lang="pl-PL" sz="2400" b="0" u="none" strike="noStrike">
                <a:solidFill>
                  <a:schemeClr val="dk1"/>
                </a:solidFill>
                <a:effectLst/>
                <a:uFillTx/>
                <a:latin typeface="Times New Roman"/>
              </a:rPr>
              <a:t> (Guide to the Software Engineering Body of Knowledge) - </a:t>
            </a:r>
            <a:r>
              <a:rPr lang="uk-UA" sz="2400" b="0" u="none" strike="noStrike">
                <a:solidFill>
                  <a:schemeClr val="dk1"/>
                </a:solidFill>
                <a:effectLst/>
                <a:uFillTx/>
                <a:latin typeface="Times New Roman"/>
              </a:rPr>
              <a:t>Посібник до зведення знань з програмної інженерії - галузевий стандарт Інституту інженерів по радіоелектроніці та електротехніці (</a:t>
            </a:r>
            <a:r>
              <a:rPr lang="pl-PL" sz="2400" b="0" u="none" strike="noStrike">
                <a:solidFill>
                  <a:schemeClr val="dk1"/>
                </a:solidFill>
                <a:effectLst/>
                <a:uFillTx/>
                <a:latin typeface="Times New Roman"/>
              </a:rPr>
              <a:t>IEEE), </a:t>
            </a:r>
            <a:r>
              <a:rPr lang="uk-UA" sz="2400" b="0" u="none" strike="noStrike">
                <a:solidFill>
                  <a:schemeClr val="dk1"/>
                </a:solidFill>
                <a:effectLst/>
                <a:uFillTx/>
                <a:latin typeface="Times New Roman"/>
              </a:rPr>
              <a:t>що містить основні види діяльності з програмної інженерії.</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a:buNone/>
            </a:pPr>
            <a:endParaRPr lang="pl-PL" sz="4400" b="0" u="none" strike="noStrike">
              <a:solidFill>
                <a:schemeClr val="dk1"/>
              </a:solidFill>
              <a:effectLst/>
              <a:uFillTx/>
              <a:latin typeface="Calibri Light"/>
            </a:endParaRPr>
          </a:p>
        </p:txBody>
      </p:sp>
      <p:pic>
        <p:nvPicPr>
          <p:cNvPr id="65" name="Місце для вмісту 4"/>
          <p:cNvPicPr/>
          <p:nvPr/>
        </p:nvPicPr>
        <p:blipFill>
          <a:blip r:embed="rId1"/>
          <a:stretch/>
        </p:blipFill>
        <p:spPr>
          <a:xfrm>
            <a:off x="0" y="266400"/>
            <a:ext cx="6418440" cy="4060080"/>
          </a:xfrm>
          <a:prstGeom prst="rect">
            <a:avLst/>
          </a:prstGeom>
          <a:noFill/>
          <a:ln w="0">
            <a:noFill/>
          </a:ln>
        </p:spPr>
      </p:pic>
      <p:pic>
        <p:nvPicPr>
          <p:cNvPr id="66" name="Рисунок 6"/>
          <p:cNvPicPr/>
          <p:nvPr/>
        </p:nvPicPr>
        <p:blipFill>
          <a:blip r:embed="rId2"/>
          <a:stretch/>
        </p:blipFill>
        <p:spPr>
          <a:xfrm>
            <a:off x="6446520" y="266400"/>
            <a:ext cx="5546160" cy="53352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Місце для вмісту 4"/>
          <p:cNvPicPr/>
          <p:nvPr/>
        </p:nvPicPr>
        <p:blipFill>
          <a:blip r:embed="rId1"/>
          <a:stretch/>
        </p:blipFill>
        <p:spPr>
          <a:xfrm>
            <a:off x="470520" y="392040"/>
            <a:ext cx="5743800" cy="4950000"/>
          </a:xfrm>
          <a:prstGeom prst="rect">
            <a:avLst/>
          </a:prstGeom>
          <a:noFill/>
          <a:ln w="0">
            <a:noFill/>
          </a:ln>
        </p:spPr>
      </p:pic>
      <p:pic>
        <p:nvPicPr>
          <p:cNvPr id="68" name="Рисунок 6"/>
          <p:cNvPicPr/>
          <p:nvPr/>
        </p:nvPicPr>
        <p:blipFill>
          <a:blip r:embed="rId2"/>
          <a:stretch/>
        </p:blipFill>
        <p:spPr>
          <a:xfrm>
            <a:off x="5875560" y="534600"/>
            <a:ext cx="6016680" cy="444528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p:nvPr>
        </p:nvSpPr>
        <p:spPr>
          <a:xfrm>
            <a:off x="692280" y="408240"/>
            <a:ext cx="10661040" cy="576828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Розробка у відповідності з цими  стандартами проводиться за етапами, кожен з яких передбачає виконання певних робіт, і завершується випуском досить великого числа досить формалізованих і великих документів. Таким чином, суворе дотримання цих стандартів не тільки призводить до водоспадного підходу, але і вимагає дуже високого ступеня формалізованої розробки.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p:nvPr>
        </p:nvSpPr>
        <p:spPr>
          <a:xfrm>
            <a:off x="337320" y="293040"/>
            <a:ext cx="11016000" cy="588348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У 1963 в результаті злиття Інституту радіотехніки (</a:t>
            </a:r>
            <a:r>
              <a:rPr lang="pl-PL" sz="2400" b="0" u="none" strike="noStrike">
                <a:solidFill>
                  <a:schemeClr val="dk1"/>
                </a:solidFill>
                <a:effectLst/>
                <a:uFillTx/>
                <a:latin typeface="Times New Roman"/>
              </a:rPr>
              <a:t>Institute of Radio Engineers, IRE) </a:t>
            </a:r>
            <a:r>
              <a:rPr lang="uk-UA" sz="2400" b="0" u="none" strike="noStrike">
                <a:solidFill>
                  <a:schemeClr val="dk1"/>
                </a:solidFill>
                <a:effectLst/>
                <a:uFillTx/>
                <a:latin typeface="Times New Roman"/>
              </a:rPr>
              <a:t>і Американського інституту інженерів - електриків (</a:t>
            </a:r>
            <a:r>
              <a:rPr lang="pl-PL" sz="2400" b="0" u="none" strike="noStrike">
                <a:solidFill>
                  <a:schemeClr val="dk1"/>
                </a:solidFill>
                <a:effectLst/>
                <a:uFillTx/>
                <a:latin typeface="Times New Roman"/>
              </a:rPr>
              <a:t>American Institute of Electrical Engineers, AIEE) </a:t>
            </a:r>
            <a:r>
              <a:rPr lang="uk-UA" sz="2400" b="0" u="none" strike="noStrike">
                <a:solidFill>
                  <a:schemeClr val="dk1"/>
                </a:solidFill>
                <a:effectLst/>
                <a:uFillTx/>
                <a:latin typeface="Times New Roman"/>
              </a:rPr>
              <a:t>була створена міжнародна некомерційна асоціація технічних фахівців - світовий лідер в області розробки стандартів з радіоелектроніки та електротехніки – інститут інженерів з радіоелектроніки та електротехніки </a:t>
            </a:r>
            <a:r>
              <a:rPr lang="pl-PL" sz="2400" b="0" u="none" strike="noStrike">
                <a:solidFill>
                  <a:schemeClr val="dk1"/>
                </a:solidFill>
                <a:effectLst/>
                <a:uFillTx/>
                <a:latin typeface="Times New Roman"/>
              </a:rPr>
              <a:t>IEEE (Institute of Electrical and Electronics Engineers).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Дана міжнародна організація об'єднує понад 400 тисяч фахівців з 170 країн. </a:t>
            </a:r>
            <a:r>
              <a:rPr lang="pl-PL" sz="2400" b="0" u="none" strike="noStrike">
                <a:solidFill>
                  <a:schemeClr val="dk1"/>
                </a:solidFill>
                <a:effectLst/>
                <a:uFillTx/>
                <a:latin typeface="Times New Roman"/>
              </a:rPr>
              <a:t>IEEE </a:t>
            </a:r>
            <a:r>
              <a:rPr lang="uk-UA" sz="2400" b="0" u="none" strike="noStrike">
                <a:solidFill>
                  <a:schemeClr val="dk1"/>
                </a:solidFill>
                <a:effectLst/>
                <a:uFillTx/>
                <a:latin typeface="Times New Roman"/>
              </a:rPr>
              <a:t>здійснює інформаційну та матеріальну підтримку фахівців для організації та розвитку наукової діяльності в електротехніці, електроніці, комп'ютерній техніці та інформатиці.</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p:nvPr>
        </p:nvSpPr>
        <p:spPr>
          <a:xfrm>
            <a:off x="177480" y="159840"/>
            <a:ext cx="11949120" cy="6613560"/>
          </a:xfrm>
          <a:prstGeom prst="rect">
            <a:avLst/>
          </a:prstGeom>
          <a:noFill/>
          <a:ln w="0">
            <a:noFill/>
          </a:ln>
        </p:spPr>
        <p:txBody>
          <a:bodyPr lIns="91440" rIns="91440" tIns="45720" bIns="45720" anchor="t">
            <a:noAutofit/>
          </a:bodyPr>
          <a:p>
            <a:pPr indent="0" algn="just" defTabSz="914400">
              <a:lnSpc>
                <a:spcPct val="170000"/>
              </a:lnSpc>
              <a:buNone/>
              <a:tabLst>
                <a:tab algn="l" pos="0"/>
              </a:tabLst>
            </a:pPr>
            <a:r>
              <a:rPr lang="pl-PL" sz="1800" b="0" u="none" strike="noStrike">
                <a:solidFill>
                  <a:schemeClr val="dk1"/>
                </a:solidFill>
                <a:effectLst/>
                <a:uFillTx/>
                <a:latin typeface="Times New Roman"/>
              </a:rPr>
              <a:t>IEEE </a:t>
            </a:r>
            <a:r>
              <a:rPr lang="uk-UA" sz="1800" b="0" u="none" strike="noStrike">
                <a:solidFill>
                  <a:schemeClr val="dk1"/>
                </a:solidFill>
                <a:effectLst/>
                <a:uFillTx/>
                <a:latin typeface="Times New Roman"/>
              </a:rPr>
              <a:t>здійснює інформаційну та матеріальну підтримку фахівців для організації та розвитку наукової діяльності в електротехніці, електроніці, комп'ютерній техніці та інформатиці.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en-US" sz="1800" b="1" u="none" strike="noStrike">
                <a:solidFill>
                  <a:schemeClr val="dk1"/>
                </a:solidFill>
                <a:effectLst/>
                <a:uFillTx/>
                <a:latin typeface="Times New Roman"/>
              </a:rPr>
              <a:t>SWEBOK (Guide to the Software Engineering Body of Knowledge) </a:t>
            </a:r>
            <a:r>
              <a:rPr lang="uk-UA" sz="1800" b="0" u="none" strike="noStrike">
                <a:solidFill>
                  <a:schemeClr val="dk1"/>
                </a:solidFill>
                <a:effectLst/>
                <a:uFillTx/>
                <a:latin typeface="Times New Roman"/>
              </a:rPr>
              <a:t>містить опис 10 галузей знань:</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uk-UA" sz="1800" b="0" u="none" strike="noStrike">
                <a:solidFill>
                  <a:schemeClr val="dk1"/>
                </a:solidFill>
                <a:effectLst/>
                <a:uFillTx/>
                <a:latin typeface="Times New Roman"/>
              </a:rPr>
              <a:t> </a:t>
            </a:r>
            <a:r>
              <a:rPr lang="pl-PL" sz="1800" b="0" u="none" strike="noStrike">
                <a:solidFill>
                  <a:schemeClr val="dk1"/>
                </a:solidFill>
                <a:effectLst/>
                <a:uFillTx/>
                <a:latin typeface="Times New Roman"/>
              </a:rPr>
              <a:t>Software requirements – </a:t>
            </a:r>
            <a:r>
              <a:rPr lang="uk-UA" sz="1800" b="0" u="none" strike="noStrike">
                <a:solidFill>
                  <a:schemeClr val="dk1"/>
                </a:solidFill>
                <a:effectLst/>
                <a:uFillTx/>
                <a:latin typeface="Times New Roman"/>
              </a:rPr>
              <a:t>програмні вимоги;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pl-PL" sz="1800" b="0" u="none" strike="noStrike">
                <a:solidFill>
                  <a:schemeClr val="dk1"/>
                </a:solidFill>
                <a:effectLst/>
                <a:uFillTx/>
                <a:latin typeface="Times New Roman"/>
              </a:rPr>
              <a:t>Software design – </a:t>
            </a:r>
            <a:r>
              <a:rPr lang="uk-UA" sz="1800" b="0" u="none" strike="noStrike">
                <a:solidFill>
                  <a:schemeClr val="dk1"/>
                </a:solidFill>
                <a:effectLst/>
                <a:uFillTx/>
                <a:latin typeface="Times New Roman"/>
              </a:rPr>
              <a:t>дизайн (архітектура);</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uk-UA" sz="1800" b="0" u="none" strike="noStrike">
                <a:solidFill>
                  <a:schemeClr val="dk1"/>
                </a:solidFill>
                <a:effectLst/>
                <a:uFillTx/>
                <a:latin typeface="Times New Roman"/>
              </a:rPr>
              <a:t> </a:t>
            </a:r>
            <a:r>
              <a:rPr lang="pl-PL" sz="1800" b="0" u="none" strike="noStrike">
                <a:solidFill>
                  <a:schemeClr val="dk1"/>
                </a:solidFill>
                <a:effectLst/>
                <a:uFillTx/>
                <a:latin typeface="Times New Roman"/>
              </a:rPr>
              <a:t>Software construction – </a:t>
            </a:r>
            <a:r>
              <a:rPr lang="uk-UA" sz="1800" b="0" u="none" strike="noStrike">
                <a:solidFill>
                  <a:schemeClr val="dk1"/>
                </a:solidFill>
                <a:effectLst/>
                <a:uFillTx/>
                <a:latin typeface="Times New Roman"/>
              </a:rPr>
              <a:t>конструювання програмного забезпечення;</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uk-UA" sz="1800" b="0" u="none" strike="noStrike">
                <a:solidFill>
                  <a:schemeClr val="dk1"/>
                </a:solidFill>
                <a:effectLst/>
                <a:uFillTx/>
                <a:latin typeface="Times New Roman"/>
              </a:rPr>
              <a:t> </a:t>
            </a:r>
            <a:r>
              <a:rPr lang="pl-PL" sz="1800" b="0" u="none" strike="noStrike">
                <a:solidFill>
                  <a:schemeClr val="dk1"/>
                </a:solidFill>
                <a:effectLst/>
                <a:uFillTx/>
                <a:latin typeface="Times New Roman"/>
              </a:rPr>
              <a:t>Software testing – </a:t>
            </a:r>
            <a:r>
              <a:rPr lang="uk-UA" sz="1800" b="0" u="none" strike="noStrike">
                <a:solidFill>
                  <a:schemeClr val="dk1"/>
                </a:solidFill>
                <a:effectLst/>
                <a:uFillTx/>
                <a:latin typeface="Times New Roman"/>
              </a:rPr>
              <a:t>тестування;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pl-PL" sz="1800" b="0" u="none" strike="noStrike">
                <a:solidFill>
                  <a:schemeClr val="dk1"/>
                </a:solidFill>
                <a:effectLst/>
                <a:uFillTx/>
                <a:latin typeface="Times New Roman"/>
              </a:rPr>
              <a:t>Software maintenance – </a:t>
            </a:r>
            <a:r>
              <a:rPr lang="uk-UA" sz="1800" b="0" u="none" strike="noStrike">
                <a:solidFill>
                  <a:schemeClr val="dk1"/>
                </a:solidFill>
                <a:effectLst/>
                <a:uFillTx/>
                <a:latin typeface="Times New Roman"/>
              </a:rPr>
              <a:t>експлуатація (підтримка) програмного забезпечення;</a:t>
            </a:r>
            <a:r>
              <a:rPr lang="pl-PL" sz="1800" b="0" u="none" strike="noStrike">
                <a:solidFill>
                  <a:schemeClr val="dk1"/>
                </a:solidFill>
                <a:effectLst/>
                <a:uFillTx/>
                <a:latin typeface="Times New Roman"/>
              </a:rPr>
              <a:t>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pl-PL" sz="1800" b="0" u="none" strike="noStrike">
                <a:solidFill>
                  <a:schemeClr val="dk1"/>
                </a:solidFill>
                <a:effectLst/>
                <a:uFillTx/>
                <a:latin typeface="Times New Roman"/>
              </a:rPr>
              <a:t>Software configuration management – </a:t>
            </a:r>
            <a:r>
              <a:rPr lang="uk-UA" sz="1800" b="0" u="none" strike="noStrike">
                <a:solidFill>
                  <a:schemeClr val="dk1"/>
                </a:solidFill>
                <a:effectLst/>
                <a:uFillTx/>
                <a:latin typeface="Times New Roman"/>
              </a:rPr>
              <a:t>управління конфігураціями;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pl-PL" sz="1800" b="0" u="none" strike="noStrike">
                <a:solidFill>
                  <a:schemeClr val="dk1"/>
                </a:solidFill>
                <a:effectLst/>
                <a:uFillTx/>
                <a:latin typeface="Times New Roman"/>
              </a:rPr>
              <a:t>Software engineering management – </a:t>
            </a:r>
            <a:r>
              <a:rPr lang="uk-UA" sz="1800" b="0" u="none" strike="noStrike">
                <a:solidFill>
                  <a:schemeClr val="dk1"/>
                </a:solidFill>
                <a:effectLst/>
                <a:uFillTx/>
                <a:latin typeface="Times New Roman"/>
              </a:rPr>
              <a:t>управління з програмної інженерії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uk-UA" sz="1800" b="0" u="none" strike="noStrike">
                <a:solidFill>
                  <a:schemeClr val="dk1"/>
                </a:solidFill>
                <a:effectLst/>
                <a:uFillTx/>
                <a:latin typeface="Times New Roman"/>
              </a:rPr>
              <a:t> </a:t>
            </a:r>
            <a:r>
              <a:rPr lang="pl-PL" sz="1800" b="0" u="none" strike="noStrike">
                <a:solidFill>
                  <a:schemeClr val="dk1"/>
                </a:solidFill>
                <a:effectLst/>
                <a:uFillTx/>
                <a:latin typeface="Times New Roman"/>
              </a:rPr>
              <a:t>Software engineering process – </a:t>
            </a:r>
            <a:r>
              <a:rPr lang="uk-UA" sz="1800" b="0" u="none" strike="noStrike">
                <a:solidFill>
                  <a:schemeClr val="dk1"/>
                </a:solidFill>
                <a:effectLst/>
                <a:uFillTx/>
                <a:latin typeface="Times New Roman"/>
              </a:rPr>
              <a:t>процеси програмної інженерії;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pl-PL" sz="1800" b="0" u="none" strike="noStrike">
                <a:solidFill>
                  <a:schemeClr val="dk1"/>
                </a:solidFill>
                <a:effectLst/>
                <a:uFillTx/>
                <a:latin typeface="Times New Roman"/>
              </a:rPr>
              <a:t>Software engineering tools and methods – </a:t>
            </a:r>
            <a:r>
              <a:rPr lang="uk-UA" sz="1800" b="0" u="none" strike="noStrike">
                <a:solidFill>
                  <a:schemeClr val="dk1"/>
                </a:solidFill>
                <a:effectLst/>
                <a:uFillTx/>
                <a:latin typeface="Times New Roman"/>
              </a:rPr>
              <a:t>інструменти та методи; </a:t>
            </a:r>
            <a:r>
              <a:rPr lang="pl-PL" sz="1800" b="0" u="none" strike="noStrike">
                <a:solidFill>
                  <a:schemeClr val="dk1"/>
                </a:solidFill>
                <a:effectLst/>
                <a:uFillTx/>
                <a:latin typeface="Times New Roman"/>
              </a:rPr>
              <a:t>Software quality–- </a:t>
            </a:r>
            <a:r>
              <a:rPr lang="uk-UA" sz="1800" b="0" u="none" strike="noStrike">
                <a:solidFill>
                  <a:schemeClr val="dk1"/>
                </a:solidFill>
                <a:effectLst/>
                <a:uFillTx/>
                <a:latin typeface="Times New Roman"/>
              </a:rPr>
              <a:t>якість програмного забезпечення.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uk-UA" sz="1800" b="0" u="none" strike="noStrike">
                <a:solidFill>
                  <a:schemeClr val="dk1"/>
                </a:solidFill>
                <a:effectLst/>
                <a:uFillTx/>
                <a:latin typeface="Times New Roman"/>
              </a:rPr>
              <a:t>Для кожної галузі </a:t>
            </a:r>
            <a:r>
              <a:rPr lang="pl-PL" sz="1800" b="0" u="none" strike="noStrike">
                <a:solidFill>
                  <a:schemeClr val="dk1"/>
                </a:solidFill>
                <a:effectLst/>
                <a:uFillTx/>
                <a:latin typeface="Times New Roman"/>
              </a:rPr>
              <a:t>SWEBOK </a:t>
            </a:r>
            <a:r>
              <a:rPr lang="uk-UA" sz="1800" b="0" u="none" strike="noStrike">
                <a:solidFill>
                  <a:schemeClr val="dk1"/>
                </a:solidFill>
                <a:effectLst/>
                <a:uFillTx/>
                <a:latin typeface="Times New Roman"/>
              </a:rPr>
              <a:t>містить опис ключових елементів у вигляді підобластей (</a:t>
            </a:r>
            <a:r>
              <a:rPr lang="pl-PL" sz="1800" b="0" u="none" strike="noStrike">
                <a:solidFill>
                  <a:schemeClr val="dk1"/>
                </a:solidFill>
                <a:effectLst/>
                <a:uFillTx/>
                <a:latin typeface="Times New Roman"/>
              </a:rPr>
              <a:t>subareas). </a:t>
            </a:r>
            <a:r>
              <a:rPr lang="uk-UA" sz="1800" b="0" u="none" strike="noStrike">
                <a:solidFill>
                  <a:schemeClr val="dk1"/>
                </a:solidFill>
                <a:effectLst/>
                <a:uFillTx/>
                <a:latin typeface="Times New Roman"/>
              </a:rPr>
              <a:t>Для кожної підобласті приведена декомпозиція в вигляді списку тем (</a:t>
            </a:r>
            <a:r>
              <a:rPr lang="pl-PL" sz="1800" b="0" u="none" strike="noStrike">
                <a:solidFill>
                  <a:schemeClr val="dk1"/>
                </a:solidFill>
                <a:effectLst/>
                <a:uFillTx/>
                <a:latin typeface="Times New Roman"/>
              </a:rPr>
              <a:t>topics) </a:t>
            </a:r>
            <a:r>
              <a:rPr lang="uk-UA" sz="1800" b="0" u="none" strike="noStrike">
                <a:solidFill>
                  <a:schemeClr val="dk1"/>
                </a:solidFill>
                <a:effectLst/>
                <a:uFillTx/>
                <a:latin typeface="Times New Roman"/>
              </a:rPr>
              <a:t>з їх описом.</a:t>
            </a:r>
            <a:endParaRPr lang="pl-PL"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p:nvPr>
        </p:nvSpPr>
        <p:spPr>
          <a:xfrm>
            <a:off x="168840" y="97560"/>
            <a:ext cx="11806920" cy="6595920"/>
          </a:xfrm>
          <a:prstGeom prst="rect">
            <a:avLst/>
          </a:prstGeom>
          <a:noFill/>
          <a:ln w="0">
            <a:noFill/>
          </a:ln>
        </p:spPr>
        <p:txBody>
          <a:bodyPr lIns="91440" rIns="91440" tIns="45720" bIns="45720" anchor="t">
            <a:noAutofit/>
          </a:bodyPr>
          <a:p>
            <a:pPr indent="0" algn="just" defTabSz="914400">
              <a:lnSpc>
                <a:spcPct val="150000"/>
              </a:lnSpc>
              <a:buNone/>
              <a:tabLst>
                <a:tab algn="l" pos="0"/>
              </a:tabLst>
            </a:pPr>
            <a:r>
              <a:rPr lang="uk-UA" sz="2200" b="0" u="none" strike="noStrike">
                <a:solidFill>
                  <a:schemeClr val="dk1"/>
                </a:solidFill>
                <a:effectLst/>
                <a:uFillTx/>
                <a:latin typeface="Times New Roman"/>
              </a:rPr>
              <a:t>У середині 80-х років минулого століття Міністерство оборони США міцно задумався про те, як вибирати розробників ПЗ при реалізації великих програмних проектів. За замовленням військових Інститут програмної інженерії, що входить до складу Університету Карнегі-Меллона, розробив </a:t>
            </a:r>
            <a:r>
              <a:rPr lang="pl-PL" sz="2200" b="1" u="none" strike="noStrike">
                <a:solidFill>
                  <a:schemeClr val="dk1"/>
                </a:solidFill>
                <a:effectLst/>
                <a:uFillTx/>
                <a:latin typeface="Times New Roman"/>
              </a:rPr>
              <a:t>SW-CMM, Capability Maturity Model for Software</a:t>
            </a:r>
            <a:r>
              <a:rPr lang="uk-UA" sz="2200" b="1" u="none" strike="noStrike">
                <a:solidFill>
                  <a:schemeClr val="dk1"/>
                </a:solidFill>
                <a:effectLst/>
                <a:uFillTx/>
                <a:latin typeface="Times New Roman"/>
              </a:rPr>
              <a:t>.</a:t>
            </a:r>
            <a:r>
              <a:rPr lang="pl-PL" sz="2200" b="0" u="none" strike="noStrike">
                <a:solidFill>
                  <a:schemeClr val="dk1"/>
                </a:solidFill>
                <a:effectLst/>
                <a:uFillTx/>
                <a:latin typeface="Times New Roman"/>
              </a:rPr>
              <a:t> </a:t>
            </a:r>
            <a:r>
              <a:rPr lang="uk-UA" sz="2200" b="0" u="none" strike="noStrike">
                <a:solidFill>
                  <a:schemeClr val="dk1"/>
                </a:solidFill>
                <a:effectLst/>
                <a:uFillTx/>
                <a:latin typeface="Times New Roman"/>
              </a:rPr>
              <a:t>У підсумку методологія виявилася надзвичайно корисною для більшості компаній, які прагнуть якісно поліпшити існуючі процеси проектування та розробки програмних засобів.. Надалі ця модель переросла в методологію підвищення якості процесів підприємства </a:t>
            </a:r>
            <a:r>
              <a:rPr lang="pl-PL" sz="2200" b="1" u="none" strike="noStrike">
                <a:solidFill>
                  <a:schemeClr val="dk1"/>
                </a:solidFill>
                <a:effectLst/>
                <a:uFillTx/>
                <a:latin typeface="Times New Roman"/>
              </a:rPr>
              <a:t>Capability Maturity Model Integration CMMI</a:t>
            </a:r>
            <a:r>
              <a:rPr lang="pl-PL" sz="2200" b="0" u="none" strike="noStrike">
                <a:solidFill>
                  <a:schemeClr val="dk1"/>
                </a:solidFill>
                <a:effectLst/>
                <a:uFillTx/>
                <a:latin typeface="Times New Roman"/>
              </a:rPr>
              <a:t>. </a:t>
            </a:r>
            <a:r>
              <a:rPr lang="uk-UA" sz="2200" b="0" u="none" strike="noStrike">
                <a:solidFill>
                  <a:schemeClr val="dk1"/>
                </a:solidFill>
                <a:effectLst/>
                <a:uFillTx/>
                <a:latin typeface="Times New Roman"/>
              </a:rPr>
              <a:t>Застосування </a:t>
            </a:r>
            <a:r>
              <a:rPr lang="pl-PL" sz="2200" b="0" u="none" strike="noStrike">
                <a:solidFill>
                  <a:schemeClr val="dk1"/>
                </a:solidFill>
                <a:effectLst/>
                <a:uFillTx/>
                <a:latin typeface="Times New Roman"/>
              </a:rPr>
              <a:t>CMMI </a:t>
            </a:r>
            <a:r>
              <a:rPr lang="uk-UA" sz="2200" b="0" u="none" strike="noStrike">
                <a:solidFill>
                  <a:schemeClr val="dk1"/>
                </a:solidFill>
                <a:effectLst/>
                <a:uFillTx/>
                <a:latin typeface="Times New Roman"/>
              </a:rPr>
              <a:t>дозволяє поставити розробку ПЗ на промислову основу, підвищити керованість ключовими процесами і виробничу культуру в цілому, гарантувати якісну роботу та виконання проектів в строк.</a:t>
            </a:r>
            <a:endParaRPr lang="pl-PL" sz="2200" b="0" u="none" strike="noStrike">
              <a:solidFill>
                <a:schemeClr val="dk1"/>
              </a:solidFill>
              <a:effectLst/>
              <a:uFillTx/>
              <a:latin typeface="Calibri"/>
            </a:endParaRPr>
          </a:p>
          <a:p>
            <a:pPr indent="0" algn="just" defTabSz="914400">
              <a:lnSpc>
                <a:spcPct val="150000"/>
              </a:lnSpc>
              <a:buNone/>
              <a:tabLst>
                <a:tab algn="l" pos="0"/>
              </a:tabLst>
            </a:pPr>
            <a:r>
              <a:rPr lang="uk-UA" sz="2200" b="0" u="none" strike="noStrike">
                <a:solidFill>
                  <a:schemeClr val="dk1"/>
                </a:solidFill>
                <a:effectLst/>
                <a:uFillTx/>
                <a:latin typeface="Times New Roman"/>
              </a:rPr>
              <a:t> Основою для створення </a:t>
            </a:r>
            <a:r>
              <a:rPr lang="pl-PL" sz="2200" b="0" u="none" strike="noStrike">
                <a:solidFill>
                  <a:schemeClr val="dk1"/>
                </a:solidFill>
                <a:effectLst/>
                <a:uFillTx/>
                <a:latin typeface="Times New Roman"/>
              </a:rPr>
              <a:t>CMM </a:t>
            </a:r>
            <a:r>
              <a:rPr lang="uk-UA" sz="2200" b="0" u="none" strike="noStrike">
                <a:solidFill>
                  <a:schemeClr val="dk1"/>
                </a:solidFill>
                <a:effectLst/>
                <a:uFillTx/>
                <a:latin typeface="Times New Roman"/>
              </a:rPr>
              <a:t>стало базове положення про те, що фундаментальна проблема "кризи" процесу розробки якісного ПЗ полягає не у відсутності нових методів і засобів розробки, а в нездатності компанії організувати технологічні процеси і керувати ними. </a:t>
            </a:r>
            <a:endParaRPr lang="pl-PL" sz="22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p:nvPr>
        </p:nvSpPr>
        <p:spPr>
          <a:xfrm>
            <a:off x="381600" y="284040"/>
            <a:ext cx="10971720" cy="589248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ru-RU" sz="2400" b="0" u="none" strike="noStrike">
                <a:solidFill>
                  <a:schemeClr val="dk1"/>
                </a:solidFill>
                <a:effectLst/>
                <a:uFillTx/>
                <a:latin typeface="Times New Roman"/>
              </a:rPr>
              <a:t>Дана модель визначає п'ять рівнів зрілості процесу розробки ПЗ, за якими замовники можуть оцінювати потенційних претендентів на підпис контракту, а розробники - удосконалювати процеси створення ПЗ. </a:t>
            </a:r>
            <a:endParaRPr lang="pl-PL" sz="2400" b="0" u="none" strike="noStrike">
              <a:solidFill>
                <a:schemeClr val="dk1"/>
              </a:solidFill>
              <a:effectLst/>
              <a:uFillTx/>
              <a:latin typeface="Calibri"/>
            </a:endParaRPr>
          </a:p>
        </p:txBody>
      </p:sp>
      <p:pic>
        <p:nvPicPr>
          <p:cNvPr id="74" name="Рисунок 4"/>
          <p:cNvPicPr/>
          <p:nvPr/>
        </p:nvPicPr>
        <p:blipFill>
          <a:blip r:embed="rId1"/>
          <a:stretch/>
        </p:blipFill>
        <p:spPr>
          <a:xfrm>
            <a:off x="3373560" y="2074320"/>
            <a:ext cx="6098400" cy="43837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p:nvPr>
        </p:nvSpPr>
        <p:spPr>
          <a:xfrm>
            <a:off x="612720" y="372960"/>
            <a:ext cx="10740960" cy="580392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Початковий рівень (</a:t>
            </a:r>
            <a:r>
              <a:rPr lang="pl-PL" sz="2400" b="1" u="none" strike="noStrike">
                <a:solidFill>
                  <a:schemeClr val="dk1"/>
                </a:solidFill>
                <a:effectLst/>
                <a:uFillTx/>
                <a:latin typeface="Times New Roman"/>
              </a:rPr>
              <a:t>Initial Level - Level 1)</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pl-PL"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На даному рівні компанія може отримати замовлення, розробити і передати замовнику програмний продукт. </a:t>
            </a:r>
            <a:r>
              <a:rPr lang="ru-RU" sz="2400" b="0" u="none" strike="noStrike">
                <a:solidFill>
                  <a:schemeClr val="dk1"/>
                </a:solidFill>
                <a:effectLst/>
                <a:uFillTx/>
                <a:latin typeface="Times New Roman"/>
              </a:rPr>
              <a:t>Процес розробки носить хаотичний характер</a:t>
            </a:r>
            <a:r>
              <a:rPr lang="ru-RU" sz="1600" b="0" u="none" strike="noStrike">
                <a:solidFill>
                  <a:schemeClr val="dk1"/>
                </a:solidFill>
                <a:effectLst/>
                <a:uFillTx/>
                <a:latin typeface="Calibri"/>
              </a:rPr>
              <a:t>.. </a:t>
            </a:r>
            <a:r>
              <a:rPr lang="uk-UA" sz="2400" b="0" u="none" strike="noStrike">
                <a:solidFill>
                  <a:schemeClr val="dk1"/>
                </a:solidFill>
                <a:effectLst/>
                <a:uFillTx/>
                <a:latin typeface="Times New Roman"/>
              </a:rPr>
              <a:t>Стабільність розробок відсутня. Лише деякі процеси визначені, результат повністю залежить від зусиль окремих співробітників. Успіх одного проекту не гарантує успішності наступного. До цієї категорії можна віднести будь-яку компанію, яка хоч якось виконує взяті на себе зобов'язання.</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p:nvPr>
        </p:nvSpPr>
        <p:spPr>
          <a:xfrm>
            <a:off x="559440" y="230760"/>
            <a:ext cx="10794240" cy="5945760"/>
          </a:xfrm>
          <a:prstGeom prst="rect">
            <a:avLst/>
          </a:prstGeom>
          <a:noFill/>
          <a:ln w="0">
            <a:noFill/>
          </a:ln>
        </p:spPr>
        <p:txBody>
          <a:bodyPr lIns="91440" rIns="91440" tIns="45720" bIns="45720" anchor="t">
            <a:normAutofit lnSpcReduction="9999"/>
          </a:bodyPr>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Повторюваний рівень (</a:t>
            </a:r>
            <a:r>
              <a:rPr lang="pl-PL" sz="2400" b="1" u="none" strike="noStrike">
                <a:solidFill>
                  <a:schemeClr val="dk1"/>
                </a:solidFill>
                <a:effectLst/>
                <a:uFillTx/>
                <a:latin typeface="Times New Roman"/>
              </a:rPr>
              <a:t>Repeatable Level - Level 2)</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pl-PL"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Цьому рівню відповідають підприємства, що володіють певними технологіями управління та розробки. Управління вимогами та планування в більшості випадків ґрунтуються на розробленій документованій політиці та накопиченому досвіді. Встановлено та введено в повсякденну практику базові показники для оцінки параметрів проекту. Менеджери відстежують виконання робіт і контролюють тимчасові і виробничі витрати.</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У компанії розроблені деякі внутрішні стандарти і організовані спеціальні групи перевірки якості </a:t>
            </a:r>
            <a:r>
              <a:rPr lang="pl-PL" sz="2400" b="0" u="none" strike="noStrike">
                <a:solidFill>
                  <a:schemeClr val="dk1"/>
                </a:solidFill>
                <a:effectLst/>
                <a:uFillTx/>
                <a:latin typeface="Times New Roman"/>
              </a:rPr>
              <a:t>QA . </a:t>
            </a:r>
            <a:r>
              <a:rPr lang="uk-UA" sz="2400" b="0" u="none" strike="noStrike">
                <a:solidFill>
                  <a:schemeClr val="dk1"/>
                </a:solidFill>
                <a:effectLst/>
                <a:uFillTx/>
                <a:latin typeface="Times New Roman"/>
              </a:rPr>
              <a:t>Зміни версій кінцевого програмного продукту і створених проміжних програмних засобів відслідковуються в системі управління конфігурацією.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p:nvPr>
        </p:nvSpPr>
        <p:spPr>
          <a:xfrm>
            <a:off x="319680" y="417240"/>
            <a:ext cx="11034000" cy="57592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lang="uk-UA" sz="2400" b="0" u="none" strike="noStrike">
                <a:solidFill>
                  <a:schemeClr val="dk1"/>
                </a:solidFill>
                <a:effectLst/>
                <a:uFillTx/>
                <a:latin typeface="Times New Roman"/>
              </a:rPr>
              <a:t>Є необхідна дисципліна дотримання встановлених правил. Ефективні методики та процеси впроваджуються, що забезпечує можливість повторення успіху попередніх проектів в тій же прикладній галузі. Ключові галузі процесу розробки ПЗ цього рівня наведені на рисунку </a:t>
            </a:r>
            <a:endParaRPr lang="pl-PL" sz="2400" b="0" u="none" strike="noStrike">
              <a:solidFill>
                <a:schemeClr val="dk1"/>
              </a:solidFill>
              <a:effectLst/>
              <a:uFillTx/>
              <a:latin typeface="Calibri"/>
            </a:endParaRPr>
          </a:p>
        </p:txBody>
      </p:sp>
      <p:pic>
        <p:nvPicPr>
          <p:cNvPr id="78" name="Рисунок 4"/>
          <p:cNvPicPr/>
          <p:nvPr/>
        </p:nvPicPr>
        <p:blipFill>
          <a:blip r:embed="rId1"/>
          <a:stretch/>
        </p:blipFill>
        <p:spPr>
          <a:xfrm>
            <a:off x="3924000" y="1778400"/>
            <a:ext cx="3390840" cy="496944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p:nvPr>
        </p:nvSpPr>
        <p:spPr>
          <a:xfrm>
            <a:off x="363960" y="301680"/>
            <a:ext cx="10989360" cy="587484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Визначний рівень (</a:t>
            </a:r>
            <a:r>
              <a:rPr lang="pl-PL" sz="2400" b="1" u="none" strike="noStrike">
                <a:solidFill>
                  <a:schemeClr val="dk1"/>
                </a:solidFill>
                <a:effectLst/>
                <a:uFillTx/>
                <a:latin typeface="Times New Roman"/>
              </a:rPr>
              <a:t>Defined Level - Level 3) </a:t>
            </a:r>
            <a:r>
              <a:rPr lang="uk-UA" sz="2400" b="0" u="none" strike="noStrike">
                <a:solidFill>
                  <a:schemeClr val="dk1"/>
                </a:solidFill>
                <a:effectLst/>
                <a:uFillTx/>
                <a:latin typeface="Times New Roman"/>
              </a:rPr>
              <a:t>Рівень характеризується деталізованим методологічним підходом до управління (описані і закріплені в документованій політиці типові дії, що необхідні для багаторазового повторення: ролі і відповідальність учасників, стандартні процедури та операції, порядок дій, кількісні показники і метрики процесів, формати документів та ін.). </a:t>
            </a:r>
            <a:r>
              <a:rPr lang="ru-RU" sz="2400" b="0" u="none" strike="noStrike">
                <a:solidFill>
                  <a:schemeClr val="dk1"/>
                </a:solidFill>
                <a:effectLst/>
                <a:uFillTx/>
                <a:latin typeface="Times New Roman"/>
              </a:rPr>
              <a:t>У всіх проектах використовується стандартний для організації процес розробки та підтримки програмного забезпечення, адаптований під конкретний проект.</a:t>
            </a:r>
            <a:r>
              <a:rPr lang="ru-RU" sz="1600" b="0" u="none" strike="noStrike">
                <a:solidFill>
                  <a:schemeClr val="dk1"/>
                </a:solidFill>
                <a:effectLst/>
                <a:uFillTx/>
                <a:latin typeface="Calibri"/>
              </a:rPr>
              <a:t> </a:t>
            </a:r>
            <a:r>
              <a:rPr lang="uk-UA" sz="2400" b="0" u="none" strike="noStrike">
                <a:solidFill>
                  <a:schemeClr val="dk1"/>
                </a:solidFill>
                <a:effectLst/>
                <a:uFillTx/>
                <a:latin typeface="Times New Roman"/>
              </a:rPr>
              <a:t>Для створення і підтримки методологій в актуальному стані в організації підготовлена і постійно функціонує спеціальна група</a:t>
            </a:r>
            <a:r>
              <a:rPr lang="en-US" sz="2400" b="0" u="none" strike="noStrike">
                <a:solidFill>
                  <a:schemeClr val="dk1"/>
                </a:solidFill>
                <a:effectLst/>
                <a:uFillTx/>
                <a:latin typeface="Times New Roman"/>
              </a:rPr>
              <a:t>.</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p:nvPr>
        </p:nvSpPr>
        <p:spPr>
          <a:xfrm>
            <a:off x="452880" y="133200"/>
            <a:ext cx="10900800" cy="604332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Компанія регулярно проводить тренінги для підвищення професійного рівня своїх співробітників. Починаючи з цього рівня, організація практично перестає залежати від особистісних якостей конкретних розробників і не має тенденції опускатися на більш низькі рівні. Ця незалежність обумовлена продуманим механізмом постановки завдань, планування заходів, виконання  операцій і контролю виконання.</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Управлінські та інженерні процеси документовані, стандартизовані і інтегровані в уніфіковану для всієї організації технологію створення ПЗ. Кожен проект використовує затверджену версію цієї технології, адаптовану до особливостей поточного проекту.</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p:nvPr>
        </p:nvSpPr>
        <p:spPr>
          <a:xfrm>
            <a:off x="523800" y="319680"/>
            <a:ext cx="10829520" cy="5856840"/>
          </a:xfrm>
          <a:prstGeom prst="rect">
            <a:avLst/>
          </a:prstGeom>
          <a:noFill/>
          <a:ln w="0">
            <a:noFill/>
          </a:ln>
        </p:spPr>
        <p:txBody>
          <a:bodyPr lIns="91440" rIns="91440" tIns="45720" bIns="45720" anchor="t">
            <a:noAutofit/>
          </a:bodyPr>
          <a:p>
            <a:pPr indent="0" algn="just" defTabSz="914400">
              <a:lnSpc>
                <a:spcPct val="90000"/>
              </a:lnSpc>
              <a:spcBef>
                <a:spcPts val="1001"/>
              </a:spcBef>
              <a:buNone/>
              <a:tabLst>
                <a:tab algn="l" pos="0"/>
              </a:tabLst>
            </a:pPr>
            <a:r>
              <a:rPr lang="ru-RU" sz="2800" b="0" u="none" strike="noStrike">
                <a:solidFill>
                  <a:schemeClr val="dk1"/>
                </a:solidFill>
                <a:effectLst/>
                <a:uFillTx/>
                <a:latin typeface="Times New Roman"/>
              </a:rPr>
              <a:t>Ключові галузі процесу розробки ПЗ цього рівня наведені на рисунку</a:t>
            </a:r>
            <a:endParaRPr lang="pl-PL" sz="2800" b="0" u="none" strike="noStrike">
              <a:solidFill>
                <a:schemeClr val="dk1"/>
              </a:solidFill>
              <a:effectLst/>
              <a:uFillTx/>
              <a:latin typeface="Calibri"/>
            </a:endParaRPr>
          </a:p>
        </p:txBody>
      </p:sp>
      <p:pic>
        <p:nvPicPr>
          <p:cNvPr id="82" name="Рисунок 4"/>
          <p:cNvPicPr/>
          <p:nvPr/>
        </p:nvPicPr>
        <p:blipFill>
          <a:blip r:embed="rId1"/>
          <a:stretch/>
        </p:blipFill>
        <p:spPr>
          <a:xfrm>
            <a:off x="3666600" y="810000"/>
            <a:ext cx="4190040" cy="596232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p:nvPr>
        </p:nvSpPr>
        <p:spPr>
          <a:xfrm>
            <a:off x="328320" y="381600"/>
            <a:ext cx="11736000" cy="3434400"/>
          </a:xfrm>
          <a:prstGeom prst="rect">
            <a:avLst/>
          </a:prstGeom>
          <a:noFill/>
          <a:ln w="0">
            <a:noFill/>
          </a:ln>
        </p:spPr>
        <p:txBody>
          <a:bodyPr lIns="91440" rIns="91440" tIns="45720" bIns="45720" anchor="t">
            <a:normAutofit fontScale="70000" lnSpcReduction="19999"/>
          </a:bodyPr>
          <a:p>
            <a:pPr indent="0" defTabSz="914400">
              <a:lnSpc>
                <a:spcPct val="90000"/>
              </a:lnSpc>
              <a:spcBef>
                <a:spcPts val="1001"/>
              </a:spcBef>
              <a:buNone/>
              <a:tabLst>
                <a:tab algn="l" pos="0"/>
              </a:tabLst>
            </a:pPr>
            <a:r>
              <a:rPr lang="uk-UA" sz="2800" b="1" u="none" strike="noStrike">
                <a:solidFill>
                  <a:schemeClr val="dk1"/>
                </a:solidFill>
                <a:effectLst/>
                <a:uFillTx/>
                <a:latin typeface="Times New Roman"/>
              </a:rPr>
              <a:t>Керований рівень (</a:t>
            </a:r>
            <a:r>
              <a:rPr lang="pl-PL" sz="2800" b="1" u="none" strike="noStrike">
                <a:solidFill>
                  <a:schemeClr val="dk1"/>
                </a:solidFill>
                <a:effectLst/>
                <a:uFillTx/>
                <a:latin typeface="Times New Roman"/>
              </a:rPr>
              <a:t>Managed Level – Level 4)</a:t>
            </a:r>
            <a:endParaRPr lang="pl-PL" sz="28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pl-PL" sz="2800" b="0" u="none" strike="noStrike">
                <a:solidFill>
                  <a:schemeClr val="dk1"/>
                </a:solidFill>
                <a:effectLst/>
                <a:uFillTx/>
                <a:latin typeface="Times New Roman"/>
              </a:rPr>
              <a:t> </a:t>
            </a:r>
            <a:r>
              <a:rPr lang="uk-UA" sz="3200" b="0" u="none" strike="noStrike">
                <a:solidFill>
                  <a:schemeClr val="dk1"/>
                </a:solidFill>
                <a:effectLst/>
                <a:uFillTx/>
                <a:latin typeface="Times New Roman"/>
              </a:rPr>
              <a:t>Рівень, на якому розроблені і закріплені у відповідних нормативних документах кількісні показники якостей. Збираються детальні кількісні дані щодо функціонування процесів розробки та якості кінцевого продукту. Аналізується значення і динаміка цих даних. Більш високий рівень управління проектами досягається за рахунок зменшення відхилень різних показників проекту від запланованих. При цьому тенденції зміни продуктивності процесу можна відокремити від випадкових варіацій на підставі статистичної обробки результатів вимірювань в процесах. Ключові області процесу розробки ПЗ цього рівня наведені на наступному рисунку. </a:t>
            </a:r>
            <a:endParaRPr lang="pl-PL" sz="3200" b="0" u="none" strike="noStrike">
              <a:solidFill>
                <a:schemeClr val="dk1"/>
              </a:solidFill>
              <a:effectLst/>
              <a:uFillTx/>
              <a:latin typeface="Calibri"/>
            </a:endParaRPr>
          </a:p>
        </p:txBody>
      </p:sp>
      <p:pic>
        <p:nvPicPr>
          <p:cNvPr id="84" name="Рисунок 4"/>
          <p:cNvPicPr/>
          <p:nvPr/>
        </p:nvPicPr>
        <p:blipFill>
          <a:blip r:embed="rId1"/>
          <a:stretch/>
        </p:blipFill>
        <p:spPr>
          <a:xfrm>
            <a:off x="4064040" y="3816720"/>
            <a:ext cx="2913480" cy="265932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p:nvPr>
        </p:nvSpPr>
        <p:spPr>
          <a:xfrm>
            <a:off x="434880" y="390600"/>
            <a:ext cx="10918440" cy="5785920"/>
          </a:xfrm>
          <a:prstGeom prst="rect">
            <a:avLst/>
          </a:prstGeom>
          <a:noFill/>
          <a:ln w="0">
            <a:noFill/>
          </a:ln>
        </p:spPr>
        <p:txBody>
          <a:bodyPr lIns="91440" rIns="91440" tIns="45720" bIns="45720" anchor="t">
            <a:normAutofit/>
          </a:bodyPr>
          <a:p>
            <a:pPr indent="0" algn="just" defTabSz="914400">
              <a:lnSpc>
                <a:spcPct val="90000"/>
              </a:lnSpc>
              <a:spcBef>
                <a:spcPts val="1001"/>
              </a:spcBef>
              <a:buNone/>
              <a:tabLst>
                <a:tab algn="l" pos="0"/>
              </a:tabLst>
            </a:pPr>
            <a:r>
              <a:rPr lang="uk-UA" sz="2400" b="0" u="none" strike="noStrike">
                <a:solidFill>
                  <a:schemeClr val="dk1"/>
                </a:solidFill>
                <a:effectLst/>
                <a:uFillTx/>
                <a:latin typeface="Times New Roman"/>
              </a:rPr>
              <a:t>Для цього рівня заходи щодо вдосконалення розраховані не тільки на існуючі процеси, а й на впровадження, використання нових технологій і оцінку їх ефективності. Основним завданням всієї організації на цьому рівні є постійне вдосконалення існуючих процесів, в ідеалі спрямоване на запобігання відомої помилки або дефекту і попередження можливих. Застосовується механізм повторного використання компонентів від проекту до проекту (шаблони звітів, формати вимог, процедури і стандартні операції, бібліотеки модулів програмних засобів). Ключові галузі процесу розробки ПЗ цього рівня наведені на рисунку .</a:t>
            </a:r>
            <a:endParaRPr lang="pl-PL" sz="2400" b="0" u="none" strike="noStrike">
              <a:solidFill>
                <a:schemeClr val="dk1"/>
              </a:solidFill>
              <a:effectLst/>
              <a:uFillTx/>
              <a:latin typeface="Calibri"/>
            </a:endParaRPr>
          </a:p>
        </p:txBody>
      </p:sp>
      <p:pic>
        <p:nvPicPr>
          <p:cNvPr id="86" name="Рисунок 8"/>
          <p:cNvPicPr/>
          <p:nvPr/>
        </p:nvPicPr>
        <p:blipFill>
          <a:blip r:embed="rId1"/>
          <a:stretch/>
        </p:blipFill>
        <p:spPr>
          <a:xfrm>
            <a:off x="4328640" y="3283920"/>
            <a:ext cx="3285720" cy="304776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p:nvPr>
        </p:nvSpPr>
        <p:spPr>
          <a:xfrm>
            <a:off x="639360" y="248400"/>
            <a:ext cx="10714320" cy="592812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В результаті аудиту та атестації компанії присвоюється певний рівень, за результатами наступних аудитів рівень може підвищуватися або знижуватися. Кожен наступний рівень в обов'язковому порядку включає в себе всі ключові характеристики попередніх. У зв'язку з цим сертифікація компанії в одному з рівнів передбачає безумовне виконання всіх вимог більш низьких рівнів. Документація з повним описом </a:t>
            </a:r>
            <a:r>
              <a:rPr lang="pl-PL" sz="2400" b="0" u="none" strike="noStrike">
                <a:solidFill>
                  <a:schemeClr val="dk1"/>
                </a:solidFill>
                <a:effectLst/>
                <a:uFillTx/>
                <a:latin typeface="Times New Roman"/>
              </a:rPr>
              <a:t>SW-CMM </a:t>
            </a:r>
            <a:r>
              <a:rPr lang="uk-UA" sz="2400" b="0" u="none" strike="noStrike">
                <a:solidFill>
                  <a:schemeClr val="dk1"/>
                </a:solidFill>
                <a:effectLst/>
                <a:uFillTx/>
                <a:latin typeface="Times New Roman"/>
              </a:rPr>
              <a:t>займає близько 500 сторінок і визначає набір з 312 вимог, яким повинна відповідати організація, якщо вона планує атестуватися за цим стандартом на 5-ий рівень зрілості.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p:nvPr>
        </p:nvSpPr>
        <p:spPr>
          <a:xfrm>
            <a:off x="594720" y="0"/>
            <a:ext cx="10758600" cy="6176520"/>
          </a:xfrm>
          <a:prstGeom prst="rect">
            <a:avLst/>
          </a:prstGeom>
          <a:noFill/>
          <a:ln w="0">
            <a:noFill/>
          </a:ln>
        </p:spPr>
        <p:txBody>
          <a:bodyPr lIns="91440" rIns="91440" tIns="45720" bIns="45720" anchor="t">
            <a:normAutofit lnSpcReduction="9999"/>
          </a:bodyPr>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До переваг моделі </a:t>
            </a:r>
            <a:r>
              <a:rPr lang="pl-PL" sz="2400" b="1" u="none" strike="noStrike">
                <a:solidFill>
                  <a:schemeClr val="dk1"/>
                </a:solidFill>
                <a:effectLst/>
                <a:uFillTx/>
                <a:latin typeface="Times New Roman"/>
              </a:rPr>
              <a:t>CMM </a:t>
            </a:r>
            <a:r>
              <a:rPr lang="uk-UA" sz="2400" b="0" u="none" strike="noStrike">
                <a:solidFill>
                  <a:schemeClr val="dk1"/>
                </a:solidFill>
                <a:effectLst/>
                <a:uFillTx/>
                <a:latin typeface="Times New Roman"/>
              </a:rPr>
              <a:t>відноситься те, що вона орієнтована на організації, які займаються розробкою програмного забезпечення. У даній моделі вдалося більш детально визначити вимоги, які специфічні для процесів, що пов'язані з розробкою ПЗ. З цієї причини в </a:t>
            </a:r>
            <a:r>
              <a:rPr lang="pl-PL" sz="2400" b="0" u="none" strike="noStrike">
                <a:solidFill>
                  <a:schemeClr val="dk1"/>
                </a:solidFill>
                <a:effectLst/>
                <a:uFillTx/>
                <a:latin typeface="Times New Roman"/>
              </a:rPr>
              <a:t>CMM </a:t>
            </a:r>
            <a:r>
              <a:rPr lang="uk-UA" sz="2400" b="0" u="none" strike="noStrike">
                <a:solidFill>
                  <a:schemeClr val="dk1"/>
                </a:solidFill>
                <a:effectLst/>
                <a:uFillTx/>
                <a:latin typeface="Times New Roman"/>
              </a:rPr>
              <a:t>наведені не тільки вимоги до процесів організації, а й приклади реалізації таких вимог.</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Основний недолік </a:t>
            </a:r>
            <a:r>
              <a:rPr lang="pl-PL" sz="2400" b="1" u="none" strike="noStrike">
                <a:solidFill>
                  <a:schemeClr val="dk1"/>
                </a:solidFill>
                <a:effectLst/>
                <a:uFillTx/>
                <a:latin typeface="Times New Roman"/>
              </a:rPr>
              <a:t>CMM </a:t>
            </a:r>
            <a:r>
              <a:rPr lang="uk-UA" sz="2400" b="0" u="none" strike="noStrike">
                <a:solidFill>
                  <a:schemeClr val="dk1"/>
                </a:solidFill>
                <a:effectLst/>
                <a:uFillTx/>
                <a:latin typeface="Times New Roman"/>
              </a:rPr>
              <a:t>полягає в тому, що модель не авторизована як стандарт ні міжнародними, ні національними органами стандартизації. Втім, </a:t>
            </a:r>
            <a:r>
              <a:rPr lang="pl-PL" sz="2400" b="0" u="none" strike="noStrike">
                <a:solidFill>
                  <a:schemeClr val="dk1"/>
                </a:solidFill>
                <a:effectLst/>
                <a:uFillTx/>
                <a:latin typeface="Times New Roman"/>
              </a:rPr>
              <a:t>CMM </a:t>
            </a:r>
            <a:r>
              <a:rPr lang="uk-UA" sz="2400" b="0" u="none" strike="noStrike">
                <a:solidFill>
                  <a:schemeClr val="dk1"/>
                </a:solidFill>
                <a:effectLst/>
                <a:uFillTx/>
                <a:latin typeface="Times New Roman"/>
              </a:rPr>
              <a:t>давно стала промисловим стандартом. До недоліків моделі також необхідно віднести великі зовнішні накладні витрати на приведення процесів компанії у відповідність до моделі СММ, ніж при використанні моделей Міжнародного стандарту </a:t>
            </a:r>
            <a:r>
              <a:rPr lang="pl-PL" sz="2400" b="0" u="none" strike="noStrike">
                <a:solidFill>
                  <a:schemeClr val="dk1"/>
                </a:solidFill>
                <a:effectLst/>
                <a:uFillTx/>
                <a:latin typeface="Times New Roman"/>
              </a:rPr>
              <a:t>ISO 9000.</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p:nvPr>
        </p:nvSpPr>
        <p:spPr>
          <a:xfrm>
            <a:off x="319680" y="248400"/>
            <a:ext cx="11629440" cy="6338160"/>
          </a:xfrm>
          <a:prstGeom prst="rect">
            <a:avLst/>
          </a:prstGeom>
          <a:noFill/>
          <a:ln w="0">
            <a:noFill/>
          </a:ln>
        </p:spPr>
        <p:txBody>
          <a:bodyPr lIns="91440" rIns="91440" tIns="45720" bIns="45720" anchor="t">
            <a:normAutofit fontScale="85000" lnSpcReduction="9999"/>
          </a:bodyPr>
          <a:p>
            <a:pPr indent="0" defTabSz="914400">
              <a:lnSpc>
                <a:spcPct val="90000"/>
              </a:lnSpc>
              <a:spcBef>
                <a:spcPts val="1001"/>
              </a:spcBef>
              <a:buNone/>
              <a:tabLst>
                <a:tab algn="l" pos="0"/>
              </a:tabLst>
            </a:pPr>
            <a:r>
              <a:rPr lang="uk-UA" sz="2400" b="1" u="none" strike="noStrike">
                <a:solidFill>
                  <a:schemeClr val="dk1"/>
                </a:solidFill>
                <a:effectLst/>
                <a:uFillTx/>
                <a:latin typeface="Times New Roman"/>
              </a:rPr>
              <a:t>Стандарт </a:t>
            </a:r>
            <a:r>
              <a:rPr lang="pl-PL" sz="2400" b="1" u="none" strike="noStrike">
                <a:solidFill>
                  <a:schemeClr val="dk1"/>
                </a:solidFill>
                <a:effectLst/>
                <a:uFillTx/>
                <a:latin typeface="Times New Roman"/>
              </a:rPr>
              <a:t>SPICE </a:t>
            </a:r>
            <a:r>
              <a:rPr lang="en-US" sz="2400" b="1" u="none" strike="noStrike">
                <a:solidFill>
                  <a:schemeClr val="dk1"/>
                </a:solidFill>
                <a:effectLst/>
                <a:uFillTx/>
                <a:latin typeface="Times New Roman"/>
              </a:rPr>
              <a:t>(</a:t>
            </a:r>
            <a:r>
              <a:rPr lang="en-US" sz="1600" b="0" u="none" strike="noStrike">
                <a:solidFill>
                  <a:srgbClr val="666666"/>
                </a:solidFill>
                <a:effectLst/>
                <a:uFillTx/>
                <a:latin typeface="Arial"/>
              </a:rPr>
              <a:t>Software Process Improvement and Capability Determination)</a:t>
            </a:r>
            <a:endParaRPr lang="pl-PL" sz="16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Найбільше </a:t>
            </a:r>
            <a:r>
              <a:rPr lang="pl-PL" sz="2400" b="0" u="none" strike="noStrike">
                <a:solidFill>
                  <a:schemeClr val="dk1"/>
                </a:solidFill>
                <a:effectLst/>
                <a:uFillTx/>
                <a:latin typeface="Times New Roman"/>
              </a:rPr>
              <a:t>SPICE </a:t>
            </a:r>
            <a:r>
              <a:rPr lang="uk-UA" sz="2400" b="0" u="none" strike="noStrike">
                <a:solidFill>
                  <a:schemeClr val="dk1"/>
                </a:solidFill>
                <a:effectLst/>
                <a:uFillTx/>
                <a:latin typeface="Times New Roman"/>
              </a:rPr>
              <a:t>нагадує СММ. Точно так само, як і в СММ, основним завданням організації є постійне поліпшення процесу розробки можливостей (в </a:t>
            </a:r>
            <a:r>
              <a:rPr lang="pl-PL" sz="2400" b="0" u="none" strike="noStrike">
                <a:solidFill>
                  <a:schemeClr val="dk1"/>
                </a:solidFill>
                <a:effectLst/>
                <a:uFillTx/>
                <a:latin typeface="Times New Roman"/>
              </a:rPr>
              <a:t>SPICE </a:t>
            </a:r>
            <a:r>
              <a:rPr lang="uk-UA" sz="2400" b="0" u="none" strike="noStrike">
                <a:solidFill>
                  <a:schemeClr val="dk1"/>
                </a:solidFill>
                <a:effectLst/>
                <a:uFillTx/>
                <a:latin typeface="Times New Roman"/>
              </a:rPr>
              <a:t>визначено 6 різних рівнів), але ці рівні застосовуються не тільки до організації в цілому, а й до окремо взятих процесів. В основі стандарту лежить оцінка процесів. Ця оцінка виконується шляхом порівняння процесу розробки програмного забезпечення, що існує в даній організації, з описаною в стандарті моделлю. Аналіз результатів, що отримані на цьому етапі, допомагає визначити сильні і слабкі сторони процесу, а також внутрішні ризики, що властиві даному процесу. Це допомагає оцінити ефективність процесів, визначити причини погіршення якості та пов'язані з цим витрати в часі або вартості. Потім виконується визначення можливостей процесу, тобто можливостей його поліпшення. В результаті в організації може з'явитися розуміння необхідності поліпшення того чи іншого процесу. До цього моменту цілі вдосконалення процесу вже чітко сформульовані і залишається тільки технічна реалізація поставлених завдань. Після цього весь цикл робіт починається спочатку.</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p:nvPr>
        </p:nvSpPr>
        <p:spPr>
          <a:xfrm>
            <a:off x="506160" y="124200"/>
            <a:ext cx="10847520" cy="605232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ru-RU" sz="2400" b="0" u="none" strike="noStrike">
                <a:solidFill>
                  <a:schemeClr val="dk1"/>
                </a:solidFill>
                <a:effectLst/>
                <a:uFillTx/>
                <a:latin typeface="Times New Roman"/>
              </a:rPr>
              <a:t>Наступна модель (</a:t>
            </a:r>
            <a:r>
              <a:rPr lang="uk-UA" sz="2400" b="0" u="none" strike="noStrike">
                <a:solidFill>
                  <a:schemeClr val="dk1"/>
                </a:solidFill>
                <a:effectLst/>
                <a:uFillTx/>
                <a:latin typeface="Times New Roman"/>
              </a:rPr>
              <a:t>методологія) розроблення ПЗ: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pl-PL" sz="2400" b="1" u="none" strike="noStrike">
                <a:solidFill>
                  <a:schemeClr val="dk1"/>
                </a:solidFill>
                <a:effectLst/>
                <a:uFillTx/>
                <a:latin typeface="Times New Roman"/>
              </a:rPr>
              <a:t>Rational Unified Process (RUP) </a:t>
            </a:r>
            <a:r>
              <a:rPr lang="pl-PL"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розробка фірми </a:t>
            </a:r>
            <a:r>
              <a:rPr lang="pl-PL" sz="2400" b="0" u="none" strike="noStrike">
                <a:solidFill>
                  <a:schemeClr val="dk1"/>
                </a:solidFill>
                <a:effectLst/>
                <a:uFillTx/>
                <a:latin typeface="Times New Roman"/>
              </a:rPr>
              <a:t>Rational</a:t>
            </a:r>
            <a:r>
              <a:rPr lang="uk-UA" sz="2400" b="0" u="none" strike="noStrike">
                <a:solidFill>
                  <a:schemeClr val="dk1"/>
                </a:solidFill>
                <a:effectLst/>
                <a:uFillTx/>
                <a:latin typeface="Times New Roman"/>
              </a:rPr>
              <a:t> </a:t>
            </a:r>
            <a:r>
              <a:rPr lang="en-US" sz="2400" b="0" u="none" strike="noStrike">
                <a:solidFill>
                  <a:schemeClr val="dk1"/>
                </a:solidFill>
                <a:effectLst/>
                <a:uFillTx/>
                <a:latin typeface="Times New Roman"/>
              </a:rPr>
              <a:t>Software</a:t>
            </a:r>
            <a:r>
              <a:rPr lang="uk-UA" sz="2400" b="0" u="none" strike="noStrike">
                <a:solidFill>
                  <a:schemeClr val="dk1"/>
                </a:solidFill>
                <a:effectLst/>
                <a:uFillTx/>
                <a:latin typeface="Times New Roman"/>
              </a:rPr>
              <a:t>. </a:t>
            </a:r>
            <a:r>
              <a:rPr lang="pl-PL" sz="2400" b="0" u="none" strike="noStrike">
                <a:solidFill>
                  <a:schemeClr val="dk1"/>
                </a:solidFill>
                <a:effectLst/>
                <a:uFillTx/>
                <a:latin typeface="Times New Roman"/>
              </a:rPr>
              <a:t>Rational Unified Proc</a:t>
            </a:r>
            <a:r>
              <a:rPr lang="uk-UA" sz="2400" b="0" u="none" strike="noStrike">
                <a:solidFill>
                  <a:schemeClr val="dk1"/>
                </a:solidFill>
                <a:effectLst/>
                <a:uFillTx/>
                <a:latin typeface="Times New Roman"/>
              </a:rPr>
              <a:t>с</a:t>
            </a:r>
            <a:r>
              <a:rPr lang="pl-PL" sz="2400" b="0" u="none" strike="noStrike">
                <a:solidFill>
                  <a:schemeClr val="dk1"/>
                </a:solidFill>
                <a:effectLst/>
                <a:uFillTx/>
                <a:latin typeface="Times New Roman"/>
              </a:rPr>
              <a:t>ess (RUP), </a:t>
            </a:r>
            <a:r>
              <a:rPr lang="uk-UA" sz="2400" b="0" u="none" strike="noStrike">
                <a:solidFill>
                  <a:schemeClr val="dk1"/>
                </a:solidFill>
                <a:effectLst/>
                <a:uFillTx/>
                <a:latin typeface="Times New Roman"/>
              </a:rPr>
              <a:t>що пропонує ітеративну модель розроблення, що включає чотири фази: початок, дослідження, побудову та впровадження. Проходження через чотири основні фази називається циклом розроблення, кожен цикл завершується генерацією працездатної версії системи. У ході супроводу продукт продовжує розвиватися і знову проходить ті самі фази.</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a:t>
            </a:r>
            <a:r>
              <a:rPr lang="ru-RU" sz="2400" b="0" u="none" strike="noStrike">
                <a:solidFill>
                  <a:schemeClr val="dk1"/>
                </a:solidFill>
                <a:effectLst/>
                <a:uFillTx/>
                <a:latin typeface="Times New Roman"/>
              </a:rPr>
              <a:t>Модель RUP описує загальний абстрактний процес, на основі якого організація або проектна команда повинна створити  конкретний спеціалізований процес, орієнтований на її потреби.</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p:nvPr>
        </p:nvSpPr>
        <p:spPr>
          <a:xfrm>
            <a:off x="443880" y="461520"/>
            <a:ext cx="10909440" cy="5715000"/>
          </a:xfrm>
          <a:prstGeom prst="rect">
            <a:avLst/>
          </a:prstGeom>
          <a:noFill/>
          <a:ln w="0">
            <a:noFill/>
          </a:ln>
        </p:spPr>
        <p:txBody>
          <a:bodyPr lIns="91440" rIns="91440" tIns="45720" bIns="45720" anchor="t">
            <a:normAutofit/>
          </a:bodyPr>
          <a:p>
            <a:pPr indent="0" algn="just" defTabSz="914400">
              <a:lnSpc>
                <a:spcPct val="150000"/>
              </a:lnSpc>
              <a:buNone/>
              <a:tabLst>
                <a:tab algn="l" pos="0"/>
              </a:tabLst>
            </a:pPr>
            <a:r>
              <a:rPr lang="uk-UA" sz="2400" b="0" u="none" strike="noStrike">
                <a:solidFill>
                  <a:schemeClr val="dk1"/>
                </a:solidFill>
                <a:effectLst/>
                <a:uFillTx/>
                <a:latin typeface="Times New Roman"/>
              </a:rPr>
              <a:t>Уніфікований процес розроблення ПЗ </a:t>
            </a:r>
            <a:r>
              <a:rPr lang="pl-PL" sz="2400" b="0" u="none" strike="noStrike">
                <a:solidFill>
                  <a:schemeClr val="dk1"/>
                </a:solidFill>
                <a:effectLst/>
                <a:uFillTx/>
                <a:latin typeface="Times New Roman"/>
              </a:rPr>
              <a:t>Rational Unified Process (RUP) </a:t>
            </a:r>
            <a:r>
              <a:rPr lang="uk-UA" sz="2400" b="0" u="none" strike="noStrike">
                <a:solidFill>
                  <a:schemeClr val="dk1"/>
                </a:solidFill>
                <a:effectLst/>
                <a:uFillTx/>
                <a:latin typeface="Times New Roman"/>
              </a:rPr>
              <a:t>виник як відповідь на потребу розробників у процесі, що об'єднує безліч аспектів розроблення програм і відповідає таким вимогам: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забезпечує керівництво діяльністю команди;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керує завданнями окремого розробника і команди в цілому;</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 показує, які артефакти необхідно розробити;</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 надає критерії відстеження та вимірювання продуктів і функціонування проекту.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Місце для вмісту 4"/>
          <p:cNvPicPr/>
          <p:nvPr/>
        </p:nvPicPr>
        <p:blipFill>
          <a:blip r:embed="rId1"/>
          <a:stretch/>
        </p:blipFill>
        <p:spPr>
          <a:xfrm>
            <a:off x="2914560" y="2062800"/>
            <a:ext cx="6362280" cy="3876480"/>
          </a:xfrm>
          <a:prstGeom prst="rect">
            <a:avLst/>
          </a:prstGeom>
          <a:noFill/>
          <a:ln w="0">
            <a:noFill/>
          </a:ln>
        </p:spPr>
      </p:pic>
      <p:sp>
        <p:nvSpPr>
          <p:cNvPr id="93" name="TextBox 6"/>
          <p:cNvSpPr/>
          <p:nvPr/>
        </p:nvSpPr>
        <p:spPr>
          <a:xfrm>
            <a:off x="648000" y="452880"/>
            <a:ext cx="10368720" cy="11336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lang="ru-RU" sz="2400" b="0" u="none" strike="noStrike">
                <a:solidFill>
                  <a:schemeClr val="dk1"/>
                </a:solidFill>
                <a:effectLst/>
                <a:uFillTx/>
                <a:latin typeface="Times New Roman"/>
              </a:rPr>
              <a:t>Уніфікований процес розроблення ПЗ передбачає розподіл ЖЦ програмного забезпечення на фази</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p:nvPr>
        </p:nvSpPr>
        <p:spPr>
          <a:xfrm>
            <a:off x="186480" y="168840"/>
            <a:ext cx="11166840" cy="6008040"/>
          </a:xfrm>
          <a:prstGeom prst="rect">
            <a:avLst/>
          </a:prstGeom>
          <a:noFill/>
          <a:ln w="0">
            <a:noFill/>
          </a:ln>
        </p:spPr>
        <p:txBody>
          <a:bodyPr lIns="91440" rIns="91440" tIns="45720" bIns="45720" anchor="t">
            <a:normAutofit fontScale="85000" lnSpcReduction="19999"/>
          </a:bodyPr>
          <a:p>
            <a:pPr marL="228600" indent="-228600" algn="just" defTabSz="914400">
              <a:lnSpc>
                <a:spcPct val="110000"/>
              </a:lnSpc>
              <a:spcBef>
                <a:spcPts val="1001"/>
              </a:spcBef>
              <a:buClr>
                <a:srgbClr val="000000"/>
              </a:buClr>
              <a:buFont typeface="Arial"/>
              <a:buChar char="•"/>
            </a:pPr>
            <a:r>
              <a:rPr lang="uk-UA" sz="2800" b="1" u="none" strike="noStrike">
                <a:solidFill>
                  <a:schemeClr val="dk1"/>
                </a:solidFill>
                <a:effectLst/>
                <a:uFillTx/>
                <a:latin typeface="Times New Roman"/>
              </a:rPr>
              <a:t> Фаза початку проекту (</a:t>
            </a:r>
            <a:r>
              <a:rPr lang="pl-PL" sz="2800" b="1" u="none" strike="noStrike">
                <a:solidFill>
                  <a:schemeClr val="dk1"/>
                </a:solidFill>
                <a:effectLst/>
                <a:uFillTx/>
                <a:latin typeface="Times New Roman"/>
              </a:rPr>
              <a:t>Inception). </a:t>
            </a:r>
            <a:r>
              <a:rPr lang="uk-UA" sz="2800" b="0" u="none" strike="noStrike">
                <a:solidFill>
                  <a:schemeClr val="dk1"/>
                </a:solidFill>
                <a:effectLst/>
                <a:uFillTx/>
                <a:latin typeface="Times New Roman"/>
              </a:rPr>
              <a:t>Визначаються основні цілі проекту, бюджет проекту, основні засоби його виконання - технології, інструменти, ключовий персонал, складаються попередні плани проекту. Основна мета цієї фази - досягти компромісу між усіма зацікавленими особами щодо завдань проекту.</a:t>
            </a:r>
            <a:endParaRPr lang="pl-PL" sz="2800" b="0" u="none" strike="noStrike">
              <a:solidFill>
                <a:schemeClr val="dk1"/>
              </a:solidFill>
              <a:effectLst/>
              <a:uFillTx/>
              <a:latin typeface="Calibri"/>
            </a:endParaRPr>
          </a:p>
          <a:p>
            <a:pPr marL="228600" indent="-228600" algn="just" defTabSz="914400">
              <a:lnSpc>
                <a:spcPct val="110000"/>
              </a:lnSpc>
              <a:spcBef>
                <a:spcPts val="1001"/>
              </a:spcBef>
              <a:buClr>
                <a:srgbClr val="000000"/>
              </a:buClr>
              <a:buFont typeface="Arial"/>
              <a:buChar char="•"/>
            </a:pPr>
            <a:r>
              <a:rPr lang="uk-UA" sz="2800" b="0" u="none" strike="noStrike">
                <a:solidFill>
                  <a:schemeClr val="dk1"/>
                </a:solidFill>
                <a:effectLst/>
                <a:uFillTx/>
                <a:latin typeface="Times New Roman"/>
              </a:rPr>
              <a:t>  </a:t>
            </a:r>
            <a:r>
              <a:rPr lang="uk-UA" sz="2800" b="1" u="none" strike="noStrike">
                <a:solidFill>
                  <a:schemeClr val="dk1"/>
                </a:solidFill>
                <a:effectLst/>
                <a:uFillTx/>
                <a:latin typeface="Times New Roman"/>
              </a:rPr>
              <a:t>Фаза опрацювання (</a:t>
            </a:r>
            <a:r>
              <a:rPr lang="pl-PL" sz="2800" b="1" u="none" strike="noStrike">
                <a:solidFill>
                  <a:schemeClr val="dk1"/>
                </a:solidFill>
                <a:effectLst/>
                <a:uFillTx/>
                <a:latin typeface="Times New Roman"/>
              </a:rPr>
              <a:t>Elaboration). </a:t>
            </a:r>
            <a:r>
              <a:rPr lang="uk-UA" sz="2800" b="0" u="none" strike="noStrike">
                <a:solidFill>
                  <a:schemeClr val="dk1"/>
                </a:solidFill>
                <a:effectLst/>
                <a:uFillTx/>
                <a:latin typeface="Times New Roman"/>
              </a:rPr>
              <a:t>Основна мета цієї фази - на базі основних, найбільш істотних вимог, розробити стабільну базову архітектуру продукту, яка дозволяє вирішувати поставлені перед системою завдання і надалі використовується як основа розробки системи. </a:t>
            </a:r>
            <a:endParaRPr lang="pl-PL" sz="2800" b="0" u="none" strike="noStrike">
              <a:solidFill>
                <a:schemeClr val="dk1"/>
              </a:solidFill>
              <a:effectLst/>
              <a:uFillTx/>
              <a:latin typeface="Calibri"/>
            </a:endParaRPr>
          </a:p>
          <a:p>
            <a:pPr marL="228600" indent="-228600" algn="just" defTabSz="914400">
              <a:lnSpc>
                <a:spcPct val="110000"/>
              </a:lnSpc>
              <a:spcBef>
                <a:spcPts val="1001"/>
              </a:spcBef>
              <a:buClr>
                <a:srgbClr val="000000"/>
              </a:buClr>
              <a:buFont typeface="Arial"/>
              <a:buChar char="•"/>
            </a:pPr>
            <a:r>
              <a:rPr lang="uk-UA" sz="2800" b="0" u="none" strike="noStrike">
                <a:solidFill>
                  <a:schemeClr val="dk1"/>
                </a:solidFill>
                <a:effectLst/>
                <a:uFillTx/>
                <a:latin typeface="Times New Roman"/>
              </a:rPr>
              <a:t> </a:t>
            </a:r>
            <a:r>
              <a:rPr lang="uk-UA" sz="2800" b="1" u="none" strike="noStrike">
                <a:solidFill>
                  <a:schemeClr val="dk1"/>
                </a:solidFill>
                <a:effectLst/>
                <a:uFillTx/>
                <a:latin typeface="Times New Roman"/>
              </a:rPr>
              <a:t>Фаза побудови (</a:t>
            </a:r>
            <a:r>
              <a:rPr lang="pl-PL" sz="2800" b="1" u="none" strike="noStrike">
                <a:solidFill>
                  <a:schemeClr val="dk1"/>
                </a:solidFill>
                <a:effectLst/>
                <a:uFillTx/>
                <a:latin typeface="Times New Roman"/>
              </a:rPr>
              <a:t>Construction). </a:t>
            </a:r>
            <a:r>
              <a:rPr lang="uk-UA" sz="2800" b="0" u="none" strike="noStrike">
                <a:solidFill>
                  <a:schemeClr val="dk1"/>
                </a:solidFill>
                <a:effectLst/>
                <a:uFillTx/>
                <a:latin typeface="Times New Roman"/>
              </a:rPr>
              <a:t>Основна мета цієї фази - детальне прояснення вимог і розробка системи, що задовольняє їм, на основі спроектованої раніше архітектури. </a:t>
            </a:r>
            <a:endParaRPr lang="pl-PL" sz="2800" b="0" u="none" strike="noStrike">
              <a:solidFill>
                <a:schemeClr val="dk1"/>
              </a:solidFill>
              <a:effectLst/>
              <a:uFillTx/>
              <a:latin typeface="Calibri"/>
            </a:endParaRPr>
          </a:p>
          <a:p>
            <a:pPr marL="228600" indent="-228600" algn="just" defTabSz="914400">
              <a:lnSpc>
                <a:spcPct val="110000"/>
              </a:lnSpc>
              <a:spcBef>
                <a:spcPts val="1001"/>
              </a:spcBef>
              <a:buClr>
                <a:srgbClr val="000000"/>
              </a:buClr>
              <a:buFont typeface="Arial"/>
              <a:buChar char="•"/>
            </a:pPr>
            <a:r>
              <a:rPr lang="uk-UA" sz="2800" b="0" u="none" strike="noStrike">
                <a:solidFill>
                  <a:schemeClr val="dk1"/>
                </a:solidFill>
                <a:effectLst/>
                <a:uFillTx/>
                <a:latin typeface="Times New Roman"/>
              </a:rPr>
              <a:t> </a:t>
            </a:r>
            <a:r>
              <a:rPr lang="uk-UA" sz="2800" b="1" u="none" strike="noStrike">
                <a:solidFill>
                  <a:schemeClr val="dk1"/>
                </a:solidFill>
                <a:effectLst/>
                <a:uFillTx/>
                <a:latin typeface="Times New Roman"/>
              </a:rPr>
              <a:t>Фаза передачі (</a:t>
            </a:r>
            <a:r>
              <a:rPr lang="pl-PL" sz="2800" b="1" u="none" strike="noStrike">
                <a:solidFill>
                  <a:schemeClr val="dk1"/>
                </a:solidFill>
                <a:effectLst/>
                <a:uFillTx/>
                <a:latin typeface="Times New Roman"/>
              </a:rPr>
              <a:t>Transition)</a:t>
            </a:r>
            <a:r>
              <a:rPr lang="pl-PL" sz="2800" b="0" u="none" strike="noStrike">
                <a:solidFill>
                  <a:schemeClr val="dk1"/>
                </a:solidFill>
                <a:effectLst/>
                <a:uFillTx/>
                <a:latin typeface="Times New Roman"/>
              </a:rPr>
              <a:t>. </a:t>
            </a:r>
            <a:r>
              <a:rPr lang="uk-UA" sz="2800" b="0" u="none" strike="noStrike">
                <a:solidFill>
                  <a:schemeClr val="dk1"/>
                </a:solidFill>
                <a:effectLst/>
                <a:uFillTx/>
                <a:latin typeface="Times New Roman"/>
              </a:rPr>
              <a:t>Мета фази - зробити систему повністю доступною кінцевим користувачам. Тут відбувається остаточне розгортання системи в її робочому середовищі, підгонка дрібних деталей під потреби користувачів. В рамках кожної фази можливе проведення декількох ітерацій, виконуваного проекту. </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p:nvPr>
        </p:nvSpPr>
        <p:spPr>
          <a:xfrm>
            <a:off x="514800" y="337320"/>
            <a:ext cx="10838520" cy="5839200"/>
          </a:xfrm>
          <a:prstGeom prst="rect">
            <a:avLst/>
          </a:prstGeom>
          <a:noFill/>
          <a:ln w="0">
            <a:noFill/>
          </a:ln>
        </p:spPr>
        <p:txBody>
          <a:bodyPr lIns="91440" rIns="91440" tIns="45720" bIns="45720" anchor="t">
            <a:normAutofit fontScale="85000" lnSpcReduction="9999"/>
          </a:bodyPr>
          <a:p>
            <a:pPr indent="0" algn="just" defTabSz="914400">
              <a:lnSpc>
                <a:spcPct val="90000"/>
              </a:lnSpc>
              <a:spcBef>
                <a:spcPts val="1001"/>
              </a:spcBef>
              <a:buNone/>
              <a:tabLst>
                <a:tab algn="l" pos="0"/>
              </a:tabLst>
            </a:pPr>
            <a:r>
              <a:rPr lang="uk-UA" sz="2800" b="0" u="none" strike="noStrike">
                <a:solidFill>
                  <a:schemeClr val="dk1"/>
                </a:solidFill>
                <a:effectLst/>
                <a:uFillTx/>
                <a:latin typeface="Times New Roman"/>
              </a:rPr>
              <a:t>Діяльності (основні процеси) </a:t>
            </a:r>
            <a:r>
              <a:rPr lang="pl-PL" sz="2800" b="0" u="none" strike="noStrike">
                <a:solidFill>
                  <a:schemeClr val="dk1"/>
                </a:solidFill>
                <a:effectLst/>
                <a:uFillTx/>
                <a:latin typeface="Times New Roman"/>
              </a:rPr>
              <a:t>RUP </a:t>
            </a:r>
            <a:r>
              <a:rPr lang="uk-UA" sz="2800" b="0" u="none" strike="noStrike">
                <a:solidFill>
                  <a:schemeClr val="dk1"/>
                </a:solidFill>
                <a:effectLst/>
                <a:uFillTx/>
                <a:latin typeface="Times New Roman"/>
              </a:rPr>
              <a:t>діляться </a:t>
            </a:r>
            <a:r>
              <a:rPr lang="uk-UA" sz="2800" b="1" u="none" strike="noStrike">
                <a:solidFill>
                  <a:schemeClr val="dk1"/>
                </a:solidFill>
                <a:effectLst/>
                <a:uFillTx/>
                <a:latin typeface="Times New Roman"/>
              </a:rPr>
              <a:t>на п'ять робочих </a:t>
            </a:r>
            <a:r>
              <a:rPr lang="uk-UA" sz="2800" b="0" u="none" strike="noStrike">
                <a:solidFill>
                  <a:schemeClr val="dk1"/>
                </a:solidFill>
                <a:effectLst/>
                <a:uFillTx/>
                <a:latin typeface="Times New Roman"/>
              </a:rPr>
              <a:t>і </a:t>
            </a:r>
            <a:r>
              <a:rPr lang="uk-UA" sz="2800" b="1" u="none" strike="noStrike">
                <a:solidFill>
                  <a:schemeClr val="dk1"/>
                </a:solidFill>
                <a:effectLst/>
                <a:uFillTx/>
                <a:latin typeface="Times New Roman"/>
              </a:rPr>
              <a:t>чотири підтримуючі</a:t>
            </a:r>
            <a:r>
              <a:rPr lang="uk-UA" sz="2800" b="0" u="none" strike="noStrike">
                <a:solidFill>
                  <a:schemeClr val="dk1"/>
                </a:solidFill>
                <a:effectLst/>
                <a:uFillTx/>
                <a:latin typeface="Times New Roman"/>
              </a:rPr>
              <a:t>. До робочих діяльностей відносяться:</a:t>
            </a:r>
            <a:endParaRPr lang="pl-PL" sz="28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800" b="0" u="none" strike="noStrike">
                <a:solidFill>
                  <a:schemeClr val="dk1"/>
                </a:solidFill>
                <a:effectLst/>
                <a:uFillTx/>
                <a:latin typeface="Times New Roman"/>
              </a:rPr>
              <a:t> • </a:t>
            </a:r>
            <a:r>
              <a:rPr lang="uk-UA" sz="2800" b="1" u="none" strike="noStrike">
                <a:solidFill>
                  <a:schemeClr val="dk1"/>
                </a:solidFill>
                <a:effectLst/>
                <a:uFillTx/>
                <a:latin typeface="Times New Roman"/>
              </a:rPr>
              <a:t>Моделювання предметної області </a:t>
            </a:r>
            <a:r>
              <a:rPr lang="uk-UA" sz="2800" b="0" u="none" strike="noStrike">
                <a:solidFill>
                  <a:schemeClr val="dk1"/>
                </a:solidFill>
                <a:effectLst/>
                <a:uFillTx/>
                <a:latin typeface="Times New Roman"/>
              </a:rPr>
              <a:t>(бізнес-моделювання, </a:t>
            </a:r>
            <a:r>
              <a:rPr lang="pl-PL" sz="2800" b="0" u="none" strike="noStrike">
                <a:solidFill>
                  <a:schemeClr val="dk1"/>
                </a:solidFill>
                <a:effectLst/>
                <a:uFillTx/>
                <a:latin typeface="Times New Roman"/>
              </a:rPr>
              <a:t>Business Modeling). </a:t>
            </a:r>
            <a:r>
              <a:rPr lang="uk-UA" sz="2800" b="0" u="none" strike="noStrike">
                <a:solidFill>
                  <a:schemeClr val="dk1"/>
                </a:solidFill>
                <a:effectLst/>
                <a:uFillTx/>
                <a:latin typeface="Times New Roman"/>
              </a:rPr>
              <a:t>Цілі цієї діяльності - зрозуміти бізнес-контекст, в якому повинна буде працювати система (і переконатися, що всі зацікавлені особи розуміють його однаково), зрозуміти можливі проблеми, оцінити можливі їх рішення та їх наслідки для бізнесу організації, в якій працюватиме система.</a:t>
            </a:r>
            <a:endParaRPr lang="pl-PL" sz="28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800" b="0" u="none" strike="noStrike">
                <a:solidFill>
                  <a:schemeClr val="dk1"/>
                </a:solidFill>
                <a:effectLst/>
                <a:uFillTx/>
                <a:latin typeface="Times New Roman"/>
              </a:rPr>
              <a:t> • </a:t>
            </a:r>
            <a:r>
              <a:rPr lang="uk-UA" sz="2800" b="1" u="none" strike="noStrike">
                <a:solidFill>
                  <a:schemeClr val="dk1"/>
                </a:solidFill>
                <a:effectLst/>
                <a:uFillTx/>
                <a:latin typeface="Times New Roman"/>
              </a:rPr>
              <a:t>Визначення вимог </a:t>
            </a:r>
            <a:r>
              <a:rPr lang="uk-UA" sz="2800" b="0" u="none" strike="noStrike">
                <a:solidFill>
                  <a:schemeClr val="dk1"/>
                </a:solidFill>
                <a:effectLst/>
                <a:uFillTx/>
                <a:latin typeface="Times New Roman"/>
              </a:rPr>
              <a:t>(</a:t>
            </a:r>
            <a:r>
              <a:rPr lang="pl-PL" sz="2800" b="0" u="none" strike="noStrike">
                <a:solidFill>
                  <a:schemeClr val="dk1"/>
                </a:solidFill>
                <a:effectLst/>
                <a:uFillTx/>
                <a:latin typeface="Times New Roman"/>
              </a:rPr>
              <a:t>Requirements). </a:t>
            </a:r>
            <a:r>
              <a:rPr lang="uk-UA" sz="2800" b="0" u="none" strike="noStrike">
                <a:solidFill>
                  <a:schemeClr val="dk1"/>
                </a:solidFill>
                <a:effectLst/>
                <a:uFillTx/>
                <a:latin typeface="Times New Roman"/>
              </a:rPr>
              <a:t>Цілі - зрозуміти, що повинна робити система, визначити межі системи і основу для планування проекту та оцінок ресурсозатрат в ньому.</a:t>
            </a:r>
            <a:endParaRPr lang="pl-PL" sz="28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800" b="0" u="none" strike="noStrike">
                <a:solidFill>
                  <a:schemeClr val="dk1"/>
                </a:solidFill>
                <a:effectLst/>
                <a:uFillTx/>
                <a:latin typeface="Times New Roman"/>
              </a:rPr>
              <a:t> • </a:t>
            </a:r>
            <a:r>
              <a:rPr lang="uk-UA" sz="2800" b="1" u="none" strike="noStrike">
                <a:solidFill>
                  <a:schemeClr val="dk1"/>
                </a:solidFill>
                <a:effectLst/>
                <a:uFillTx/>
                <a:latin typeface="Times New Roman"/>
              </a:rPr>
              <a:t>Аналіз та проектування </a:t>
            </a:r>
            <a:r>
              <a:rPr lang="uk-UA" sz="2800" b="0" u="none" strike="noStrike">
                <a:solidFill>
                  <a:schemeClr val="dk1"/>
                </a:solidFill>
                <a:effectLst/>
                <a:uFillTx/>
                <a:latin typeface="Times New Roman"/>
              </a:rPr>
              <a:t>(</a:t>
            </a:r>
            <a:r>
              <a:rPr lang="pl-PL" sz="2800" b="0" u="none" strike="noStrike">
                <a:solidFill>
                  <a:schemeClr val="dk1"/>
                </a:solidFill>
                <a:effectLst/>
                <a:uFillTx/>
                <a:latin typeface="Times New Roman"/>
              </a:rPr>
              <a:t>Analysis and Design). </a:t>
            </a:r>
            <a:r>
              <a:rPr lang="uk-UA" sz="2800" b="0" u="none" strike="noStrike">
                <a:solidFill>
                  <a:schemeClr val="dk1"/>
                </a:solidFill>
                <a:effectLst/>
                <a:uFillTx/>
                <a:latin typeface="Times New Roman"/>
              </a:rPr>
              <a:t>Вироблення архітектури системи на основі ключових вимог, створення проектної моделі, представленої у вигляді діаграм </a:t>
            </a:r>
            <a:r>
              <a:rPr lang="pl-PL" sz="2800" b="0" u="none" strike="noStrike">
                <a:solidFill>
                  <a:schemeClr val="dk1"/>
                </a:solidFill>
                <a:effectLst/>
                <a:uFillTx/>
                <a:latin typeface="Times New Roman"/>
              </a:rPr>
              <a:t>UML, </a:t>
            </a:r>
            <a:r>
              <a:rPr lang="uk-UA" sz="2800" b="0" u="none" strike="noStrike">
                <a:solidFill>
                  <a:schemeClr val="dk1"/>
                </a:solidFill>
                <a:effectLst/>
                <a:uFillTx/>
                <a:latin typeface="Times New Roman"/>
              </a:rPr>
              <a:t>що описують продукт з різних точок зору. </a:t>
            </a:r>
            <a:endParaRPr lang="pl-PL" sz="28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800" b="0" u="none" strike="noStrike">
                <a:solidFill>
                  <a:schemeClr val="dk1"/>
                </a:solidFill>
                <a:effectLst/>
                <a:uFillTx/>
                <a:latin typeface="Times New Roman"/>
              </a:rPr>
              <a:t>• </a:t>
            </a:r>
            <a:r>
              <a:rPr lang="uk-UA" sz="2800" b="1" u="none" strike="noStrike">
                <a:solidFill>
                  <a:schemeClr val="dk1"/>
                </a:solidFill>
                <a:effectLst/>
                <a:uFillTx/>
                <a:latin typeface="Times New Roman"/>
              </a:rPr>
              <a:t>Реалізація</a:t>
            </a:r>
            <a:r>
              <a:rPr lang="uk-UA" sz="2800" b="0" u="none" strike="noStrike">
                <a:solidFill>
                  <a:schemeClr val="dk1"/>
                </a:solidFill>
                <a:effectLst/>
                <a:uFillTx/>
                <a:latin typeface="Times New Roman"/>
              </a:rPr>
              <a:t> (</a:t>
            </a:r>
            <a:r>
              <a:rPr lang="pl-PL" sz="2800" b="0" u="none" strike="noStrike">
                <a:solidFill>
                  <a:schemeClr val="dk1"/>
                </a:solidFill>
                <a:effectLst/>
                <a:uFillTx/>
                <a:latin typeface="Times New Roman"/>
              </a:rPr>
              <a:t>Implementation). </a:t>
            </a:r>
            <a:r>
              <a:rPr lang="uk-UA" sz="2800" b="0" u="none" strike="noStrike">
                <a:solidFill>
                  <a:schemeClr val="dk1"/>
                </a:solidFill>
                <a:effectLst/>
                <a:uFillTx/>
                <a:latin typeface="Times New Roman"/>
              </a:rPr>
              <a:t>Розробка вихідного коду, компонент системи, тестування та інтегрування компонент. </a:t>
            </a:r>
            <a:endParaRPr lang="pl-PL" sz="28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800" b="0" u="none" strike="noStrike">
                <a:solidFill>
                  <a:schemeClr val="dk1"/>
                </a:solidFill>
                <a:effectLst/>
                <a:uFillTx/>
                <a:latin typeface="Times New Roman"/>
              </a:rPr>
              <a:t>• </a:t>
            </a:r>
            <a:r>
              <a:rPr lang="uk-UA" sz="2800" b="1" u="none" strike="noStrike">
                <a:solidFill>
                  <a:schemeClr val="dk1"/>
                </a:solidFill>
                <a:effectLst/>
                <a:uFillTx/>
                <a:latin typeface="Times New Roman"/>
              </a:rPr>
              <a:t>Тестування </a:t>
            </a:r>
            <a:r>
              <a:rPr lang="uk-UA" sz="2800" b="0" u="none" strike="noStrike">
                <a:solidFill>
                  <a:schemeClr val="dk1"/>
                </a:solidFill>
                <a:effectLst/>
                <a:uFillTx/>
                <a:latin typeface="Times New Roman"/>
              </a:rPr>
              <a:t>(</a:t>
            </a:r>
            <a:r>
              <a:rPr lang="pl-PL" sz="2800" b="0" u="none" strike="noStrike">
                <a:solidFill>
                  <a:schemeClr val="dk1"/>
                </a:solidFill>
                <a:effectLst/>
                <a:uFillTx/>
                <a:latin typeface="Times New Roman"/>
              </a:rPr>
              <a:t>Test). </a:t>
            </a:r>
            <a:r>
              <a:rPr lang="uk-UA" sz="2800" b="0" u="none" strike="noStrike">
                <a:solidFill>
                  <a:schemeClr val="dk1"/>
                </a:solidFill>
                <a:effectLst/>
                <a:uFillTx/>
                <a:latin typeface="Times New Roman"/>
              </a:rPr>
              <a:t>Загальна оцінка дефектів продукту, його якість в цілому; оцінка ступеня відповідності вихідним вимогам.</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p:nvPr>
        </p:nvSpPr>
        <p:spPr>
          <a:xfrm>
            <a:off x="630360" y="301680"/>
            <a:ext cx="10722960" cy="5874840"/>
          </a:xfrm>
          <a:prstGeom prst="rect">
            <a:avLst/>
          </a:prstGeom>
          <a:noFill/>
          <a:ln w="0">
            <a:noFill/>
          </a:ln>
        </p:spPr>
        <p:txBody>
          <a:bodyPr lIns="91440" rIns="91440" tIns="45720" bIns="45720" anchor="t">
            <a:normAutofit/>
          </a:bodyPr>
          <a:p>
            <a:pPr indent="0" algn="just" defTabSz="914400">
              <a:lnSpc>
                <a:spcPct val="90000"/>
              </a:lnSpc>
              <a:spcBef>
                <a:spcPts val="1001"/>
              </a:spcBef>
              <a:buNone/>
              <a:tabLst>
                <a:tab algn="l" pos="0"/>
              </a:tabLst>
            </a:pPr>
            <a:r>
              <a:rPr lang="uk-UA" sz="2400" b="1" u="none" strike="noStrike">
                <a:solidFill>
                  <a:schemeClr val="dk1"/>
                </a:solidFill>
                <a:effectLst/>
                <a:uFillTx/>
                <a:latin typeface="Times New Roman"/>
              </a:rPr>
              <a:t>Підтримуючими</a:t>
            </a:r>
            <a:r>
              <a:rPr lang="uk-UA" sz="2400" b="0" u="none" strike="noStrike">
                <a:solidFill>
                  <a:schemeClr val="dk1"/>
                </a:solidFill>
                <a:effectLst/>
                <a:uFillTx/>
                <a:latin typeface="Times New Roman"/>
              </a:rPr>
              <a:t> діяльностями є: </a:t>
            </a:r>
            <a:endParaRPr lang="pl-PL" sz="24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Розгортання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Deployment). </a:t>
            </a:r>
            <a:r>
              <a:rPr lang="uk-UA" sz="2400" b="0" u="none" strike="noStrike">
                <a:solidFill>
                  <a:schemeClr val="dk1"/>
                </a:solidFill>
                <a:effectLst/>
                <a:uFillTx/>
                <a:latin typeface="Times New Roman"/>
              </a:rPr>
              <a:t>Цілі – розгорнути систему в її робочому оточенні і оцінити її працездатність. </a:t>
            </a:r>
            <a:endParaRPr lang="pl-PL" sz="24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Управління конфігураціями і змінами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Configuration and Change Management). </a:t>
            </a:r>
            <a:r>
              <a:rPr lang="uk-UA" sz="2400" b="0" u="none" strike="noStrike">
                <a:solidFill>
                  <a:schemeClr val="dk1"/>
                </a:solidFill>
                <a:effectLst/>
                <a:uFillTx/>
                <a:latin typeface="Times New Roman"/>
              </a:rPr>
              <a:t>Визначення елементів, що підлягають зберіганню та правил побудови з них узгоджених конфігурацій, підтримку цілісності поточного стану системи, перевірка узгодженості внесених змін. </a:t>
            </a:r>
            <a:endParaRPr lang="pl-PL" sz="24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Управління проектом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Project Management). </a:t>
            </a:r>
            <a:r>
              <a:rPr lang="uk-UA" sz="2400" b="0" u="none" strike="noStrike">
                <a:solidFill>
                  <a:schemeClr val="dk1"/>
                </a:solidFill>
                <a:effectLst/>
                <a:uFillTx/>
                <a:latin typeface="Times New Roman"/>
              </a:rPr>
              <a:t>Включає планування, управління персоналом, забезпечення зв'язків з іншими зацікавленими особами, управління ризиками, відстеження поточного стану проекту. </a:t>
            </a:r>
            <a:endParaRPr lang="pl-PL" sz="24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Управління середовищем проекту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Environment). </a:t>
            </a:r>
            <a:r>
              <a:rPr lang="uk-UA" sz="2400" b="0" u="none" strike="noStrike">
                <a:solidFill>
                  <a:schemeClr val="dk1"/>
                </a:solidFill>
                <a:effectLst/>
                <a:uFillTx/>
                <a:latin typeface="Times New Roman"/>
              </a:rPr>
              <a:t>Налаштування процесу під конкретний проект, вибір і зміна технологій та інструментів, що використовуються в проекті.</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p:nvPr>
        </p:nvSpPr>
        <p:spPr>
          <a:xfrm>
            <a:off x="337320" y="133200"/>
            <a:ext cx="11016000" cy="604332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lang="uk-UA" sz="2400" b="1" u="none" strike="noStrike">
                <a:solidFill>
                  <a:schemeClr val="dk1"/>
                </a:solidFill>
                <a:effectLst/>
                <a:uFillTx/>
                <a:latin typeface="Times New Roman"/>
              </a:rPr>
              <a:t>Методологія </a:t>
            </a:r>
            <a:r>
              <a:rPr lang="pl-PL" sz="2400" b="1" u="none" strike="noStrike">
                <a:solidFill>
                  <a:schemeClr val="dk1"/>
                </a:solidFill>
                <a:effectLst/>
                <a:uFillTx/>
                <a:latin typeface="Times New Roman"/>
              </a:rPr>
              <a:t>Microsoft Solution Framework (MSF)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розробка фірми </a:t>
            </a:r>
            <a:r>
              <a:rPr lang="pl-PL" sz="2400" b="0" u="none" strike="noStrike">
                <a:solidFill>
                  <a:schemeClr val="dk1"/>
                </a:solidFill>
                <a:effectLst/>
                <a:uFillTx/>
                <a:latin typeface="Times New Roman"/>
              </a:rPr>
              <a:t>Microsoft, </a:t>
            </a:r>
            <a:r>
              <a:rPr lang="uk-UA" sz="2400" b="0" u="none" strike="noStrike">
                <a:solidFill>
                  <a:schemeClr val="dk1"/>
                </a:solidFill>
                <a:effectLst/>
                <a:uFillTx/>
                <a:latin typeface="Times New Roman"/>
              </a:rPr>
              <a:t>призначена для вирішення широкого кола завдань. Технологія масштабована, тобто налагоджується на вирішення завдань будь-якої складності колективом будь-якої чисельності. </a:t>
            </a:r>
            <a:r>
              <a:rPr lang="pl-PL" sz="2400" b="0" u="none" strike="noStrike">
                <a:solidFill>
                  <a:schemeClr val="dk1"/>
                </a:solidFill>
                <a:effectLst/>
                <a:uFillTx/>
                <a:latin typeface="Times New Roman"/>
              </a:rPr>
              <a:t>Microsoft Solution Framework (MSF) – </a:t>
            </a:r>
            <a:r>
              <a:rPr lang="uk-UA" sz="2400" b="0" u="none" strike="noStrike">
                <a:solidFill>
                  <a:schemeClr val="dk1"/>
                </a:solidFill>
                <a:effectLst/>
                <a:uFillTx/>
                <a:latin typeface="Times New Roman"/>
              </a:rPr>
              <a:t>методологія, що розроблялася для підвищення керованості процесів розроблення окремого підприємства (</a:t>
            </a:r>
            <a:r>
              <a:rPr lang="pl-PL" sz="2400" b="0" u="none" strike="noStrike">
                <a:solidFill>
                  <a:schemeClr val="dk1"/>
                </a:solidFill>
                <a:effectLst/>
                <a:uFillTx/>
                <a:latin typeface="Times New Roman"/>
              </a:rPr>
              <a:t>Microsoft), </a:t>
            </a:r>
            <a:r>
              <a:rPr lang="uk-UA" sz="2400" b="0" u="none" strike="noStrike">
                <a:solidFill>
                  <a:schemeClr val="dk1"/>
                </a:solidFill>
                <a:effectLst/>
                <a:uFillTx/>
                <a:latin typeface="Times New Roman"/>
              </a:rPr>
              <a:t>а потім стала застосовуватися розробниками, які використовують продукти </a:t>
            </a:r>
            <a:r>
              <a:rPr lang="pl-PL" sz="2400" b="0" u="none" strike="noStrike">
                <a:solidFill>
                  <a:schemeClr val="dk1"/>
                </a:solidFill>
                <a:effectLst/>
                <a:uFillTx/>
                <a:latin typeface="Times New Roman"/>
              </a:rPr>
              <a:t>Microsoft. </a:t>
            </a:r>
            <a:r>
              <a:rPr lang="uk-UA" sz="2400" b="0" u="none" strike="noStrike">
                <a:solidFill>
                  <a:schemeClr val="dk1"/>
                </a:solidFill>
                <a:effectLst/>
                <a:uFillTx/>
                <a:latin typeface="Times New Roman"/>
              </a:rPr>
              <a:t>Методологія, подібна до </a:t>
            </a:r>
            <a:r>
              <a:rPr lang="pl-PL" sz="2400" b="0" u="none" strike="noStrike">
                <a:solidFill>
                  <a:schemeClr val="dk1"/>
                </a:solidFill>
                <a:effectLst/>
                <a:uFillTx/>
                <a:latin typeface="Times New Roman"/>
              </a:rPr>
              <a:t>RUP, </a:t>
            </a:r>
            <a:r>
              <a:rPr lang="uk-UA" sz="2400" b="0" u="none" strike="noStrike">
                <a:solidFill>
                  <a:schemeClr val="dk1"/>
                </a:solidFill>
                <a:effectLst/>
                <a:uFillTx/>
                <a:latin typeface="Times New Roman"/>
              </a:rPr>
              <a:t>також включає чотири фази: аналіз, проектування, розроблення, стабілізацію, є ітераційною, припускає використання об'єктно-орієнтованого моделювання. </a:t>
            </a:r>
            <a:r>
              <a:rPr lang="pl-PL" sz="2400" b="0" u="none" strike="noStrike">
                <a:solidFill>
                  <a:schemeClr val="dk1"/>
                </a:solidFill>
                <a:effectLst/>
                <a:uFillTx/>
                <a:latin typeface="Times New Roman"/>
              </a:rPr>
              <a:t>MSF </a:t>
            </a:r>
            <a:r>
              <a:rPr lang="uk-UA" sz="2400" b="0" u="none" strike="noStrike">
                <a:solidFill>
                  <a:schemeClr val="dk1"/>
                </a:solidFill>
                <a:effectLst/>
                <a:uFillTx/>
                <a:latin typeface="Times New Roman"/>
              </a:rPr>
              <a:t>порівняно з </a:t>
            </a:r>
            <a:r>
              <a:rPr lang="pl-PL" sz="2400" b="0" u="none" strike="noStrike">
                <a:solidFill>
                  <a:schemeClr val="dk1"/>
                </a:solidFill>
                <a:effectLst/>
                <a:uFillTx/>
                <a:latin typeface="Times New Roman"/>
              </a:rPr>
              <a:t>RUP </a:t>
            </a:r>
            <a:r>
              <a:rPr lang="uk-UA" sz="2400" b="0" u="none" strike="noStrike">
                <a:solidFill>
                  <a:schemeClr val="dk1"/>
                </a:solidFill>
                <a:effectLst/>
                <a:uFillTx/>
                <a:latin typeface="Times New Roman"/>
              </a:rPr>
              <a:t>здебільшого орієнтована на розроблення бізнес-додатків</a:t>
            </a:r>
            <a:r>
              <a:rPr lang="uk-UA" sz="1600" b="0" u="none" strike="noStrike">
                <a:solidFill>
                  <a:schemeClr val="dk1"/>
                </a:solidFill>
                <a:effectLst/>
                <a:uFillTx/>
                <a:latin typeface="Calibri"/>
              </a:rPr>
              <a:t>. </a:t>
            </a:r>
            <a:endParaRPr lang="pl-PL" sz="16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p:nvPr>
        </p:nvSpPr>
        <p:spPr>
          <a:xfrm>
            <a:off x="523800" y="275040"/>
            <a:ext cx="11256480" cy="6222960"/>
          </a:xfrm>
          <a:prstGeom prst="rect">
            <a:avLst/>
          </a:prstGeom>
          <a:noFill/>
          <a:ln w="0">
            <a:noFill/>
          </a:ln>
        </p:spPr>
        <p:txBody>
          <a:bodyPr lIns="91440" rIns="91440" tIns="45720" bIns="45720" anchor="t">
            <a:normAutofit fontScale="92500" lnSpcReduction="9999"/>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В основу </a:t>
            </a:r>
            <a:r>
              <a:rPr lang="pl-PL" sz="2400" b="0" u="none" strike="noStrike">
                <a:solidFill>
                  <a:schemeClr val="dk1"/>
                </a:solidFill>
                <a:effectLst/>
                <a:uFillTx/>
                <a:latin typeface="Times New Roman"/>
              </a:rPr>
              <a:t>MSF </a:t>
            </a:r>
            <a:r>
              <a:rPr lang="uk-UA" sz="2400" b="0" u="none" strike="noStrike">
                <a:solidFill>
                  <a:schemeClr val="dk1"/>
                </a:solidFill>
                <a:effectLst/>
                <a:uFillTx/>
                <a:latin typeface="Times New Roman"/>
              </a:rPr>
              <a:t>покладено вісім базових принципів (</a:t>
            </a:r>
            <a:r>
              <a:rPr lang="pl-PL" sz="2400" b="0" u="none" strike="noStrike">
                <a:solidFill>
                  <a:schemeClr val="dk1"/>
                </a:solidFill>
                <a:effectLst/>
                <a:uFillTx/>
                <a:latin typeface="Times New Roman"/>
              </a:rPr>
              <a:t>foundational principles):</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pl-PL" sz="2400" b="0" u="none" strike="noStrike">
                <a:solidFill>
                  <a:schemeClr val="dk1"/>
                </a:solidFill>
                <a:effectLst/>
                <a:uFillTx/>
                <a:latin typeface="Times New Roman"/>
              </a:rPr>
              <a:t> − </a:t>
            </a:r>
            <a:r>
              <a:rPr lang="uk-UA" sz="2400" b="1" u="none" strike="noStrike">
                <a:solidFill>
                  <a:schemeClr val="dk1"/>
                </a:solidFill>
                <a:effectLst/>
                <a:uFillTx/>
                <a:latin typeface="Times New Roman"/>
              </a:rPr>
              <a:t>Сприяння відкритої комунікації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Foster open communications). </a:t>
            </a:r>
            <a:r>
              <a:rPr lang="uk-UA" sz="2400" b="0" u="none" strike="noStrike">
                <a:solidFill>
                  <a:schemeClr val="dk1"/>
                </a:solidFill>
                <a:effectLst/>
                <a:uFillTx/>
                <a:latin typeface="Times New Roman"/>
              </a:rPr>
              <a:t>Модель процесу </a:t>
            </a:r>
            <a:r>
              <a:rPr lang="pl-PL" sz="2400" b="0" u="none" strike="noStrike">
                <a:solidFill>
                  <a:schemeClr val="dk1"/>
                </a:solidFill>
                <a:effectLst/>
                <a:uFillTx/>
                <a:latin typeface="Times New Roman"/>
              </a:rPr>
              <a:t>MSF </a:t>
            </a:r>
            <a:r>
              <a:rPr lang="uk-UA" sz="2400" b="0" u="none" strike="noStrike">
                <a:solidFill>
                  <a:schemeClr val="dk1"/>
                </a:solidFill>
                <a:effectLst/>
                <a:uFillTx/>
                <a:latin typeface="Times New Roman"/>
              </a:rPr>
              <a:t>запроваджує вільний інформаційний потік серед членів команди та зацікавлених сторін (</a:t>
            </a:r>
            <a:r>
              <a:rPr lang="pl-PL" sz="2400" b="0" u="none" strike="noStrike">
                <a:solidFill>
                  <a:schemeClr val="dk1"/>
                </a:solidFill>
                <a:effectLst/>
                <a:uFillTx/>
                <a:latin typeface="Times New Roman"/>
              </a:rPr>
              <a:t>key stakeholders) </a:t>
            </a:r>
            <a:r>
              <a:rPr lang="uk-UA" sz="2400" b="0" u="none" strike="noStrike">
                <a:solidFill>
                  <a:schemeClr val="dk1"/>
                </a:solidFill>
                <a:effectLst/>
                <a:uFillTx/>
                <a:latin typeface="Times New Roman"/>
              </a:rPr>
              <a:t>для забезпечення однакового розуміння завдань. Документування ходу проекту та доступ до цих даних членів команди, зацікавлених сторін та замовників.</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 </a:t>
            </a:r>
            <a:r>
              <a:rPr lang="uk-UA" sz="2400" b="1" u="none" strike="noStrike">
                <a:solidFill>
                  <a:schemeClr val="dk1"/>
                </a:solidFill>
                <a:effectLst/>
                <a:uFillTx/>
                <a:latin typeface="Times New Roman"/>
              </a:rPr>
              <a:t>Робота у напрямку спільного бачення проекту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Work toward a shared vision). </a:t>
            </a:r>
            <a:r>
              <a:rPr lang="uk-UA" sz="2400" b="0" u="none" strike="noStrike">
                <a:solidFill>
                  <a:schemeClr val="dk1"/>
                </a:solidFill>
                <a:effectLst/>
                <a:uFillTx/>
                <a:latin typeface="Times New Roman"/>
              </a:rPr>
              <a:t>Модель процесу </a:t>
            </a:r>
            <a:r>
              <a:rPr lang="pl-PL" sz="2400" b="0" u="none" strike="noStrike">
                <a:solidFill>
                  <a:schemeClr val="dk1"/>
                </a:solidFill>
                <a:effectLst/>
                <a:uFillTx/>
                <a:latin typeface="Times New Roman"/>
              </a:rPr>
              <a:t>MSF </a:t>
            </a:r>
            <a:r>
              <a:rPr lang="uk-UA" sz="2400" b="0" u="none" strike="noStrike">
                <a:solidFill>
                  <a:schemeClr val="dk1"/>
                </a:solidFill>
                <a:effectLst/>
                <a:uFillTx/>
                <a:latin typeface="Times New Roman"/>
              </a:rPr>
              <a:t>запроваджує фазу формування концепції (</a:t>
            </a:r>
            <a:r>
              <a:rPr lang="pl-PL" sz="2400" b="0" u="none" strike="noStrike">
                <a:solidFill>
                  <a:schemeClr val="dk1"/>
                </a:solidFill>
                <a:effectLst/>
                <a:uFillTx/>
                <a:latin typeface="Times New Roman"/>
              </a:rPr>
              <a:t>Envisioning Phase) </a:t>
            </a:r>
            <a:r>
              <a:rPr lang="uk-UA" sz="2400" b="0" u="none" strike="noStrike">
                <a:solidFill>
                  <a:schemeClr val="dk1"/>
                </a:solidFill>
                <a:effectLst/>
                <a:uFillTx/>
                <a:latin typeface="Times New Roman"/>
              </a:rPr>
              <a:t>та окремий ключовий момент затвердження бачення (</a:t>
            </a:r>
            <a:r>
              <a:rPr lang="pl-PL" sz="2400" b="0" u="none" strike="noStrike">
                <a:solidFill>
                  <a:schemeClr val="dk1"/>
                </a:solidFill>
                <a:effectLst/>
                <a:uFillTx/>
                <a:latin typeface="Times New Roman"/>
              </a:rPr>
              <a:t>milestone Vision/Scope Approved) </a:t>
            </a:r>
            <a:r>
              <a:rPr lang="uk-UA" sz="2400" b="0" u="none" strike="noStrike">
                <a:solidFill>
                  <a:schemeClr val="dk1"/>
                </a:solidFill>
                <a:effectLst/>
                <a:uFillTx/>
                <a:latin typeface="Times New Roman"/>
              </a:rPr>
              <a:t>для формування спільного бачення проекту. Бачення включає детальне розуміння цілей та завдань для досягнення рішення поставленої проблеми. Спільне бачення виявляє припущення команди та замовників, потрібні для отримання рішення.</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p:nvPr>
        </p:nvSpPr>
        <p:spPr>
          <a:xfrm>
            <a:off x="372960" y="381600"/>
            <a:ext cx="10980720" cy="5794920"/>
          </a:xfrm>
          <a:prstGeom prst="rect">
            <a:avLst/>
          </a:prstGeom>
          <a:noFill/>
          <a:ln w="0">
            <a:noFill/>
          </a:ln>
        </p:spPr>
        <p:txBody>
          <a:bodyPr lIns="91440" rIns="91440" tIns="45720" bIns="45720" anchor="t">
            <a:normAutofit fontScale="85000" lnSpcReduction="9999"/>
          </a:bodyPr>
          <a:p>
            <a:pPr marL="228600" indent="-228600" algn="just" defTabSz="914400">
              <a:lnSpc>
                <a:spcPct val="150000"/>
              </a:lnSpc>
              <a:spcBef>
                <a:spcPts val="1001"/>
              </a:spcBef>
              <a:buClr>
                <a:srgbClr val="000000"/>
              </a:buClr>
              <a:buFont typeface="OpenSymbol"/>
              <a:buChar char="-"/>
            </a:pPr>
            <a:r>
              <a:rPr lang="uk-UA" sz="2800" b="1" u="none" strike="noStrike">
                <a:solidFill>
                  <a:schemeClr val="dk1"/>
                </a:solidFill>
                <a:effectLst/>
                <a:uFillTx/>
                <a:latin typeface="Times New Roman"/>
              </a:rPr>
              <a:t>Надання прав і можливостей членам команди </a:t>
            </a:r>
            <a:r>
              <a:rPr lang="uk-UA" sz="2800" b="0" u="none" strike="noStrike">
                <a:solidFill>
                  <a:schemeClr val="dk1"/>
                </a:solidFill>
                <a:effectLst/>
                <a:uFillTx/>
                <a:latin typeface="Times New Roman"/>
              </a:rPr>
              <a:t>(</a:t>
            </a:r>
            <a:r>
              <a:rPr lang="pl-PL" sz="2800" b="0" u="none" strike="noStrike">
                <a:solidFill>
                  <a:schemeClr val="dk1"/>
                </a:solidFill>
                <a:effectLst/>
                <a:uFillTx/>
                <a:latin typeface="Times New Roman"/>
              </a:rPr>
              <a:t>Empower team members). </a:t>
            </a:r>
            <a:r>
              <a:rPr lang="uk-UA" sz="2800" b="0" u="none" strike="noStrike">
                <a:solidFill>
                  <a:schemeClr val="dk1"/>
                </a:solidFill>
                <a:effectLst/>
                <a:uFillTx/>
                <a:latin typeface="Times New Roman"/>
              </a:rPr>
              <a:t>Розширення прав і можливостей членів команди для прийняття ними відповідальності за виконану роботу. Таке збільшення відповідальності може бути затверджене у графіках, де фіксується дата закінчення робіт, що також може бути засобом виявлення можливих затримок проекту.</a:t>
            </a:r>
            <a:endParaRPr lang="pl-PL" sz="2800" b="0" u="none" strike="noStrike">
              <a:solidFill>
                <a:schemeClr val="dk1"/>
              </a:solidFill>
              <a:effectLst/>
              <a:uFillTx/>
              <a:latin typeface="Calibri"/>
            </a:endParaRPr>
          </a:p>
          <a:p>
            <a:pPr marL="228600" indent="-228600" algn="just" defTabSz="914400">
              <a:lnSpc>
                <a:spcPct val="150000"/>
              </a:lnSpc>
              <a:spcBef>
                <a:spcPts val="1001"/>
              </a:spcBef>
              <a:buClr>
                <a:srgbClr val="000000"/>
              </a:buClr>
              <a:buFont typeface="OpenSymbol"/>
              <a:buChar char="-"/>
            </a:pPr>
            <a:r>
              <a:rPr lang="uk-UA" sz="2800" b="1" u="none" strike="noStrike">
                <a:solidFill>
                  <a:schemeClr val="dk1"/>
                </a:solidFill>
                <a:effectLst/>
                <a:uFillTx/>
                <a:latin typeface="Times New Roman"/>
              </a:rPr>
              <a:t>Визначення індивідуальної та спільної відповідальності </a:t>
            </a:r>
            <a:r>
              <a:rPr lang="uk-UA" sz="2800" b="0" u="none" strike="noStrike">
                <a:solidFill>
                  <a:schemeClr val="dk1"/>
                </a:solidFill>
                <a:effectLst/>
                <a:uFillTx/>
                <a:latin typeface="Times New Roman"/>
              </a:rPr>
              <a:t>(</a:t>
            </a:r>
            <a:r>
              <a:rPr lang="pl-PL" sz="2800" b="0" u="none" strike="noStrike">
                <a:solidFill>
                  <a:schemeClr val="dk1"/>
                </a:solidFill>
                <a:effectLst/>
                <a:uFillTx/>
                <a:latin typeface="Times New Roman"/>
              </a:rPr>
              <a:t>Establish clear accountability and shared responsibility). </a:t>
            </a:r>
            <a:r>
              <a:rPr lang="uk-UA" sz="2800" b="0" u="none" strike="noStrike">
                <a:solidFill>
                  <a:schemeClr val="dk1"/>
                </a:solidFill>
                <a:effectLst/>
                <a:uFillTx/>
                <a:latin typeface="Times New Roman"/>
              </a:rPr>
              <a:t>Модель командної групи </a:t>
            </a:r>
            <a:r>
              <a:rPr lang="pl-PL" sz="2800" b="0" u="none" strike="noStrike">
                <a:solidFill>
                  <a:schemeClr val="dk1"/>
                </a:solidFill>
                <a:effectLst/>
                <a:uFillTx/>
                <a:latin typeface="Times New Roman"/>
              </a:rPr>
              <a:t>MSF </a:t>
            </a:r>
            <a:r>
              <a:rPr lang="uk-UA" sz="2800" b="0" u="none" strike="noStrike">
                <a:solidFill>
                  <a:schemeClr val="dk1"/>
                </a:solidFill>
                <a:effectLst/>
                <a:uFillTx/>
                <a:latin typeface="Times New Roman"/>
              </a:rPr>
              <a:t>ґрунтується на принципі важливості роботи кожного для отримання якісного рішення проблеми. Усі члени групи розділяють відповідальність за проект. </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p:nvPr>
        </p:nvSpPr>
        <p:spPr>
          <a:xfrm>
            <a:off x="408240" y="177480"/>
            <a:ext cx="10945080" cy="5999040"/>
          </a:xfrm>
          <a:prstGeom prst="rect">
            <a:avLst/>
          </a:prstGeom>
          <a:noFill/>
          <a:ln w="0">
            <a:noFill/>
          </a:ln>
        </p:spPr>
        <p:txBody>
          <a:bodyPr lIns="91440" rIns="91440" tIns="45720" bIns="45720" anchor="t">
            <a:noAutofit/>
          </a:bodyPr>
          <a:p>
            <a:pPr indent="0" algn="just" defTabSz="914400">
              <a:lnSpc>
                <a:spcPct val="150000"/>
              </a:lnSpc>
              <a:spcBef>
                <a:spcPts val="1001"/>
              </a:spcBef>
              <a:buNone/>
              <a:tabLst>
                <a:tab algn="l" pos="0"/>
              </a:tabLst>
            </a:pPr>
            <a:r>
              <a:rPr lang="uk-UA" sz="2800" b="0" u="none" strike="noStrike">
                <a:solidFill>
                  <a:schemeClr val="dk1"/>
                </a:solidFill>
                <a:effectLst/>
                <a:uFillTx/>
                <a:latin typeface="Times New Roman"/>
              </a:rPr>
              <a:t>- </a:t>
            </a:r>
            <a:r>
              <a:rPr lang="uk-UA" sz="2800" b="1" u="none" strike="noStrike">
                <a:solidFill>
                  <a:schemeClr val="dk1"/>
                </a:solidFill>
                <a:effectLst/>
                <a:uFillTx/>
                <a:latin typeface="Times New Roman"/>
              </a:rPr>
              <a:t>Зосередження на бізнес-цілях </a:t>
            </a:r>
            <a:r>
              <a:rPr lang="uk-UA" sz="2800" b="0" u="none" strike="noStrike">
                <a:solidFill>
                  <a:schemeClr val="dk1"/>
                </a:solidFill>
                <a:effectLst/>
                <a:uFillTx/>
                <a:latin typeface="Times New Roman"/>
              </a:rPr>
              <a:t>(</a:t>
            </a:r>
            <a:r>
              <a:rPr lang="pl-PL" sz="2800" b="0" u="none" strike="noStrike">
                <a:solidFill>
                  <a:schemeClr val="dk1"/>
                </a:solidFill>
                <a:effectLst/>
                <a:uFillTx/>
                <a:latin typeface="Times New Roman"/>
              </a:rPr>
              <a:t>Focus on delivering business value). </a:t>
            </a:r>
            <a:r>
              <a:rPr lang="uk-UA" sz="2800" b="0" u="none" strike="noStrike">
                <a:solidFill>
                  <a:schemeClr val="dk1"/>
                </a:solidFill>
                <a:effectLst/>
                <a:uFillTx/>
                <a:latin typeface="Times New Roman"/>
              </a:rPr>
              <a:t>Рішення повинне приносити користь організації у вигляді додавання вартості бізнесу. Це додавання досягається тільки після повного розгортання рішення у виробничому середовищі.</a:t>
            </a:r>
            <a:endParaRPr lang="pl-PL" sz="28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800" b="0" u="none" strike="noStrike">
                <a:solidFill>
                  <a:schemeClr val="dk1"/>
                </a:solidFill>
                <a:effectLst/>
                <a:uFillTx/>
                <a:latin typeface="Times New Roman"/>
              </a:rPr>
              <a:t> − </a:t>
            </a:r>
            <a:r>
              <a:rPr lang="uk-UA" sz="2800" b="1" u="none" strike="noStrike">
                <a:solidFill>
                  <a:schemeClr val="dk1"/>
                </a:solidFill>
                <a:effectLst/>
                <a:uFillTx/>
                <a:latin typeface="Times New Roman"/>
              </a:rPr>
              <a:t>Бути гнучкими, очікувати на зміни </a:t>
            </a:r>
            <a:r>
              <a:rPr lang="uk-UA" sz="2800" b="0" u="none" strike="noStrike">
                <a:solidFill>
                  <a:schemeClr val="dk1"/>
                </a:solidFill>
                <a:effectLst/>
                <a:uFillTx/>
                <a:latin typeface="Times New Roman"/>
              </a:rPr>
              <a:t>(</a:t>
            </a:r>
            <a:r>
              <a:rPr lang="pl-PL" sz="2800" b="0" u="none" strike="noStrike">
                <a:solidFill>
                  <a:schemeClr val="dk1"/>
                </a:solidFill>
                <a:effectLst/>
                <a:uFillTx/>
                <a:latin typeface="Times New Roman"/>
              </a:rPr>
              <a:t>Stay agile, expect change). MSF </a:t>
            </a:r>
            <a:r>
              <a:rPr lang="uk-UA" sz="2800" b="0" u="none" strike="noStrike">
                <a:solidFill>
                  <a:schemeClr val="dk1"/>
                </a:solidFill>
                <a:effectLst/>
                <a:uFillTx/>
                <a:latin typeface="Times New Roman"/>
              </a:rPr>
              <a:t>припускає, що у виробничому середовищі на рішення постійно впливають зміни. Команда повинна бути обізнаною та готовою до керування змінами вимог. </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p:nvPr>
        </p:nvSpPr>
        <p:spPr>
          <a:xfrm>
            <a:off x="594720" y="683640"/>
            <a:ext cx="10758600" cy="5492880"/>
          </a:xfrm>
          <a:prstGeom prst="rect">
            <a:avLst/>
          </a:prstGeom>
          <a:noFill/>
          <a:ln w="0">
            <a:noFill/>
          </a:ln>
        </p:spPr>
        <p:txBody>
          <a:bodyPr lIns="91440" rIns="91440" tIns="45720" bIns="45720" anchor="t">
            <a:noAutofit/>
          </a:bodyPr>
          <a:p>
            <a:pPr marL="228600" indent="-228600" algn="just" defTabSz="914400">
              <a:lnSpc>
                <a:spcPct val="150000"/>
              </a:lnSpc>
              <a:spcBef>
                <a:spcPts val="1001"/>
              </a:spcBef>
              <a:buClr>
                <a:srgbClr val="000000"/>
              </a:buClr>
              <a:buFont typeface="OpenSymbol"/>
              <a:buChar char="-"/>
            </a:pPr>
            <a:r>
              <a:rPr lang="uk-UA" sz="2800" b="1" u="none" strike="noStrike">
                <a:solidFill>
                  <a:schemeClr val="dk1"/>
                </a:solidFill>
                <a:effectLst/>
                <a:uFillTx/>
                <a:latin typeface="Times New Roman"/>
              </a:rPr>
              <a:t>Інвестування у якість </a:t>
            </a:r>
            <a:r>
              <a:rPr lang="uk-UA" sz="2800" b="0" u="none" strike="noStrike">
                <a:solidFill>
                  <a:schemeClr val="dk1"/>
                </a:solidFill>
                <a:effectLst/>
                <a:uFillTx/>
                <a:latin typeface="Times New Roman"/>
              </a:rPr>
              <a:t>(</a:t>
            </a:r>
            <a:r>
              <a:rPr lang="pl-PL" sz="2800" b="0" u="none" strike="noStrike">
                <a:solidFill>
                  <a:schemeClr val="dk1"/>
                </a:solidFill>
                <a:effectLst/>
                <a:uFillTx/>
                <a:latin typeface="Times New Roman"/>
              </a:rPr>
              <a:t>Invest in quality). </a:t>
            </a:r>
            <a:r>
              <a:rPr lang="uk-UA" sz="2800" b="0" u="none" strike="noStrike">
                <a:solidFill>
                  <a:schemeClr val="dk1"/>
                </a:solidFill>
                <a:effectLst/>
                <a:uFillTx/>
                <a:latin typeface="Times New Roman"/>
              </a:rPr>
              <a:t>У </a:t>
            </a:r>
            <a:r>
              <a:rPr lang="pl-PL" sz="2800" b="0" u="none" strike="noStrike">
                <a:solidFill>
                  <a:schemeClr val="dk1"/>
                </a:solidFill>
                <a:effectLst/>
                <a:uFillTx/>
                <a:latin typeface="Times New Roman"/>
              </a:rPr>
              <a:t>MSF </a:t>
            </a:r>
            <a:r>
              <a:rPr lang="uk-UA" sz="2800" b="0" u="none" strike="noStrike">
                <a:solidFill>
                  <a:schemeClr val="dk1"/>
                </a:solidFill>
                <a:effectLst/>
                <a:uFillTx/>
                <a:latin typeface="Times New Roman"/>
              </a:rPr>
              <a:t>кожен член команди відповідальний за якість вирішення завдання.</a:t>
            </a:r>
            <a:r>
              <a:rPr lang="en-US" sz="2800" b="0" u="none" strike="noStrike">
                <a:solidFill>
                  <a:schemeClr val="dk1"/>
                </a:solidFill>
                <a:effectLst/>
                <a:uFillTx/>
                <a:latin typeface="Times New Roman"/>
              </a:rPr>
              <a:t> </a:t>
            </a:r>
            <a:r>
              <a:rPr lang="uk-UA" sz="2800" b="0" u="none" strike="noStrike">
                <a:solidFill>
                  <a:schemeClr val="dk1"/>
                </a:solidFill>
                <a:effectLst/>
                <a:uFillTx/>
                <a:latin typeface="Times New Roman"/>
              </a:rPr>
              <a:t>Для підтримки якості протягом проекту формується команда тестувальників. Це гарантує, що рішення відповідає рівню якості, визначеному зацікавленими сторонами. </a:t>
            </a:r>
            <a:endParaRPr lang="pl-PL" sz="28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800" b="0" u="none" strike="noStrike">
                <a:solidFill>
                  <a:schemeClr val="dk1"/>
                </a:solidFill>
                <a:effectLst/>
                <a:uFillTx/>
                <a:latin typeface="Times New Roman"/>
              </a:rPr>
              <a:t>− </a:t>
            </a:r>
            <a:r>
              <a:rPr lang="uk-UA" sz="2800" b="1" u="none" strike="noStrike">
                <a:solidFill>
                  <a:schemeClr val="dk1"/>
                </a:solidFill>
                <a:effectLst/>
                <a:uFillTx/>
                <a:latin typeface="Times New Roman"/>
              </a:rPr>
              <a:t>Навчання за досвідом </a:t>
            </a:r>
            <a:r>
              <a:rPr lang="uk-UA" sz="2800" b="0" u="none" strike="noStrike">
                <a:solidFill>
                  <a:schemeClr val="dk1"/>
                </a:solidFill>
                <a:effectLst/>
                <a:uFillTx/>
                <a:latin typeface="Times New Roman"/>
              </a:rPr>
              <a:t>(</a:t>
            </a:r>
            <a:r>
              <a:rPr lang="pl-PL" sz="2800" b="0" u="none" strike="noStrike">
                <a:solidFill>
                  <a:schemeClr val="dk1"/>
                </a:solidFill>
                <a:effectLst/>
                <a:uFillTx/>
                <a:latin typeface="Times New Roman"/>
              </a:rPr>
              <a:t>Learn from all experiences). MSF </a:t>
            </a:r>
            <a:r>
              <a:rPr lang="uk-UA" sz="2800" b="0" u="none" strike="noStrike">
                <a:solidFill>
                  <a:schemeClr val="dk1"/>
                </a:solidFill>
                <a:effectLst/>
                <a:uFillTx/>
                <a:latin typeface="Times New Roman"/>
              </a:rPr>
              <a:t>вимагає використання досвіду, отриманого у попередніх проектах. Це дозволяє знайти найкращі методики розроблення</a:t>
            </a:r>
            <a:r>
              <a:rPr lang="uk-UA" sz="2800" b="0" u="none" strike="noStrike">
                <a:solidFill>
                  <a:schemeClr val="dk1"/>
                </a:solidFill>
                <a:effectLst/>
                <a:uFillTx/>
                <a:latin typeface="Calibri"/>
              </a:rPr>
              <a:t>. </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p:nvPr>
        </p:nvSpPr>
        <p:spPr>
          <a:xfrm>
            <a:off x="506160" y="434880"/>
            <a:ext cx="10847520" cy="5741640"/>
          </a:xfrm>
          <a:prstGeom prst="rect">
            <a:avLst/>
          </a:prstGeom>
          <a:noFill/>
          <a:ln w="0">
            <a:noFill/>
          </a:ln>
        </p:spPr>
        <p:txBody>
          <a:bodyPr lIns="91440" rIns="91440" tIns="45720" bIns="45720" anchor="t">
            <a:normAutofit/>
          </a:bodyPr>
          <a:p>
            <a:pPr indent="0" algn="just" defTabSz="914400">
              <a:lnSpc>
                <a:spcPct val="90000"/>
              </a:lnSpc>
              <a:spcBef>
                <a:spcPts val="1001"/>
              </a:spcBef>
              <a:buNone/>
              <a:tabLst>
                <a:tab algn="l" pos="0"/>
              </a:tabLst>
            </a:pPr>
            <a:r>
              <a:rPr lang="pl-PL" sz="2400" b="0" u="none" strike="noStrike">
                <a:solidFill>
                  <a:schemeClr val="dk1"/>
                </a:solidFill>
                <a:effectLst/>
                <a:uFillTx/>
                <a:latin typeface="Times New Roman"/>
              </a:rPr>
              <a:t>MSF </a:t>
            </a:r>
            <a:r>
              <a:rPr lang="uk-UA" sz="2400" b="0" u="none" strike="noStrike">
                <a:solidFill>
                  <a:schemeClr val="dk1"/>
                </a:solidFill>
                <a:effectLst/>
                <a:uFillTx/>
                <a:latin typeface="Times New Roman"/>
              </a:rPr>
              <a:t>складається із двох моделей та трьох дисциплін: </a:t>
            </a:r>
            <a:endParaRPr lang="pl-PL" sz="24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400" b="0" u="none" strike="noStrike">
                <a:solidFill>
                  <a:schemeClr val="dk1"/>
                </a:solidFill>
                <a:effectLst/>
                <a:uFillTx/>
                <a:latin typeface="Times New Roman"/>
              </a:rPr>
              <a:t>− моделі командної групи; </a:t>
            </a:r>
            <a:endParaRPr lang="pl-PL" sz="24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400" b="0" u="none" strike="noStrike">
                <a:solidFill>
                  <a:schemeClr val="dk1"/>
                </a:solidFill>
                <a:effectLst/>
                <a:uFillTx/>
                <a:latin typeface="Times New Roman"/>
              </a:rPr>
              <a:t>− моделі процесу; </a:t>
            </a:r>
            <a:endParaRPr lang="pl-PL" sz="24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400" b="0" u="none" strike="noStrike">
                <a:solidFill>
                  <a:schemeClr val="dk1"/>
                </a:solidFill>
                <a:effectLst/>
                <a:uFillTx/>
                <a:latin typeface="Times New Roman"/>
              </a:rPr>
              <a:t>− дисципліни управління проектами; </a:t>
            </a:r>
            <a:endParaRPr lang="pl-PL" sz="24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400" b="0" u="none" strike="noStrike">
                <a:solidFill>
                  <a:schemeClr val="dk1"/>
                </a:solidFill>
                <a:effectLst/>
                <a:uFillTx/>
                <a:latin typeface="Times New Roman"/>
              </a:rPr>
              <a:t>− дисципліни управління ризиками;</a:t>
            </a:r>
            <a:endParaRPr lang="pl-PL" sz="2400" b="0" u="none" strike="noStrike">
              <a:solidFill>
                <a:schemeClr val="dk1"/>
              </a:solidFill>
              <a:effectLst/>
              <a:uFillTx/>
              <a:latin typeface="Calibri"/>
            </a:endParaRPr>
          </a:p>
          <a:p>
            <a:pPr indent="0" algn="just" defTabSz="914400">
              <a:lnSpc>
                <a:spcPct val="90000"/>
              </a:lnSpc>
              <a:spcBef>
                <a:spcPts val="1001"/>
              </a:spcBef>
              <a:buNone/>
              <a:tabLst>
                <a:tab algn="l" pos="0"/>
              </a:tabLst>
            </a:pPr>
            <a:r>
              <a:rPr lang="uk-UA" sz="2400" b="0" u="none" strike="noStrike">
                <a:solidFill>
                  <a:schemeClr val="dk1"/>
                </a:solidFill>
                <a:effectLst/>
                <a:uFillTx/>
                <a:latin typeface="Times New Roman"/>
              </a:rPr>
              <a:t> − дисципліни управління підготовкою.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Модель командної групи</a:t>
            </a:r>
            <a:r>
              <a:rPr lang="uk-UA" sz="2400" b="0" u="none" strike="noStrike">
                <a:solidFill>
                  <a:schemeClr val="dk1"/>
                </a:solidFill>
                <a:effectLst/>
                <a:uFillTx/>
                <a:latin typeface="Times New Roman"/>
              </a:rPr>
              <a:t> (</a:t>
            </a:r>
            <a:r>
              <a:rPr lang="pl-PL" sz="2400" b="0" u="none" strike="noStrike">
                <a:solidFill>
                  <a:schemeClr val="dk1"/>
                </a:solidFill>
                <a:effectLst/>
                <a:uFillTx/>
                <a:latin typeface="Times New Roman"/>
              </a:rPr>
              <a:t>MSF Team Model) </a:t>
            </a:r>
            <a:r>
              <a:rPr lang="uk-UA" sz="2400" b="0" u="none" strike="noStrike">
                <a:solidFill>
                  <a:schemeClr val="dk1"/>
                </a:solidFill>
                <a:effectLst/>
                <a:uFillTx/>
                <a:latin typeface="Times New Roman"/>
              </a:rPr>
              <a:t>описує, як організувати колективи і якими принципами керуватися для досягнення максимального успіху в розробленні програм. Різні колективи можуть по-своєму застосовувати на практиці різні елементи цієї моделі – все залежить від масштабу проекту, розміру колективу і кваліфікації його учасників та моделі процесу розроблення.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p:nvPr>
        </p:nvSpPr>
        <p:spPr>
          <a:xfrm>
            <a:off x="577080" y="568080"/>
            <a:ext cx="10776240" cy="560844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Модель командної групи визначає тільки ролі, кожна з яких може виконуватися кількома людьми.  У моделі командної групи не передбачено єдиноначальності – усі ролі важливі, усі ролі рівноправні, тому </a:t>
            </a:r>
            <a:r>
              <a:rPr lang="pl-PL" sz="2400" b="0" u="none" strike="noStrike">
                <a:solidFill>
                  <a:schemeClr val="dk1"/>
                </a:solidFill>
                <a:effectLst/>
                <a:uFillTx/>
                <a:latin typeface="Times New Roman"/>
              </a:rPr>
              <a:t>MSF </a:t>
            </a:r>
            <a:r>
              <a:rPr lang="uk-UA" sz="2400" b="0" u="none" strike="noStrike">
                <a:solidFill>
                  <a:schemeClr val="dk1"/>
                </a:solidFill>
                <a:effectLst/>
                <a:uFillTx/>
                <a:latin typeface="Times New Roman"/>
              </a:rPr>
              <a:t>називають моделлю рівних (</a:t>
            </a:r>
            <a:r>
              <a:rPr lang="pl-PL" sz="2400" b="0" u="none" strike="noStrike">
                <a:solidFill>
                  <a:schemeClr val="dk1"/>
                </a:solidFill>
                <a:effectLst/>
                <a:uFillTx/>
                <a:latin typeface="Times New Roman"/>
              </a:rPr>
              <a:t>team of peers). </a:t>
            </a:r>
            <a:endParaRPr lang="pl-PL" sz="2400" b="0" u="none" strike="noStrike">
              <a:solidFill>
                <a:schemeClr val="dk1"/>
              </a:solidFill>
              <a:effectLst/>
              <a:uFillTx/>
              <a:latin typeface="Calibri"/>
            </a:endParaRPr>
          </a:p>
        </p:txBody>
      </p:sp>
      <p:pic>
        <p:nvPicPr>
          <p:cNvPr id="104" name="Рисунок 4"/>
          <p:cNvPicPr/>
          <p:nvPr/>
        </p:nvPicPr>
        <p:blipFill>
          <a:blip r:embed="rId1"/>
          <a:stretch/>
        </p:blipFill>
        <p:spPr>
          <a:xfrm>
            <a:off x="3328560" y="2459160"/>
            <a:ext cx="5902200" cy="4235040"/>
          </a:xfrm>
          <a:prstGeom prst="rect">
            <a:avLst/>
          </a:prstGeom>
          <a:noFill/>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p:nvPr>
        </p:nvSpPr>
        <p:spPr>
          <a:xfrm>
            <a:off x="159840" y="115560"/>
            <a:ext cx="11193480" cy="60613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lang="pl-PL" sz="2400" b="1" u="none" strike="noStrike">
                <a:solidFill>
                  <a:schemeClr val="dk1"/>
                </a:solidFill>
                <a:effectLst/>
                <a:uFillTx/>
                <a:latin typeface="Times New Roman"/>
              </a:rPr>
              <a:t>Program management </a:t>
            </a:r>
            <a:r>
              <a:rPr lang="pl-PL"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керування програмою. Виконавець цієї ролі відповідає за організацію (але не керує): здійснює ведення графіка робіт, ранкові 15-хвилинні наради, забезпечує відповідність стандартам і специфікаціям, фіксацію порушень, написання технічної документації.</a:t>
            </a:r>
            <a:endParaRPr lang="pl-PL" sz="24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pl-PL" sz="2400" b="1" u="none" strike="noStrike">
                <a:solidFill>
                  <a:schemeClr val="dk1"/>
                </a:solidFill>
                <a:effectLst/>
                <a:uFillTx/>
                <a:latin typeface="Times New Roman"/>
              </a:rPr>
              <a:t>Product management </a:t>
            </a:r>
            <a:r>
              <a:rPr lang="pl-PL"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керування продуктом. Виконавці цієї ролі відповідають за спілкування із замовником, написання специфікації, роз'яснення завдань розроблювачам.</a:t>
            </a:r>
            <a:endParaRPr lang="pl-PL" sz="24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uk-UA" sz="2400" b="1" u="none" strike="noStrike">
                <a:solidFill>
                  <a:schemeClr val="dk1"/>
                </a:solidFill>
                <a:effectLst/>
                <a:uFillTx/>
                <a:latin typeface="Times New Roman"/>
              </a:rPr>
              <a:t> </a:t>
            </a:r>
            <a:r>
              <a:rPr lang="pl-PL" sz="2400" b="1" u="none" strike="noStrike">
                <a:solidFill>
                  <a:schemeClr val="dk1"/>
                </a:solidFill>
                <a:effectLst/>
                <a:uFillTx/>
                <a:latin typeface="Times New Roman"/>
              </a:rPr>
              <a:t>Development </a:t>
            </a:r>
            <a:r>
              <a:rPr lang="pl-PL"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найбільш традиційна роль – розроблення і початкове тестування продукту. </a:t>
            </a:r>
            <a:endParaRPr lang="pl-PL" sz="24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pl-PL" sz="2400" b="1" u="none" strike="noStrike">
                <a:solidFill>
                  <a:schemeClr val="dk1"/>
                </a:solidFill>
                <a:effectLst/>
                <a:uFillTx/>
                <a:latin typeface="Times New Roman"/>
              </a:rPr>
              <a:t>User exp</a:t>
            </a:r>
            <a:r>
              <a:rPr lang="en-US" sz="2400" b="1" u="none" strike="noStrike">
                <a:solidFill>
                  <a:schemeClr val="dk1"/>
                </a:solidFill>
                <a:effectLst/>
                <a:uFillTx/>
                <a:latin typeface="Times New Roman"/>
              </a:rPr>
              <a:t>e</a:t>
            </a:r>
            <a:r>
              <a:rPr lang="pl-PL" sz="2400" b="1" u="none" strike="noStrike">
                <a:solidFill>
                  <a:schemeClr val="dk1"/>
                </a:solidFill>
                <a:effectLst/>
                <a:uFillTx/>
                <a:latin typeface="Times New Roman"/>
              </a:rPr>
              <a:t>rience </a:t>
            </a:r>
            <a:r>
              <a:rPr lang="pl-PL"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підвищення ефективності роботи користувачів, написання користувальницької документації.</a:t>
            </a:r>
            <a:endParaRPr lang="pl-PL" sz="24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uk-UA" sz="2400" b="0" u="none" strike="noStrike">
                <a:solidFill>
                  <a:schemeClr val="dk1"/>
                </a:solidFill>
                <a:effectLst/>
                <a:uFillTx/>
                <a:latin typeface="Times New Roman"/>
              </a:rPr>
              <a:t> </a:t>
            </a:r>
            <a:r>
              <a:rPr lang="pl-PL" sz="2400" b="1" u="none" strike="noStrike">
                <a:solidFill>
                  <a:schemeClr val="dk1"/>
                </a:solidFill>
                <a:effectLst/>
                <a:uFillTx/>
                <a:latin typeface="Times New Roman"/>
              </a:rPr>
              <a:t>Release management </a:t>
            </a:r>
            <a:r>
              <a:rPr lang="pl-PL"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розгортання релізу продукту, супровід і його технічна підтримка. </a:t>
            </a:r>
            <a:endParaRPr lang="pl-PL" sz="2400" b="0" u="none" strike="noStrike">
              <a:solidFill>
                <a:schemeClr val="dk1"/>
              </a:solidFill>
              <a:effectLst/>
              <a:uFillTx/>
              <a:latin typeface="Calibri"/>
            </a:endParaRPr>
          </a:p>
          <a:p>
            <a:pPr marL="228600" indent="-228600" defTabSz="914400">
              <a:lnSpc>
                <a:spcPct val="90000"/>
              </a:lnSpc>
              <a:spcBef>
                <a:spcPts val="1001"/>
              </a:spcBef>
              <a:buClr>
                <a:srgbClr val="000000"/>
              </a:buClr>
              <a:buFont typeface="Arial"/>
              <a:buChar char="•"/>
            </a:pPr>
            <a:r>
              <a:rPr lang="pl-PL" sz="2400" b="1" u="none" strike="noStrike">
                <a:solidFill>
                  <a:schemeClr val="dk1"/>
                </a:solidFill>
                <a:effectLst/>
                <a:uFillTx/>
                <a:latin typeface="Times New Roman"/>
              </a:rPr>
              <a:t>Test </a:t>
            </a:r>
            <a:r>
              <a:rPr lang="pl-PL"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визначення відповідності показників якості релізу встановленим значенням. Виявлення й усунення недоробок, виправлення помилок, інші функції </a:t>
            </a:r>
            <a:r>
              <a:rPr lang="pl-PL" sz="2400" b="0" u="none" strike="noStrike">
                <a:solidFill>
                  <a:schemeClr val="dk1"/>
                </a:solidFill>
                <a:effectLst/>
                <a:uFillTx/>
                <a:latin typeface="Times New Roman"/>
              </a:rPr>
              <a:t>QA.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p:nvPr>
        </p:nvSpPr>
        <p:spPr>
          <a:xfrm>
            <a:off x="337320" y="275040"/>
            <a:ext cx="11016000" cy="5901480"/>
          </a:xfrm>
          <a:prstGeom prst="rect">
            <a:avLst/>
          </a:prstGeom>
          <a:noFill/>
          <a:ln w="0">
            <a:noFill/>
          </a:ln>
        </p:spPr>
        <p:txBody>
          <a:bodyPr lIns="91440" rIns="91440" tIns="45720" bIns="45720" anchor="t">
            <a:normAutofit lnSpcReduction="9999"/>
          </a:bodyPr>
          <a:p>
            <a:pPr indent="0" algn="just" defTabSz="914400">
              <a:lnSpc>
                <a:spcPct val="150000"/>
              </a:lnSpc>
              <a:spcBef>
                <a:spcPts val="601"/>
              </a:spcBef>
              <a:buNone/>
              <a:tabLst>
                <a:tab algn="l" pos="0"/>
              </a:tabLst>
            </a:pPr>
            <a:r>
              <a:rPr lang="uk-UA" sz="2400" b="1" u="none" strike="noStrike">
                <a:solidFill>
                  <a:schemeClr val="dk1"/>
                </a:solidFill>
                <a:effectLst/>
                <a:uFillTx/>
                <a:latin typeface="Times New Roman"/>
              </a:rPr>
              <a:t>Модель процесу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MSF Process Model) </a:t>
            </a:r>
            <a:r>
              <a:rPr lang="uk-UA" sz="2400" b="0" u="none" strike="noStrike">
                <a:solidFill>
                  <a:schemeClr val="dk1"/>
                </a:solidFill>
                <a:effectLst/>
                <a:uFillTx/>
                <a:latin typeface="Times New Roman"/>
              </a:rPr>
              <a:t>визначає, коли і які роботи повинні бути виконані. Основні принципи і практичні прийоми, на яких ґрунтується модель: </a:t>
            </a:r>
            <a:endParaRPr lang="pl-PL" sz="2400" b="0" u="none" strike="noStrike">
              <a:solidFill>
                <a:schemeClr val="dk1"/>
              </a:solidFill>
              <a:effectLst/>
              <a:uFillTx/>
              <a:latin typeface="Calibri"/>
            </a:endParaRPr>
          </a:p>
          <a:p>
            <a:pPr indent="0" algn="just" defTabSz="914400">
              <a:lnSpc>
                <a:spcPct val="150000"/>
              </a:lnSpc>
              <a:spcBef>
                <a:spcPts val="601"/>
              </a:spcBef>
              <a:buNone/>
              <a:tabLst>
                <a:tab algn="l" pos="0"/>
              </a:tabLst>
            </a:pPr>
            <a:r>
              <a:rPr lang="uk-UA" sz="2400" b="0" u="none" strike="noStrike">
                <a:solidFill>
                  <a:schemeClr val="dk1"/>
                </a:solidFill>
                <a:effectLst/>
                <a:uFillTx/>
                <a:latin typeface="Times New Roman"/>
              </a:rPr>
              <a:t>− ітеративний підхід (послідовний випуск версій); </a:t>
            </a:r>
            <a:endParaRPr lang="pl-PL" sz="2400" b="0" u="none" strike="noStrike">
              <a:solidFill>
                <a:schemeClr val="dk1"/>
              </a:solidFill>
              <a:effectLst/>
              <a:uFillTx/>
              <a:latin typeface="Calibri"/>
            </a:endParaRPr>
          </a:p>
          <a:p>
            <a:pPr indent="0" algn="just" defTabSz="914400">
              <a:lnSpc>
                <a:spcPct val="150000"/>
              </a:lnSpc>
              <a:spcBef>
                <a:spcPts val="601"/>
              </a:spcBef>
              <a:buNone/>
              <a:tabLst>
                <a:tab algn="l" pos="0"/>
              </a:tabLst>
            </a:pPr>
            <a:r>
              <a:rPr lang="uk-UA" sz="2400" b="0" u="none" strike="noStrike">
                <a:solidFill>
                  <a:schemeClr val="dk1"/>
                </a:solidFill>
                <a:effectLst/>
                <a:uFillTx/>
                <a:latin typeface="Times New Roman"/>
              </a:rPr>
              <a:t>− підготовка чіткої документації; </a:t>
            </a:r>
            <a:endParaRPr lang="pl-PL" sz="2400" b="0" u="none" strike="noStrike">
              <a:solidFill>
                <a:schemeClr val="dk1"/>
              </a:solidFill>
              <a:effectLst/>
              <a:uFillTx/>
              <a:latin typeface="Calibri"/>
            </a:endParaRPr>
          </a:p>
          <a:p>
            <a:pPr indent="0" algn="just" defTabSz="914400">
              <a:lnSpc>
                <a:spcPct val="150000"/>
              </a:lnSpc>
              <a:spcBef>
                <a:spcPts val="601"/>
              </a:spcBef>
              <a:buNone/>
              <a:tabLst>
                <a:tab algn="l" pos="0"/>
              </a:tabLst>
            </a:pPr>
            <a:r>
              <a:rPr lang="uk-UA" sz="2400" b="0" u="none" strike="noStrike">
                <a:solidFill>
                  <a:schemeClr val="dk1"/>
                </a:solidFill>
                <a:effectLst/>
                <a:uFillTx/>
                <a:latin typeface="Times New Roman"/>
              </a:rPr>
              <a:t>− урахування невизначеності майбутнього; </a:t>
            </a:r>
            <a:endParaRPr lang="pl-PL" sz="2400" b="0" u="none" strike="noStrike">
              <a:solidFill>
                <a:schemeClr val="dk1"/>
              </a:solidFill>
              <a:effectLst/>
              <a:uFillTx/>
              <a:latin typeface="Calibri"/>
            </a:endParaRPr>
          </a:p>
          <a:p>
            <a:pPr indent="0" algn="just" defTabSz="914400">
              <a:lnSpc>
                <a:spcPct val="150000"/>
              </a:lnSpc>
              <a:spcBef>
                <a:spcPts val="601"/>
              </a:spcBef>
              <a:buNone/>
              <a:tabLst>
                <a:tab algn="l" pos="0"/>
              </a:tabLst>
            </a:pPr>
            <a:r>
              <a:rPr lang="uk-UA" sz="2400" b="0" u="none" strike="noStrike">
                <a:solidFill>
                  <a:schemeClr val="dk1"/>
                </a:solidFill>
                <a:effectLst/>
                <a:uFillTx/>
                <a:latin typeface="Times New Roman"/>
              </a:rPr>
              <a:t>− облік компромісів; − керування ризиками; </a:t>
            </a:r>
            <a:endParaRPr lang="pl-PL" sz="2400" b="0" u="none" strike="noStrike">
              <a:solidFill>
                <a:schemeClr val="dk1"/>
              </a:solidFill>
              <a:effectLst/>
              <a:uFillTx/>
              <a:latin typeface="Calibri"/>
            </a:endParaRPr>
          </a:p>
          <a:p>
            <a:pPr indent="0" algn="just" defTabSz="914400">
              <a:lnSpc>
                <a:spcPct val="150000"/>
              </a:lnSpc>
              <a:spcBef>
                <a:spcPts val="601"/>
              </a:spcBef>
              <a:buNone/>
              <a:tabLst>
                <a:tab algn="l" pos="0"/>
              </a:tabLst>
            </a:pPr>
            <a:r>
              <a:rPr lang="uk-UA" sz="2400" b="0" u="none" strike="noStrike">
                <a:solidFill>
                  <a:schemeClr val="dk1"/>
                </a:solidFill>
                <a:effectLst/>
                <a:uFillTx/>
                <a:latin typeface="Times New Roman"/>
              </a:rPr>
              <a:t>− підтримка відповідального відношення колективу до строків випуску продукту; − розбивка великих проектів на більш дрібні керовані частини; </a:t>
            </a:r>
            <a:endParaRPr lang="pl-PL" sz="2400" b="0" u="none" strike="noStrike">
              <a:solidFill>
                <a:schemeClr val="dk1"/>
              </a:solidFill>
              <a:effectLst/>
              <a:uFillTx/>
              <a:latin typeface="Calibri"/>
            </a:endParaRPr>
          </a:p>
          <a:p>
            <a:pPr indent="0" algn="just" defTabSz="914400">
              <a:lnSpc>
                <a:spcPct val="150000"/>
              </a:lnSpc>
              <a:spcBef>
                <a:spcPts val="601"/>
              </a:spcBef>
              <a:buNone/>
              <a:tabLst>
                <a:tab algn="l" pos="0"/>
              </a:tabLst>
            </a:pPr>
            <a:r>
              <a:rPr lang="uk-UA" sz="2400" b="0" u="none" strike="noStrike">
                <a:solidFill>
                  <a:schemeClr val="dk1"/>
                </a:solidFill>
                <a:effectLst/>
                <a:uFillTx/>
                <a:latin typeface="Times New Roman"/>
              </a:rPr>
              <a:t>− щоденне складання проекту; </a:t>
            </a:r>
            <a:endParaRPr lang="pl-PL" sz="2400" b="0" u="none" strike="noStrike">
              <a:solidFill>
                <a:schemeClr val="dk1"/>
              </a:solidFill>
              <a:effectLst/>
              <a:uFillTx/>
              <a:latin typeface="Calibri"/>
            </a:endParaRPr>
          </a:p>
          <a:p>
            <a:pPr indent="0" algn="just" defTabSz="914400">
              <a:lnSpc>
                <a:spcPct val="150000"/>
              </a:lnSpc>
              <a:spcBef>
                <a:spcPts val="601"/>
              </a:spcBef>
              <a:buNone/>
              <a:tabLst>
                <a:tab algn="l" pos="0"/>
              </a:tabLst>
            </a:pPr>
            <a:r>
              <a:rPr lang="uk-UA" sz="2400" b="0" u="none" strike="noStrike">
                <a:solidFill>
                  <a:schemeClr val="dk1"/>
                </a:solidFill>
                <a:effectLst/>
                <a:uFillTx/>
                <a:latin typeface="Times New Roman"/>
              </a:rPr>
              <a:t>− постійний аналіз ходу робіт.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p:nvPr>
        </p:nvSpPr>
        <p:spPr>
          <a:xfrm>
            <a:off x="434880" y="408240"/>
            <a:ext cx="10918440" cy="5768280"/>
          </a:xfrm>
          <a:prstGeom prst="rect">
            <a:avLst/>
          </a:prstGeom>
          <a:noFill/>
          <a:ln w="0">
            <a:noFill/>
          </a:ln>
        </p:spPr>
        <p:txBody>
          <a:bodyPr lIns="91440" rIns="91440" tIns="45720" bIns="45720" anchor="t">
            <a:normAutofit lnSpcReduction="9999"/>
          </a:bodyPr>
          <a:p>
            <a:pPr indent="0" algn="just" defTabSz="914400">
              <a:lnSpc>
                <a:spcPct val="150000"/>
              </a:lnSpc>
              <a:spcBef>
                <a:spcPts val="1001"/>
              </a:spcBef>
              <a:buNone/>
              <a:tabLst>
                <a:tab algn="l" pos="0"/>
              </a:tabLst>
            </a:pPr>
            <a:r>
              <a:rPr lang="pl-PL" sz="2400" b="0" u="none" strike="noStrike">
                <a:solidFill>
                  <a:schemeClr val="dk1"/>
                </a:solidFill>
                <a:effectLst/>
                <a:uFillTx/>
                <a:latin typeface="Times New Roman"/>
              </a:rPr>
              <a:t>Process model </a:t>
            </a:r>
            <a:r>
              <a:rPr lang="uk-UA" sz="2400" b="0" u="none" strike="noStrike">
                <a:solidFill>
                  <a:schemeClr val="dk1"/>
                </a:solidFill>
                <a:effectLst/>
                <a:uFillTx/>
                <a:latin typeface="Times New Roman"/>
              </a:rPr>
              <a:t>має три основні особливості: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розбивка всього процесу на фази;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використання опорних точок (</a:t>
            </a:r>
            <a:r>
              <a:rPr lang="pl-PL" sz="2400" b="0" u="none" strike="noStrike">
                <a:solidFill>
                  <a:schemeClr val="dk1"/>
                </a:solidFill>
                <a:effectLst/>
                <a:uFillTx/>
                <a:latin typeface="Times New Roman"/>
              </a:rPr>
              <a:t>milestones);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pl-PL"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ітеративність.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Увесь процес розбивається на п’ять взаємозалежних фаз. Перш ніж переходити до наступної фази, на попередній повинні бути отримані певні результати (досягнуті головні опорні точки). Фактично процес ітеративний і відповідає спіральній моделі ЖЦ ПЗ. У моделі передбачається наявність основних віх (завершення головних фаз моделі) і проміжних, що відображають внутрішні етапи головних фаз.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Місце для вмісту 4"/>
          <p:cNvPicPr/>
          <p:nvPr/>
        </p:nvPicPr>
        <p:blipFill>
          <a:blip r:embed="rId1"/>
          <a:stretch/>
        </p:blipFill>
        <p:spPr>
          <a:xfrm>
            <a:off x="2805480" y="500040"/>
            <a:ext cx="5688000" cy="3936600"/>
          </a:xfrm>
          <a:prstGeom prst="rect">
            <a:avLst/>
          </a:prstGeom>
          <a:noFill/>
          <a:ln w="0">
            <a:noFill/>
          </a:ln>
        </p:spPr>
      </p:pic>
      <p:sp>
        <p:nvSpPr>
          <p:cNvPr id="109" name="TextBox 6"/>
          <p:cNvSpPr/>
          <p:nvPr/>
        </p:nvSpPr>
        <p:spPr>
          <a:xfrm>
            <a:off x="1482480" y="4437000"/>
            <a:ext cx="9161280" cy="19386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lang="uk-UA" sz="2400" b="1" u="none" strike="noStrike">
                <a:solidFill>
                  <a:schemeClr val="dk1"/>
                </a:solidFill>
                <a:effectLst/>
                <a:uFillTx/>
                <a:latin typeface="Times New Roman"/>
              </a:rPr>
              <a:t>Створення загальної картини додатку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Envisioning). </a:t>
            </a:r>
            <a:endParaRPr lang="en-US" sz="2400" b="0" u="none" strike="noStrike">
              <a:solidFill>
                <a:srgbClr val="000000"/>
              </a:solidFill>
              <a:effectLst/>
              <a:uFillTx/>
              <a:latin typeface="Arial"/>
            </a:endParaRPr>
          </a:p>
          <a:p>
            <a:pPr algn="just" defTabSz="914400">
              <a:lnSpc>
                <a:spcPct val="100000"/>
              </a:lnSpc>
            </a:pPr>
            <a:r>
              <a:rPr lang="uk-UA" sz="2400" b="0" u="none" strike="noStrike">
                <a:solidFill>
                  <a:schemeClr val="dk1"/>
                </a:solidFill>
                <a:effectLst/>
                <a:uFillTx/>
                <a:latin typeface="Times New Roman"/>
              </a:rPr>
              <a:t>На цьому етапі вирішуються такі основні завдання: − оцінка існуючої ситуації; − визначення складу команди; − структури проекту, бізнес-цілей, вимог і профілів користувачів; − розробка концепції рішення і оцінка ризику</a:t>
            </a:r>
            <a:r>
              <a:rPr lang="uk-UA" sz="1800" b="0" u="none" strike="noStrike">
                <a:solidFill>
                  <a:schemeClr val="dk1"/>
                </a:solidFill>
                <a:effectLst/>
                <a:uFillTx/>
                <a:latin typeface="Calibri"/>
              </a:rPr>
              <a: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p:nvPr>
        </p:nvSpPr>
        <p:spPr>
          <a:xfrm>
            <a:off x="417240" y="319680"/>
            <a:ext cx="10936080" cy="5856840"/>
          </a:xfrm>
          <a:prstGeom prst="rect">
            <a:avLst/>
          </a:prstGeom>
          <a:noFill/>
          <a:ln w="0">
            <a:noFill/>
          </a:ln>
        </p:spPr>
        <p:txBody>
          <a:bodyPr lIns="91440" rIns="91440" tIns="45720" bIns="45720" anchor="t">
            <a:normAutofit lnSpcReduction="9999"/>
          </a:bodyPr>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Планування (</a:t>
            </a:r>
            <a:r>
              <a:rPr lang="pl-PL" sz="2400" b="1" u="none" strike="noStrike">
                <a:solidFill>
                  <a:schemeClr val="dk1"/>
                </a:solidFill>
                <a:effectLst/>
                <a:uFillTx/>
                <a:latin typeface="Times New Roman"/>
              </a:rPr>
              <a:t>P</a:t>
            </a:r>
            <a:r>
              <a:rPr lang="en-US" sz="2400" b="1" u="none" strike="noStrike">
                <a:solidFill>
                  <a:schemeClr val="dk1"/>
                </a:solidFill>
                <a:effectLst/>
                <a:uFillTx/>
                <a:latin typeface="Times New Roman"/>
              </a:rPr>
              <a:t>l</a:t>
            </a:r>
            <a:r>
              <a:rPr lang="pl-PL" sz="2400" b="1" u="none" strike="noStrike">
                <a:solidFill>
                  <a:schemeClr val="dk1"/>
                </a:solidFill>
                <a:effectLst/>
                <a:uFillTx/>
                <a:latin typeface="Times New Roman"/>
              </a:rPr>
              <a:t>anning). </a:t>
            </a:r>
            <a:r>
              <a:rPr lang="uk-UA" sz="2400" b="0" u="none" strike="noStrike">
                <a:solidFill>
                  <a:schemeClr val="dk1"/>
                </a:solidFill>
                <a:effectLst/>
                <a:uFillTx/>
                <a:latin typeface="Times New Roman"/>
              </a:rPr>
              <a:t>Включає планування і проектування продукту. На основі аналізу вимог розробляється проект і основні архітектурні рішення, функціональні специфікації системи, плани і календарні графіки, середовища розробки, тестування та пілотної експлуатації.</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Розробка (</a:t>
            </a:r>
            <a:r>
              <a:rPr lang="pl-PL" sz="2400" b="1" u="none" strike="noStrike">
                <a:solidFill>
                  <a:schemeClr val="dk1"/>
                </a:solidFill>
                <a:effectLst/>
                <a:uFillTx/>
                <a:latin typeface="Times New Roman"/>
              </a:rPr>
              <a:t>Developing). </a:t>
            </a:r>
            <a:r>
              <a:rPr lang="uk-UA" sz="2400" b="0" u="none" strike="noStrike">
                <a:solidFill>
                  <a:schemeClr val="dk1"/>
                </a:solidFill>
                <a:effectLst/>
                <a:uFillTx/>
                <a:latin typeface="Times New Roman"/>
              </a:rPr>
              <a:t>Створюється варіант вирішення проблеми, у вигляді коду і документації чергового прототипу, включаючи специфікації і сценарії тестування. Основна віха етапу – "Остаточне затвердження області дії проекту". Продукт готовий до зовнішнього тестування і стабілізації. Крім того, замовники, користувачі, співробітники служби підтримки та супроводу, а також ключові учасники проекту можуть попередньо оцінити продукт і вказати всі недоліки, які потрібно усунути до його поставки.</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p:nvPr>
        </p:nvSpPr>
        <p:spPr>
          <a:xfrm>
            <a:off x="541440" y="452880"/>
            <a:ext cx="10811880" cy="5724000"/>
          </a:xfrm>
          <a:prstGeom prst="rect">
            <a:avLst/>
          </a:prstGeom>
          <a:noFill/>
          <a:ln w="0">
            <a:noFill/>
          </a:ln>
        </p:spPr>
        <p:txBody>
          <a:bodyPr lIns="91440" rIns="91440" tIns="45720" bIns="45720" anchor="t">
            <a:normAutofit/>
          </a:bodyPr>
          <a:p>
            <a:pPr marL="228600" indent="-228600" algn="just" defTabSz="914400">
              <a:lnSpc>
                <a:spcPct val="150000"/>
              </a:lnSpc>
              <a:spcBef>
                <a:spcPts val="1001"/>
              </a:spcBef>
              <a:buClr>
                <a:srgbClr val="000000"/>
              </a:buClr>
              <a:buFont typeface="Arial"/>
              <a:buChar char="•"/>
            </a:pPr>
            <a:r>
              <a:rPr lang="uk-UA" sz="2400" b="1" u="none" strike="noStrike">
                <a:solidFill>
                  <a:schemeClr val="dk1"/>
                </a:solidFill>
                <a:effectLst/>
                <a:uFillTx/>
                <a:latin typeface="Times New Roman"/>
              </a:rPr>
              <a:t>Стабілізація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Stabilizing). </a:t>
            </a:r>
            <a:r>
              <a:rPr lang="uk-UA" sz="2400" b="0" u="none" strike="noStrike">
                <a:solidFill>
                  <a:schemeClr val="dk1"/>
                </a:solidFill>
                <a:effectLst/>
                <a:uFillTx/>
                <a:latin typeface="Times New Roman"/>
              </a:rPr>
              <a:t>Підготовка до випуску остаточної версії продукту, доведення його до заданого рівня якості. Тут виконується комплекс робіт з тестування (виявлення та усунення дефектів), перевіряється сценарій розгортання продукту. Коли рішення стає досить стійким, проводиться його пілотна експлуатація в тестовому середовищі із залученням користувачів і застосуванням реальних сценаріїв роботи.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Розгортання</a:t>
            </a:r>
            <a:r>
              <a:rPr lang="uk-UA" sz="2400" b="0" u="none" strike="noStrike">
                <a:solidFill>
                  <a:schemeClr val="dk1"/>
                </a:solidFill>
                <a:effectLst/>
                <a:uFillTx/>
                <a:latin typeface="Times New Roman"/>
              </a:rPr>
              <a:t> (</a:t>
            </a:r>
            <a:r>
              <a:rPr lang="pl-PL" sz="2400" b="0" u="none" strike="noStrike">
                <a:solidFill>
                  <a:schemeClr val="dk1"/>
                </a:solidFill>
                <a:effectLst/>
                <a:uFillTx/>
                <a:latin typeface="Times New Roman"/>
              </a:rPr>
              <a:t>Deploying). </a:t>
            </a:r>
            <a:r>
              <a:rPr lang="uk-UA" sz="2400" b="0" u="none" strike="noStrike">
                <a:solidFill>
                  <a:schemeClr val="dk1"/>
                </a:solidFill>
                <a:effectLst/>
                <a:uFillTx/>
                <a:latin typeface="Times New Roman"/>
              </a:rPr>
              <a:t>Виконується установка рішення і необхідних компонентів оточення, проводиться його стабілізація в промислових умовах і передача проекту групі супроводу. Крім того, аналізується проект в цілому на предмет рівня задоволеності замовника.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p:nvPr>
        </p:nvSpPr>
        <p:spPr>
          <a:xfrm>
            <a:off x="408240" y="399600"/>
            <a:ext cx="11611800" cy="6222960"/>
          </a:xfrm>
          <a:prstGeom prst="rect">
            <a:avLst/>
          </a:prstGeom>
          <a:noFill/>
          <a:ln w="0">
            <a:noFill/>
          </a:ln>
        </p:spPr>
        <p:txBody>
          <a:bodyPr lIns="91440" rIns="91440" tIns="45720" bIns="45720" anchor="t">
            <a:normAutofit fontScale="92500" lnSpcReduction="9999"/>
          </a:bodyPr>
          <a:p>
            <a:pPr marL="228600" indent="-228600" algn="just" defTabSz="914400">
              <a:lnSpc>
                <a:spcPct val="150000"/>
              </a:lnSpc>
              <a:spcBef>
                <a:spcPts val="1001"/>
              </a:spcBef>
              <a:buClr>
                <a:srgbClr val="000000"/>
              </a:buClr>
              <a:buFont typeface="Arial"/>
              <a:buChar char="•"/>
            </a:pPr>
            <a:r>
              <a:rPr lang="uk-UA" sz="2400" b="0" u="none" strike="noStrike">
                <a:solidFill>
                  <a:schemeClr val="dk1"/>
                </a:solidFill>
                <a:effectLst/>
                <a:uFillTx/>
                <a:latin typeface="Times New Roman"/>
              </a:rPr>
              <a:t>Важливу роль відіграють </a:t>
            </a:r>
            <a:r>
              <a:rPr lang="uk-UA" sz="2400" b="1" u="none" strike="noStrike">
                <a:solidFill>
                  <a:schemeClr val="dk1"/>
                </a:solidFill>
                <a:effectLst/>
                <a:uFillTx/>
                <a:latin typeface="Times New Roman"/>
              </a:rPr>
              <a:t>опорні точки (</a:t>
            </a:r>
            <a:r>
              <a:rPr lang="pl-PL" sz="2400" b="1" u="none" strike="noStrike">
                <a:solidFill>
                  <a:schemeClr val="dk1"/>
                </a:solidFill>
                <a:effectLst/>
                <a:uFillTx/>
                <a:latin typeface="Times New Roman"/>
              </a:rPr>
              <a:t>milestones), </a:t>
            </a:r>
            <a:r>
              <a:rPr lang="uk-UA" sz="2400" b="0" u="none" strike="noStrike">
                <a:solidFill>
                  <a:schemeClr val="dk1"/>
                </a:solidFill>
                <a:effectLst/>
                <a:uFillTx/>
                <a:latin typeface="Times New Roman"/>
              </a:rPr>
              <a:t>у яких аналізується стан робіт і виробляється їхня синхронізація. У цих точках додаток або його специфікації не заморожуються. Опорні точки дозволяють проаналізувати стан проекту і внести необхідні корективи, наприклад, переналагоджуватися під вимоги, що змінилися, замовника або відреагувати на ризики, можливі в ході подальшої роботи. Для кожної опорної точки визначається, які результати повинні бути отримані до цього моменту. </a:t>
            </a:r>
            <a:endParaRPr lang="pl-PL" sz="2400" b="0" u="none" strike="noStrike">
              <a:solidFill>
                <a:schemeClr val="dk1"/>
              </a:solidFill>
              <a:effectLst/>
              <a:uFillTx/>
              <a:latin typeface="Calibri"/>
            </a:endParaRPr>
          </a:p>
          <a:p>
            <a:pPr marL="228600" indent="-228600" algn="just" defTabSz="914400">
              <a:lnSpc>
                <a:spcPct val="150000"/>
              </a:lnSpc>
              <a:spcBef>
                <a:spcPts val="1001"/>
              </a:spcBef>
              <a:buClr>
                <a:srgbClr val="000000"/>
              </a:buClr>
              <a:buFont typeface="Arial"/>
              <a:buChar char="•"/>
            </a:pPr>
            <a:r>
              <a:rPr lang="uk-UA" sz="2400" b="0" u="none" strike="noStrike">
                <a:solidFill>
                  <a:schemeClr val="dk1"/>
                </a:solidFill>
                <a:effectLst/>
                <a:uFillTx/>
                <a:latin typeface="Times New Roman"/>
              </a:rPr>
              <a:t>Кожна фаза процесу розроблення завершується головною опорною точкою (</a:t>
            </a:r>
            <a:r>
              <a:rPr lang="pl-PL" sz="2400" b="0" u="none" strike="noStrike">
                <a:solidFill>
                  <a:schemeClr val="dk1"/>
                </a:solidFill>
                <a:effectLst/>
                <a:uFillTx/>
                <a:latin typeface="Times New Roman"/>
              </a:rPr>
              <a:t>major milestone) – </a:t>
            </a:r>
            <a:r>
              <a:rPr lang="uk-UA" sz="2400" b="0" u="none" strike="noStrike">
                <a:solidFill>
                  <a:schemeClr val="dk1"/>
                </a:solidFill>
                <a:effectLst/>
                <a:uFillTx/>
                <a:latin typeface="Times New Roman"/>
              </a:rPr>
              <a:t>моментом, коли всі члени колективу синхронізують отримані результати. Призначення таких точок у тому, що вони дозволяють оцінити життєздатність проекту. Їхні результати видимі не тільки колективу розроблювачів, але й замовникові. Після аналізу результатів колектив розробників і замовник спільно вирішують, чи можна переходити на наступну фазу. Таким чином, головні опорні точки - це критерії переходу з однієї фази проекту на іншу.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p:nvPr>
        </p:nvSpPr>
        <p:spPr>
          <a:xfrm>
            <a:off x="115560" y="79920"/>
            <a:ext cx="11966760" cy="6516000"/>
          </a:xfrm>
          <a:prstGeom prst="rect">
            <a:avLst/>
          </a:prstGeom>
          <a:noFill/>
          <a:ln w="0">
            <a:noFill/>
          </a:ln>
        </p:spPr>
        <p:txBody>
          <a:bodyPr lIns="91440" rIns="91440" tIns="45720" bIns="45720" anchor="t">
            <a:normAutofit fontScale="85000" lnSpcReduction="9999"/>
          </a:bodyPr>
          <a:p>
            <a:pPr indent="0" algn="just" defTabSz="914400">
              <a:lnSpc>
                <a:spcPct val="150000"/>
              </a:lnSpc>
              <a:buNone/>
              <a:tabLst>
                <a:tab algn="l" pos="0"/>
              </a:tabLst>
            </a:pPr>
            <a:r>
              <a:rPr lang="uk-UA" sz="2400" b="1" u="none" strike="noStrike">
                <a:solidFill>
                  <a:schemeClr val="dk1"/>
                </a:solidFill>
                <a:effectLst/>
                <a:uFillTx/>
                <a:latin typeface="Times New Roman"/>
              </a:rPr>
              <a:t>Методологія </a:t>
            </a:r>
            <a:r>
              <a:rPr lang="pl-PL" sz="2400" b="1" u="none" strike="noStrike">
                <a:solidFill>
                  <a:schemeClr val="dk1"/>
                </a:solidFill>
                <a:effectLst/>
                <a:uFillTx/>
                <a:latin typeface="Times New Roman"/>
              </a:rPr>
              <a:t>eXtreme Programming (XP)</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Екстремальне програмування (</a:t>
            </a:r>
            <a:r>
              <a:rPr lang="pl-PL" sz="2400" b="0" u="none" strike="noStrike">
                <a:solidFill>
                  <a:schemeClr val="dk1"/>
                </a:solidFill>
                <a:effectLst/>
                <a:uFillTx/>
                <a:latin typeface="Times New Roman"/>
              </a:rPr>
              <a:t>eXtreme Programming, XP) – </a:t>
            </a:r>
            <a:r>
              <a:rPr lang="uk-UA" sz="2400" b="0" u="none" strike="noStrike">
                <a:solidFill>
                  <a:schemeClr val="dk1"/>
                </a:solidFill>
                <a:effectLst/>
                <a:uFillTx/>
                <a:latin typeface="Times New Roman"/>
              </a:rPr>
              <a:t>спрощена методологія організації виробництва для невеликих і середніх за розміром команд розробників, які займаються розробленням програмного продукту в умовах незрозумілих або швидко змінних вимог. Програмування відповідно до методик ХР доводить використання загальноприйнятих принципів програмування до екстремальних рівнів:</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 перегляд коду виконується постійно (з урахуванням того, що програмування ведеться парами);</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 кожен учасник проекту тестує код програми постійно (тестування модулів), навіть замовники проводять функціональне тестування;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проектування є складовою частиною повсякденної роботи кожного розробника (перероблення коду);</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 розроблення виконується з урахуванням вимоги збереження в системі найбільш простого дизайну, що забезпечує поточний необхідний рівень функціональності (простіші речі надійніші в роботі);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увага до архітектури системи на кожному етапі проекту;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інтеграційне тестування виконується після кожної найменшої зміни у системі (триваюча інтеграція);</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 ітерації невеликі – тривають години, кілька днів (постійне планування).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p:nvPr>
        </p:nvSpPr>
        <p:spPr>
          <a:xfrm>
            <a:off x="328320" y="372960"/>
            <a:ext cx="11025000" cy="580392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Для формування стилю розроблення, що дозволить досягти потрібної якості рішення, в </a:t>
            </a:r>
            <a:r>
              <a:rPr lang="pl-PL" sz="2400" b="0" u="none" strike="noStrike">
                <a:solidFill>
                  <a:schemeClr val="dk1"/>
                </a:solidFill>
                <a:effectLst/>
                <a:uFillTx/>
                <a:latin typeface="Times New Roman"/>
              </a:rPr>
              <a:t>XP </a:t>
            </a:r>
            <a:r>
              <a:rPr lang="uk-UA" sz="2400" b="0" u="none" strike="noStrike">
                <a:solidFill>
                  <a:schemeClr val="dk1"/>
                </a:solidFill>
                <a:effectLst/>
                <a:uFillTx/>
                <a:latin typeface="Times New Roman"/>
              </a:rPr>
              <a:t>пронується керуватись чотирма цінностями:</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 </a:t>
            </a:r>
            <a:r>
              <a:rPr lang="uk-UA" sz="2400" b="1" u="none" strike="noStrike">
                <a:solidFill>
                  <a:schemeClr val="dk1"/>
                </a:solidFill>
                <a:effectLst/>
                <a:uFillTx/>
                <a:latin typeface="Times New Roman"/>
              </a:rPr>
              <a:t>комунікацією</a:t>
            </a:r>
            <a:r>
              <a:rPr lang="uk-UA" sz="2400" b="0" u="none" strike="noStrike">
                <a:solidFill>
                  <a:schemeClr val="dk1"/>
                </a:solidFill>
                <a:effectLst/>
                <a:uFillTx/>
                <a:latin typeface="Times New Roman"/>
              </a:rPr>
              <a:t> (</a:t>
            </a:r>
            <a:r>
              <a:rPr lang="pl-PL" sz="2400" b="0" u="none" strike="noStrike">
                <a:solidFill>
                  <a:schemeClr val="dk1"/>
                </a:solidFill>
                <a:effectLst/>
                <a:uFillTx/>
                <a:latin typeface="Times New Roman"/>
              </a:rPr>
              <a:t>communication) – </a:t>
            </a:r>
            <a:r>
              <a:rPr lang="uk-UA" sz="2400" b="0" u="none" strike="noStrike">
                <a:solidFill>
                  <a:schemeClr val="dk1"/>
                </a:solidFill>
                <a:effectLst/>
                <a:uFillTx/>
                <a:latin typeface="Times New Roman"/>
              </a:rPr>
              <a:t>дисципліна </a:t>
            </a:r>
            <a:r>
              <a:rPr lang="pl-PL" sz="2400" b="0" u="none" strike="noStrike">
                <a:solidFill>
                  <a:schemeClr val="dk1"/>
                </a:solidFill>
                <a:effectLst/>
                <a:uFillTx/>
                <a:latin typeface="Times New Roman"/>
              </a:rPr>
              <a:t>XP, </a:t>
            </a:r>
            <a:r>
              <a:rPr lang="uk-UA" sz="2400" b="0" u="none" strike="noStrike">
                <a:solidFill>
                  <a:schemeClr val="dk1"/>
                </a:solidFill>
                <a:effectLst/>
                <a:uFillTx/>
                <a:latin typeface="Times New Roman"/>
              </a:rPr>
              <a:t>спрямована на забезпечення безперервної комунікації усіх учасників проекту. Під час тестування, програмування в парах та попереднього оцінювання робіт замовники, розробники та менеджери змушені постійно спілкуватись;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простотою</a:t>
            </a:r>
            <a:r>
              <a:rPr lang="uk-UA" sz="2400" b="0" u="none" strike="noStrike">
                <a:solidFill>
                  <a:schemeClr val="dk1"/>
                </a:solidFill>
                <a:effectLst/>
                <a:uFillTx/>
                <a:latin typeface="Times New Roman"/>
              </a:rPr>
              <a:t> (</a:t>
            </a:r>
            <a:r>
              <a:rPr lang="pl-PL" sz="2400" b="0" u="none" strike="noStrike">
                <a:solidFill>
                  <a:schemeClr val="dk1"/>
                </a:solidFill>
                <a:effectLst/>
                <a:uFillTx/>
                <a:latin typeface="Times New Roman"/>
              </a:rPr>
              <a:t>simplicity) – </a:t>
            </a:r>
            <a:r>
              <a:rPr lang="uk-UA" sz="2400" b="0" u="none" strike="noStrike">
                <a:solidFill>
                  <a:schemeClr val="dk1"/>
                </a:solidFill>
                <a:effectLst/>
                <a:uFillTx/>
                <a:latin typeface="Times New Roman"/>
              </a:rPr>
              <a:t>неможливо заздалегідь точно визначити, як буде розвиватися проект, тому вирішувати необхідно лише завдання, що виникають сьогодні, у найбільш простий спосіб;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p:nvPr>
        </p:nvSpPr>
        <p:spPr>
          <a:xfrm>
            <a:off x="293040" y="417240"/>
            <a:ext cx="11753640" cy="6222960"/>
          </a:xfrm>
          <a:prstGeom prst="rect">
            <a:avLst/>
          </a:prstGeom>
          <a:noFill/>
          <a:ln w="0">
            <a:noFill/>
          </a:ln>
        </p:spPr>
        <p:txBody>
          <a:bodyPr lIns="91440" rIns="91440" tIns="45720" bIns="45720" anchor="t">
            <a:normAutofit fontScale="92500" lnSpcReduction="9999"/>
          </a:bodyPr>
          <a:p>
            <a:pPr marL="228600" indent="-228600" algn="just" defTabSz="914400">
              <a:lnSpc>
                <a:spcPct val="150000"/>
              </a:lnSpc>
              <a:spcBef>
                <a:spcPts val="1001"/>
              </a:spcBef>
              <a:buClr>
                <a:srgbClr val="000000"/>
              </a:buClr>
              <a:buFont typeface="Arial"/>
              <a:buChar char="•"/>
            </a:pPr>
            <a:r>
              <a:rPr lang="uk-UA" sz="2400" b="1" u="none" strike="noStrike">
                <a:solidFill>
                  <a:schemeClr val="dk1"/>
                </a:solidFill>
                <a:effectLst/>
                <a:uFillTx/>
                <a:latin typeface="Times New Roman"/>
              </a:rPr>
              <a:t>зворотним зв'язком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feedback) – </a:t>
            </a:r>
            <a:r>
              <a:rPr lang="uk-UA" sz="2400" b="0" u="none" strike="noStrike">
                <a:solidFill>
                  <a:schemeClr val="dk1"/>
                </a:solidFill>
                <a:effectLst/>
                <a:uFillTx/>
                <a:latin typeface="Times New Roman"/>
              </a:rPr>
              <a:t>спосіб отримати точні та конкретні дані про стан проекту. Постійне виконання тестів для перевірки усіх змін у  системі забезпечує програміста звороним зв’язком про якість роботи. Кожен новий опис замовником вимог до системи одразу ж оцінюється розробниками і забезпечує замовника зворотним зв’язком із інформацію про якість опису. Менеджер, який контролює строки виконання робіт, забезпечує усіх уч</a:t>
            </a:r>
            <a:r>
              <a:rPr lang="ru-RU" sz="2400" b="0" u="none" strike="noStrike">
                <a:solidFill>
                  <a:schemeClr val="dk1"/>
                </a:solidFill>
                <a:effectLst/>
                <a:uFillTx/>
                <a:latin typeface="Times New Roman"/>
              </a:rPr>
              <a:t>а</a:t>
            </a:r>
            <a:r>
              <a:rPr lang="uk-UA" sz="2400" b="0" u="none" strike="noStrike">
                <a:solidFill>
                  <a:schemeClr val="dk1"/>
                </a:solidFill>
                <a:effectLst/>
                <a:uFillTx/>
                <a:latin typeface="Times New Roman"/>
              </a:rPr>
              <a:t>сників проекту інформацією про виконання планових термінів розроблення. В </a:t>
            </a:r>
            <a:r>
              <a:rPr lang="pl-PL" sz="2400" b="0" u="none" strike="noStrike">
                <a:solidFill>
                  <a:schemeClr val="dk1"/>
                </a:solidFill>
                <a:effectLst/>
                <a:uFillTx/>
                <a:latin typeface="Times New Roman"/>
              </a:rPr>
              <a:t>XP </a:t>
            </a:r>
            <a:r>
              <a:rPr lang="uk-UA" sz="2400" b="0" u="none" strike="noStrike">
                <a:solidFill>
                  <a:schemeClr val="dk1"/>
                </a:solidFill>
                <a:effectLst/>
                <a:uFillTx/>
                <a:latin typeface="Times New Roman"/>
              </a:rPr>
              <a:t>найбільш важливі функції системи реалізуються в першу чергу у реально працюючий продукт, тому замовник досить швидко може оцінити хід виконання та якість розроблення, а також відповідність замовленню; </a:t>
            </a:r>
            <a:endParaRPr lang="pl-PL" sz="2400" b="0" u="none" strike="noStrike">
              <a:solidFill>
                <a:schemeClr val="dk1"/>
              </a:solidFill>
              <a:effectLst/>
              <a:uFillTx/>
              <a:latin typeface="Calibri"/>
            </a:endParaRPr>
          </a:p>
          <a:p>
            <a:pPr marL="228600" indent="-228600" algn="just" defTabSz="914400">
              <a:lnSpc>
                <a:spcPct val="150000"/>
              </a:lnSpc>
              <a:spcBef>
                <a:spcPts val="1001"/>
              </a:spcBef>
              <a:buClr>
                <a:srgbClr val="000000"/>
              </a:buClr>
              <a:buFont typeface="Arial"/>
              <a:buChar char="•"/>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хоробрість</a:t>
            </a:r>
            <a:r>
              <a:rPr lang="uk-UA" sz="2400" b="0" u="none" strike="noStrike">
                <a:solidFill>
                  <a:schemeClr val="dk1"/>
                </a:solidFill>
                <a:effectLst/>
                <a:uFillTx/>
                <a:latin typeface="Times New Roman"/>
              </a:rPr>
              <a:t> (</a:t>
            </a:r>
            <a:r>
              <a:rPr lang="pl-PL" sz="2400" b="0" u="none" strike="noStrike">
                <a:solidFill>
                  <a:schemeClr val="dk1"/>
                </a:solidFill>
                <a:effectLst/>
                <a:uFillTx/>
                <a:latin typeface="Times New Roman"/>
              </a:rPr>
              <a:t>courage) – </a:t>
            </a:r>
            <a:r>
              <a:rPr lang="uk-UA" sz="2400" b="0" u="none" strike="noStrike">
                <a:solidFill>
                  <a:schemeClr val="dk1"/>
                </a:solidFill>
                <a:effectLst/>
                <a:uFillTx/>
                <a:latin typeface="Times New Roman"/>
              </a:rPr>
              <a:t>для того, щоб розроблення не втратила своєї актуальності, в </a:t>
            </a:r>
            <a:r>
              <a:rPr lang="pl-PL" sz="2400" b="0" u="none" strike="noStrike">
                <a:solidFill>
                  <a:schemeClr val="dk1"/>
                </a:solidFill>
                <a:effectLst/>
                <a:uFillTx/>
                <a:latin typeface="Times New Roman"/>
              </a:rPr>
              <a:t>XP </a:t>
            </a:r>
            <a:r>
              <a:rPr lang="uk-UA" sz="2400" b="0" u="none" strike="noStrike">
                <a:solidFill>
                  <a:schemeClr val="dk1"/>
                </a:solidFill>
                <a:effectLst/>
                <a:uFillTx/>
                <a:latin typeface="Times New Roman"/>
              </a:rPr>
              <a:t>рішення повинні прийматися з максимальною швидкістю, для чого потрібна певна сміливість.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p:nvPr>
        </p:nvSpPr>
        <p:spPr>
          <a:xfrm>
            <a:off x="213120" y="168840"/>
            <a:ext cx="11869200" cy="6560280"/>
          </a:xfrm>
          <a:prstGeom prst="rect">
            <a:avLst/>
          </a:prstGeom>
          <a:noFill/>
          <a:ln w="0">
            <a:noFill/>
          </a:ln>
        </p:spPr>
        <p:txBody>
          <a:bodyPr lIns="91440" rIns="91440" tIns="45720" bIns="45720" anchor="t">
            <a:noAutofit/>
          </a:bodyPr>
          <a:p>
            <a:pPr indent="0" algn="just" defTabSz="914400">
              <a:lnSpc>
                <a:spcPct val="170000"/>
              </a:lnSpc>
              <a:buNone/>
              <a:tabLst>
                <a:tab algn="l" pos="0"/>
              </a:tabLst>
            </a:pPr>
            <a:r>
              <a:rPr lang="uk-UA" sz="1800" b="0" u="none" strike="noStrike">
                <a:solidFill>
                  <a:schemeClr val="dk1"/>
                </a:solidFill>
                <a:effectLst/>
                <a:uFillTx/>
                <a:latin typeface="Times New Roman"/>
              </a:rPr>
              <a:t>Для визначення методів вирішення проблем розроблення ПЗ на основі обраних цінностей потрібно керуватися такими фундаментальними принципами оцінки методів вирішення поставленого завдання:</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uk-UA" sz="1800" b="0" u="none" strike="noStrike">
                <a:solidFill>
                  <a:schemeClr val="dk1"/>
                </a:solidFill>
                <a:effectLst/>
                <a:uFillTx/>
                <a:latin typeface="Times New Roman"/>
              </a:rPr>
              <a:t> • швидкий зворотний зв'язок – інформація про стан системи повинна якомога швидше надходити до зацікавлених сторін проекту. У рамках дисципліни </a:t>
            </a:r>
            <a:r>
              <a:rPr lang="pl-PL" sz="1800" b="0" u="none" strike="noStrike">
                <a:solidFill>
                  <a:schemeClr val="dk1"/>
                </a:solidFill>
                <a:effectLst/>
                <a:uFillTx/>
                <a:latin typeface="Times New Roman"/>
              </a:rPr>
              <a:t>XP </a:t>
            </a:r>
            <a:r>
              <a:rPr lang="uk-UA" sz="1800" b="0" u="none" strike="noStrike">
                <a:solidFill>
                  <a:schemeClr val="dk1"/>
                </a:solidFill>
                <a:effectLst/>
                <a:uFillTx/>
                <a:latin typeface="Times New Roman"/>
              </a:rPr>
              <a:t>ці дані повинні із максимальною швидкістю надходити, інтерпретуватися та на основі їх аналізу швидко виконуватися модифікації системи;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uk-UA" sz="1800" b="0" u="none" strike="noStrike">
                <a:solidFill>
                  <a:schemeClr val="dk1"/>
                </a:solidFill>
                <a:effectLst/>
                <a:uFillTx/>
                <a:latin typeface="Times New Roman"/>
              </a:rPr>
              <a:t>• прийнятна простота – кожна проблема повинна вирішуватись у найбільш простий спосіб. У рамках </a:t>
            </a:r>
            <a:r>
              <a:rPr lang="pl-PL" sz="1800" b="0" u="none" strike="noStrike">
                <a:solidFill>
                  <a:schemeClr val="dk1"/>
                </a:solidFill>
                <a:effectLst/>
                <a:uFillTx/>
                <a:latin typeface="Times New Roman"/>
              </a:rPr>
              <a:t>XP </a:t>
            </a:r>
            <a:r>
              <a:rPr lang="uk-UA" sz="1800" b="0" u="none" strike="noStrike">
                <a:solidFill>
                  <a:schemeClr val="dk1"/>
                </a:solidFill>
                <a:effectLst/>
                <a:uFillTx/>
                <a:latin typeface="Times New Roman"/>
              </a:rPr>
              <a:t>значні зусилля (тестування, переробка коду, комунікації) покладаються для вирішення завдань сьогодення таким чином, щоб завтра внесення змін не потребувало великих зусиль;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uk-UA" sz="1800" b="0" u="none" strike="noStrike">
                <a:solidFill>
                  <a:schemeClr val="dk1"/>
                </a:solidFill>
                <a:effectLst/>
                <a:uFillTx/>
                <a:latin typeface="Times New Roman"/>
              </a:rPr>
              <a:t>• поступова зміна – кардинальні зміни часто приводять до провалу проекту, щоб заплановані модифікації мали успіх, їх потрібно реалізовувати як серію невеликих змін, після кожної з яких перевіряється працездатність системи;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uk-UA" sz="1800" b="0" u="none" strike="noStrike">
                <a:solidFill>
                  <a:schemeClr val="dk1"/>
                </a:solidFill>
                <a:effectLst/>
                <a:uFillTx/>
                <a:latin typeface="Times New Roman"/>
              </a:rPr>
              <a:t>• прийнятна зміна – найвигідніша стратегія – та, що дозволяє вирішити найбільш важливу проблему і залишає максимальну свободу дій; </a:t>
            </a:r>
            <a:endParaRPr lang="pl-PL" sz="1800" b="0" u="none" strike="noStrike">
              <a:solidFill>
                <a:schemeClr val="dk1"/>
              </a:solidFill>
              <a:effectLst/>
              <a:uFillTx/>
              <a:latin typeface="Calibri"/>
            </a:endParaRPr>
          </a:p>
          <a:p>
            <a:pPr indent="0" algn="just" defTabSz="914400">
              <a:lnSpc>
                <a:spcPct val="170000"/>
              </a:lnSpc>
              <a:buNone/>
              <a:tabLst>
                <a:tab algn="l" pos="0"/>
              </a:tabLst>
            </a:pPr>
            <a:r>
              <a:rPr lang="uk-UA" sz="1800" b="0" u="none" strike="noStrike">
                <a:solidFill>
                  <a:schemeClr val="dk1"/>
                </a:solidFill>
                <a:effectLst/>
                <a:uFillTx/>
                <a:latin typeface="Times New Roman"/>
              </a:rPr>
              <a:t>• якісна робота – кожен учасник проекту повинен прагнути максимально якісно виконувати свої завдання і сприяти якісній роботі інших. </a:t>
            </a:r>
            <a:endParaRPr lang="pl-PL"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p:nvPr>
        </p:nvSpPr>
        <p:spPr>
          <a:xfrm>
            <a:off x="532800" y="390600"/>
            <a:ext cx="10820880" cy="5785920"/>
          </a:xfrm>
          <a:prstGeom prst="rect">
            <a:avLst/>
          </a:prstGeom>
          <a:noFill/>
          <a:ln w="0">
            <a:noFill/>
          </a:ln>
        </p:spPr>
        <p:txBody>
          <a:bodyPr lIns="91440" rIns="91440" tIns="45720" bIns="45720" anchor="t">
            <a:normAutofit lnSpcReduction="9999"/>
          </a:bodyPr>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Крім того, в </a:t>
            </a:r>
            <a:r>
              <a:rPr lang="pl-PL" sz="2400" b="0" u="none" strike="noStrike">
                <a:solidFill>
                  <a:schemeClr val="dk1"/>
                </a:solidFill>
                <a:effectLst/>
                <a:uFillTx/>
                <a:latin typeface="Times New Roman"/>
              </a:rPr>
              <a:t>XP </a:t>
            </a:r>
            <a:r>
              <a:rPr lang="uk-UA" sz="2400" b="0" u="none" strike="noStrike">
                <a:solidFill>
                  <a:schemeClr val="dk1"/>
                </a:solidFill>
                <a:effectLst/>
                <a:uFillTx/>
                <a:latin typeface="Times New Roman"/>
              </a:rPr>
              <a:t>є кілька правил (технік), що характеризують особливості моделі його життєвого циклу: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Живе планування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planning game) – </a:t>
            </a:r>
            <a:r>
              <a:rPr lang="uk-UA" sz="2400" b="0" u="none" strike="noStrike">
                <a:solidFill>
                  <a:schemeClr val="dk1"/>
                </a:solidFill>
                <a:effectLst/>
                <a:uFillTx/>
                <a:latin typeface="Times New Roman"/>
              </a:rPr>
              <a:t>якнайшвидше визначити обсяг робіт, який потрібно зробити до наступної версії ПЗ. Рішення приймається на основі, в першу чергу, бізнес-пріоритетів замовника і, по-друге, технічних оцінок. Плани змінюються, як тільки вони починають розходитися з дійсністю або побажаннями замовника.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Часта зміна версій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small releases) – </a:t>
            </a:r>
            <a:r>
              <a:rPr lang="uk-UA" sz="2400" b="0" u="none" strike="noStrike">
                <a:solidFill>
                  <a:schemeClr val="dk1"/>
                </a:solidFill>
                <a:effectLst/>
                <a:uFillTx/>
                <a:latin typeface="Times New Roman"/>
              </a:rPr>
              <a:t>перша працююча версія повинна з'явитися якомога швидше, і тут же повинна почати використовуватися. Наступні версії готуються через досить короткі проміжки часу.</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p:nvPr>
        </p:nvSpPr>
        <p:spPr>
          <a:xfrm>
            <a:off x="222120" y="266400"/>
            <a:ext cx="11131560" cy="5910120"/>
          </a:xfrm>
          <a:prstGeom prst="rect">
            <a:avLst/>
          </a:prstGeom>
          <a:noFill/>
          <a:ln w="0">
            <a:noFill/>
          </a:ln>
        </p:spPr>
        <p:txBody>
          <a:bodyPr lIns="91440" rIns="91440" tIns="45720" bIns="45720" anchor="t">
            <a:normAutofit fontScale="92500" lnSpcReduction="9999"/>
          </a:bodyPr>
          <a:p>
            <a:pPr marL="228600" indent="-228600" algn="just" defTabSz="914400">
              <a:lnSpc>
                <a:spcPct val="150000"/>
              </a:lnSpc>
              <a:buClr>
                <a:srgbClr val="000000"/>
              </a:buClr>
              <a:buFont typeface="Arial"/>
              <a:buChar char="•"/>
            </a:pPr>
            <a:r>
              <a:rPr lang="uk-UA" sz="2400" b="1" u="none" strike="noStrike">
                <a:solidFill>
                  <a:schemeClr val="dk1"/>
                </a:solidFill>
                <a:effectLst/>
                <a:uFillTx/>
                <a:latin typeface="Times New Roman"/>
              </a:rPr>
              <a:t>Прості проектні рішення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simple design) – </a:t>
            </a:r>
            <a:r>
              <a:rPr lang="uk-UA" sz="2400" b="0" u="none" strike="noStrike">
                <a:solidFill>
                  <a:schemeClr val="dk1"/>
                </a:solidFill>
                <a:effectLst/>
                <a:uFillTx/>
                <a:latin typeface="Times New Roman"/>
              </a:rPr>
              <a:t>у кожен момент часу система повинна бути сконструйована так просто, наскільки це можливо. Нові функції додаються тільки після ясного прохання про це. Вся зайва складність вилучається, як тільки виявляється.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Розробка на основі тестування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test-driven development) - </a:t>
            </a:r>
            <a:r>
              <a:rPr lang="uk-UA" sz="2400" b="0" u="none" strike="noStrike">
                <a:solidFill>
                  <a:schemeClr val="dk1"/>
                </a:solidFill>
                <a:effectLst/>
                <a:uFillTx/>
                <a:latin typeface="Times New Roman"/>
              </a:rPr>
              <a:t>спочатку пишуться тести, потім реалізуються модулі так, щоб тести спрацьовували. Замовники заздалегідь пишуть тести, що демонструють основні можливості системи, щоб можна було побачити, що система дійсно запрацювала.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Постійна переробка </a:t>
            </a:r>
            <a:r>
              <a:rPr lang="uk-UA" sz="2400" b="0" u="none" strike="noStrike">
                <a:solidFill>
                  <a:schemeClr val="dk1"/>
                </a:solidFill>
                <a:effectLst/>
                <a:uFillTx/>
                <a:latin typeface="Times New Roman"/>
              </a:rPr>
              <a:t>(</a:t>
            </a:r>
            <a:r>
              <a:rPr lang="pl-PL" sz="2400" b="0" u="none" strike="noStrike">
                <a:solidFill>
                  <a:schemeClr val="dk1"/>
                </a:solidFill>
                <a:effectLst/>
                <a:uFillTx/>
                <a:latin typeface="Times New Roman"/>
              </a:rPr>
              <a:t>refactoring) - </a:t>
            </a:r>
            <a:r>
              <a:rPr lang="uk-UA" sz="2400" b="0" u="none" strike="noStrike">
                <a:solidFill>
                  <a:schemeClr val="dk1"/>
                </a:solidFill>
                <a:effectLst/>
                <a:uFillTx/>
                <a:latin typeface="Times New Roman"/>
              </a:rPr>
              <a:t>системи для усунення зайвої складності, збільшення зрозумілості коду, підвищення його гнучкості. При цьому перевага віддається більш елегантним і гнучким рішенням, у порівнянні з тими, які просто дають потрібний результат.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p:nvPr>
        </p:nvSpPr>
        <p:spPr>
          <a:xfrm>
            <a:off x="337320" y="328320"/>
            <a:ext cx="11016000" cy="5848200"/>
          </a:xfrm>
          <a:prstGeom prst="rect">
            <a:avLst/>
          </a:prstGeom>
          <a:noFill/>
          <a:ln w="0">
            <a:noFill/>
          </a:ln>
        </p:spPr>
        <p:txBody>
          <a:bodyPr lIns="91440" rIns="91440" tIns="45720" bIns="45720" anchor="t">
            <a:normAutofit fontScale="92500" lnSpcReduction="9999"/>
          </a:bodyPr>
          <a:p>
            <a:pPr marL="228600" indent="-228600" algn="just" defTabSz="914400">
              <a:lnSpc>
                <a:spcPct val="150000"/>
              </a:lnSpc>
              <a:spcBef>
                <a:spcPts val="1001"/>
              </a:spcBef>
              <a:buClr>
                <a:srgbClr val="000000"/>
              </a:buClr>
              <a:buFont typeface="Arial"/>
              <a:buChar char="•"/>
            </a:pPr>
            <a:r>
              <a:rPr lang="uk-UA" sz="2800" b="1" u="none" strike="noStrike">
                <a:solidFill>
                  <a:schemeClr val="dk1"/>
                </a:solidFill>
                <a:effectLst/>
                <a:uFillTx/>
                <a:latin typeface="Times New Roman"/>
              </a:rPr>
              <a:t>Програмування парами </a:t>
            </a:r>
            <a:r>
              <a:rPr lang="uk-UA" sz="2800" b="0" u="none" strike="noStrike">
                <a:solidFill>
                  <a:schemeClr val="dk1"/>
                </a:solidFill>
                <a:effectLst/>
                <a:uFillTx/>
                <a:latin typeface="Times New Roman"/>
              </a:rPr>
              <a:t>(</a:t>
            </a:r>
            <a:r>
              <a:rPr lang="pl-PL" sz="2800" b="0" u="none" strike="noStrike">
                <a:solidFill>
                  <a:schemeClr val="dk1"/>
                </a:solidFill>
                <a:effectLst/>
                <a:uFillTx/>
                <a:latin typeface="Times New Roman"/>
              </a:rPr>
              <a:t>pair programming) - </a:t>
            </a:r>
            <a:r>
              <a:rPr lang="uk-UA" sz="2800" b="0" u="none" strike="noStrike">
                <a:solidFill>
                  <a:schemeClr val="dk1"/>
                </a:solidFill>
                <a:effectLst/>
                <a:uFillTx/>
                <a:latin typeface="Times New Roman"/>
              </a:rPr>
              <a:t>весь код пишеться двома програмістами на одному комп'ютері, що підвищує його якість (відсутність помилок, зрозумілість, читання, ...). </a:t>
            </a:r>
            <a:endParaRPr lang="pl-PL" sz="28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800" b="0" u="none" strike="noStrike">
                <a:solidFill>
                  <a:schemeClr val="dk1"/>
                </a:solidFill>
                <a:effectLst/>
                <a:uFillTx/>
                <a:latin typeface="Times New Roman"/>
              </a:rPr>
              <a:t>• </a:t>
            </a:r>
            <a:r>
              <a:rPr lang="uk-UA" sz="2800" b="1" u="none" strike="noStrike">
                <a:solidFill>
                  <a:schemeClr val="dk1"/>
                </a:solidFill>
                <a:effectLst/>
                <a:uFillTx/>
                <a:latin typeface="Times New Roman"/>
              </a:rPr>
              <a:t>Постійна інтеграція </a:t>
            </a:r>
            <a:r>
              <a:rPr lang="uk-UA" sz="2800" b="0" u="none" strike="noStrike">
                <a:solidFill>
                  <a:schemeClr val="dk1"/>
                </a:solidFill>
                <a:effectLst/>
                <a:uFillTx/>
                <a:latin typeface="Times New Roman"/>
              </a:rPr>
              <a:t>(</a:t>
            </a:r>
            <a:r>
              <a:rPr lang="pl-PL" sz="2800" b="0" u="none" strike="noStrike">
                <a:solidFill>
                  <a:schemeClr val="dk1"/>
                </a:solidFill>
                <a:effectLst/>
                <a:uFillTx/>
                <a:latin typeface="Times New Roman"/>
              </a:rPr>
              <a:t>continuous integration) - </a:t>
            </a:r>
            <a:r>
              <a:rPr lang="uk-UA" sz="2800" b="0" u="none" strike="noStrike">
                <a:solidFill>
                  <a:schemeClr val="dk1"/>
                </a:solidFill>
                <a:effectLst/>
                <a:uFillTx/>
                <a:latin typeface="Times New Roman"/>
              </a:rPr>
              <a:t>система збирається і проходить інтеграційне тестування якомога частіше, по кілька разів на день кожного разу, коли пара програмістів закінчує реалізацію чергової функції. </a:t>
            </a:r>
            <a:endParaRPr lang="pl-PL" sz="28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800" b="0" u="none" strike="noStrike">
                <a:solidFill>
                  <a:schemeClr val="dk1"/>
                </a:solidFill>
                <a:effectLst/>
                <a:uFillTx/>
                <a:latin typeface="Times New Roman"/>
              </a:rPr>
              <a:t>• </a:t>
            </a:r>
            <a:r>
              <a:rPr lang="uk-UA" sz="2800" b="1" u="none" strike="noStrike">
                <a:solidFill>
                  <a:schemeClr val="dk1"/>
                </a:solidFill>
                <a:effectLst/>
                <a:uFillTx/>
                <a:latin typeface="Times New Roman"/>
              </a:rPr>
              <a:t>40-годинний робочий тиждень </a:t>
            </a:r>
            <a:r>
              <a:rPr lang="uk-UA" sz="2800" b="0" u="none" strike="noStrike">
                <a:solidFill>
                  <a:schemeClr val="dk1"/>
                </a:solidFill>
                <a:effectLst/>
                <a:uFillTx/>
                <a:latin typeface="Times New Roman"/>
              </a:rPr>
              <a:t>- понаднормова робота розглядається як ознака великих проблем у проекті. Не допускається понаднормова робота 2 тижні поспіль - це виснажує програмістів і робить їх роботу значно менш продуктивною.</a:t>
            </a:r>
            <a:endParaRPr lang="pl-PL" sz="2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p:nvPr>
        </p:nvSpPr>
        <p:spPr>
          <a:xfrm>
            <a:off x="177480" y="204120"/>
            <a:ext cx="11797920" cy="6533640"/>
          </a:xfrm>
          <a:prstGeom prst="rect">
            <a:avLst/>
          </a:prstGeom>
          <a:noFill/>
          <a:ln w="0">
            <a:noFill/>
          </a:ln>
        </p:spPr>
        <p:txBody>
          <a:bodyPr lIns="91440" rIns="91440" tIns="45720" bIns="45720" anchor="t">
            <a:noAutofit/>
          </a:bodyPr>
          <a:p>
            <a:pPr marL="228600" indent="-228600" defTabSz="914400">
              <a:lnSpc>
                <a:spcPct val="90000"/>
              </a:lnSpc>
              <a:buClr>
                <a:srgbClr val="000000"/>
              </a:buClr>
              <a:buFont typeface="Arial"/>
              <a:buChar char="•"/>
            </a:pPr>
            <a:r>
              <a:rPr lang="pl-PL" sz="2400" b="1" u="none" strike="noStrike">
                <a:solidFill>
                  <a:schemeClr val="dk1"/>
                </a:solidFill>
                <a:effectLst/>
                <a:uFillTx/>
                <a:latin typeface="Times New Roman"/>
              </a:rPr>
              <a:t>PSP/TSP</a:t>
            </a:r>
            <a:endParaRPr lang="pl-PL" sz="2400" b="0" u="none" strike="noStrike">
              <a:solidFill>
                <a:schemeClr val="dk1"/>
              </a:solidFill>
              <a:effectLst/>
              <a:uFillTx/>
              <a:latin typeface="Calibri"/>
            </a:endParaRPr>
          </a:p>
          <a:p>
            <a:pPr marL="228600" indent="-228600" defTabSz="914400">
              <a:lnSpc>
                <a:spcPct val="90000"/>
              </a:lnSpc>
              <a:buClr>
                <a:srgbClr val="000000"/>
              </a:buClr>
              <a:buFont typeface="Arial"/>
              <a:buChar char="•"/>
            </a:pPr>
            <a:r>
              <a:rPr lang="uk-UA" sz="2400" b="0" u="none" strike="noStrike">
                <a:solidFill>
                  <a:schemeClr val="dk1"/>
                </a:solidFill>
                <a:effectLst/>
                <a:uFillTx/>
                <a:latin typeface="Times New Roman"/>
              </a:rPr>
              <a:t>Одна з останніх розробок Інституту програмної інженерії </a:t>
            </a:r>
            <a:r>
              <a:rPr lang="pl-PL" sz="2400" b="0" u="none" strike="noStrike">
                <a:solidFill>
                  <a:schemeClr val="dk1"/>
                </a:solidFill>
                <a:effectLst/>
                <a:uFillTx/>
                <a:latin typeface="Times New Roman"/>
              </a:rPr>
              <a:t>Personal Software Process / Team Software Process [12,13]. Personal Software Process </a:t>
            </a:r>
            <a:r>
              <a:rPr lang="uk-UA" sz="2400" b="0" u="none" strike="noStrike">
                <a:solidFill>
                  <a:schemeClr val="dk1"/>
                </a:solidFill>
                <a:effectLst/>
                <a:uFillTx/>
                <a:latin typeface="Times New Roman"/>
              </a:rPr>
              <a:t>визначає вимоги до компетенцій розробника. Згідно цій моделі кожен програміст повинен вміти: </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 враховувати час, витрачений на роботу над проектом; </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 враховувати знайдені дефекти; </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 класифікувати типи дефектів; </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 оцінювати розмір задачі; </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 здійснювати систематичний підхід до опису результатів тестування;</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 • планувати програмні завдання; </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 розподіляти їх по часу і складати графік роботи. </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 виконувати індивідуальну перевірку проекту та архітектури; </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 здійснювати індивідуальну перевірку коду; </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 виконувати регресійнее тестування. </a:t>
            </a:r>
            <a:r>
              <a:rPr lang="pl-PL" sz="2400" b="0" u="none" strike="noStrike">
                <a:solidFill>
                  <a:schemeClr val="dk1"/>
                </a:solidFill>
                <a:effectLst/>
                <a:uFillTx/>
                <a:latin typeface="Times New Roman"/>
              </a:rPr>
              <a:t>Team Software Process </a:t>
            </a:r>
            <a:r>
              <a:rPr lang="uk-UA" sz="2400" b="0" u="none" strike="noStrike">
                <a:solidFill>
                  <a:schemeClr val="dk1"/>
                </a:solidFill>
                <a:effectLst/>
                <a:uFillTx/>
                <a:latin typeface="Times New Roman"/>
              </a:rPr>
              <a:t>робить ставку на самокеровані команди чисельністю 3 20 розробників. </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Команди повинні: • встановити власні цілі; • скласти свій процес і плани; • відслідковувати роботу; • підтримувати мотивацію і максимальну продуктивність. </a:t>
            </a:r>
            <a:endParaRPr lang="pl-PL" sz="2400" b="0" u="none" strike="noStrike">
              <a:solidFill>
                <a:schemeClr val="dk1"/>
              </a:solidFill>
              <a:effectLst/>
              <a:uFillTx/>
              <a:latin typeface="Calibri"/>
            </a:endParaRPr>
          </a:p>
          <a:p>
            <a:pPr indent="0" defTabSz="914400">
              <a:lnSpc>
                <a:spcPct val="90000"/>
              </a:lnSpc>
              <a:buNone/>
              <a:tabLst>
                <a:tab algn="l" pos="0"/>
              </a:tabLst>
            </a:pPr>
            <a:r>
              <a:rPr lang="uk-UA" sz="2400" b="0" u="none" strike="noStrike">
                <a:solidFill>
                  <a:schemeClr val="dk1"/>
                </a:solidFill>
                <a:effectLst/>
                <a:uFillTx/>
                <a:latin typeface="Times New Roman"/>
              </a:rPr>
              <a:t>Послідовне застосування моделі </a:t>
            </a:r>
            <a:r>
              <a:rPr lang="pl-PL" sz="2400" b="0" u="none" strike="noStrike">
                <a:solidFill>
                  <a:schemeClr val="dk1"/>
                </a:solidFill>
                <a:effectLst/>
                <a:uFillTx/>
                <a:latin typeface="Times New Roman"/>
              </a:rPr>
              <a:t>PSP/TSP </a:t>
            </a:r>
            <a:r>
              <a:rPr lang="uk-UA" sz="2400" b="0" u="none" strike="noStrike">
                <a:solidFill>
                  <a:schemeClr val="dk1"/>
                </a:solidFill>
                <a:effectLst/>
                <a:uFillTx/>
                <a:latin typeface="Times New Roman"/>
              </a:rPr>
              <a:t>дозволяє зробити нормою в організації п'ятий рівень </a:t>
            </a:r>
            <a:r>
              <a:rPr lang="pl-PL" sz="2400" b="0" u="none" strike="noStrike">
                <a:solidFill>
                  <a:schemeClr val="dk1"/>
                </a:solidFill>
                <a:effectLst/>
                <a:uFillTx/>
                <a:latin typeface="Times New Roman"/>
              </a:rPr>
              <a:t>CMM.</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p:nvPr>
        </p:nvSpPr>
        <p:spPr>
          <a:xfrm>
            <a:off x="479520" y="354960"/>
            <a:ext cx="10874160" cy="5821560"/>
          </a:xfrm>
          <a:prstGeom prst="rect">
            <a:avLst/>
          </a:prstGeom>
          <a:noFill/>
          <a:ln w="0">
            <a:noFill/>
          </a:ln>
        </p:spPr>
        <p:txBody>
          <a:bodyPr lIns="91440" rIns="91440" tIns="45720" bIns="45720" anchor="t">
            <a:normAutofit/>
          </a:bodyPr>
          <a:p>
            <a:pPr indent="0" algn="just" defTabSz="914400">
              <a:lnSpc>
                <a:spcPct val="150000"/>
              </a:lnSpc>
              <a:spcBef>
                <a:spcPts val="1001"/>
              </a:spcBef>
              <a:buNone/>
              <a:tabLst>
                <a:tab algn="l" pos="0"/>
              </a:tabLst>
            </a:pPr>
            <a:r>
              <a:rPr lang="ru-RU" sz="2400" b="1" u="none" strike="noStrike">
                <a:solidFill>
                  <a:schemeClr val="dk1"/>
                </a:solidFill>
                <a:effectLst/>
                <a:uFillTx/>
                <a:latin typeface="Times New Roman"/>
              </a:rPr>
              <a:t>Гнучке розроблення ПЗ на основі Agile</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ru-RU" sz="2400" b="0" u="none" strike="noStrike">
                <a:solidFill>
                  <a:schemeClr val="dk1"/>
                </a:solidFill>
                <a:effectLst/>
                <a:uFillTx/>
                <a:latin typeface="Times New Roman"/>
              </a:rPr>
              <a:t> </a:t>
            </a:r>
            <a:r>
              <a:rPr lang="uk-UA" sz="2400" b="0" u="none" strike="noStrike">
                <a:solidFill>
                  <a:schemeClr val="dk1"/>
                </a:solidFill>
                <a:effectLst/>
                <a:uFillTx/>
                <a:latin typeface="Times New Roman"/>
              </a:rPr>
              <a:t>Основна ідея всіх гнучких моделей полягає в тому, що застосовуваний у розробці процес повинен бути адаптивним. Вони декларують своєю вищою цінністю орієнтованість на людей і їх взаємодію, а не на процеси і засоби. По суті, так звані, гнучкі методології це не методології, а набір практик, які можуть дозволити (а можуть і ні) домагатися ефективної розробки ПЗ.</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p:nvPr>
        </p:nvSpPr>
        <p:spPr>
          <a:xfrm>
            <a:off x="293040" y="248400"/>
            <a:ext cx="11060640" cy="592812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ru-RU" sz="2400" b="1" u="none" strike="noStrike">
                <a:solidFill>
                  <a:schemeClr val="dk1"/>
                </a:solidFill>
                <a:effectLst/>
                <a:uFillTx/>
                <a:latin typeface="Times New Roman"/>
              </a:rPr>
              <a:t>Основні принципи гнучкого розроблення ПЗ</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Найвищий пріоритет </a:t>
            </a:r>
            <a:r>
              <a:rPr lang="uk-UA" sz="2400" b="0" u="none" strike="noStrike">
                <a:solidFill>
                  <a:schemeClr val="dk1"/>
                </a:solidFill>
                <a:effectLst/>
                <a:uFillTx/>
                <a:latin typeface="Times New Roman"/>
              </a:rPr>
              <a:t>– задоволення потреб замовника шляхом завчасного та регулярного постачання програмного забезпечення.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 Схвальне ставлення до змін</a:t>
            </a:r>
            <a:r>
              <a:rPr lang="uk-UA" sz="2400" b="0" u="none" strike="noStrike">
                <a:solidFill>
                  <a:schemeClr val="dk1"/>
                </a:solidFill>
                <a:effectLst/>
                <a:uFillTx/>
                <a:latin typeface="Times New Roman"/>
              </a:rPr>
              <a:t>, навіть на завершальних стадіях розроблення. </a:t>
            </a:r>
            <a:r>
              <a:rPr lang="pl-PL" sz="2400" b="0" u="none" strike="noStrike">
                <a:solidFill>
                  <a:schemeClr val="dk1"/>
                </a:solidFill>
                <a:effectLst/>
                <a:uFillTx/>
                <a:latin typeface="Times New Roman"/>
              </a:rPr>
              <a:t>Agile-</a:t>
            </a:r>
            <a:r>
              <a:rPr lang="uk-UA" sz="2400" b="0" u="none" strike="noStrike">
                <a:solidFill>
                  <a:schemeClr val="dk1"/>
                </a:solidFill>
                <a:effectLst/>
                <a:uFillTx/>
                <a:latin typeface="Times New Roman"/>
              </a:rPr>
              <a:t>процеси використовують зміни для забезпечення конкурентоспроможності замовника.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Працюючий продукт </a:t>
            </a:r>
            <a:r>
              <a:rPr lang="uk-UA" sz="2400" b="0" u="none" strike="noStrike">
                <a:solidFill>
                  <a:schemeClr val="dk1"/>
                </a:solidFill>
                <a:effectLst/>
                <a:uFillTx/>
                <a:latin typeface="Times New Roman"/>
              </a:rPr>
              <a:t>необхідно випускати якомога частіше, з періодичністю від двох тижнів до двох-трьох місяців. </a:t>
            </a:r>
            <a:endParaRPr lang="pl-PL" sz="2400" b="0" u="none" strike="noStrike">
              <a:solidFill>
                <a:schemeClr val="dk1"/>
              </a:solidFill>
              <a:effectLst/>
              <a:uFillTx/>
              <a:latin typeface="Calibri"/>
            </a:endParaRPr>
          </a:p>
          <a:p>
            <a:pPr indent="0" algn="just" defTabSz="914400">
              <a:lnSpc>
                <a:spcPct val="150000"/>
              </a:lnSpc>
              <a:spcBef>
                <a:spcPts val="1001"/>
              </a:spcBef>
              <a:buNone/>
              <a:tabLst>
                <a:tab algn="l" pos="0"/>
              </a:tabLst>
            </a:pPr>
            <a:r>
              <a:rPr lang="uk-UA" sz="2400" b="1" u="none" strike="noStrike">
                <a:solidFill>
                  <a:schemeClr val="dk1"/>
                </a:solidFill>
                <a:effectLst/>
                <a:uFillTx/>
                <a:latin typeface="Times New Roman"/>
              </a:rPr>
              <a:t>Упродовж усього проекту розробники і представники бізнесу повинні працювати разом щодня.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p:nvPr>
        </p:nvSpPr>
        <p:spPr>
          <a:xfrm>
            <a:off x="417240" y="390600"/>
            <a:ext cx="10936080" cy="5785920"/>
          </a:xfrm>
          <a:prstGeom prst="rect">
            <a:avLst/>
          </a:prstGeom>
          <a:noFill/>
          <a:ln w="0">
            <a:noFill/>
          </a:ln>
        </p:spPr>
        <p:txBody>
          <a:bodyPr lIns="91440" rIns="91440" tIns="45720" bIns="45720" anchor="t">
            <a:normAutofit lnSpcReduction="9999"/>
          </a:bodyPr>
          <a:p>
            <a:pPr indent="0" defTabSz="914400">
              <a:lnSpc>
                <a:spcPct val="150000"/>
              </a:lnSpc>
              <a:spcBef>
                <a:spcPts val="1001"/>
              </a:spcBef>
              <a:buNone/>
              <a:tabLst>
                <a:tab algn="l" pos="0"/>
              </a:tabLst>
            </a:pPr>
            <a:r>
              <a:rPr lang="uk-UA" sz="2400" b="1" u="none" strike="noStrike">
                <a:solidFill>
                  <a:schemeClr val="dk1"/>
                </a:solidFill>
                <a:effectLst/>
                <a:uFillTx/>
                <a:latin typeface="Times New Roman"/>
              </a:rPr>
              <a:t>Над проектом </a:t>
            </a:r>
            <a:r>
              <a:rPr lang="uk-UA" sz="2400" b="0" u="none" strike="noStrike">
                <a:solidFill>
                  <a:schemeClr val="dk1"/>
                </a:solidFill>
                <a:effectLst/>
                <a:uFillTx/>
                <a:latin typeface="Times New Roman"/>
              </a:rPr>
              <a:t>повинні працювати вмотивовані професіонали, які працюють у зручних умовах, із повною підтримкою та довірою менеджменту проекту. </a:t>
            </a:r>
            <a:endParaRPr lang="pl-PL" sz="2400" b="0" u="none" strike="noStrike">
              <a:solidFill>
                <a:schemeClr val="dk1"/>
              </a:solidFill>
              <a:effectLst/>
              <a:uFillTx/>
              <a:latin typeface="Calibri"/>
            </a:endParaRPr>
          </a:p>
          <a:p>
            <a:pPr indent="0" defTabSz="914400">
              <a:lnSpc>
                <a:spcPct val="15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Особиста комунікація </a:t>
            </a:r>
            <a:r>
              <a:rPr lang="uk-UA" sz="2400" b="0" u="none" strike="noStrike">
                <a:solidFill>
                  <a:schemeClr val="dk1"/>
                </a:solidFill>
                <a:effectLst/>
                <a:uFillTx/>
                <a:latin typeface="Times New Roman"/>
              </a:rPr>
              <a:t>– найефективніший та найпрактичніший метод обміну інформацією в команді. </a:t>
            </a:r>
            <a:endParaRPr lang="pl-PL" sz="2400" b="0" u="none" strike="noStrike">
              <a:solidFill>
                <a:schemeClr val="dk1"/>
              </a:solidFill>
              <a:effectLst/>
              <a:uFillTx/>
              <a:latin typeface="Calibri"/>
            </a:endParaRPr>
          </a:p>
          <a:p>
            <a:pPr indent="0" defTabSz="914400">
              <a:lnSpc>
                <a:spcPct val="150000"/>
              </a:lnSpc>
              <a:spcBef>
                <a:spcPts val="1001"/>
              </a:spcBef>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Працюючий продукт </a:t>
            </a:r>
            <a:r>
              <a:rPr lang="uk-UA" sz="2400" b="0" u="none" strike="noStrike">
                <a:solidFill>
                  <a:schemeClr val="dk1"/>
                </a:solidFill>
                <a:effectLst/>
                <a:uFillTx/>
                <a:latin typeface="Times New Roman"/>
              </a:rPr>
              <a:t>– головний показник прогресу. </a:t>
            </a:r>
            <a:endParaRPr lang="pl-PL" sz="2400" b="0" u="none" strike="noStrike">
              <a:solidFill>
                <a:schemeClr val="dk1"/>
              </a:solidFill>
              <a:effectLst/>
              <a:uFillTx/>
              <a:latin typeface="Calibri"/>
            </a:endParaRPr>
          </a:p>
          <a:p>
            <a:pPr indent="0" defTabSz="914400">
              <a:lnSpc>
                <a:spcPct val="150000"/>
              </a:lnSpc>
              <a:spcBef>
                <a:spcPts val="1001"/>
              </a:spcBef>
              <a:buNone/>
              <a:tabLst>
                <a:tab algn="l" pos="0"/>
              </a:tabLst>
            </a:pPr>
            <a:r>
              <a:rPr lang="uk-UA" sz="2400" b="1" u="none" strike="noStrike">
                <a:solidFill>
                  <a:schemeClr val="dk1"/>
                </a:solidFill>
                <a:effectLst/>
                <a:uFillTx/>
                <a:latin typeface="Times New Roman"/>
              </a:rPr>
              <a:t>Інвестори, розробники і користувачі </a:t>
            </a:r>
            <a:r>
              <a:rPr lang="uk-UA" sz="2400" b="0" u="none" strike="noStrike">
                <a:solidFill>
                  <a:schemeClr val="dk1"/>
                </a:solidFill>
                <a:effectLst/>
                <a:uFillTx/>
                <a:latin typeface="Times New Roman"/>
              </a:rPr>
              <a:t>повинні мати можливість підтримувати постійний ритм роботи. </a:t>
            </a:r>
            <a:r>
              <a:rPr lang="pl-PL" sz="2400" b="0" u="none" strike="noStrike">
                <a:solidFill>
                  <a:schemeClr val="dk1"/>
                </a:solidFill>
                <a:effectLst/>
                <a:uFillTx/>
                <a:latin typeface="Times New Roman"/>
              </a:rPr>
              <a:t>Agile </a:t>
            </a:r>
            <a:r>
              <a:rPr lang="uk-UA" sz="2400" b="0" u="none" strike="noStrike">
                <a:solidFill>
                  <a:schemeClr val="dk1"/>
                </a:solidFill>
                <a:effectLst/>
                <a:uFillTx/>
                <a:latin typeface="Times New Roman"/>
              </a:rPr>
              <a:t>допомагає налагодити такий сталий процес розроблення. </a:t>
            </a:r>
            <a:endParaRPr lang="pl-PL" sz="2400" b="0" u="none" strike="noStrike">
              <a:solidFill>
                <a:schemeClr val="dk1"/>
              </a:solidFill>
              <a:effectLst/>
              <a:uFillTx/>
              <a:latin typeface="Calibri"/>
            </a:endParaRPr>
          </a:p>
          <a:p>
            <a:pPr indent="0" defTabSz="914400">
              <a:lnSpc>
                <a:spcPct val="150000"/>
              </a:lnSpc>
              <a:spcBef>
                <a:spcPts val="1001"/>
              </a:spcBef>
              <a:buNone/>
              <a:tabLst>
                <a:tab algn="l" pos="0"/>
              </a:tabLst>
            </a:pPr>
            <a:r>
              <a:rPr lang="uk-UA" sz="2400" b="1" u="none" strike="noStrike">
                <a:solidFill>
                  <a:schemeClr val="dk1"/>
                </a:solidFill>
                <a:effectLst/>
                <a:uFillTx/>
                <a:latin typeface="Times New Roman"/>
              </a:rPr>
              <a:t>Постійна увага до технічної доско</a:t>
            </a:r>
            <a:r>
              <a:rPr lang="uk-UA" sz="2400" b="0" u="none" strike="noStrike">
                <a:solidFill>
                  <a:schemeClr val="dk1"/>
                </a:solidFill>
                <a:effectLst/>
                <a:uFillTx/>
                <a:latin typeface="Times New Roman"/>
              </a:rPr>
              <a:t>налості і якості проектування підвищує гнучкість проекту.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p:nvPr>
        </p:nvSpPr>
        <p:spPr>
          <a:xfrm>
            <a:off x="97560" y="328320"/>
            <a:ext cx="11611800" cy="6391440"/>
          </a:xfrm>
          <a:prstGeom prst="rect">
            <a:avLst/>
          </a:prstGeom>
          <a:noFill/>
          <a:ln w="0">
            <a:noFill/>
          </a:ln>
        </p:spPr>
        <p:txBody>
          <a:bodyPr lIns="91440" rIns="91440" tIns="45720" bIns="45720" anchor="t">
            <a:normAutofit fontScale="85000" lnSpcReduction="19999"/>
          </a:bodyPr>
          <a:p>
            <a:pPr indent="0" algn="just" defTabSz="914400">
              <a:lnSpc>
                <a:spcPct val="150000"/>
              </a:lnSpc>
              <a:buNone/>
              <a:tabLst>
                <a:tab algn="l" pos="0"/>
              </a:tabLst>
            </a:pPr>
            <a:r>
              <a:rPr lang="uk-UA" sz="2400" b="1" u="none" strike="noStrike">
                <a:solidFill>
                  <a:schemeClr val="dk1"/>
                </a:solidFill>
                <a:effectLst/>
                <a:uFillTx/>
                <a:latin typeface="Times New Roman"/>
              </a:rPr>
              <a:t>Простота</a:t>
            </a:r>
            <a:r>
              <a:rPr lang="uk-UA" sz="2400" b="0" u="none" strike="noStrike">
                <a:solidFill>
                  <a:schemeClr val="dk1"/>
                </a:solidFill>
                <a:effectLst/>
                <a:uFillTx/>
                <a:latin typeface="Times New Roman"/>
              </a:rPr>
              <a:t> – мистецтво мінімізації зайвої роботи – дуже необхідна.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0" u="none" strike="noStrike">
                <a:solidFill>
                  <a:schemeClr val="dk1"/>
                </a:solidFill>
                <a:effectLst/>
                <a:uFillTx/>
                <a:latin typeface="Times New Roman"/>
              </a:rPr>
              <a:t> </a:t>
            </a:r>
            <a:r>
              <a:rPr lang="uk-UA" sz="2400" b="1" u="none" strike="noStrike">
                <a:solidFill>
                  <a:schemeClr val="dk1"/>
                </a:solidFill>
                <a:effectLst/>
                <a:uFillTx/>
                <a:latin typeface="Times New Roman"/>
              </a:rPr>
              <a:t>Найкращі вимоги</a:t>
            </a:r>
            <a:r>
              <a:rPr lang="uk-UA" sz="2400" b="0" u="none" strike="noStrike">
                <a:solidFill>
                  <a:schemeClr val="dk1"/>
                </a:solidFill>
                <a:effectLst/>
                <a:uFillTx/>
                <a:latin typeface="Times New Roman"/>
              </a:rPr>
              <a:t>, архітектурні та технічні рішення виникають у командах, які здатні самоорганізовуватись. </a:t>
            </a:r>
            <a:endParaRPr lang="pl-PL" sz="2400" b="0" u="none" strike="noStrike">
              <a:solidFill>
                <a:schemeClr val="dk1"/>
              </a:solidFill>
              <a:effectLst/>
              <a:uFillTx/>
              <a:latin typeface="Calibri"/>
            </a:endParaRPr>
          </a:p>
          <a:p>
            <a:pPr indent="0" algn="just" defTabSz="914400">
              <a:lnSpc>
                <a:spcPct val="150000"/>
              </a:lnSpc>
              <a:buNone/>
              <a:tabLst>
                <a:tab algn="l" pos="0"/>
              </a:tabLst>
            </a:pPr>
            <a:r>
              <a:rPr lang="uk-UA" sz="2400" b="1" u="none" strike="noStrike">
                <a:solidFill>
                  <a:schemeClr val="dk1"/>
                </a:solidFill>
                <a:effectLst/>
                <a:uFillTx/>
                <a:latin typeface="Times New Roman"/>
              </a:rPr>
              <a:t>Команда</a:t>
            </a:r>
            <a:r>
              <a:rPr lang="uk-UA" sz="2400" b="0" u="none" strike="noStrike">
                <a:solidFill>
                  <a:schemeClr val="dk1"/>
                </a:solidFill>
                <a:effectLst/>
                <a:uFillTx/>
                <a:latin typeface="Times New Roman"/>
              </a:rPr>
              <a:t> постійно шукає способи підвищення ефективності та відповідно коригує свою роботу. </a:t>
            </a:r>
            <a:endParaRPr lang="pl-PL" sz="2400" b="0" u="none" strike="noStrike">
              <a:solidFill>
                <a:schemeClr val="dk1"/>
              </a:solidFill>
              <a:effectLst/>
              <a:uFillTx/>
              <a:latin typeface="Calibri"/>
            </a:endParaRPr>
          </a:p>
          <a:p>
            <a:pPr indent="0" algn="just" defTabSz="914400">
              <a:lnSpc>
                <a:spcPct val="170000"/>
              </a:lnSpc>
              <a:buNone/>
              <a:tabLst>
                <a:tab algn="l" pos="0"/>
              </a:tabLst>
            </a:pPr>
            <a:r>
              <a:rPr lang="uk-UA" sz="2400" b="0" u="none" strike="noStrike">
                <a:solidFill>
                  <a:schemeClr val="dk1"/>
                </a:solidFill>
                <a:effectLst/>
                <a:uFillTx/>
                <a:latin typeface="Times New Roman"/>
              </a:rPr>
              <a:t>Потрібно виділити фактори, які можуть </a:t>
            </a:r>
            <a:r>
              <a:rPr lang="uk-UA" sz="2400" b="1" u="none" strike="noStrike">
                <a:solidFill>
                  <a:schemeClr val="dk1"/>
                </a:solidFill>
                <a:effectLst/>
                <a:uFillTx/>
                <a:latin typeface="Times New Roman"/>
              </a:rPr>
              <a:t>негативно </a:t>
            </a:r>
            <a:r>
              <a:rPr lang="uk-UA" sz="2400" b="0" u="none" strike="noStrike">
                <a:solidFill>
                  <a:schemeClr val="dk1"/>
                </a:solidFill>
                <a:effectLst/>
                <a:uFillTx/>
                <a:latin typeface="Times New Roman"/>
              </a:rPr>
              <a:t>вплинути на використання гнучких методів:</a:t>
            </a:r>
            <a:endParaRPr lang="pl-PL" sz="2400" b="0" u="none" strike="noStrike">
              <a:solidFill>
                <a:schemeClr val="dk1"/>
              </a:solidFill>
              <a:effectLst/>
              <a:uFillTx/>
              <a:latin typeface="Calibri"/>
            </a:endParaRPr>
          </a:p>
          <a:p>
            <a:pPr indent="0" algn="just" defTabSz="914400">
              <a:lnSpc>
                <a:spcPct val="170000"/>
              </a:lnSpc>
              <a:buNone/>
              <a:tabLst>
                <a:tab algn="l" pos="0"/>
              </a:tabLst>
            </a:pPr>
            <a:r>
              <a:rPr lang="uk-UA" sz="2400" b="0" u="none" strike="noStrike">
                <a:solidFill>
                  <a:schemeClr val="dk1"/>
                </a:solidFill>
                <a:effectLst/>
                <a:uFillTx/>
                <a:latin typeface="Times New Roman"/>
              </a:rPr>
              <a:t> • масштабні зусилля у галузі розвитку (більше 20 розробників); </a:t>
            </a:r>
            <a:endParaRPr lang="pl-PL" sz="2400" b="0" u="none" strike="noStrike">
              <a:solidFill>
                <a:schemeClr val="dk1"/>
              </a:solidFill>
              <a:effectLst/>
              <a:uFillTx/>
              <a:latin typeface="Calibri"/>
            </a:endParaRPr>
          </a:p>
          <a:p>
            <a:pPr indent="0" algn="just" defTabSz="914400">
              <a:lnSpc>
                <a:spcPct val="170000"/>
              </a:lnSpc>
              <a:buNone/>
              <a:tabLst>
                <a:tab algn="l" pos="0"/>
              </a:tabLst>
            </a:pPr>
            <a:r>
              <a:rPr lang="uk-UA" sz="2400" b="0" u="none" strike="noStrike">
                <a:solidFill>
                  <a:schemeClr val="dk1"/>
                </a:solidFill>
                <a:effectLst/>
                <a:uFillTx/>
                <a:latin typeface="Times New Roman"/>
              </a:rPr>
              <a:t>• розподілена у просторі команда; </a:t>
            </a:r>
            <a:endParaRPr lang="pl-PL" sz="2400" b="0" u="none" strike="noStrike">
              <a:solidFill>
                <a:schemeClr val="dk1"/>
              </a:solidFill>
              <a:effectLst/>
              <a:uFillTx/>
              <a:latin typeface="Calibri"/>
            </a:endParaRPr>
          </a:p>
          <a:p>
            <a:pPr indent="0" algn="just" defTabSz="914400">
              <a:lnSpc>
                <a:spcPct val="170000"/>
              </a:lnSpc>
              <a:buNone/>
              <a:tabLst>
                <a:tab algn="l" pos="0"/>
              </a:tabLst>
            </a:pPr>
            <a:r>
              <a:rPr lang="uk-UA" sz="2400" b="0" u="none" strike="noStrike">
                <a:solidFill>
                  <a:schemeClr val="dk1"/>
                </a:solidFill>
                <a:effectLst/>
                <a:uFillTx/>
                <a:latin typeface="Times New Roman"/>
              </a:rPr>
              <a:t>• примусове впровадження гнучкого процесу усупереч вимогам команди розробників; </a:t>
            </a:r>
            <a:endParaRPr lang="pl-PL" sz="2400" b="0" u="none" strike="noStrike">
              <a:solidFill>
                <a:schemeClr val="dk1"/>
              </a:solidFill>
              <a:effectLst/>
              <a:uFillTx/>
              <a:latin typeface="Calibri"/>
            </a:endParaRPr>
          </a:p>
          <a:p>
            <a:pPr indent="0" algn="just" defTabSz="914400">
              <a:lnSpc>
                <a:spcPct val="170000"/>
              </a:lnSpc>
              <a:buNone/>
              <a:tabLst>
                <a:tab algn="l" pos="0"/>
              </a:tabLst>
            </a:pPr>
            <a:r>
              <a:rPr lang="uk-UA" sz="2400" b="0" u="none" strike="noStrike">
                <a:solidFill>
                  <a:schemeClr val="dk1"/>
                </a:solidFill>
                <a:effectLst/>
                <a:uFillTx/>
                <a:latin typeface="Times New Roman"/>
              </a:rPr>
              <a:t>Небажане використання </a:t>
            </a:r>
            <a:r>
              <a:rPr lang="pl-PL" sz="2400" b="0" u="none" strike="noStrike">
                <a:solidFill>
                  <a:schemeClr val="dk1"/>
                </a:solidFill>
                <a:effectLst/>
                <a:uFillTx/>
                <a:latin typeface="Times New Roman"/>
              </a:rPr>
              <a:t>agile-</a:t>
            </a:r>
            <a:r>
              <a:rPr lang="uk-UA" sz="2400" b="0" u="none" strike="noStrike">
                <a:solidFill>
                  <a:schemeClr val="dk1"/>
                </a:solidFill>
                <a:effectLst/>
                <a:uFillTx/>
                <a:latin typeface="Times New Roman"/>
              </a:rPr>
              <a:t>методів у критично важливих системах, де відмова ПЗ неможливий ні в якому разі (наприклад, управління повітряним рухом). </a:t>
            </a:r>
            <a:r>
              <a:rPr lang="pl-PL" sz="2400" b="0" u="none" strike="noStrike">
                <a:solidFill>
                  <a:schemeClr val="dk1"/>
                </a:solidFill>
                <a:effectLst/>
                <a:uFillTx/>
                <a:latin typeface="Times New Roman"/>
              </a:rPr>
              <a:t>Agile </a:t>
            </a:r>
            <a:r>
              <a:rPr lang="uk-UA" sz="2400" b="0" u="none" strike="noStrike">
                <a:solidFill>
                  <a:schemeClr val="dk1"/>
                </a:solidFill>
                <a:effectLst/>
                <a:uFillTx/>
                <a:latin typeface="Times New Roman"/>
              </a:rPr>
              <a:t>акцентує увагу на безпосередньому спілкуванні між учасниками проекту. Більшість </a:t>
            </a:r>
            <a:r>
              <a:rPr lang="pl-PL" sz="2400" b="0" u="none" strike="noStrike">
                <a:solidFill>
                  <a:schemeClr val="dk1"/>
                </a:solidFill>
                <a:effectLst/>
                <a:uFillTx/>
                <a:latin typeface="Times New Roman"/>
              </a:rPr>
              <a:t>agile-</a:t>
            </a:r>
            <a:r>
              <a:rPr lang="uk-UA" sz="2400" b="0" u="none" strike="noStrike">
                <a:solidFill>
                  <a:schemeClr val="dk1"/>
                </a:solidFill>
                <a:effectLst/>
                <a:uFillTx/>
                <a:latin typeface="Times New Roman"/>
              </a:rPr>
              <a:t>команд розміщені в одному офісі (</a:t>
            </a:r>
            <a:r>
              <a:rPr lang="pl-PL" sz="2400" b="0" u="none" strike="noStrike">
                <a:solidFill>
                  <a:schemeClr val="dk1"/>
                </a:solidFill>
                <a:effectLst/>
                <a:uFillTx/>
                <a:latin typeface="Times New Roman"/>
              </a:rPr>
              <a:t>bullpen). </a:t>
            </a:r>
            <a:r>
              <a:rPr lang="uk-UA" sz="2400" b="0" u="none" strike="noStrike">
                <a:solidFill>
                  <a:schemeClr val="dk1"/>
                </a:solidFill>
                <a:effectLst/>
                <a:uFillTx/>
                <a:latin typeface="Times New Roman"/>
              </a:rPr>
              <a:t>До команди обов’язково включають представників замовника (замовники, які визначають продукт, менеджери продукту, бізнес-аналітики або користувачі). Також до команди входять тестувальники, дизайнери інтерфейсу, технічні автори та менеджери. </a:t>
            </a:r>
            <a:endParaRPr lang="pl-PL" sz="24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p:nvPr>
        </p:nvSpPr>
        <p:spPr>
          <a:xfrm>
            <a:off x="275040" y="443880"/>
            <a:ext cx="11078280" cy="573264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lang="uk-UA" sz="2400" b="0" u="none" strike="noStrike">
                <a:solidFill>
                  <a:schemeClr val="dk1"/>
                </a:solidFill>
                <a:effectLst/>
                <a:uFillTx/>
                <a:latin typeface="Times New Roman"/>
              </a:rPr>
              <a:t>Важкі і легкі моделі виробничого процесу мають свої переваги і свої недоліки </a:t>
            </a:r>
            <a:endParaRPr lang="pl-PL" sz="2400" b="0" u="none" strike="noStrike">
              <a:solidFill>
                <a:schemeClr val="dk1"/>
              </a:solidFill>
              <a:effectLst/>
              <a:uFillTx/>
              <a:latin typeface="Calibri"/>
            </a:endParaRPr>
          </a:p>
        </p:txBody>
      </p:sp>
      <p:pic>
        <p:nvPicPr>
          <p:cNvPr id="126" name="Рисунок 4"/>
          <p:cNvPicPr/>
          <p:nvPr/>
        </p:nvPicPr>
        <p:blipFill>
          <a:blip r:embed="rId1"/>
          <a:stretch/>
        </p:blipFill>
        <p:spPr>
          <a:xfrm>
            <a:off x="1930320" y="882360"/>
            <a:ext cx="6902640" cy="4855320"/>
          </a:xfrm>
          <a:prstGeom prst="rect">
            <a:avLst/>
          </a:prstGeom>
          <a:noFill/>
          <a:ln w="0">
            <a:noFill/>
          </a:ln>
        </p:spPr>
      </p:pic>
      <p:sp>
        <p:nvSpPr>
          <p:cNvPr id="127" name="TextBox 6"/>
          <p:cNvSpPr/>
          <p:nvPr/>
        </p:nvSpPr>
        <p:spPr>
          <a:xfrm>
            <a:off x="77040" y="5576760"/>
            <a:ext cx="12037680" cy="11998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lang="ru-RU" sz="2400" b="0" u="none" strike="noStrike">
                <a:solidFill>
                  <a:schemeClr val="dk1"/>
                </a:solidFill>
                <a:effectLst/>
                <a:uFillTx/>
                <a:latin typeface="Times New Roman"/>
              </a:rPr>
              <a:t>Це означає, що не існує єдиного правильного процесу розробки ПЗ, в кожному новому проекті процес повинен визначатися щоразу заново, в залежності від проекту, продукту та персоналу</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p:nvPr>
        </p:nvSpPr>
        <p:spPr>
          <a:xfrm>
            <a:off x="417240" y="1630440"/>
            <a:ext cx="10515240" cy="435096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uk-UA" sz="5400" b="0" u="none" strike="noStrike">
                <a:solidFill>
                  <a:schemeClr val="accent1">
                    <a:lumMod val="60000"/>
                    <a:lumOff val="40000"/>
                  </a:schemeClr>
                </a:solidFill>
                <a:effectLst/>
                <a:uFillTx/>
                <a:latin typeface="Calibri"/>
              </a:rPr>
              <a:t>ДЯКУЮ</a:t>
            </a:r>
            <a:endParaRPr lang="pl-PL" sz="5400" b="0" u="none" strike="noStrike">
              <a:solidFill>
                <a:schemeClr val="dk1"/>
              </a:solidFill>
              <a:effectLst/>
              <a:uFillTx/>
              <a:latin typeface="Calibri"/>
            </a:endParaRPr>
          </a:p>
        </p:txBody>
      </p:sp>
      <p:pic>
        <p:nvPicPr>
          <p:cNvPr id="129" name="Рисунок 3"/>
          <p:cNvPicPr/>
          <p:nvPr/>
        </p:nvPicPr>
        <p:blipFill>
          <a:blip r:embed="rId1"/>
          <a:stretch/>
        </p:blipFill>
        <p:spPr>
          <a:xfrm>
            <a:off x="3267000" y="3040920"/>
            <a:ext cx="5040720" cy="36190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Тема Office">
  <a:themeElements>
    <a:clrScheme name="Офіс">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230</TotalTime>
  <Application>LibreOffice/25.8.4.2$Linux_X86_64 LibreOffice_project/580$Build-2</Application>
  <AppVersion>15.0000</AppVersion>
  <Words>5114</Words>
  <Paragraphs>182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2025-04-12T19:10:58Z</dcterms:created>
  <dc:creator>Olena Korchynska</dc:creator>
  <dc:description/>
  <dc:language>en-US</dc:language>
  <cp:lastModifiedBy>Olena Korchynska</cp:lastModifiedBy>
  <dcterms:modified xsi:type="dcterms:W3CDTF">2025-04-18T19:41:14Z</dcterms:modified>
  <cp:revision>69</cp:revision>
  <dc:subject/>
  <dc:title>Презентація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Широкий екран</vt:lpwstr>
  </property>
  <property fmtid="{D5CDD505-2E9C-101B-9397-08002B2CF9AE}" pid="3" name="Slides">
    <vt:r8>55</vt:r8>
  </property>
</Properties>
</file>