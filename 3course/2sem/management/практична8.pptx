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и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78578B-E403-4CD1-9B82-4BA626EAE10F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і вертикальни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CC5414-B63D-48BE-B058-76F40715F90E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ий заголовок і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60CECF-C121-4BE8-9519-D3D2194DC01E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Назва та вмі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C37957-EA2D-4D4F-B6B1-6777B551E514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Назва розділ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95FE87-DF9E-49FF-9538-6350D115DDBC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’єкт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DF53AC-AC01-48B1-9C38-549CDE2FE2E0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рівняння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6307CB-8B39-4604-9E15-FCD35DEF1032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Лише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1584AC-631B-408C-94B7-732F83C91381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и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2E53A7-61C1-44B2-84BB-069A02669DB6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міст і підпи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9B5AA4-5349-4486-AE8C-FF41E9C4AF35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і підпи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A8BB84-8200-49B0-BE6B-739618006E13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ПРАКТИЧНА 8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Задача 1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3" name="Місце для вмісту 6"/>
          <p:cNvPicPr/>
          <p:nvPr/>
        </p:nvPicPr>
        <p:blipFill>
          <a:blip r:embed="rId1"/>
          <a:stretch/>
        </p:blipFill>
        <p:spPr>
          <a:xfrm>
            <a:off x="480960" y="1349280"/>
            <a:ext cx="10356840" cy="4891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Місце для вмісту 6"/>
          <p:cNvPicPr/>
          <p:nvPr/>
        </p:nvPicPr>
        <p:blipFill>
          <a:blip r:embed="rId1"/>
          <a:stretch/>
        </p:blipFill>
        <p:spPr>
          <a:xfrm>
            <a:off x="874080" y="1029960"/>
            <a:ext cx="11011680" cy="407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Місце для вмісту 5"/>
          <p:cNvPicPr/>
          <p:nvPr/>
        </p:nvPicPr>
        <p:blipFill>
          <a:blip r:embed="rId1"/>
          <a:stretch/>
        </p:blipFill>
        <p:spPr>
          <a:xfrm>
            <a:off x="663480" y="437760"/>
            <a:ext cx="10158120" cy="573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Місце для вмісту 4"/>
          <p:cNvPicPr/>
          <p:nvPr/>
        </p:nvPicPr>
        <p:blipFill>
          <a:blip r:embed="rId1"/>
          <a:stretch/>
        </p:blipFill>
        <p:spPr>
          <a:xfrm>
            <a:off x="3598560" y="388080"/>
            <a:ext cx="4657320" cy="65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Box 7"/>
          <p:cNvSpPr/>
          <p:nvPr/>
        </p:nvSpPr>
        <p:spPr>
          <a:xfrm>
            <a:off x="1527120" y="1268280"/>
            <a:ext cx="75812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Обчислюємо середнє геометричне кожного рядка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Формула для середнього геометричного рядка: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Рисунок 9"/>
          <p:cNvPicPr/>
          <p:nvPr/>
        </p:nvPicPr>
        <p:blipFill>
          <a:blip r:embed="rId2"/>
          <a:stretch/>
        </p:blipFill>
        <p:spPr>
          <a:xfrm>
            <a:off x="2903040" y="2127960"/>
            <a:ext cx="6801480" cy="464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Місце для вмісту 5"/>
          <p:cNvPicPr/>
          <p:nvPr/>
        </p:nvPicPr>
        <p:blipFill>
          <a:blip r:embed="rId1"/>
          <a:stretch/>
        </p:blipFill>
        <p:spPr>
          <a:xfrm>
            <a:off x="1571400" y="79920"/>
            <a:ext cx="7714440" cy="339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Рисунок 7"/>
          <p:cNvPicPr/>
          <p:nvPr/>
        </p:nvPicPr>
        <p:blipFill>
          <a:blip r:embed="rId2"/>
          <a:stretch/>
        </p:blipFill>
        <p:spPr>
          <a:xfrm>
            <a:off x="1571400" y="2794680"/>
            <a:ext cx="7798680" cy="398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Місце для вмісту 4"/>
          <p:cNvPicPr/>
          <p:nvPr/>
        </p:nvPicPr>
        <p:blipFill>
          <a:blip r:embed="rId1"/>
          <a:stretch/>
        </p:blipFill>
        <p:spPr>
          <a:xfrm>
            <a:off x="1652400" y="594720"/>
            <a:ext cx="7887960" cy="4365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27520" y="365040"/>
            <a:ext cx="10225800" cy="77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Нормалізація середніх геометричних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Місце для вмісту 4"/>
          <p:cNvPicPr/>
          <p:nvPr/>
        </p:nvPicPr>
        <p:blipFill>
          <a:blip r:embed="rId1"/>
          <a:stretch/>
        </p:blipFill>
        <p:spPr>
          <a:xfrm>
            <a:off x="1460880" y="1251720"/>
            <a:ext cx="8526240" cy="50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011960" y="365040"/>
            <a:ext cx="10341360" cy="63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Перевірка узгодженості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Місце для вмісту 4"/>
          <p:cNvPicPr/>
          <p:nvPr/>
        </p:nvPicPr>
        <p:blipFill>
          <a:blip r:embed="rId1"/>
          <a:stretch/>
        </p:blipFill>
        <p:spPr>
          <a:xfrm>
            <a:off x="1996920" y="1156680"/>
            <a:ext cx="5676480" cy="211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Рисунок 6"/>
          <p:cNvPicPr/>
          <p:nvPr/>
        </p:nvPicPr>
        <p:blipFill>
          <a:blip r:embed="rId2"/>
          <a:stretch/>
        </p:blipFill>
        <p:spPr>
          <a:xfrm>
            <a:off x="1734480" y="3826440"/>
            <a:ext cx="9492840" cy="122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Місце для вмісту 4"/>
          <p:cNvPicPr/>
          <p:nvPr/>
        </p:nvPicPr>
        <p:blipFill>
          <a:blip r:embed="rId1"/>
          <a:stretch/>
        </p:blipFill>
        <p:spPr>
          <a:xfrm>
            <a:off x="1656000" y="1713960"/>
            <a:ext cx="7953120" cy="22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Рисунок 6"/>
          <p:cNvPicPr/>
          <p:nvPr/>
        </p:nvPicPr>
        <p:blipFill>
          <a:blip r:embed="rId2"/>
          <a:stretch/>
        </p:blipFill>
        <p:spPr>
          <a:xfrm>
            <a:off x="9531000" y="1590120"/>
            <a:ext cx="1190160" cy="2418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1,16+0,97+0,96+1,01= 4,091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(4,091-4)/3= 0,03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0,03/0,9 =0,03….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</a:t>
            </a: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0,1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154160" y="365040"/>
            <a:ext cx="10199520" cy="76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Попарне порівняння альтернатив по кожному критерію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2" name="Місце для вмісту 4"/>
          <p:cNvPicPr/>
          <p:nvPr/>
        </p:nvPicPr>
        <p:blipFill>
          <a:blip r:embed="rId1"/>
          <a:stretch/>
        </p:blipFill>
        <p:spPr>
          <a:xfrm>
            <a:off x="1154160" y="1158120"/>
            <a:ext cx="9037080" cy="5199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Місце для вмісту 4"/>
          <p:cNvPicPr/>
          <p:nvPr/>
        </p:nvPicPr>
        <p:blipFill>
          <a:blip r:embed="rId1"/>
          <a:stretch/>
        </p:blipFill>
        <p:spPr>
          <a:xfrm>
            <a:off x="594360" y="352800"/>
            <a:ext cx="9357120" cy="5823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Місце для вмісту 4"/>
          <p:cNvPicPr/>
          <p:nvPr/>
        </p:nvPicPr>
        <p:blipFill>
          <a:blip r:embed="rId1"/>
          <a:stretch/>
        </p:blipFill>
        <p:spPr>
          <a:xfrm>
            <a:off x="1967760" y="657000"/>
            <a:ext cx="7372080" cy="52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Рисунок 6"/>
          <p:cNvPicPr/>
          <p:nvPr/>
        </p:nvPicPr>
        <p:blipFill>
          <a:blip r:embed="rId2"/>
          <a:stretch/>
        </p:blipFill>
        <p:spPr>
          <a:xfrm>
            <a:off x="2418480" y="1447920"/>
            <a:ext cx="7638840" cy="540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Місце для вмісту 4"/>
          <p:cNvPicPr/>
          <p:nvPr/>
        </p:nvPicPr>
        <p:blipFill>
          <a:blip r:embed="rId1"/>
          <a:stretch/>
        </p:blipFill>
        <p:spPr>
          <a:xfrm>
            <a:off x="2433960" y="576360"/>
            <a:ext cx="1571400" cy="33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Рисунок 6"/>
          <p:cNvPicPr/>
          <p:nvPr/>
        </p:nvPicPr>
        <p:blipFill>
          <a:blip r:embed="rId2"/>
          <a:stretch/>
        </p:blipFill>
        <p:spPr>
          <a:xfrm>
            <a:off x="2016000" y="1243440"/>
            <a:ext cx="2761920" cy="161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Рисунок 8"/>
          <p:cNvPicPr/>
          <p:nvPr/>
        </p:nvPicPr>
        <p:blipFill>
          <a:blip r:embed="rId3"/>
          <a:stretch/>
        </p:blipFill>
        <p:spPr>
          <a:xfrm>
            <a:off x="8605440" y="576360"/>
            <a:ext cx="165708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Рисунок 10"/>
          <p:cNvPicPr/>
          <p:nvPr/>
        </p:nvPicPr>
        <p:blipFill>
          <a:blip r:embed="rId4"/>
          <a:stretch/>
        </p:blipFill>
        <p:spPr>
          <a:xfrm>
            <a:off x="8300160" y="1243440"/>
            <a:ext cx="2409480" cy="158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Рисунок 12"/>
          <p:cNvPicPr/>
          <p:nvPr/>
        </p:nvPicPr>
        <p:blipFill>
          <a:blip r:embed="rId5"/>
          <a:stretch/>
        </p:blipFill>
        <p:spPr>
          <a:xfrm>
            <a:off x="5214960" y="3219480"/>
            <a:ext cx="1761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Рисунок 14"/>
          <p:cNvPicPr/>
          <p:nvPr/>
        </p:nvPicPr>
        <p:blipFill>
          <a:blip r:embed="rId6"/>
          <a:stretch/>
        </p:blipFill>
        <p:spPr>
          <a:xfrm>
            <a:off x="4951440" y="3992040"/>
            <a:ext cx="2590560" cy="159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Рисунок 15"/>
          <p:cNvPicPr/>
          <p:nvPr/>
        </p:nvPicPr>
        <p:blipFill>
          <a:blip r:embed="rId7"/>
          <a:stretch/>
        </p:blipFill>
        <p:spPr>
          <a:xfrm>
            <a:off x="10498680" y="4033440"/>
            <a:ext cx="1190160" cy="2418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Рисунок 4"/>
          <p:cNvPicPr/>
          <p:nvPr/>
        </p:nvPicPr>
        <p:blipFill>
          <a:blip r:embed="rId1"/>
          <a:stretch/>
        </p:blipFill>
        <p:spPr>
          <a:xfrm>
            <a:off x="3625920" y="491400"/>
            <a:ext cx="4762080" cy="50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PlaceHolder 1"/>
          <p:cNvSpPr>
            <a:spLocks noGrp="1"/>
          </p:cNvSpPr>
          <p:nvPr>
            <p:ph/>
          </p:nvPr>
        </p:nvSpPr>
        <p:spPr>
          <a:xfrm>
            <a:off x="710280" y="1180800"/>
            <a:ext cx="10643400" cy="499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0,162*0,241+0,252*0,519+0,541*0,087+0,541*0,154=0,3003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Azure 0,541*0,241+0,288*0,519+0,297*0,087+0,162*0,154=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0,331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GCP 0,297*0,241+0,458*0,519+0,162*0,087+0,297*0,154=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0,37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Задача 2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Місце для вмісту 4"/>
          <p:cNvPicPr/>
          <p:nvPr/>
        </p:nvPicPr>
        <p:blipFill>
          <a:blip r:embed="rId1"/>
          <a:stretch/>
        </p:blipFill>
        <p:spPr>
          <a:xfrm>
            <a:off x="1970280" y="1381680"/>
            <a:ext cx="803772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Місце для вмісту 4"/>
          <p:cNvPicPr/>
          <p:nvPr/>
        </p:nvPicPr>
        <p:blipFill>
          <a:blip r:embed="rId1"/>
          <a:stretch/>
        </p:blipFill>
        <p:spPr>
          <a:xfrm>
            <a:off x="2302200" y="366840"/>
            <a:ext cx="5314680" cy="389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Рисунок 6"/>
          <p:cNvPicPr/>
          <p:nvPr/>
        </p:nvPicPr>
        <p:blipFill>
          <a:blip r:embed="rId2"/>
          <a:stretch/>
        </p:blipFill>
        <p:spPr>
          <a:xfrm>
            <a:off x="1665000" y="4314960"/>
            <a:ext cx="8133840" cy="254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Місце для вмісту 4"/>
          <p:cNvPicPr/>
          <p:nvPr/>
        </p:nvPicPr>
        <p:blipFill>
          <a:blip r:embed="rId1"/>
          <a:stretch/>
        </p:blipFill>
        <p:spPr>
          <a:xfrm>
            <a:off x="3009600" y="300240"/>
            <a:ext cx="4900680" cy="587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Місце для вмісту 4"/>
          <p:cNvPicPr/>
          <p:nvPr/>
        </p:nvPicPr>
        <p:blipFill>
          <a:blip r:embed="rId1"/>
          <a:stretch/>
        </p:blipFill>
        <p:spPr>
          <a:xfrm>
            <a:off x="1604160" y="84960"/>
            <a:ext cx="8219880" cy="249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Рисунок 6"/>
          <p:cNvPicPr/>
          <p:nvPr/>
        </p:nvPicPr>
        <p:blipFill>
          <a:blip r:embed="rId2"/>
          <a:stretch/>
        </p:blipFill>
        <p:spPr>
          <a:xfrm>
            <a:off x="2980440" y="2170800"/>
            <a:ext cx="2733480" cy="40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Рисунок 8"/>
          <p:cNvPicPr/>
          <p:nvPr/>
        </p:nvPicPr>
        <p:blipFill>
          <a:blip r:embed="rId3"/>
          <a:stretch/>
        </p:blipFill>
        <p:spPr>
          <a:xfrm>
            <a:off x="2026800" y="2580480"/>
            <a:ext cx="8138160" cy="3980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Місце для вмісту 4"/>
          <p:cNvPicPr/>
          <p:nvPr/>
        </p:nvPicPr>
        <p:blipFill>
          <a:blip r:embed="rId1"/>
          <a:stretch/>
        </p:blipFill>
        <p:spPr>
          <a:xfrm>
            <a:off x="3528720" y="275400"/>
            <a:ext cx="4228920" cy="43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Рисунок 6"/>
          <p:cNvPicPr/>
          <p:nvPr/>
        </p:nvPicPr>
        <p:blipFill>
          <a:blip r:embed="rId2"/>
          <a:stretch/>
        </p:blipFill>
        <p:spPr>
          <a:xfrm>
            <a:off x="1919160" y="838080"/>
            <a:ext cx="8353080" cy="518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Місце для вмісту 6"/>
          <p:cNvPicPr/>
          <p:nvPr/>
        </p:nvPicPr>
        <p:blipFill>
          <a:blip r:embed="rId1"/>
          <a:stretch/>
        </p:blipFill>
        <p:spPr>
          <a:xfrm>
            <a:off x="1785960" y="1179720"/>
            <a:ext cx="8121240" cy="499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Рисунок 4"/>
          <p:cNvPicPr/>
          <p:nvPr/>
        </p:nvPicPr>
        <p:blipFill>
          <a:blip r:embed="rId2"/>
          <a:stretch/>
        </p:blipFill>
        <p:spPr>
          <a:xfrm>
            <a:off x="3443760" y="457200"/>
            <a:ext cx="4114440" cy="44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Місце для вмісту 4"/>
          <p:cNvPicPr/>
          <p:nvPr/>
        </p:nvPicPr>
        <p:blipFill>
          <a:blip r:embed="rId1"/>
          <a:stretch/>
        </p:blipFill>
        <p:spPr>
          <a:xfrm>
            <a:off x="3945960" y="479160"/>
            <a:ext cx="383832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Рисунок 6"/>
          <p:cNvPicPr/>
          <p:nvPr/>
        </p:nvPicPr>
        <p:blipFill>
          <a:blip r:embed="rId2"/>
          <a:stretch/>
        </p:blipFill>
        <p:spPr>
          <a:xfrm>
            <a:off x="2109960" y="885960"/>
            <a:ext cx="7972200" cy="5086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Місце для вмісту 6"/>
          <p:cNvPicPr/>
          <p:nvPr/>
        </p:nvPicPr>
        <p:blipFill>
          <a:blip r:embed="rId1"/>
          <a:stretch/>
        </p:blipFill>
        <p:spPr>
          <a:xfrm>
            <a:off x="1135440" y="1321920"/>
            <a:ext cx="9055800" cy="362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Рисунок 4"/>
          <p:cNvPicPr/>
          <p:nvPr/>
        </p:nvPicPr>
        <p:blipFill>
          <a:blip r:embed="rId2"/>
          <a:stretch/>
        </p:blipFill>
        <p:spPr>
          <a:xfrm>
            <a:off x="2821680" y="347760"/>
            <a:ext cx="6352920" cy="66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Рисунок 4"/>
          <p:cNvPicPr/>
          <p:nvPr/>
        </p:nvPicPr>
        <p:blipFill>
          <a:blip r:embed="rId1"/>
          <a:stretch/>
        </p:blipFill>
        <p:spPr>
          <a:xfrm>
            <a:off x="2481120" y="275760"/>
            <a:ext cx="7229160" cy="57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Місце для вмісту 10"/>
          <p:cNvPicPr/>
          <p:nvPr/>
        </p:nvPicPr>
        <p:blipFill>
          <a:blip r:embed="rId2"/>
          <a:stretch/>
        </p:blipFill>
        <p:spPr>
          <a:xfrm>
            <a:off x="1528920" y="1038600"/>
            <a:ext cx="7920720" cy="513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Місце для вмісту 4"/>
          <p:cNvPicPr/>
          <p:nvPr/>
        </p:nvPicPr>
        <p:blipFill>
          <a:blip r:embed="rId1"/>
          <a:stretch/>
        </p:blipFill>
        <p:spPr>
          <a:xfrm>
            <a:off x="1340640" y="655920"/>
            <a:ext cx="7848000" cy="552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Місце для вмісту 4"/>
          <p:cNvPicPr/>
          <p:nvPr/>
        </p:nvPicPr>
        <p:blipFill>
          <a:blip r:embed="rId1"/>
          <a:stretch/>
        </p:blipFill>
        <p:spPr>
          <a:xfrm>
            <a:off x="1222560" y="816840"/>
            <a:ext cx="8202240" cy="535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Місце для вмісту 4"/>
          <p:cNvPicPr/>
          <p:nvPr/>
        </p:nvPicPr>
        <p:blipFill>
          <a:blip r:embed="rId1"/>
          <a:stretch/>
        </p:blipFill>
        <p:spPr>
          <a:xfrm>
            <a:off x="491400" y="1047600"/>
            <a:ext cx="10357560" cy="270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ЗАДАЧА (ДЗ)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9" name="Місце для вмісту 4"/>
          <p:cNvPicPr/>
          <p:nvPr/>
        </p:nvPicPr>
        <p:blipFill>
          <a:blip r:embed="rId1"/>
          <a:stretch/>
        </p:blipFill>
        <p:spPr>
          <a:xfrm>
            <a:off x="838080" y="1582560"/>
            <a:ext cx="10337760" cy="3692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/>
          </p:nvPr>
        </p:nvSpPr>
        <p:spPr>
          <a:xfrm>
            <a:off x="479520" y="408240"/>
            <a:ext cx="10874160" cy="57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Завдання: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Визначення критеріїв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Розробіть ієрархічну структуру рішень для цієї задачі, де на верхньому рівні знаходиться критерій вибору платформи для розробки мобільного додатку, а на нижчому рівні — три варіанти платформ. Структура повинна включати критерії: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Продуктивність платформи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(як швидко і ефективно працює додаток на платформі).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Зручність розробки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(як легко і швидко можна розробляти додаток на платформі).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Сумісність з існуючими системами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(як добре платформа інтегрується з іншими системами банківського сектору).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Вартість розробки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(часові та фінансові витрати на розробку додатку на платформі).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Масштабованість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(як платформу можна використовувати для підтримки додатків у майбутньому, зокрема для збільшення кількості користувачів та функціоналу).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Порівняння критеріїв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Використовуючи метод парних порівнянь, оцініть важливість кожного критерію. Наприклад, якщо для вашої компанії важливіша </a:t>
            </a: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сумісність з існуючими системами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ніж </a:t>
            </a: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масштабованість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це має бути відображено у порівнянні.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Порівняння платформ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Здійсніть парні порівняння для кожної з платформ за кожним з критеріїв. Оцінюйте платформу, враховуючи такі фактори, як продуктивність, зручність розробки, вартість тощо.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Визначення оптимального варіанту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Здійсніть підсумкові розрахунки і визначте найкращу платформу для розробки мобільного додатку.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</TotalTime>
  <Application>LibreOffice/25.8.4.2$Linux_X86_64 LibreOffice_project/580$Build-2</Application>
  <AppVersion>15.0000</AppVersion>
  <Words>249</Words>
  <Paragraphs>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2025-03-28T12:58:25Z</dcterms:created>
  <dc:creator>Olena Korchynska</dc:creator>
  <dc:description/>
  <dc:language>en-US</dc:language>
  <cp:lastModifiedBy>Olena Korchynska</cp:lastModifiedBy>
  <dcterms:modified xsi:type="dcterms:W3CDTF">2025-05-03T17:03:01Z</dcterms:modified>
  <cp:revision>38</cp:revision>
  <dc:subject/>
  <dc:title>ПРАКТИЧНА 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Широкий екран</vt:lpwstr>
  </property>
  <property fmtid="{D5CDD505-2E9C-101B-9397-08002B2CF9AE}" pid="3" name="Slides">
    <vt:r8>31</vt:r8>
  </property>
</Properties>
</file>