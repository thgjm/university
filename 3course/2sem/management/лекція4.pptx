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Титульний слайд">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lang="uk-UA" sz="6000" b="0" u="none" strike="noStrike">
                <a:solidFill>
                  <a:schemeClr val="dk1"/>
                </a:solidFill>
                <a:effectLst/>
                <a:uFillTx/>
                <a:latin typeface="Calibri Light"/>
              </a:rPr>
              <a:t>Клацніть, щоб редагувати стиль зразка заголовка</a:t>
            </a:r>
            <a:endParaRPr lang="pl-PL"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254A5796-1356-4CFA-9167-C018BB3514B3}"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pl-PL" sz="2800" b="0" u="none" strike="noStrike">
                <a:solidFill>
                  <a:schemeClr val="dk1"/>
                </a:solidFill>
                <a:effectLst/>
                <a:uFillTx/>
                <a:latin typeface="Calibri"/>
              </a:rPr>
              <a:t>Click to edit the outline text format</a:t>
            </a:r>
            <a:endParaRPr lang="pl-PL" sz="28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pl-PL" sz="2000" b="0" u="none" strike="noStrike">
                <a:solidFill>
                  <a:schemeClr val="dk1"/>
                </a:solidFill>
                <a:effectLst/>
                <a:uFillTx/>
                <a:latin typeface="Calibri"/>
              </a:rPr>
              <a:t>Second Outline Level</a:t>
            </a:r>
            <a:endParaRPr lang="pl-PL" sz="20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pl-PL" sz="1800" b="0" u="none" strike="noStrike">
                <a:solidFill>
                  <a:schemeClr val="dk1"/>
                </a:solidFill>
                <a:effectLst/>
                <a:uFillTx/>
                <a:latin typeface="Calibri"/>
              </a:rPr>
              <a:t>Third Outline Level</a:t>
            </a:r>
            <a:endParaRPr lang="pl-PL" sz="18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pl-PL" sz="1800" b="0" u="none" strike="noStrike">
                <a:solidFill>
                  <a:schemeClr val="dk1"/>
                </a:solidFill>
                <a:effectLst/>
                <a:uFillTx/>
                <a:latin typeface="Calibri"/>
              </a:rPr>
              <a:t>Fourth Outline Level</a:t>
            </a:r>
            <a:endParaRPr lang="pl-PL" sz="18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pl-PL" sz="2000" b="0" u="none" strike="noStrike">
                <a:solidFill>
                  <a:schemeClr val="dk1"/>
                </a:solidFill>
                <a:effectLst/>
                <a:uFillTx/>
                <a:latin typeface="Calibri"/>
              </a:rPr>
              <a:t>Fifth Outline Level</a:t>
            </a:r>
            <a:endParaRPr lang="pl-PL" sz="20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pl-PL" sz="2000" b="0" u="none" strike="noStrike">
                <a:solidFill>
                  <a:schemeClr val="dk1"/>
                </a:solidFill>
                <a:effectLst/>
                <a:uFillTx/>
                <a:latin typeface="Calibri"/>
              </a:rPr>
              <a:t>Sixth Outline Level</a:t>
            </a:r>
            <a:endParaRPr lang="pl-PL" sz="20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pl-PL" sz="2000" b="0" u="none" strike="noStrike">
                <a:solidFill>
                  <a:schemeClr val="dk1"/>
                </a:solidFill>
                <a:effectLst/>
                <a:uFillTx/>
                <a:latin typeface="Calibri"/>
              </a:rPr>
              <a:t>Seventh Outline Level</a:t>
            </a:r>
            <a:endParaRPr lang="pl-PL"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Заголовок і вертикальний текст">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2BC3816E-46C9-492E-B6DE-74E334BC44CC}"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Вертикальний заголовок і текст">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702F0341-11ED-4258-947A-82940B9DC16F}"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Назва та вміст">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6B996728-15E5-440D-AB48-7004B4934DC9}"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Назва розділу">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lang="uk-UA" sz="6000" b="0" u="none" strike="noStrike">
                <a:solidFill>
                  <a:schemeClr val="dk1"/>
                </a:solidFill>
                <a:effectLst/>
                <a:uFillTx/>
                <a:latin typeface="Calibri Light"/>
              </a:rPr>
              <a:t>Клацніть, щоб редагувати стиль зразка заголовка</a:t>
            </a:r>
            <a:endParaRPr lang="pl-PL" sz="6000" b="0" u="none" strike="noStrike">
              <a:solidFill>
                <a:schemeClr val="dk1"/>
              </a:solidFill>
              <a:effectLst/>
              <a:uFillTx/>
              <a:latin typeface="Calibri"/>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2400" b="0" u="none" strike="noStrike">
                <a:solidFill>
                  <a:schemeClr val="dk1">
                    <a:tint val="75000"/>
                  </a:schemeClr>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55430E23-8F83-4045-824D-958D9F3A62CE}"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Два об’єкти">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7A90867F-DBF5-47D8-877A-F1101C88D33C}"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орівняння">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uk-UA" sz="2400" b="1" u="none" strike="noStrike">
                <a:solidFill>
                  <a:schemeClr val="dk1"/>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uk-UA" sz="2400" b="1" u="none" strike="noStrike">
                <a:solidFill>
                  <a:schemeClr val="dk1"/>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3560285D-B303-4B88-942E-EC2A62D01B29}"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Лише заголовок">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08C75D2A-AC6E-43B7-9F9D-DE0A39DD7BCB}"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устий слайд">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85ED2291-DB65-451B-B74E-BE7C95AE3328}"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Вміст і підпис">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uk-UA" sz="3200" b="0" u="none" strike="noStrike">
                <a:solidFill>
                  <a:schemeClr val="dk1"/>
                </a:solidFill>
                <a:effectLst/>
                <a:uFillTx/>
                <a:latin typeface="Calibri Light"/>
              </a:rPr>
              <a:t>Клацніть, щоб редагувати стиль зразка заголовка</a:t>
            </a:r>
            <a:endParaRPr lang="pl-PL" sz="3200" b="0" u="none" strike="noStrike">
              <a:solidFill>
                <a:schemeClr val="dk1"/>
              </a:solidFill>
              <a:effectLst/>
              <a:uFillTx/>
              <a:latin typeface="Calibri"/>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3200" b="0" u="none" strike="noStrike">
                <a:solidFill>
                  <a:schemeClr val="dk1"/>
                </a:solidFill>
                <a:effectLst/>
                <a:uFillTx/>
                <a:latin typeface="Calibri"/>
              </a:rPr>
              <a:t>Клацніть, щоб відредагувати стилі зразків тексту</a:t>
            </a:r>
            <a:endParaRPr lang="pl-PL" sz="32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800" b="0" u="none" strike="noStrike">
                <a:solidFill>
                  <a:schemeClr val="dk1"/>
                </a:solidFill>
                <a:effectLst/>
                <a:uFillTx/>
                <a:latin typeface="Calibri"/>
              </a:rPr>
              <a:t>Другий рівень</a:t>
            </a:r>
            <a:endParaRPr lang="pl-PL" sz="28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Третій рівень</a:t>
            </a:r>
            <a:endParaRPr lang="pl-PL" sz="24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Четвертий рівень</a:t>
            </a:r>
            <a:endParaRPr lang="pl-PL" sz="20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П’ятий рівень</a:t>
            </a:r>
            <a:endParaRPr lang="pl-PL" sz="2000" b="0" u="none" strike="noStrike">
              <a:solidFill>
                <a:schemeClr val="dk1"/>
              </a:solidFill>
              <a:effectLst/>
              <a:uFillTx/>
              <a:latin typeface="Calibri"/>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1600" b="0" u="none" strike="noStrike">
                <a:solidFill>
                  <a:schemeClr val="dk1"/>
                </a:solidFill>
                <a:effectLst/>
                <a:uFillTx/>
                <a:latin typeface="Calibri"/>
              </a:rPr>
              <a:t>Клацніть, щоб відредагувати стилі зразків тексту</a:t>
            </a:r>
            <a:endParaRPr lang="pl-PL" sz="1600" b="0" u="none" strike="noStrike">
              <a:solidFill>
                <a:schemeClr val="dk1"/>
              </a:solidFill>
              <a:effectLst/>
              <a:uFillTx/>
              <a:latin typeface="Calibri"/>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35F95D29-C910-4CD1-85A4-71D9ACF72001}"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Рисунок і підпис">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uk-UA" sz="3200" b="0" u="none" strike="noStrike">
                <a:solidFill>
                  <a:schemeClr val="dk1"/>
                </a:solidFill>
                <a:effectLst/>
                <a:uFillTx/>
                <a:latin typeface="Calibri Light"/>
              </a:rPr>
              <a:t>Клацніть, щоб редагувати стиль зразка заголовка</a:t>
            </a:r>
            <a:endParaRPr lang="pl-PL" sz="3200" b="0" u="none" strike="noStrike">
              <a:solidFill>
                <a:schemeClr val="dk1"/>
              </a:solidFill>
              <a:effectLst/>
              <a:uFillTx/>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lang="pl-PL" sz="3200" b="0" u="none" strike="noStrike">
                <a:solidFill>
                  <a:schemeClr val="dk1"/>
                </a:solidFill>
                <a:effectLst/>
                <a:uFillTx/>
                <a:latin typeface="Calibri"/>
              </a:rPr>
              <a:t>Click to edit the outline text format</a:t>
            </a:r>
            <a:endParaRPr lang="pl-PL" sz="32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pl-PL" sz="3200" b="0" u="none" strike="noStrike">
                <a:solidFill>
                  <a:schemeClr val="dk1"/>
                </a:solidFill>
                <a:effectLst/>
                <a:uFillTx/>
                <a:latin typeface="Calibri"/>
              </a:rPr>
              <a:t>Second Outline Level</a:t>
            </a:r>
            <a:endParaRPr lang="pl-PL" sz="32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pl-PL" sz="3200" b="0" u="none" strike="noStrike">
                <a:solidFill>
                  <a:schemeClr val="dk1"/>
                </a:solidFill>
                <a:effectLst/>
                <a:uFillTx/>
                <a:latin typeface="Calibri"/>
              </a:rPr>
              <a:t>Third Outline Level</a:t>
            </a:r>
            <a:endParaRPr lang="pl-PL" sz="32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pl-PL" sz="3200" b="0" u="none" strike="noStrike">
                <a:solidFill>
                  <a:schemeClr val="dk1"/>
                </a:solidFill>
                <a:effectLst/>
                <a:uFillTx/>
                <a:latin typeface="Calibri"/>
              </a:rPr>
              <a:t>Fourth Outline Level</a:t>
            </a:r>
            <a:endParaRPr lang="pl-PL" sz="32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Fifth Outline Level</a:t>
            </a:r>
            <a:endParaRPr lang="pl-PL" sz="32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Sixth Outline Level</a:t>
            </a:r>
            <a:endParaRPr lang="pl-PL" sz="32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Seventh Outline Level</a:t>
            </a:r>
            <a:endParaRPr lang="pl-PL" sz="3200" b="0" u="none" strike="noStrike">
              <a:solidFill>
                <a:schemeClr val="dk1"/>
              </a:solidFill>
              <a:effectLst/>
              <a:uFillTx/>
              <a:latin typeface="Calibri"/>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1600" b="0" u="none" strike="noStrike">
                <a:solidFill>
                  <a:schemeClr val="dk1"/>
                </a:solidFill>
                <a:effectLst/>
                <a:uFillTx/>
                <a:latin typeface="Calibri"/>
              </a:rPr>
              <a:t>Клацніть, щоб відредагувати стилі зразків тексту</a:t>
            </a:r>
            <a:endParaRPr lang="pl-PL" sz="1600" b="0" u="none" strike="noStrike">
              <a:solidFill>
                <a:schemeClr val="dk1"/>
              </a:solidFill>
              <a:effectLst/>
              <a:uFillTx/>
              <a:latin typeface="Calibri"/>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87FEE0A8-45CF-4305-ACEA-9E83F405E410}"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578240" y="1011960"/>
            <a:ext cx="7766640" cy="1645920"/>
          </a:xfrm>
          <a:prstGeom prst="rect">
            <a:avLst/>
          </a:prstGeom>
          <a:noFill/>
          <a:ln w="0">
            <a:noFill/>
          </a:ln>
        </p:spPr>
        <p:txBody>
          <a:bodyPr lIns="91440" rIns="91440" tIns="45720" bIns="45720" anchor="b">
            <a:normAutofit lnSpcReduction="9999"/>
          </a:bodyPr>
          <a:p>
            <a:pPr indent="0" algn="ctr" defTabSz="914400">
              <a:lnSpc>
                <a:spcPct val="90000"/>
              </a:lnSpc>
              <a:buNone/>
            </a:pPr>
            <a:r>
              <a:rPr lang="ru-RU" sz="6000" b="0" u="none" strike="noStrike">
                <a:solidFill>
                  <a:srgbClr val="00b0f0"/>
                </a:solidFill>
                <a:effectLst/>
                <a:uFillTx/>
                <a:latin typeface="Calibri Light"/>
              </a:rPr>
              <a:t>КЛАСИЧНА ТА ІНШІ МОДЕЛІ РИНКУ</a:t>
            </a:r>
            <a:endParaRPr lang="pl-PL" sz="6000" b="0" u="none" strike="noStrike">
              <a:solidFill>
                <a:schemeClr val="dk1"/>
              </a:solidFill>
              <a:effectLst/>
              <a:uFillTx/>
              <a:latin typeface="Calibri"/>
            </a:endParaRPr>
          </a:p>
        </p:txBody>
      </p:sp>
      <p:sp>
        <p:nvSpPr>
          <p:cNvPr id="61" name="PlaceHolder 2"/>
          <p:cNvSpPr>
            <a:spLocks noGrp="1"/>
          </p:cNvSpPr>
          <p:nvPr>
            <p:ph type="subTitle"/>
          </p:nvPr>
        </p:nvSpPr>
        <p:spPr>
          <a:xfrm>
            <a:off x="1523880" y="3602160"/>
            <a:ext cx="9143640" cy="1655280"/>
          </a:xfrm>
          <a:prstGeom prst="rect">
            <a:avLst/>
          </a:prstGeom>
          <a:noFill/>
          <a:ln w="0">
            <a:noFill/>
          </a:ln>
        </p:spPr>
        <p:txBody>
          <a:bodyPr lIns="91440" rIns="91440" tIns="45720" bIns="45720" anchor="t">
            <a:noAutofit/>
          </a:bodyPr>
          <a:p>
            <a:pPr indent="0" algn="ctr">
              <a:buNone/>
            </a:pPr>
            <a:endParaRPr lang="en-US" sz="2400" b="0" u="none" strike="noStrike">
              <a:solidFill>
                <a:schemeClr val="dk1"/>
              </a:solidFill>
              <a:effectLst/>
              <a:uFillTx/>
              <a:latin typeface="Calibri"/>
            </a:endParaRPr>
          </a:p>
        </p:txBody>
      </p:sp>
      <p:pic>
        <p:nvPicPr>
          <p:cNvPr id="62" name="Рисунок 4"/>
          <p:cNvPicPr/>
          <p:nvPr/>
        </p:nvPicPr>
        <p:blipFill>
          <a:blip r:embed="rId1"/>
          <a:stretch/>
        </p:blipFill>
        <p:spPr>
          <a:xfrm>
            <a:off x="3267000" y="3040920"/>
            <a:ext cx="5040720" cy="361908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p:nvPr>
        </p:nvSpPr>
        <p:spPr>
          <a:xfrm>
            <a:off x="346320" y="213120"/>
            <a:ext cx="11007360" cy="5963400"/>
          </a:xfrm>
          <a:prstGeom prst="rect">
            <a:avLst/>
          </a:prstGeom>
          <a:noFill/>
          <a:ln w="0">
            <a:noFill/>
          </a:ln>
        </p:spPr>
        <p:txBody>
          <a:bodyPr lIns="91440" rIns="91440" tIns="45720" bIns="45720" anchor="t">
            <a:normAutofit fontScale="77500" lnSpcReduction="19999"/>
          </a:bodyPr>
          <a:p>
            <a:pPr indent="0" algn="just" defTabSz="914400">
              <a:lnSpc>
                <a:spcPct val="160000"/>
              </a:lnSpc>
              <a:spcBef>
                <a:spcPts val="1001"/>
              </a:spcBef>
              <a:buNone/>
              <a:tabLst>
                <a:tab algn="l" pos="0"/>
              </a:tabLst>
            </a:pPr>
            <a:r>
              <a:rPr lang="uk-UA" sz="2800" b="0" u="none" strike="noStrike">
                <a:solidFill>
                  <a:schemeClr val="dk1"/>
                </a:solidFill>
                <a:effectLst/>
                <a:uFillTx/>
                <a:latin typeface="Times New Roman"/>
              </a:rPr>
              <a:t>Менеджмент програмної інженерії  включає в себе управління процесами розробки, підтримки та оновлення програмного забезпечення. В умовах постійних змін у технологічному середовищі та розвитку нових тенденцій на ринку програмного забезпечення, важливим інструментом для ефективного управління проектами стають різноманітні моделі ринку. Використання цих моделей дозволяє приймати обґрунтовані управлінські рішення, адаптуючи розробку до потреб ринку та змінюючи стратегію на основі аналізу попиту, пропозиції, конкурентних сил і поведінки споживачів. Застосування моделей ринку в менеджменті програмної інженерії допомагає організаціям залишатися конкурентоспроможними, оптимізувати ресурси, покращити якість продуктів та задовольняти вимоги користувачів. Це важливий інструмент для адаптації до постійно змінюваного ринку програмного забезпечення, що надає компаніям можливість ефективно управляти ризиками і знижувати витрати.</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p:nvPr>
        </p:nvSpPr>
        <p:spPr>
          <a:xfrm>
            <a:off x="399600" y="284040"/>
            <a:ext cx="10954080" cy="6116400"/>
          </a:xfrm>
          <a:prstGeom prst="rect">
            <a:avLst/>
          </a:prstGeom>
          <a:noFill/>
          <a:ln w="0">
            <a:noFill/>
          </a:ln>
        </p:spPr>
        <p:txBody>
          <a:bodyPr lIns="91440" rIns="91440" tIns="45720" bIns="45720" anchor="t">
            <a:normAutofit fontScale="85000" lnSpcReduction="19999"/>
          </a:bodyPr>
          <a:p>
            <a:pPr indent="0" algn="just" defTabSz="914400">
              <a:lnSpc>
                <a:spcPct val="160000"/>
              </a:lnSpc>
              <a:spcBef>
                <a:spcPts val="1001"/>
              </a:spcBef>
              <a:buNone/>
              <a:tabLst>
                <a:tab algn="l" pos="0"/>
              </a:tabLst>
            </a:pPr>
            <a:r>
              <a:rPr lang="uk-UA" sz="2800" b="1" u="none" strike="noStrike">
                <a:solidFill>
                  <a:schemeClr val="dk1"/>
                </a:solidFill>
                <a:effectLst/>
                <a:uFillTx/>
                <a:latin typeface="Times New Roman"/>
              </a:rPr>
              <a:t>Ринкова економіка</a:t>
            </a:r>
            <a:r>
              <a:rPr lang="uk-UA" sz="2800" b="0" u="none" strike="noStrike">
                <a:solidFill>
                  <a:schemeClr val="dk1"/>
                </a:solidFill>
                <a:effectLst/>
                <a:uFillTx/>
                <a:latin typeface="Times New Roman"/>
              </a:rPr>
              <a:t>, згідно з теорією А.Сміта, - це лад, в якому відбувається вільна гра ринкових сил. Природною рушійною силою господарського розвитку є прагнення індивіда до реалізації своїх економічних інтересів. Дбаючи про свої інтереси, така економічно вільна людина покращує як свій добробут, так і примножує багатство суспільства. Інтереси індивідів певною мірою гармонізує конкуренція, завдяки чому досягається економічна рівновага. Конкуренція вирівнює попит і пропозицію, відновлює пропорційність, тобто здійснюється саморегулювання економіки.</a:t>
            </a:r>
            <a:endParaRPr lang="pl-PL" sz="2800" b="0" u="none" strike="noStrike">
              <a:solidFill>
                <a:schemeClr val="dk1"/>
              </a:solidFill>
              <a:effectLst/>
              <a:uFillTx/>
              <a:latin typeface="Calibri"/>
            </a:endParaRPr>
          </a:p>
          <a:p>
            <a:pPr indent="0" algn="just" defTabSz="914400">
              <a:lnSpc>
                <a:spcPct val="160000"/>
              </a:lnSpc>
              <a:spcBef>
                <a:spcPts val="1001"/>
              </a:spcBef>
              <a:buNone/>
              <a:tabLst>
                <a:tab algn="l" pos="0"/>
              </a:tabLst>
            </a:pPr>
            <a:endParaRPr lang="pl-PL" sz="2800" b="0" u="none" strike="noStrike">
              <a:solidFill>
                <a:schemeClr val="dk1"/>
              </a:solidFill>
              <a:effectLst/>
              <a:uFillTx/>
              <a:latin typeface="Calibri"/>
            </a:endParaRPr>
          </a:p>
          <a:p>
            <a:pPr indent="0" algn="just" defTabSz="914400">
              <a:lnSpc>
                <a:spcPct val="160000"/>
              </a:lnSpc>
              <a:spcBef>
                <a:spcPts val="1001"/>
              </a:spcBef>
              <a:buNone/>
              <a:tabLst>
                <a:tab algn="l" pos="0"/>
              </a:tabLst>
            </a:pPr>
            <a:r>
              <a:rPr lang="uk-UA" sz="2800" b="0" u="none" strike="noStrike">
                <a:solidFill>
                  <a:schemeClr val="dk1"/>
                </a:solidFill>
                <a:effectLst/>
                <a:uFillTx/>
                <a:latin typeface="Times New Roman"/>
              </a:rPr>
              <a:t>У ринковій економіці державі належить другорядна роль: вона виконує лише ті функції, які не може виконати окремий індивід або зробить він це неефективно. Суперечностей між індивідом і суспільством не існує.</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 name="Місце для вмісту 5"/>
          <p:cNvPicPr/>
          <p:nvPr/>
        </p:nvPicPr>
        <p:blipFill>
          <a:blip r:embed="rId1"/>
          <a:stretch/>
        </p:blipFill>
        <p:spPr>
          <a:xfrm>
            <a:off x="991080" y="569160"/>
            <a:ext cx="10209240" cy="2859480"/>
          </a:xfrm>
          <a:prstGeom prst="rect">
            <a:avLst/>
          </a:prstGeom>
          <a:noFill/>
          <a:ln w="0">
            <a:noFill/>
          </a:ln>
        </p:spPr>
      </p:pic>
      <p:pic>
        <p:nvPicPr>
          <p:cNvPr id="66" name="Рисунок 7"/>
          <p:cNvPicPr/>
          <p:nvPr/>
        </p:nvPicPr>
        <p:blipFill>
          <a:blip r:embed="rId2"/>
          <a:stretch/>
        </p:blipFill>
        <p:spPr>
          <a:xfrm>
            <a:off x="1421640" y="3383640"/>
            <a:ext cx="10028160" cy="305208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 name="Місце для вмісту 4"/>
          <p:cNvPicPr/>
          <p:nvPr/>
        </p:nvPicPr>
        <p:blipFill>
          <a:blip r:embed="rId1"/>
          <a:stretch/>
        </p:blipFill>
        <p:spPr>
          <a:xfrm>
            <a:off x="1277640" y="680040"/>
            <a:ext cx="9210240" cy="30380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8" name="Місце для вмісту 4"/>
          <p:cNvPicPr/>
          <p:nvPr/>
        </p:nvPicPr>
        <p:blipFill>
          <a:blip r:embed="rId1"/>
          <a:stretch/>
        </p:blipFill>
        <p:spPr>
          <a:xfrm>
            <a:off x="1455840" y="577080"/>
            <a:ext cx="8886240" cy="55994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2800" b="0" u="none" strike="noStrike">
                <a:solidFill>
                  <a:schemeClr val="dk1"/>
                </a:solidFill>
                <a:effectLst/>
                <a:uFillTx/>
                <a:latin typeface="Calibri"/>
              </a:rPr>
              <a:t>У точці рівноваги:</a:t>
            </a:r>
            <a:endParaRPr lang="pl-PL" sz="2800" b="0" u="none" strike="noStrike">
              <a:solidFill>
                <a:schemeClr val="dk1"/>
              </a:solidFill>
              <a:effectLst/>
              <a:uFillTx/>
              <a:latin typeface="Calibri"/>
            </a:endParaRPr>
          </a:p>
        </p:txBody>
      </p:sp>
      <p:pic>
        <p:nvPicPr>
          <p:cNvPr id="70" name="Рисунок 4"/>
          <p:cNvPicPr/>
          <p:nvPr/>
        </p:nvPicPr>
        <p:blipFill>
          <a:blip r:embed="rId1"/>
          <a:stretch/>
        </p:blipFill>
        <p:spPr>
          <a:xfrm>
            <a:off x="1337760" y="2289240"/>
            <a:ext cx="9267480" cy="75204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1" name="Місце для вмісту 4"/>
          <p:cNvPicPr/>
          <p:nvPr/>
        </p:nvPicPr>
        <p:blipFill>
          <a:blip r:embed="rId1"/>
          <a:stretch/>
        </p:blipFill>
        <p:spPr>
          <a:xfrm>
            <a:off x="1203480" y="497160"/>
            <a:ext cx="10033200" cy="516456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Місце для вмісту 4"/>
          <p:cNvPicPr/>
          <p:nvPr/>
        </p:nvPicPr>
        <p:blipFill>
          <a:blip r:embed="rId1"/>
          <a:stretch/>
        </p:blipFill>
        <p:spPr>
          <a:xfrm>
            <a:off x="1118520" y="542880"/>
            <a:ext cx="8539920" cy="593388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3" name="Місце для вмісту 4"/>
          <p:cNvPicPr/>
          <p:nvPr/>
        </p:nvPicPr>
        <p:blipFill>
          <a:blip r:embed="rId1"/>
          <a:stretch/>
        </p:blipFill>
        <p:spPr>
          <a:xfrm>
            <a:off x="1268640" y="613800"/>
            <a:ext cx="9477000" cy="933120"/>
          </a:xfrm>
          <a:prstGeom prst="rect">
            <a:avLst/>
          </a:prstGeom>
          <a:noFill/>
          <a:ln w="0">
            <a:noFill/>
          </a:ln>
        </p:spPr>
      </p:pic>
      <p:pic>
        <p:nvPicPr>
          <p:cNvPr id="74" name="Рисунок 6"/>
          <p:cNvPicPr/>
          <p:nvPr/>
        </p:nvPicPr>
        <p:blipFill>
          <a:blip r:embed="rId2"/>
          <a:stretch/>
        </p:blipFill>
        <p:spPr>
          <a:xfrm>
            <a:off x="1400040" y="1955880"/>
            <a:ext cx="9391320" cy="402876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 name="Місце для вмісту 4"/>
          <p:cNvPicPr/>
          <p:nvPr/>
        </p:nvPicPr>
        <p:blipFill>
          <a:blip r:embed="rId1"/>
          <a:stretch/>
        </p:blipFill>
        <p:spPr>
          <a:xfrm>
            <a:off x="1242720" y="442800"/>
            <a:ext cx="8690760" cy="55980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 name="Місце для вмісту 4"/>
          <p:cNvPicPr/>
          <p:nvPr/>
        </p:nvPicPr>
        <p:blipFill>
          <a:blip r:embed="rId1"/>
          <a:stretch/>
        </p:blipFill>
        <p:spPr>
          <a:xfrm>
            <a:off x="1247040" y="248400"/>
            <a:ext cx="10109520" cy="49708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 name="Місце для вмісту 3"/>
          <p:cNvPicPr/>
          <p:nvPr/>
        </p:nvPicPr>
        <p:blipFill>
          <a:blip r:embed="rId1"/>
          <a:stretch/>
        </p:blipFill>
        <p:spPr>
          <a:xfrm>
            <a:off x="249120" y="1544760"/>
            <a:ext cx="11942640" cy="225036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p:nvPr>
        </p:nvSpPr>
        <p:spPr>
          <a:xfrm>
            <a:off x="914400" y="301680"/>
            <a:ext cx="10670760" cy="6329520"/>
          </a:xfrm>
          <a:prstGeom prst="rect">
            <a:avLst/>
          </a:prstGeom>
          <a:noFill/>
          <a:ln w="0">
            <a:noFill/>
          </a:ln>
        </p:spPr>
        <p:txBody>
          <a:bodyPr lIns="91440" rIns="91440" tIns="45720" bIns="45720" anchor="t">
            <a:normAutofit fontScale="85000" lnSpcReduction="9999"/>
          </a:bodyPr>
          <a:p>
            <a:pPr indent="0" algn="just" defTabSz="914400">
              <a:lnSpc>
                <a:spcPct val="150000"/>
              </a:lnSpc>
              <a:spcBef>
                <a:spcPts val="371"/>
              </a:spcBef>
              <a:buNone/>
              <a:tabLst>
                <a:tab algn="l" pos="0"/>
              </a:tabLst>
            </a:pPr>
            <a:r>
              <a:rPr lang="uk-UA" sz="2400" b="0" u="none" spc="-11" strike="noStrike">
                <a:solidFill>
                  <a:schemeClr val="dk1"/>
                </a:solidFill>
                <a:effectLst/>
                <a:uFillTx/>
                <a:latin typeface="Times New Roman"/>
                <a:ea typeface="Times New Roman"/>
              </a:rPr>
              <a:t>Модифікацією</a:t>
            </a:r>
            <a:r>
              <a:rPr lang="uk-UA" sz="2400" b="0" u="none"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підходу</a:t>
            </a:r>
            <a:r>
              <a:rPr lang="uk-UA" sz="2400" b="0" u="none"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Кейнса</a:t>
            </a:r>
            <a:r>
              <a:rPr lang="uk-UA" sz="2400" b="0" u="none"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 </a:t>
            </a:r>
            <a:r>
              <a:rPr lang="uk-UA" sz="2400" b="0" u="none" spc="-51" strike="noStrike">
                <a:solidFill>
                  <a:schemeClr val="dk1"/>
                </a:solidFill>
                <a:effectLst/>
                <a:uFillTx/>
                <a:latin typeface="Times New Roman"/>
                <a:ea typeface="Times New Roman"/>
              </a:rPr>
              <a:t>є</a:t>
            </a:r>
            <a:r>
              <a:rPr lang="uk-UA" sz="2400" b="0" u="none"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монетаристський</a:t>
            </a:r>
            <a:r>
              <a:rPr lang="uk-UA" sz="2400" b="0" u="none"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аналіз</a:t>
            </a:r>
            <a:r>
              <a:rPr lang="uk-UA" sz="2400" b="0" u="none" strike="noStrike">
                <a:solidFill>
                  <a:schemeClr val="dk1"/>
                </a:solidFill>
                <a:effectLst/>
                <a:uFillTx/>
                <a:latin typeface="Times New Roman"/>
                <a:ea typeface="Times New Roman"/>
              </a:rPr>
              <a:t>	</a:t>
            </a:r>
            <a:r>
              <a:rPr lang="uk-UA" sz="2400" b="0" u="none" spc="-11" strike="noStrike">
                <a:solidFill>
                  <a:schemeClr val="dk1"/>
                </a:solidFill>
                <a:effectLst/>
                <a:uFillTx/>
                <a:latin typeface="Times New Roman"/>
                <a:ea typeface="Times New Roman"/>
              </a:rPr>
              <a:t>економіки </a:t>
            </a:r>
            <a:r>
              <a:rPr lang="uk-UA" sz="2400" b="0" u="none" strike="noStrike">
                <a:solidFill>
                  <a:schemeClr val="dk1"/>
                </a:solidFill>
                <a:effectLst/>
                <a:uFillTx/>
                <a:latin typeface="Times New Roman"/>
                <a:ea typeface="Times New Roman"/>
              </a:rPr>
              <a:t>(розвинутий</a:t>
            </a:r>
            <a:r>
              <a:rPr lang="uk-UA" sz="2400" b="0" u="none" spc="19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на</a:t>
            </a:r>
            <a:r>
              <a:rPr lang="uk-UA" sz="2400" b="0" u="none" spc="19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початку</a:t>
            </a:r>
            <a:r>
              <a:rPr lang="uk-UA" sz="2400" b="0" u="none" spc="19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70-х</a:t>
            </a:r>
            <a:r>
              <a:rPr lang="uk-UA" sz="2400" b="0" u="none" spc="20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років</a:t>
            </a:r>
            <a:r>
              <a:rPr lang="uk-UA" sz="2400" b="0" u="none" spc="19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ХХ</a:t>
            </a:r>
            <a:r>
              <a:rPr lang="uk-UA" sz="2400" b="0" u="none" spc="19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століття</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М.Фрідменом).</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Кейнс</a:t>
            </a:r>
            <a:r>
              <a:rPr lang="uk-UA" sz="2400" b="0" u="none" spc="19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вважав,</a:t>
            </a:r>
            <a:r>
              <a:rPr lang="uk-UA" sz="2400" b="0" u="none" spc="201" strike="noStrike">
                <a:solidFill>
                  <a:schemeClr val="dk1"/>
                </a:solidFill>
                <a:effectLst/>
                <a:uFillTx/>
                <a:latin typeface="Times New Roman"/>
                <a:ea typeface="Times New Roman"/>
              </a:rPr>
              <a:t> </a:t>
            </a:r>
            <a:r>
              <a:rPr lang="uk-UA" sz="2400" b="0" u="none" spc="-26" strike="noStrike">
                <a:solidFill>
                  <a:schemeClr val="dk1"/>
                </a:solidFill>
                <a:effectLst/>
                <a:uFillTx/>
                <a:latin typeface="Times New Roman"/>
                <a:ea typeface="Times New Roman"/>
              </a:rPr>
              <a:t>що </a:t>
            </a:r>
            <a:r>
              <a:rPr lang="uk-UA" sz="2400" b="0" u="none" strike="noStrike">
                <a:solidFill>
                  <a:schemeClr val="dk1"/>
                </a:solidFill>
                <a:effectLst/>
                <a:uFillTx/>
                <a:latin typeface="Times New Roman"/>
                <a:ea typeface="Times New Roman"/>
              </a:rPr>
              <a:t>найбільш значний вплив на зміну основних макроекономічних показників справляє попит на товари, а на думку Фрідмена, головне – це контроль за пропозицією грошей. Монетаристи також переконані в тому, що спекулятивний попит на гроші</a:t>
            </a:r>
            <a:r>
              <a:rPr lang="uk-UA" sz="2400" b="0" u="none" spc="20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не залежить від ставки відсотка, тому збільшення пропозиції грошей призводить до зростання цін, а не обсягів виробництва, як це випливало б з моделі Кейнса. За їх твердженнями, грошово-кредитна політика не може суттєво вплинути у довготерміновому плані на реальний обсяг виробництва та стан безробіття, хоча у короткотерміновому – це є можливим.</a:t>
            </a:r>
            <a:endParaRPr lang="pl-PL" sz="2400" b="0" u="none" strike="noStrike">
              <a:solidFill>
                <a:schemeClr val="dk1"/>
              </a:solidFill>
              <a:effectLst/>
              <a:uFillTx/>
              <a:latin typeface="Calibri"/>
            </a:endParaRPr>
          </a:p>
          <a:p>
            <a:pPr indent="0" algn="just" defTabSz="914400">
              <a:lnSpc>
                <a:spcPct val="150000"/>
              </a:lnSpc>
              <a:spcBef>
                <a:spcPts val="371"/>
              </a:spcBef>
              <a:buNone/>
              <a:tabLst>
                <a:tab algn="l" pos="0"/>
              </a:tabLst>
            </a:pPr>
            <a:r>
              <a:rPr lang="uk-UA" sz="2400" b="0" u="none" strike="noStrike">
                <a:solidFill>
                  <a:schemeClr val="dk1"/>
                </a:solidFill>
                <a:effectLst/>
                <a:uFillTx/>
                <a:latin typeface="Times New Roman"/>
                <a:ea typeface="Times New Roman"/>
              </a:rPr>
              <a:t>Як свідчить досвід України та інших країн, інколи справджується підхід Кейнса,</a:t>
            </a:r>
            <a:r>
              <a:rPr lang="uk-UA" sz="2400" b="0" u="none" spc="-2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а</a:t>
            </a:r>
            <a:r>
              <a:rPr lang="uk-UA" sz="2400" b="0" u="none" spc="-1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інколи</a:t>
            </a:r>
            <a:r>
              <a:rPr lang="uk-UA" sz="2400" b="0" u="none" spc="-20"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a:t>
            </a:r>
            <a:r>
              <a:rPr lang="uk-UA" sz="2400" b="0" u="none" spc="-1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Фрідмена:</a:t>
            </a:r>
            <a:r>
              <a:rPr lang="uk-UA" sz="2400" b="0" u="none" spc="-26"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невисокого</a:t>
            </a:r>
            <a:r>
              <a:rPr lang="uk-UA" sz="2400" b="0" u="none" spc="-11"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рівня</a:t>
            </a:r>
            <a:r>
              <a:rPr lang="uk-UA" sz="2400" b="0" u="none" spc="-1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і</a:t>
            </a:r>
            <a:r>
              <a:rPr lang="uk-UA" sz="2400" b="0" u="none" spc="-1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контрольована</a:t>
            </a:r>
            <a:r>
              <a:rPr lang="uk-UA" sz="2400" b="0" u="none" spc="-1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державою</a:t>
            </a:r>
            <a:r>
              <a:rPr lang="uk-UA" sz="2400" b="0" u="none" spc="-14"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інфляція – діє кейнсіанський підхід; гіперінфляція і слабкий контроль держави – монетаристський підхід.</a:t>
            </a: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18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p:nvPr>
        </p:nvSpPr>
        <p:spPr>
          <a:xfrm>
            <a:off x="124200" y="124200"/>
            <a:ext cx="11957760" cy="6622560"/>
          </a:xfrm>
          <a:prstGeom prst="rect">
            <a:avLst/>
          </a:prstGeom>
          <a:noFill/>
          <a:ln w="0">
            <a:noFill/>
          </a:ln>
        </p:spPr>
        <p:txBody>
          <a:bodyPr lIns="91440" rIns="91440" tIns="45720" bIns="45720" anchor="t">
            <a:normAutofit fontScale="32500" lnSpcReduction="19999"/>
          </a:bodyPr>
          <a:p>
            <a:pPr indent="0" algn="just" defTabSz="914400">
              <a:lnSpc>
                <a:spcPct val="170000"/>
              </a:lnSpc>
              <a:buNone/>
              <a:tabLst>
                <a:tab algn="l" pos="0"/>
              </a:tabLst>
            </a:pPr>
            <a:r>
              <a:rPr lang="uk-UA" sz="5500" b="0" u="none" strike="noStrike">
                <a:solidFill>
                  <a:srgbClr val="402a18"/>
                </a:solidFill>
                <a:effectLst/>
                <a:uFillTx/>
                <a:latin typeface="Times New Roman"/>
              </a:rPr>
              <a:t>Теорія загальної рівноваги </a:t>
            </a:r>
            <a:r>
              <a:rPr lang="uk-UA" sz="5500" b="1" u="none" strike="noStrike">
                <a:solidFill>
                  <a:srgbClr val="402a18"/>
                </a:solidFill>
                <a:effectLst/>
                <a:uFillTx/>
                <a:latin typeface="Times New Roman"/>
              </a:rPr>
              <a:t>Л.Вальраса </a:t>
            </a:r>
            <a:r>
              <a:rPr lang="uk-UA" sz="5500" b="0" u="none" strike="noStrike">
                <a:solidFill>
                  <a:srgbClr val="402a18"/>
                </a:solidFill>
                <a:effectLst/>
                <a:uFillTx/>
                <a:latin typeface="Times New Roman"/>
              </a:rPr>
              <a:t>- перша спроба побудови формалізованої моделі на основі  макроекономічних величин, що відображають особливості поведінки господарських суб'єктів на ринку. </a:t>
            </a:r>
            <a:endParaRPr lang="pl-PL" sz="5500" b="0" u="none" strike="noStrike">
              <a:solidFill>
                <a:schemeClr val="dk1"/>
              </a:solidFill>
              <a:effectLst/>
              <a:uFillTx/>
              <a:latin typeface="Calibri"/>
            </a:endParaRPr>
          </a:p>
          <a:p>
            <a:pPr indent="0" algn="just" defTabSz="914400">
              <a:lnSpc>
                <a:spcPct val="170000"/>
              </a:lnSpc>
              <a:buNone/>
              <a:tabLst>
                <a:tab algn="l" pos="0"/>
              </a:tabLst>
            </a:pPr>
            <a:endParaRPr lang="pl-PL" sz="5500" b="0" u="none" strike="noStrike">
              <a:solidFill>
                <a:schemeClr val="dk1"/>
              </a:solidFill>
              <a:effectLst/>
              <a:uFillTx/>
              <a:latin typeface="Calibri"/>
            </a:endParaRPr>
          </a:p>
          <a:p>
            <a:pPr indent="0" algn="just" defTabSz="914400">
              <a:lnSpc>
                <a:spcPct val="170000"/>
              </a:lnSpc>
              <a:buNone/>
              <a:tabLst>
                <a:tab algn="l" pos="0"/>
              </a:tabLst>
            </a:pPr>
            <a:r>
              <a:rPr lang="uk-UA" sz="5500" b="0" u="none" strike="noStrike">
                <a:solidFill>
                  <a:srgbClr val="402a18"/>
                </a:solidFill>
                <a:effectLst/>
                <a:uFillTx/>
                <a:latin typeface="Times New Roman"/>
              </a:rPr>
              <a:t>У моделі Л.Вальраса стан рівноваги досягається тоді, коли відношення граничної корисності товару до його ціни для всієї товарної маси стає однаковим. Вчений дотримується методологічних підходів при аналізі попиту на гроші. За його словами споживачі володіють двома видами оборотного капіталу: запасами споживчих товарів і запасами грошей. Підприємці також володіють запасами товарів і залишками грошей. Величину попиту і пропозиції на запаси товарів і залишки грошей можна виразити функцією цін. Загальна сума реальних ліквідних залишків (запасів), яким суспільство прагне володіти, повинна дорівнювати наявній кількості грошей у стані рівноваги. Механізм досягнення цієї рівноваги полягає у коливаннях ставки відсотка.</a:t>
            </a:r>
            <a:endParaRPr lang="pl-PL" sz="5500" b="0" u="none" strike="noStrike">
              <a:solidFill>
                <a:schemeClr val="dk1"/>
              </a:solidFill>
              <a:effectLst/>
              <a:uFillTx/>
              <a:latin typeface="Calibri"/>
            </a:endParaRPr>
          </a:p>
          <a:p>
            <a:pPr indent="0" algn="just" defTabSz="914400">
              <a:lnSpc>
                <a:spcPct val="170000"/>
              </a:lnSpc>
              <a:buNone/>
              <a:tabLst>
                <a:tab algn="l" pos="0"/>
              </a:tabLst>
            </a:pPr>
            <a:endParaRPr lang="pl-PL" sz="5500" b="0" u="none" strike="noStrike">
              <a:solidFill>
                <a:schemeClr val="dk1"/>
              </a:solidFill>
              <a:effectLst/>
              <a:uFillTx/>
              <a:latin typeface="Calibri"/>
            </a:endParaRPr>
          </a:p>
          <a:p>
            <a:pPr indent="0" algn="just" defTabSz="914400">
              <a:lnSpc>
                <a:spcPct val="170000"/>
              </a:lnSpc>
              <a:buNone/>
              <a:tabLst>
                <a:tab algn="l" pos="0"/>
              </a:tabLst>
            </a:pPr>
            <a:r>
              <a:rPr lang="uk-UA" sz="5500" b="0" u="none" strike="noStrike">
                <a:solidFill>
                  <a:srgbClr val="402a18"/>
                </a:solidFill>
                <a:effectLst/>
                <a:uFillTx/>
                <a:latin typeface="Times New Roman"/>
              </a:rPr>
              <a:t>За Л.Вальрасом, попит на гроші є спадною функцією ставки відсотка, оскільки відсоток - це ціна відмови від корисності, що отримується від володіння активами в ліквідній формі. Оскільки корисність послуг запасів грошових залишків повинна перебувати у такому ж співвідношенні зі ставкою відсотка, як і гранична корисність будь-якого іншого товару, то грошова та реальна ставка у рівновазі повинні бути однаковими.</a:t>
            </a:r>
            <a:endParaRPr lang="pl-PL" sz="55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0" name="Місце для вмісту 4"/>
          <p:cNvPicPr/>
          <p:nvPr/>
        </p:nvPicPr>
        <p:blipFill>
          <a:blip r:embed="rId1"/>
          <a:stretch/>
        </p:blipFill>
        <p:spPr>
          <a:xfrm>
            <a:off x="1473120" y="772200"/>
            <a:ext cx="10270080" cy="465264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Місце для вмісту 4"/>
          <p:cNvPicPr/>
          <p:nvPr/>
        </p:nvPicPr>
        <p:blipFill>
          <a:blip r:embed="rId1"/>
          <a:stretch/>
        </p:blipFill>
        <p:spPr>
          <a:xfrm>
            <a:off x="826560" y="777960"/>
            <a:ext cx="10465560" cy="521388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Місце для вмісту 4"/>
          <p:cNvPicPr/>
          <p:nvPr/>
        </p:nvPicPr>
        <p:blipFill>
          <a:blip r:embed="rId1"/>
          <a:stretch/>
        </p:blipFill>
        <p:spPr>
          <a:xfrm>
            <a:off x="1290240" y="828360"/>
            <a:ext cx="8956800" cy="1390680"/>
          </a:xfrm>
          <a:prstGeom prst="rect">
            <a:avLst/>
          </a:prstGeom>
          <a:noFill/>
          <a:ln w="0">
            <a:noFill/>
          </a:ln>
        </p:spPr>
      </p:pic>
      <p:pic>
        <p:nvPicPr>
          <p:cNvPr id="83" name="Рисунок 6"/>
          <p:cNvPicPr/>
          <p:nvPr/>
        </p:nvPicPr>
        <p:blipFill>
          <a:blip r:embed="rId2"/>
          <a:stretch/>
        </p:blipFill>
        <p:spPr>
          <a:xfrm>
            <a:off x="1731240" y="2404440"/>
            <a:ext cx="10045800" cy="374760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Місце для вмісту 4"/>
          <p:cNvPicPr/>
          <p:nvPr/>
        </p:nvPicPr>
        <p:blipFill>
          <a:blip r:embed="rId1"/>
          <a:stretch/>
        </p:blipFill>
        <p:spPr>
          <a:xfrm>
            <a:off x="492480" y="1216080"/>
            <a:ext cx="11206440" cy="305352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 name="Місце для вмісту 4"/>
          <p:cNvPicPr/>
          <p:nvPr/>
        </p:nvPicPr>
        <p:blipFill>
          <a:blip r:embed="rId1"/>
          <a:stretch/>
        </p:blipFill>
        <p:spPr>
          <a:xfrm>
            <a:off x="689040" y="1006560"/>
            <a:ext cx="10762560" cy="476604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Місце для вмісту 4"/>
          <p:cNvPicPr/>
          <p:nvPr/>
        </p:nvPicPr>
        <p:blipFill>
          <a:blip r:embed="rId1"/>
          <a:stretch/>
        </p:blipFill>
        <p:spPr>
          <a:xfrm>
            <a:off x="476280" y="790200"/>
            <a:ext cx="10899360" cy="2433960"/>
          </a:xfrm>
          <a:prstGeom prst="rect">
            <a:avLst/>
          </a:prstGeom>
          <a:noFill/>
          <a:ln w="0">
            <a:noFill/>
          </a:ln>
        </p:spPr>
      </p:pic>
      <p:pic>
        <p:nvPicPr>
          <p:cNvPr id="87" name="Рисунок 6"/>
          <p:cNvPicPr/>
          <p:nvPr/>
        </p:nvPicPr>
        <p:blipFill>
          <a:blip r:embed="rId2"/>
          <a:stretch/>
        </p:blipFill>
        <p:spPr>
          <a:xfrm>
            <a:off x="1028160" y="3429000"/>
            <a:ext cx="7570800" cy="67176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Місце для вмісту 4"/>
          <p:cNvPicPr/>
          <p:nvPr/>
        </p:nvPicPr>
        <p:blipFill>
          <a:blip r:embed="rId1"/>
          <a:stretch/>
        </p:blipFill>
        <p:spPr>
          <a:xfrm>
            <a:off x="803520" y="646200"/>
            <a:ext cx="10248840" cy="553068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 name="Місце для вмісту 4"/>
          <p:cNvPicPr/>
          <p:nvPr/>
        </p:nvPicPr>
        <p:blipFill>
          <a:blip r:embed="rId1"/>
          <a:stretch/>
        </p:blipFill>
        <p:spPr>
          <a:xfrm>
            <a:off x="568080" y="781200"/>
            <a:ext cx="11153520" cy="447408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Місце для вмісту 4"/>
          <p:cNvPicPr/>
          <p:nvPr/>
        </p:nvPicPr>
        <p:blipFill>
          <a:blip r:embed="rId1"/>
          <a:stretch/>
        </p:blipFill>
        <p:spPr>
          <a:xfrm>
            <a:off x="572760" y="1192320"/>
            <a:ext cx="11403360" cy="336996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Місце для вмісту 4"/>
          <p:cNvPicPr/>
          <p:nvPr/>
        </p:nvPicPr>
        <p:blipFill>
          <a:blip r:embed="rId1"/>
          <a:stretch/>
        </p:blipFill>
        <p:spPr>
          <a:xfrm>
            <a:off x="892800" y="666000"/>
            <a:ext cx="10245960" cy="527796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buNone/>
            </a:pPr>
            <a:endParaRPr lang="pl-PL" sz="4400" b="0" u="none" strike="noStrike">
              <a:solidFill>
                <a:schemeClr val="dk1"/>
              </a:solidFill>
              <a:effectLst/>
              <a:uFillTx/>
              <a:latin typeface="Calibri Light"/>
            </a:endParaRPr>
          </a:p>
        </p:txBody>
      </p:sp>
      <p:pic>
        <p:nvPicPr>
          <p:cNvPr id="93" name="Місце для вмісту 4"/>
          <p:cNvPicPr/>
          <p:nvPr/>
        </p:nvPicPr>
        <p:blipFill>
          <a:blip r:embed="rId1"/>
          <a:stretch/>
        </p:blipFill>
        <p:spPr>
          <a:xfrm>
            <a:off x="829440" y="245880"/>
            <a:ext cx="9884520" cy="1563840"/>
          </a:xfrm>
          <a:prstGeom prst="rect">
            <a:avLst/>
          </a:prstGeom>
          <a:noFill/>
          <a:ln w="0">
            <a:noFill/>
          </a:ln>
        </p:spPr>
      </p:pic>
      <p:sp>
        <p:nvSpPr>
          <p:cNvPr id="94" name="TextBox 6"/>
          <p:cNvSpPr/>
          <p:nvPr/>
        </p:nvSpPr>
        <p:spPr>
          <a:xfrm>
            <a:off x="1220400" y="2013480"/>
            <a:ext cx="913320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ru-RU" sz="1800" b="0" u="none" strike="noStrike">
                <a:solidFill>
                  <a:schemeClr val="dk1"/>
                </a:solidFill>
                <a:effectLst/>
                <a:uFillTx/>
                <a:latin typeface="Calibri"/>
              </a:rPr>
              <a:t>Якщо обернена функція попиту подана функцією P = a – bQ, то функція граничного доходу визначається таким чином:</a:t>
            </a:r>
            <a:endParaRPr lang="en-US" sz="1800" b="0" u="none" strike="noStrike">
              <a:solidFill>
                <a:srgbClr val="000000"/>
              </a:solidFill>
              <a:effectLst/>
              <a:uFillTx/>
              <a:latin typeface="Arial"/>
            </a:endParaRPr>
          </a:p>
        </p:txBody>
      </p:sp>
      <p:pic>
        <p:nvPicPr>
          <p:cNvPr id="95" name="Рисунок 8"/>
          <p:cNvPicPr/>
          <p:nvPr/>
        </p:nvPicPr>
        <p:blipFill>
          <a:blip r:embed="rId2"/>
          <a:stretch/>
        </p:blipFill>
        <p:spPr>
          <a:xfrm>
            <a:off x="1420200" y="2659680"/>
            <a:ext cx="9351000" cy="374904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p:nvPr>
        </p:nvSpPr>
        <p:spPr>
          <a:xfrm>
            <a:off x="704880" y="289800"/>
            <a:ext cx="10515240" cy="435096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ru-RU" sz="2400" b="0" u="none" strike="noStrike">
                <a:solidFill>
                  <a:schemeClr val="dk1"/>
                </a:solidFill>
                <a:effectLst/>
                <a:uFillTx/>
                <a:latin typeface="Times New Roman"/>
              </a:rPr>
              <a:t>Монопольна влада зовсім не гарантує монополії прибутку. Попит на монопольну продукцію може бути недостатнім для відшкодування сукупних витрат, і монополія не отримуватиме прибутку</a:t>
            </a:r>
            <a:r>
              <a:rPr lang="en-US" sz="2400" b="0" u="none" strike="noStrike">
                <a:solidFill>
                  <a:schemeClr val="dk1"/>
                </a:solidFill>
                <a:effectLst/>
                <a:uFillTx/>
                <a:latin typeface="Times New Roman"/>
              </a:rPr>
              <a:t>.</a:t>
            </a:r>
            <a:r>
              <a:rPr lang="ru-RU" sz="2400" b="0" u="none" strike="noStrike">
                <a:solidFill>
                  <a:schemeClr val="dk1"/>
                </a:solidFill>
                <a:effectLst/>
                <a:uFillTx/>
                <a:latin typeface="Times New Roman"/>
              </a:rPr>
              <a:t> Як і за умов досконалої конкуренції, монополія повинна закритися, якщо ціна за оптимального обсягу виробництва менша за середні змінні витрати</a:t>
            </a:r>
            <a:endParaRPr lang="pl-PL" sz="2400" b="0" u="none" strike="noStrike">
              <a:solidFill>
                <a:schemeClr val="dk1"/>
              </a:solidFill>
              <a:effectLst/>
              <a:uFillTx/>
              <a:latin typeface="Calibri"/>
            </a:endParaRPr>
          </a:p>
        </p:txBody>
      </p:sp>
      <p:sp>
        <p:nvSpPr>
          <p:cNvPr id="97" name="TextBox 4"/>
          <p:cNvSpPr/>
          <p:nvPr/>
        </p:nvSpPr>
        <p:spPr>
          <a:xfrm>
            <a:off x="790200" y="3213720"/>
            <a:ext cx="10696320" cy="27957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lang="uk-UA" sz="2400" b="0" u="none" strike="noStrike">
                <a:solidFill>
                  <a:schemeClr val="dk1"/>
                </a:solidFill>
                <a:effectLst/>
                <a:uFillTx/>
                <a:latin typeface="Times New Roman"/>
              </a:rPr>
              <a:t>Якщо ж монополія отримує економічний прибуток, то вона буде його отримувати і в довгостроковому періоді, оскільки захищена від конкуренції інших фірм вхідними бар’єрами. Оскільки монополія сама встановлює ціну на свій товар і ціна, за якої максимізується прибуток, є єдиною, вважається, що графіка пропозиції монополії не існує.</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p:nvPr>
        </p:nvSpPr>
        <p:spPr>
          <a:xfrm>
            <a:off x="736920" y="434880"/>
            <a:ext cx="10616760" cy="574164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ru-RU" sz="2400" b="0" u="none" strike="noStrike">
                <a:solidFill>
                  <a:schemeClr val="dk1"/>
                </a:solidFill>
                <a:effectLst/>
                <a:uFillTx/>
                <a:latin typeface="Times New Roman"/>
              </a:rPr>
              <a:t>Досконала конкуренція та монополія є полярними моделями в спектрі реальних ринкових структур. Між цими двома полюсами знаходяться моделі недосконалої конкуренції, найпоширенішими з яких є монополістична конкуренція та олігополія.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Монополістична конкуренція</a:t>
            </a:r>
            <a:r>
              <a:rPr lang="uk-UA" sz="2400" b="0" u="none" strike="noStrike">
                <a:solidFill>
                  <a:schemeClr val="dk1"/>
                </a:solidFill>
                <a:effectLst/>
                <a:uFillTx/>
                <a:latin typeface="Times New Roman"/>
              </a:rPr>
              <a:t> (</a:t>
            </a:r>
            <a:r>
              <a:rPr lang="pl-PL" sz="2400" b="0" u="none" strike="noStrike">
                <a:solidFill>
                  <a:schemeClr val="dk1"/>
                </a:solidFill>
                <a:effectLst/>
                <a:uFillTx/>
                <a:latin typeface="Times New Roman"/>
              </a:rPr>
              <a:t>monopolistic competition) – </a:t>
            </a:r>
            <a:r>
              <a:rPr lang="uk-UA" sz="2400" b="0" u="none" strike="noStrike">
                <a:solidFill>
                  <a:schemeClr val="dk1"/>
                </a:solidFill>
                <a:effectLst/>
                <a:uFillTx/>
                <a:latin typeface="Times New Roman"/>
              </a:rPr>
              <a:t>це ринкова структура, що має такі властивості: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1) ринок складається з великої кількості як продавців, так і покупців, що практично виключає таємні змови та вироблення спільних стратегій;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p:nvPr>
        </p:nvSpPr>
        <p:spPr>
          <a:xfrm>
            <a:off x="594720" y="417240"/>
            <a:ext cx="10758600" cy="5759280"/>
          </a:xfrm>
          <a:prstGeom prst="rect">
            <a:avLst/>
          </a:prstGeom>
          <a:noFill/>
          <a:ln w="0">
            <a:noFill/>
          </a:ln>
        </p:spPr>
        <p:txBody>
          <a:bodyPr lIns="91440" rIns="91440" tIns="45720" bIns="45720" anchor="t">
            <a:normAutofit fontScale="92500" lnSpcReduction="9999"/>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2) на ринку продаються диференційовані блага (</a:t>
            </a:r>
            <a:r>
              <a:rPr lang="pl-PL" sz="2400" b="0" u="none" strike="noStrike">
                <a:solidFill>
                  <a:schemeClr val="dk1"/>
                </a:solidFill>
                <a:effectLst/>
                <a:uFillTx/>
                <a:latin typeface="Times New Roman"/>
              </a:rPr>
              <a:t>differentiated product), </a:t>
            </a:r>
            <a:r>
              <a:rPr lang="uk-UA" sz="2400" b="0" u="none" strike="noStrike">
                <a:solidFill>
                  <a:schemeClr val="dk1"/>
                </a:solidFill>
                <a:effectLst/>
                <a:uFillTx/>
                <a:latin typeface="Times New Roman"/>
              </a:rPr>
              <a:t>тобто в кожного продавця наявний товар, який відрізняється від аналогічних товарів конкурентів;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3) у кожного товару є багато близьких товарів-замінників, тому вплив на ціну кожного продавця є незначним;</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4) існують вільний вхід і вихід з ринку, проте він не такий легкий, як за умов досконалої конкуренції. Необхідність рекламних витрат для інформування покупців про особливості товару є перешкодою для входження на ринок.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Монополістична конкуренція є досить поширеною ринковою структурою в реальній економіці. Ця модель характеризує перш за все галузі з невеликим мінімально ефективним розміром підприємства: легка промисловість, сфера послуг та дозвілля, продовольчі магазини, ресторани, підприємства роздрібної торгівлі тощо.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Місце для вмісту 4"/>
          <p:cNvPicPr/>
          <p:nvPr/>
        </p:nvPicPr>
        <p:blipFill>
          <a:blip r:embed="rId1"/>
          <a:stretch/>
        </p:blipFill>
        <p:spPr>
          <a:xfrm>
            <a:off x="561960" y="195480"/>
            <a:ext cx="9975600" cy="625608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1" name="Місце для вмісту 4"/>
          <p:cNvPicPr/>
          <p:nvPr/>
        </p:nvPicPr>
        <p:blipFill>
          <a:blip r:embed="rId1"/>
          <a:stretch/>
        </p:blipFill>
        <p:spPr>
          <a:xfrm>
            <a:off x="236160" y="630360"/>
            <a:ext cx="11562120" cy="4960800"/>
          </a:xfrm>
          <a:prstGeom prst="rect">
            <a:avLst/>
          </a:prstGeom>
          <a:noFill/>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p:nvPr>
        </p:nvSpPr>
        <p:spPr>
          <a:xfrm>
            <a:off x="88920" y="62280"/>
            <a:ext cx="11957760" cy="6569280"/>
          </a:xfrm>
          <a:prstGeom prst="rect">
            <a:avLst/>
          </a:prstGeom>
          <a:noFill/>
          <a:ln w="0">
            <a:noFill/>
          </a:ln>
        </p:spPr>
        <p:txBody>
          <a:bodyPr lIns="91440" rIns="91440" tIns="45720" bIns="45720" anchor="t">
            <a:noAutofit/>
          </a:bodyPr>
          <a:p>
            <a:pPr indent="0" algn="just" defTabSz="914400">
              <a:lnSpc>
                <a:spcPct val="160000"/>
              </a:lnSpc>
              <a:spcBef>
                <a:spcPts val="1001"/>
              </a:spcBef>
              <a:buNone/>
              <a:tabLst>
                <a:tab algn="l" pos="0"/>
              </a:tabLst>
            </a:pPr>
            <a:r>
              <a:rPr lang="ru-RU" sz="2000" b="0" u="none" strike="noStrike">
                <a:solidFill>
                  <a:schemeClr val="dk1"/>
                </a:solidFill>
                <a:effectLst/>
                <a:uFillTx/>
                <a:latin typeface="Times New Roman"/>
              </a:rPr>
              <a:t>По</a:t>
            </a:r>
            <a:r>
              <a:rPr lang="uk-UA" sz="2000" b="0" u="none" strike="noStrike">
                <a:solidFill>
                  <a:schemeClr val="dk1"/>
                </a:solidFill>
                <a:effectLst/>
                <a:uFillTx/>
                <a:latin typeface="Times New Roman"/>
              </a:rPr>
              <a:t>ведінка фірм в умовах олігополії формується в умовах спільної взаємозалежності та необхідності враховувати реакцію конкурентів на зміну ціни чи обсягу виробництва. У той самий час фірма повинна сама реагувати на зміни в поведінці її конкурентів та прораховувати подальшу реакцію конкурентів на свої опортуністичні дії. За цих умов попит на продукцію олігополіста залежить не тільки від бажань та можливостей покупців, але й від поведінки конкурентів. Припустимо, у галузі існує три фірми </a:t>
            </a:r>
            <a:r>
              <a:rPr lang="pl-PL" sz="2000" b="0" u="none" strike="noStrike">
                <a:solidFill>
                  <a:schemeClr val="dk1"/>
                </a:solidFill>
                <a:effectLst/>
                <a:uFillTx/>
                <a:latin typeface="Times New Roman"/>
              </a:rPr>
              <a:t>A, B </a:t>
            </a:r>
            <a:r>
              <a:rPr lang="uk-UA" sz="2000" b="0" u="none" strike="noStrike">
                <a:solidFill>
                  <a:schemeClr val="dk1"/>
                </a:solidFill>
                <a:effectLst/>
                <a:uFillTx/>
                <a:latin typeface="Times New Roman"/>
              </a:rPr>
              <a:t>і </a:t>
            </a:r>
            <a:r>
              <a:rPr lang="pl-PL" sz="2000" b="0" u="none" strike="noStrike">
                <a:solidFill>
                  <a:schemeClr val="dk1"/>
                </a:solidFill>
                <a:effectLst/>
                <a:uFillTx/>
                <a:latin typeface="Times New Roman"/>
              </a:rPr>
              <a:t>C, </a:t>
            </a:r>
            <a:r>
              <a:rPr lang="uk-UA" sz="2000" b="0" u="none" strike="noStrike">
                <a:solidFill>
                  <a:schemeClr val="dk1"/>
                </a:solidFill>
                <a:effectLst/>
                <a:uFillTx/>
                <a:latin typeface="Times New Roman"/>
              </a:rPr>
              <a:t>і ми розглядаємо формування попиту на продукцію фірми А. Нехай ціна на продукцію фірми А встановилася на рівні </a:t>
            </a:r>
            <a:r>
              <a:rPr lang="pl-PL" sz="2000" b="0" u="none" strike="noStrike">
                <a:solidFill>
                  <a:schemeClr val="dk1"/>
                </a:solidFill>
                <a:effectLst/>
                <a:uFillTx/>
                <a:latin typeface="Times New Roman"/>
              </a:rPr>
              <a:t>P0</a:t>
            </a:r>
            <a:r>
              <a:rPr lang="uk-UA" sz="2000" b="0" u="none" strike="noStrike">
                <a:solidFill>
                  <a:schemeClr val="dk1"/>
                </a:solidFill>
                <a:effectLst/>
                <a:uFillTx/>
                <a:latin typeface="Times New Roman"/>
              </a:rPr>
              <a:t>. Якщо фірма А спробує збільшити ціну на товар, фірми В і С будуть ігнорувати це підвищення, оскільки споживачі почнуть заміщувати товар фірми А відносно більш дешевими товарами фірм В і С. Як наслідок, величина попиту на товар фірми А буде різко скорочуватися. Якщо ж фірма А знизить ціни на свою продукцію, фірмам В і С, щоб не втратити своїх споживачів, доведеться теж знижувати ціни. Відповідно величина попиту на товар фірми А збільшуватиметься несуттєво, тільки за рахунок ефекту доходу. Через різну реакцію конкурентів на зміну ціни графік попиту на продукцію фірми А буде ламаним, більш еластичним у разі підвищення ціни (відрізок </a:t>
            </a:r>
            <a:r>
              <a:rPr lang="pl-PL" sz="2000" b="0" u="none" strike="noStrike">
                <a:solidFill>
                  <a:schemeClr val="dk1"/>
                </a:solidFill>
                <a:effectLst/>
                <a:uFillTx/>
                <a:latin typeface="Times New Roman"/>
              </a:rPr>
              <a:t>D1) </a:t>
            </a:r>
            <a:r>
              <a:rPr lang="uk-UA" sz="2000" b="0" u="none" strike="noStrike">
                <a:solidFill>
                  <a:schemeClr val="dk1"/>
                </a:solidFill>
                <a:effectLst/>
                <a:uFillTx/>
                <a:latin typeface="Times New Roman"/>
              </a:rPr>
              <a:t>і менш еластичним у разі зниження (відрізок </a:t>
            </a:r>
            <a:r>
              <a:rPr lang="pl-PL" sz="2000" b="0" u="none" strike="noStrike">
                <a:solidFill>
                  <a:schemeClr val="dk1"/>
                </a:solidFill>
                <a:effectLst/>
                <a:uFillTx/>
                <a:latin typeface="Times New Roman"/>
              </a:rPr>
              <a:t>D2) </a:t>
            </a:r>
            <a:r>
              <a:rPr lang="uk-UA" sz="2000" b="0" u="none" strike="noStrike">
                <a:solidFill>
                  <a:schemeClr val="dk1"/>
                </a:solidFill>
                <a:effectLst/>
                <a:uFillTx/>
                <a:latin typeface="Times New Roman"/>
              </a:rPr>
              <a:t>. </a:t>
            </a:r>
            <a:endParaRPr lang="pl-PL" sz="20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buNone/>
            </a:pPr>
            <a:endParaRPr lang="pl-PL" sz="4400" b="0" u="none" strike="noStrike">
              <a:solidFill>
                <a:schemeClr val="dk1"/>
              </a:solidFill>
              <a:effectLst/>
              <a:uFillTx/>
              <a:latin typeface="Calibri Light"/>
            </a:endParaRPr>
          </a:p>
        </p:txBody>
      </p:sp>
      <p:pic>
        <p:nvPicPr>
          <p:cNvPr id="104" name="Рисунок 4"/>
          <p:cNvPicPr/>
          <p:nvPr/>
        </p:nvPicPr>
        <p:blipFill>
          <a:blip r:embed="rId1"/>
          <a:stretch/>
        </p:blipFill>
        <p:spPr>
          <a:xfrm>
            <a:off x="967680" y="750240"/>
            <a:ext cx="10018440" cy="5232960"/>
          </a:xfrm>
          <a:prstGeom prst="rect">
            <a:avLst/>
          </a:prstGeom>
          <a:noFill/>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 name="Місце для вмісту 4"/>
          <p:cNvPicPr/>
          <p:nvPr/>
        </p:nvPicPr>
        <p:blipFill>
          <a:blip r:embed="rId1"/>
          <a:stretch/>
        </p:blipFill>
        <p:spPr>
          <a:xfrm>
            <a:off x="208440" y="552960"/>
            <a:ext cx="11471040" cy="2211120"/>
          </a:xfrm>
          <a:prstGeom prst="rect">
            <a:avLst/>
          </a:prstGeom>
          <a:noFill/>
          <a:ln w="0">
            <a:noFill/>
          </a:ln>
        </p:spPr>
      </p:pic>
      <p:pic>
        <p:nvPicPr>
          <p:cNvPr id="106" name="Рисунок 8"/>
          <p:cNvPicPr/>
          <p:nvPr/>
        </p:nvPicPr>
        <p:blipFill>
          <a:blip r:embed="rId2"/>
          <a:stretch/>
        </p:blipFill>
        <p:spPr>
          <a:xfrm>
            <a:off x="379440" y="2932560"/>
            <a:ext cx="11381400" cy="2387160"/>
          </a:xfrm>
          <a:prstGeom prst="rect">
            <a:avLst/>
          </a:prstGeom>
          <a:noFill/>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p:nvPr>
        </p:nvSpPr>
        <p:spPr>
          <a:xfrm>
            <a:off x="870120" y="293040"/>
            <a:ext cx="10483560" cy="5883480"/>
          </a:xfrm>
          <a:prstGeom prst="rect">
            <a:avLst/>
          </a:prstGeom>
          <a:noFill/>
          <a:ln w="0">
            <a:noFill/>
          </a:ln>
        </p:spPr>
        <p:txBody>
          <a:bodyPr lIns="91440" rIns="91440" tIns="45720" bIns="45720" anchor="t">
            <a:normAutofit fontScale="70000" lnSpcReduction="19999"/>
          </a:bodyPr>
          <a:p>
            <a:pPr indent="0" algn="just" defTabSz="914400">
              <a:lnSpc>
                <a:spcPct val="160000"/>
              </a:lnSpc>
              <a:spcBef>
                <a:spcPts val="1001"/>
              </a:spcBef>
              <a:buNone/>
              <a:tabLst>
                <a:tab algn="l" pos="0"/>
              </a:tabLst>
            </a:pPr>
            <a:r>
              <a:rPr lang="uk-UA" sz="2800" b="0" u="none" strike="noStrike">
                <a:solidFill>
                  <a:schemeClr val="dk1"/>
                </a:solidFill>
                <a:effectLst/>
                <a:uFillTx/>
                <a:latin typeface="Times New Roman"/>
              </a:rPr>
              <a:t>Моделі ринку в менеджменті програмної інженерії є незамінним інструментом для стратегічного управління розробкою програмного забезпечення. Вони дозволяють не тільки правильно прогнозувати попит і оцінювати конкурентне середовище, але й забезпечують можливість оперативно реагувати на зміни в умовах ринку та адаптувати стратегії розвитку. Інтеграція таких моделей у процеси управління дозволяє значно підвищити ефективність управлінських рішень, мінімізувати ризики та оптимізувати витрати, що в результаті підвищує конкурентоспроможність компанії. Впровадження та вдосконалення таких підходів має стати важливою частиною стратегії успіху на ринку програмного забезпечення в майбутньому, що дозволяє компаніям зберігати гнучкість і орієнтованість на користувачів.</a:t>
            </a:r>
            <a:endParaRPr lang="pl-PL" sz="2800" b="0" u="none" strike="noStrike">
              <a:solidFill>
                <a:schemeClr val="dk1"/>
              </a:solidFill>
              <a:effectLst/>
              <a:uFillTx/>
              <a:latin typeface="Calibri"/>
            </a:endParaRPr>
          </a:p>
          <a:p>
            <a:pPr indent="0" algn="just" defTabSz="914400">
              <a:lnSpc>
                <a:spcPct val="160000"/>
              </a:lnSpc>
              <a:spcBef>
                <a:spcPts val="1001"/>
              </a:spcBef>
              <a:buNone/>
              <a:tabLst>
                <a:tab algn="l" pos="0"/>
              </a:tabLst>
            </a:pPr>
            <a:r>
              <a:rPr lang="uk-UA" sz="2800" b="0" u="none" strike="noStrike">
                <a:solidFill>
                  <a:schemeClr val="dk1"/>
                </a:solidFill>
                <a:effectLst/>
                <a:uFillTx/>
                <a:latin typeface="Times New Roman"/>
              </a:rPr>
              <a:t>Застосування моделей ринку в менеджменті програмної інженерії дозволяє створити більш адаптивне і конкурентоспроможне середовище для розробки програмного забезпечення, враховуючи змінні умови ринку, вимоги користувачів і конкурентні стратегії.</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Тема Office">
  <a:themeElements>
    <a:clrScheme name="Офіс">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403</TotalTime>
  <Application>LibreOffice/25.8.4.2$Linux_X86_64 LibreOffice_project/580$Build-2</Application>
  <AppVersion>15.0000</AppVersion>
  <Words>1283</Words>
  <Paragraphs>26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2025-03-01T19:28:56Z</dcterms:created>
  <dc:creator>Olena Korchynska</dc:creator>
  <dc:description/>
  <dc:language>en-US</dc:language>
  <cp:lastModifiedBy>Admin</cp:lastModifiedBy>
  <dcterms:modified xsi:type="dcterms:W3CDTF">2025-06-13T10:09:08Z</dcterms:modified>
  <cp:revision>87</cp:revision>
  <dc:subject/>
  <dc:title>БАЛАНСОВА МОДЕЛЬ ЛЕОНТЬЄВА</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Широкий екран</vt:lpwstr>
  </property>
  <property fmtid="{D5CDD505-2E9C-101B-9397-08002B2CF9AE}" pid="3" name="Slides">
    <vt:r8>35</vt:r8>
  </property>
</Properties>
</file>