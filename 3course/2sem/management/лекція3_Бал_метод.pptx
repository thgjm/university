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s/slide2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24.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7.xml" ContentType="application/vnd.openxmlformats-officedocument.presentationml.slide+xml"/>
  <Override PartName="/ppt/slides/slide12.xml" ContentType="application/vnd.openxmlformats-officedocument.presentationml.slide+xml"/>
  <Override PartName="/ppt/slides/slide28.xml" ContentType="application/vnd.openxmlformats-officedocument.presentationml.slide+xml"/>
  <Override PartName="/ppt/slides/slide30.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media/image9.wmf" ContentType="image/x-wmf"/>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Титульний слайд">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lang="uk-UA" sz="6000" b="0" u="none" strike="noStrike">
                <a:solidFill>
                  <a:schemeClr val="dk1"/>
                </a:solidFill>
                <a:effectLst/>
                <a:uFillTx/>
                <a:latin typeface="Calibri Light"/>
              </a:rPr>
              <a:t>Клацніть, щоб редагувати стиль зразка заголовка</a:t>
            </a:r>
            <a:endParaRPr lang="pl-PL" sz="6000" b="0" u="none" strike="noStrike">
              <a:solidFill>
                <a:schemeClr val="dk1"/>
              </a:solidFill>
              <a:effectLst/>
              <a:uFillTx/>
              <a:latin typeface="Calibri"/>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FBF17900-8A4C-4B8B-A430-9756218C3C6C}"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lang="pl-PL" sz="2800" b="0" u="none" strike="noStrike">
                <a:solidFill>
                  <a:schemeClr val="dk1"/>
                </a:solidFill>
                <a:effectLst/>
                <a:uFillTx/>
                <a:latin typeface="Calibri"/>
              </a:rPr>
              <a:t>Click to edit the outline text format</a:t>
            </a:r>
            <a:endParaRPr lang="pl-PL" sz="2800" b="0" u="none" strike="noStrike">
              <a:solidFill>
                <a:schemeClr val="dk1"/>
              </a:solidFill>
              <a:effectLst/>
              <a:uFillTx/>
              <a:latin typeface="Calibri"/>
            </a:endParaRPr>
          </a:p>
          <a:p>
            <a:pPr marL="864000" lvl="1" indent="-324000">
              <a:lnSpc>
                <a:spcPct val="90000"/>
              </a:lnSpc>
              <a:spcBef>
                <a:spcPts val="1134"/>
              </a:spcBef>
              <a:buClr>
                <a:srgbClr val="000000"/>
              </a:buClr>
              <a:buSzPct val="75000"/>
              <a:buFont typeface="Symbol" charset="2"/>
              <a:buChar char=""/>
            </a:pPr>
            <a:r>
              <a:rPr lang="pl-PL" sz="2000" b="0" u="none" strike="noStrike">
                <a:solidFill>
                  <a:schemeClr val="dk1"/>
                </a:solidFill>
                <a:effectLst/>
                <a:uFillTx/>
                <a:latin typeface="Calibri"/>
              </a:rPr>
              <a:t>Second Outline Level</a:t>
            </a:r>
            <a:endParaRPr lang="pl-PL" sz="2000" b="0" u="none" strike="noStrike">
              <a:solidFill>
                <a:schemeClr val="dk1"/>
              </a:solidFill>
              <a:effectLst/>
              <a:uFillTx/>
              <a:latin typeface="Calibri"/>
            </a:endParaRPr>
          </a:p>
          <a:p>
            <a:pPr marL="1296000" lvl="2" indent="-288000">
              <a:lnSpc>
                <a:spcPct val="90000"/>
              </a:lnSpc>
              <a:spcBef>
                <a:spcPts val="850"/>
              </a:spcBef>
              <a:buClr>
                <a:srgbClr val="000000"/>
              </a:buClr>
              <a:buSzPct val="45000"/>
              <a:buFont typeface="Wingdings" charset="2"/>
              <a:buChar char=""/>
            </a:pPr>
            <a:r>
              <a:rPr lang="pl-PL" sz="1800" b="0" u="none" strike="noStrike">
                <a:solidFill>
                  <a:schemeClr val="dk1"/>
                </a:solidFill>
                <a:effectLst/>
                <a:uFillTx/>
                <a:latin typeface="Calibri"/>
              </a:rPr>
              <a:t>Third Outline Level</a:t>
            </a:r>
            <a:endParaRPr lang="pl-PL" sz="1800" b="0" u="none" strike="noStrike">
              <a:solidFill>
                <a:schemeClr val="dk1"/>
              </a:solidFill>
              <a:effectLst/>
              <a:uFillTx/>
              <a:latin typeface="Calibri"/>
            </a:endParaRPr>
          </a:p>
          <a:p>
            <a:pPr marL="1728000" lvl="3" indent="-216000">
              <a:lnSpc>
                <a:spcPct val="90000"/>
              </a:lnSpc>
              <a:spcBef>
                <a:spcPts val="567"/>
              </a:spcBef>
              <a:buClr>
                <a:srgbClr val="000000"/>
              </a:buClr>
              <a:buSzPct val="75000"/>
              <a:buFont typeface="Symbol" charset="2"/>
              <a:buChar char=""/>
            </a:pPr>
            <a:r>
              <a:rPr lang="pl-PL" sz="1800" b="0" u="none" strike="noStrike">
                <a:solidFill>
                  <a:schemeClr val="dk1"/>
                </a:solidFill>
                <a:effectLst/>
                <a:uFillTx/>
                <a:latin typeface="Calibri"/>
              </a:rPr>
              <a:t>Fourth Outline Level</a:t>
            </a:r>
            <a:endParaRPr lang="pl-PL" sz="1800" b="0" u="none" strike="noStrike">
              <a:solidFill>
                <a:schemeClr val="dk1"/>
              </a:solidFill>
              <a:effectLst/>
              <a:uFillTx/>
              <a:latin typeface="Calibri"/>
            </a:endParaRPr>
          </a:p>
          <a:p>
            <a:pPr marL="2160000" lvl="4" indent="-216000">
              <a:lnSpc>
                <a:spcPct val="90000"/>
              </a:lnSpc>
              <a:spcBef>
                <a:spcPts val="283"/>
              </a:spcBef>
              <a:buClr>
                <a:srgbClr val="000000"/>
              </a:buClr>
              <a:buSzPct val="45000"/>
              <a:buFont typeface="Wingdings" charset="2"/>
              <a:buChar char=""/>
            </a:pPr>
            <a:r>
              <a:rPr lang="pl-PL" sz="2000" b="0" u="none" strike="noStrike">
                <a:solidFill>
                  <a:schemeClr val="dk1"/>
                </a:solidFill>
                <a:effectLst/>
                <a:uFillTx/>
                <a:latin typeface="Calibri"/>
              </a:rPr>
              <a:t>Fifth Outline Level</a:t>
            </a:r>
            <a:endParaRPr lang="pl-PL" sz="2000" b="0" u="none" strike="noStrike">
              <a:solidFill>
                <a:schemeClr val="dk1"/>
              </a:solidFill>
              <a:effectLst/>
              <a:uFillTx/>
              <a:latin typeface="Calibri"/>
            </a:endParaRPr>
          </a:p>
          <a:p>
            <a:pPr marL="2592000" lvl="5" indent="-216000">
              <a:lnSpc>
                <a:spcPct val="90000"/>
              </a:lnSpc>
              <a:spcBef>
                <a:spcPts val="283"/>
              </a:spcBef>
              <a:buClr>
                <a:srgbClr val="000000"/>
              </a:buClr>
              <a:buSzPct val="45000"/>
              <a:buFont typeface="Wingdings" charset="2"/>
              <a:buChar char=""/>
            </a:pPr>
            <a:r>
              <a:rPr lang="pl-PL" sz="2000" b="0" u="none" strike="noStrike">
                <a:solidFill>
                  <a:schemeClr val="dk1"/>
                </a:solidFill>
                <a:effectLst/>
                <a:uFillTx/>
                <a:latin typeface="Calibri"/>
              </a:rPr>
              <a:t>Sixth Outline Level</a:t>
            </a:r>
            <a:endParaRPr lang="pl-PL" sz="2000" b="0" u="none" strike="noStrike">
              <a:solidFill>
                <a:schemeClr val="dk1"/>
              </a:solidFill>
              <a:effectLst/>
              <a:uFillTx/>
              <a:latin typeface="Calibri"/>
            </a:endParaRPr>
          </a:p>
          <a:p>
            <a:pPr marL="3024000" lvl="6" indent="-216000">
              <a:lnSpc>
                <a:spcPct val="90000"/>
              </a:lnSpc>
              <a:spcBef>
                <a:spcPts val="283"/>
              </a:spcBef>
              <a:buClr>
                <a:srgbClr val="000000"/>
              </a:buClr>
              <a:buSzPct val="45000"/>
              <a:buFont typeface="Wingdings" charset="2"/>
              <a:buChar char=""/>
            </a:pPr>
            <a:r>
              <a:rPr lang="pl-PL" sz="2000" b="0" u="none" strike="noStrike">
                <a:solidFill>
                  <a:schemeClr val="dk1"/>
                </a:solidFill>
                <a:effectLst/>
                <a:uFillTx/>
                <a:latin typeface="Calibri"/>
              </a:rPr>
              <a:t>Seventh Outline Level</a:t>
            </a:r>
            <a:endParaRPr lang="pl-PL" sz="2000" b="0" u="none" strike="noStrik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Заголовок і вертикальний текст">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uk-UA" sz="4400" b="0" u="none" strike="noStrike">
                <a:solidFill>
                  <a:schemeClr val="dk1"/>
                </a:solidFill>
                <a:effectLst/>
                <a:uFillTx/>
                <a:latin typeface="Calibri Light"/>
              </a:rPr>
              <a:t>Клацніть, щоб редагувати стиль зразка заголовка</a:t>
            </a:r>
            <a:endParaRPr lang="pl-PL" sz="4400" b="0" u="none" strike="noStrike">
              <a:solidFill>
                <a:schemeClr val="dk1"/>
              </a:solidFill>
              <a:effectLst/>
              <a:uFillTx/>
              <a:latin typeface="Calibri"/>
            </a:endParaRPr>
          </a:p>
        </p:txBody>
      </p:sp>
      <p:sp>
        <p:nvSpPr>
          <p:cNvPr id="8"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E48AD1DF-EEF4-4760-A705-39322450A71C}"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Вертикальний заголовок і текст">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724960" y="365040"/>
            <a:ext cx="2628720" cy="5811480"/>
          </a:xfrm>
          <a:prstGeom prst="rect">
            <a:avLst/>
          </a:prstGeom>
          <a:noFill/>
          <a:ln w="0">
            <a:noFill/>
          </a:ln>
        </p:spPr>
        <p:txBody>
          <a:bodyPr lIns="91440" rIns="91440" tIns="45720" bIns="45720" anchor="ctr" vert="eaVert">
            <a:noAutofit/>
          </a:bodyPr>
          <a:p>
            <a:pPr indent="0" defTabSz="914400">
              <a:lnSpc>
                <a:spcPct val="90000"/>
              </a:lnSpc>
              <a:buNone/>
            </a:pPr>
            <a:r>
              <a:rPr lang="uk-UA" sz="4400" b="0" u="none" strike="noStrike">
                <a:solidFill>
                  <a:schemeClr val="dk1"/>
                </a:solidFill>
                <a:effectLst/>
                <a:uFillTx/>
                <a:latin typeface="Calibri Light"/>
              </a:rPr>
              <a:t>Клацніть, щоб редагувати стиль зразка заголовка</a:t>
            </a:r>
            <a:endParaRPr lang="pl-PL" sz="4400" b="0" u="none" strike="noStrike">
              <a:solidFill>
                <a:schemeClr val="dk1"/>
              </a:solidFill>
              <a:effectLst/>
              <a:uFillTx/>
              <a:latin typeface="Calibri"/>
            </a:endParaRPr>
          </a:p>
        </p:txBody>
      </p:sp>
      <p:sp>
        <p:nvSpPr>
          <p:cNvPr id="13" name="PlaceHolder 2"/>
          <p:cNvSpPr>
            <a:spLocks noGrp="1"/>
          </p:cNvSpPr>
          <p:nvPr>
            <p:ph type="body"/>
          </p:nvPr>
        </p:nvSpPr>
        <p:spPr>
          <a:xfrm>
            <a:off x="838080" y="365040"/>
            <a:ext cx="7733880" cy="581148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ADF1FBB5-B63B-47C0-8A42-86B83C372100}"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Назва та вміст">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uk-UA" sz="4400" b="0" u="none" strike="noStrike">
                <a:solidFill>
                  <a:schemeClr val="dk1"/>
                </a:solidFill>
                <a:effectLst/>
                <a:uFillTx/>
                <a:latin typeface="Calibri Light"/>
              </a:rPr>
              <a:t>Клацніть, щоб редагувати стиль зразка заголовка</a:t>
            </a:r>
            <a:endParaRPr lang="pl-PL" sz="4400" b="0" u="none" strike="noStrike">
              <a:solidFill>
                <a:schemeClr val="dk1"/>
              </a:solidFill>
              <a:effectLst/>
              <a:uFillTx/>
              <a:latin typeface="Calibri"/>
            </a:endParaRPr>
          </a:p>
        </p:txBody>
      </p:sp>
      <p:sp>
        <p:nvSpPr>
          <p:cNvPr id="18"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19" name="PlaceHolder 3"/>
          <p:cNvSpPr>
            <a:spLocks noGrp="1"/>
          </p:cNvSpPr>
          <p:nvPr>
            <p:ph type="dt" idx="10"/>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0" name="PlaceHolder 4"/>
          <p:cNvSpPr>
            <a:spLocks noGrp="1"/>
          </p:cNvSpPr>
          <p:nvPr>
            <p:ph type="ftr" idx="11"/>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1" name="PlaceHolder 5"/>
          <p:cNvSpPr>
            <a:spLocks noGrp="1"/>
          </p:cNvSpPr>
          <p:nvPr>
            <p:ph type="sldNum" idx="12"/>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18968FF1-B5E1-4A73-B181-C075BBBA5337}"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Назва розділу">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831960" y="1709640"/>
            <a:ext cx="10515240" cy="2852280"/>
          </a:xfrm>
          <a:prstGeom prst="rect">
            <a:avLst/>
          </a:prstGeom>
          <a:noFill/>
          <a:ln w="0">
            <a:noFill/>
          </a:ln>
        </p:spPr>
        <p:txBody>
          <a:bodyPr lIns="91440" rIns="91440" tIns="45720" bIns="45720" anchor="b">
            <a:noAutofit/>
          </a:bodyPr>
          <a:p>
            <a:pPr indent="0" defTabSz="914400">
              <a:lnSpc>
                <a:spcPct val="90000"/>
              </a:lnSpc>
              <a:buNone/>
            </a:pPr>
            <a:r>
              <a:rPr lang="uk-UA" sz="6000" b="0" u="none" strike="noStrike">
                <a:solidFill>
                  <a:schemeClr val="dk1"/>
                </a:solidFill>
                <a:effectLst/>
                <a:uFillTx/>
                <a:latin typeface="Calibri Light"/>
              </a:rPr>
              <a:t>Клацніть, щоб редагувати стиль зразка заголовка</a:t>
            </a:r>
            <a:endParaRPr lang="pl-PL" sz="6000" b="0" u="none" strike="noStrike">
              <a:solidFill>
                <a:schemeClr val="dk1"/>
              </a:solidFill>
              <a:effectLst/>
              <a:uFillTx/>
              <a:latin typeface="Calibri"/>
            </a:endParaRPr>
          </a:p>
        </p:txBody>
      </p:sp>
      <p:sp>
        <p:nvSpPr>
          <p:cNvPr id="23" name="PlaceHolder 2"/>
          <p:cNvSpPr>
            <a:spLocks noGrp="1"/>
          </p:cNvSpPr>
          <p:nvPr>
            <p:ph type="body"/>
          </p:nvPr>
        </p:nvSpPr>
        <p:spPr>
          <a:xfrm>
            <a:off x="831960" y="4589640"/>
            <a:ext cx="10515240" cy="14997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uk-UA" sz="2400" b="0" u="none" strike="noStrike">
                <a:solidFill>
                  <a:schemeClr val="dk1">
                    <a:tint val="75000"/>
                  </a:schemeClr>
                </a:solidFill>
                <a:effectLst/>
                <a:uFillTx/>
                <a:latin typeface="Calibri"/>
              </a:rPr>
              <a:t>Клацніть, щоб відредагувати стилі зразків тексту</a:t>
            </a:r>
            <a:endParaRPr lang="pl-PL" sz="2400" b="0" u="none" strike="noStrike">
              <a:solidFill>
                <a:schemeClr val="dk1"/>
              </a:solidFill>
              <a:effectLst/>
              <a:uFillTx/>
              <a:latin typeface="Calibri"/>
            </a:endParaRPr>
          </a:p>
        </p:txBody>
      </p:sp>
      <p:sp>
        <p:nvSpPr>
          <p:cNvPr id="24" name="PlaceHolder 3"/>
          <p:cNvSpPr>
            <a:spLocks noGrp="1"/>
          </p:cNvSpPr>
          <p:nvPr>
            <p:ph type="dt" idx="13"/>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5" name="PlaceHolder 4"/>
          <p:cNvSpPr>
            <a:spLocks noGrp="1"/>
          </p:cNvSpPr>
          <p:nvPr>
            <p:ph type="ftr" idx="14"/>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6" name="PlaceHolder 5"/>
          <p:cNvSpPr>
            <a:spLocks noGrp="1"/>
          </p:cNvSpPr>
          <p:nvPr>
            <p:ph type="sldNum" idx="15"/>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EF78032F-AA01-4A6C-BC5F-8D1D9C314B6E}"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Два об’єкти">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uk-UA" sz="4400" b="0" u="none" strike="noStrike">
                <a:solidFill>
                  <a:schemeClr val="dk1"/>
                </a:solidFill>
                <a:effectLst/>
                <a:uFillTx/>
                <a:latin typeface="Calibri Light"/>
              </a:rPr>
              <a:t>Клацніть, щоб редагувати стиль зразка заголовка</a:t>
            </a:r>
            <a:endParaRPr lang="pl-PL" sz="4400" b="0" u="none" strike="noStrike">
              <a:solidFill>
                <a:schemeClr val="dk1"/>
              </a:solidFill>
              <a:effectLst/>
              <a:uFillTx/>
              <a:latin typeface="Calibri"/>
            </a:endParaRPr>
          </a:p>
        </p:txBody>
      </p:sp>
      <p:sp>
        <p:nvSpPr>
          <p:cNvPr id="28" name="PlaceHolder 2"/>
          <p:cNvSpPr>
            <a:spLocks noGrp="1"/>
          </p:cNvSpPr>
          <p:nvPr>
            <p:ph type="body"/>
          </p:nvPr>
        </p:nvSpPr>
        <p:spPr>
          <a:xfrm>
            <a:off x="83808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29" name="PlaceHolder 3"/>
          <p:cNvSpPr>
            <a:spLocks noGrp="1"/>
          </p:cNvSpPr>
          <p:nvPr>
            <p:ph type="body"/>
          </p:nvPr>
        </p:nvSpPr>
        <p:spPr>
          <a:xfrm>
            <a:off x="617220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30" name="PlaceHolder 4"/>
          <p:cNvSpPr>
            <a:spLocks noGrp="1"/>
          </p:cNvSpPr>
          <p:nvPr>
            <p:ph type="dt" idx="16"/>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1" name="PlaceHolder 5"/>
          <p:cNvSpPr>
            <a:spLocks noGrp="1"/>
          </p:cNvSpPr>
          <p:nvPr>
            <p:ph type="ftr" idx="17"/>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2" name="PlaceHolder 6"/>
          <p:cNvSpPr>
            <a:spLocks noGrp="1"/>
          </p:cNvSpPr>
          <p:nvPr>
            <p:ph type="sldNum" idx="18"/>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158FD498-BB54-4E82-82F2-38CF028D1BE3}"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Порівняння">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8398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uk-UA" sz="4400" b="0" u="none" strike="noStrike">
                <a:solidFill>
                  <a:schemeClr val="dk1"/>
                </a:solidFill>
                <a:effectLst/>
                <a:uFillTx/>
                <a:latin typeface="Calibri Light"/>
              </a:rPr>
              <a:t>Клацніть, щоб редагувати стиль зразка заголовка</a:t>
            </a:r>
            <a:endParaRPr lang="pl-PL" sz="4400" b="0" u="none" strike="noStrike">
              <a:solidFill>
                <a:schemeClr val="dk1"/>
              </a:solidFill>
              <a:effectLst/>
              <a:uFillTx/>
              <a:latin typeface="Calibri"/>
            </a:endParaRPr>
          </a:p>
        </p:txBody>
      </p:sp>
      <p:sp>
        <p:nvSpPr>
          <p:cNvPr id="34" name="PlaceHolder 2"/>
          <p:cNvSpPr>
            <a:spLocks noGrp="1"/>
          </p:cNvSpPr>
          <p:nvPr>
            <p:ph type="body"/>
          </p:nvPr>
        </p:nvSpPr>
        <p:spPr>
          <a:xfrm>
            <a:off x="839880" y="1681200"/>
            <a:ext cx="515736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lang="uk-UA" sz="2400" b="1" u="none" strike="noStrike">
                <a:solidFill>
                  <a:schemeClr val="dk1"/>
                </a:solidFill>
                <a:effectLst/>
                <a:uFillTx/>
                <a:latin typeface="Calibri"/>
              </a:rPr>
              <a:t>Клацніть, щоб відредагувати стилі зразків тексту</a:t>
            </a:r>
            <a:endParaRPr lang="pl-PL" sz="2400" b="0" u="none" strike="noStrike">
              <a:solidFill>
                <a:schemeClr val="dk1"/>
              </a:solidFill>
              <a:effectLst/>
              <a:uFillTx/>
              <a:latin typeface="Calibri"/>
            </a:endParaRPr>
          </a:p>
        </p:txBody>
      </p:sp>
      <p:sp>
        <p:nvSpPr>
          <p:cNvPr id="35" name="PlaceHolder 3"/>
          <p:cNvSpPr>
            <a:spLocks noGrp="1"/>
          </p:cNvSpPr>
          <p:nvPr>
            <p:ph type="body"/>
          </p:nvPr>
        </p:nvSpPr>
        <p:spPr>
          <a:xfrm>
            <a:off x="839880" y="2505240"/>
            <a:ext cx="515736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36" name="PlaceHolder 4"/>
          <p:cNvSpPr>
            <a:spLocks noGrp="1"/>
          </p:cNvSpPr>
          <p:nvPr>
            <p:ph type="body"/>
          </p:nvPr>
        </p:nvSpPr>
        <p:spPr>
          <a:xfrm>
            <a:off x="6172200" y="1681200"/>
            <a:ext cx="518292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lang="uk-UA" sz="2400" b="1" u="none" strike="noStrike">
                <a:solidFill>
                  <a:schemeClr val="dk1"/>
                </a:solidFill>
                <a:effectLst/>
                <a:uFillTx/>
                <a:latin typeface="Calibri"/>
              </a:rPr>
              <a:t>Клацніть, щоб відредагувати стилі зразків тексту</a:t>
            </a:r>
            <a:endParaRPr lang="pl-PL" sz="2400" b="0" u="none" strike="noStrike">
              <a:solidFill>
                <a:schemeClr val="dk1"/>
              </a:solidFill>
              <a:effectLst/>
              <a:uFillTx/>
              <a:latin typeface="Calibri"/>
            </a:endParaRPr>
          </a:p>
        </p:txBody>
      </p:sp>
      <p:sp>
        <p:nvSpPr>
          <p:cNvPr id="37" name="PlaceHolder 5"/>
          <p:cNvSpPr>
            <a:spLocks noGrp="1"/>
          </p:cNvSpPr>
          <p:nvPr>
            <p:ph type="body"/>
          </p:nvPr>
        </p:nvSpPr>
        <p:spPr>
          <a:xfrm>
            <a:off x="6172200" y="2505240"/>
            <a:ext cx="518292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38" name="PlaceHolder 6"/>
          <p:cNvSpPr>
            <a:spLocks noGrp="1"/>
          </p:cNvSpPr>
          <p:nvPr>
            <p:ph type="dt" idx="19"/>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9" name="PlaceHolder 7"/>
          <p:cNvSpPr>
            <a:spLocks noGrp="1"/>
          </p:cNvSpPr>
          <p:nvPr>
            <p:ph type="ftr" idx="20"/>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0" name="PlaceHolder 8"/>
          <p:cNvSpPr>
            <a:spLocks noGrp="1"/>
          </p:cNvSpPr>
          <p:nvPr>
            <p:ph type="sldNum" idx="21"/>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62C8F34F-0CF9-4356-881A-B1F54FA73BCF}"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Лише заголовок">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uk-UA" sz="4400" b="0" u="none" strike="noStrike">
                <a:solidFill>
                  <a:schemeClr val="dk1"/>
                </a:solidFill>
                <a:effectLst/>
                <a:uFillTx/>
                <a:latin typeface="Calibri Light"/>
              </a:rPr>
              <a:t>Клацніть, щоб редагувати стиль зразка заголовка</a:t>
            </a:r>
            <a:endParaRPr lang="pl-PL" sz="4400" b="0" u="none" strike="noStrike">
              <a:solidFill>
                <a:schemeClr val="dk1"/>
              </a:solidFill>
              <a:effectLst/>
              <a:uFillTx/>
              <a:latin typeface="Calibri"/>
            </a:endParaRPr>
          </a:p>
        </p:txBody>
      </p:sp>
      <p:sp>
        <p:nvSpPr>
          <p:cNvPr id="42" name="PlaceHolder 2"/>
          <p:cNvSpPr>
            <a:spLocks noGrp="1"/>
          </p:cNvSpPr>
          <p:nvPr>
            <p:ph type="dt" idx="22"/>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3" name="PlaceHolder 3"/>
          <p:cNvSpPr>
            <a:spLocks noGrp="1"/>
          </p:cNvSpPr>
          <p:nvPr>
            <p:ph type="ftr" idx="23"/>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4" name="PlaceHolder 4"/>
          <p:cNvSpPr>
            <a:spLocks noGrp="1"/>
          </p:cNvSpPr>
          <p:nvPr>
            <p:ph type="sldNum" idx="24"/>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A1394E18-CD1B-40A5-BAEA-03C59E782DE5}"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Пустий слайд">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dt" idx="25"/>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6" name="PlaceHolder 2"/>
          <p:cNvSpPr>
            <a:spLocks noGrp="1"/>
          </p:cNvSpPr>
          <p:nvPr>
            <p:ph type="ftr" idx="26"/>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7" name="PlaceHolder 3"/>
          <p:cNvSpPr>
            <a:spLocks noGrp="1"/>
          </p:cNvSpPr>
          <p:nvPr>
            <p:ph type="sldNum" idx="27"/>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1AB70E4C-83E3-4DFB-8E89-8C3115D5E022}"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Вміст і підпис">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lang="uk-UA" sz="3200" b="0" u="none" strike="noStrike">
                <a:solidFill>
                  <a:schemeClr val="dk1"/>
                </a:solidFill>
                <a:effectLst/>
                <a:uFillTx/>
                <a:latin typeface="Calibri Light"/>
              </a:rPr>
              <a:t>Клацніть, щоб редагувати стиль зразка заголовка</a:t>
            </a:r>
            <a:endParaRPr lang="pl-PL" sz="3200" b="0" u="none" strike="noStrike">
              <a:solidFill>
                <a:schemeClr val="dk1"/>
              </a:solidFill>
              <a:effectLst/>
              <a:uFillTx/>
              <a:latin typeface="Calibri"/>
            </a:endParaRPr>
          </a:p>
        </p:txBody>
      </p:sp>
      <p:sp>
        <p:nvSpPr>
          <p:cNvPr id="49" name="PlaceHolder 2"/>
          <p:cNvSpPr>
            <a:spLocks noGrp="1"/>
          </p:cNvSpPr>
          <p:nvPr>
            <p:ph type="body"/>
          </p:nvPr>
        </p:nvSpPr>
        <p:spPr>
          <a:xfrm>
            <a:off x="5183280" y="987480"/>
            <a:ext cx="6171840" cy="48733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uk-UA" sz="3200" b="0" u="none" strike="noStrike">
                <a:solidFill>
                  <a:schemeClr val="dk1"/>
                </a:solidFill>
                <a:effectLst/>
                <a:uFillTx/>
                <a:latin typeface="Calibri"/>
              </a:rPr>
              <a:t>Клацніть, щоб відредагувати стилі зразків тексту</a:t>
            </a:r>
            <a:endParaRPr lang="pl-PL" sz="32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800" b="0" u="none" strike="noStrike">
                <a:solidFill>
                  <a:schemeClr val="dk1"/>
                </a:solidFill>
                <a:effectLst/>
                <a:uFillTx/>
                <a:latin typeface="Calibri"/>
              </a:rPr>
              <a:t>Другий рівень</a:t>
            </a:r>
            <a:endParaRPr lang="pl-PL" sz="28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Третій рівень</a:t>
            </a:r>
            <a:endParaRPr lang="pl-PL" sz="24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Четвертий рівень</a:t>
            </a:r>
            <a:endParaRPr lang="pl-PL" sz="20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П’ятий рівень</a:t>
            </a:r>
            <a:endParaRPr lang="pl-PL" sz="2000" b="0" u="none" strike="noStrike">
              <a:solidFill>
                <a:schemeClr val="dk1"/>
              </a:solidFill>
              <a:effectLst/>
              <a:uFillTx/>
              <a:latin typeface="Calibri"/>
            </a:endParaRPr>
          </a:p>
        </p:txBody>
      </p:sp>
      <p:sp>
        <p:nvSpPr>
          <p:cNvPr id="50"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uk-UA" sz="1600" b="0" u="none" strike="noStrike">
                <a:solidFill>
                  <a:schemeClr val="dk1"/>
                </a:solidFill>
                <a:effectLst/>
                <a:uFillTx/>
                <a:latin typeface="Calibri"/>
              </a:rPr>
              <a:t>Клацніть, щоб відредагувати стилі зразків тексту</a:t>
            </a:r>
            <a:endParaRPr lang="pl-PL" sz="1600" b="0" u="none" strike="noStrike">
              <a:solidFill>
                <a:schemeClr val="dk1"/>
              </a:solidFill>
              <a:effectLst/>
              <a:uFillTx/>
              <a:latin typeface="Calibri"/>
            </a:endParaRPr>
          </a:p>
        </p:txBody>
      </p:sp>
      <p:sp>
        <p:nvSpPr>
          <p:cNvPr id="51" name="PlaceHolder 4"/>
          <p:cNvSpPr>
            <a:spLocks noGrp="1"/>
          </p:cNvSpPr>
          <p:nvPr>
            <p:ph type="dt" idx="28"/>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2" name="PlaceHolder 5"/>
          <p:cNvSpPr>
            <a:spLocks noGrp="1"/>
          </p:cNvSpPr>
          <p:nvPr>
            <p:ph type="ftr" idx="29"/>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3" name="PlaceHolder 6"/>
          <p:cNvSpPr>
            <a:spLocks noGrp="1"/>
          </p:cNvSpPr>
          <p:nvPr>
            <p:ph type="sldNum" idx="30"/>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6C4B844E-7352-43B9-8B28-2FBE72F8910C}"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Рисунок і підпис">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lang="uk-UA" sz="3200" b="0" u="none" strike="noStrike">
                <a:solidFill>
                  <a:schemeClr val="dk1"/>
                </a:solidFill>
                <a:effectLst/>
                <a:uFillTx/>
                <a:latin typeface="Calibri Light"/>
              </a:rPr>
              <a:t>Клацніть, щоб редагувати стиль зразка заголовка</a:t>
            </a:r>
            <a:endParaRPr lang="pl-PL" sz="3200" b="0" u="none" strike="noStrike">
              <a:solidFill>
                <a:schemeClr val="dk1"/>
              </a:solidFill>
              <a:effectLst/>
              <a:uFillTx/>
              <a:latin typeface="Calibri"/>
            </a:endParaRPr>
          </a:p>
        </p:txBody>
      </p:sp>
      <p:sp>
        <p:nvSpPr>
          <p:cNvPr id="55" name="PlaceHolder 2"/>
          <p:cNvSpPr>
            <a:spLocks noGrp="1"/>
          </p:cNvSpPr>
          <p:nvPr>
            <p:ph type="body"/>
          </p:nvPr>
        </p:nvSpPr>
        <p:spPr>
          <a:xfrm>
            <a:off x="5183280" y="987480"/>
            <a:ext cx="6171840" cy="4873320"/>
          </a:xfrm>
          <a:prstGeom prst="rect">
            <a:avLst/>
          </a:prstGeom>
          <a:noFill/>
          <a:ln w="0">
            <a:noFill/>
          </a:ln>
        </p:spPr>
        <p:txBody>
          <a:bodyPr lIns="90000" rIns="90000" tIns="45000" bIns="45000" anchor="t">
            <a:noAutofit/>
          </a:bodyPr>
          <a:p>
            <a:pPr marL="432000" indent="-324000">
              <a:lnSpc>
                <a:spcPct val="90000"/>
              </a:lnSpc>
              <a:spcBef>
                <a:spcPts val="1417"/>
              </a:spcBef>
              <a:buClr>
                <a:srgbClr val="000000"/>
              </a:buClr>
              <a:buSzPct val="45000"/>
              <a:buFont typeface="Wingdings" charset="2"/>
              <a:buChar char=""/>
            </a:pPr>
            <a:r>
              <a:rPr lang="pl-PL" sz="3200" b="0" u="none" strike="noStrike">
                <a:solidFill>
                  <a:schemeClr val="dk1"/>
                </a:solidFill>
                <a:effectLst/>
                <a:uFillTx/>
                <a:latin typeface="Calibri"/>
              </a:rPr>
              <a:t>Click to edit the outline text format</a:t>
            </a:r>
            <a:endParaRPr lang="pl-PL" sz="3200" b="0" u="none" strike="noStrike">
              <a:solidFill>
                <a:schemeClr val="dk1"/>
              </a:solidFill>
              <a:effectLst/>
              <a:uFillTx/>
              <a:latin typeface="Calibri"/>
            </a:endParaRPr>
          </a:p>
          <a:p>
            <a:pPr marL="864000" lvl="1" indent="-324000">
              <a:lnSpc>
                <a:spcPct val="90000"/>
              </a:lnSpc>
              <a:spcBef>
                <a:spcPts val="1134"/>
              </a:spcBef>
              <a:buClr>
                <a:srgbClr val="000000"/>
              </a:buClr>
              <a:buSzPct val="75000"/>
              <a:buFont typeface="Symbol" charset="2"/>
              <a:buChar char=""/>
            </a:pPr>
            <a:r>
              <a:rPr lang="pl-PL" sz="3200" b="0" u="none" strike="noStrike">
                <a:solidFill>
                  <a:schemeClr val="dk1"/>
                </a:solidFill>
                <a:effectLst/>
                <a:uFillTx/>
                <a:latin typeface="Calibri"/>
              </a:rPr>
              <a:t>Second Outline Level</a:t>
            </a:r>
            <a:endParaRPr lang="pl-PL" sz="3200" b="0" u="none" strike="noStrike">
              <a:solidFill>
                <a:schemeClr val="dk1"/>
              </a:solidFill>
              <a:effectLst/>
              <a:uFillTx/>
              <a:latin typeface="Calibri"/>
            </a:endParaRPr>
          </a:p>
          <a:p>
            <a:pPr marL="1296000" lvl="2" indent="-288000">
              <a:lnSpc>
                <a:spcPct val="90000"/>
              </a:lnSpc>
              <a:spcBef>
                <a:spcPts val="850"/>
              </a:spcBef>
              <a:buClr>
                <a:srgbClr val="000000"/>
              </a:buClr>
              <a:buSzPct val="45000"/>
              <a:buFont typeface="Wingdings" charset="2"/>
              <a:buChar char=""/>
            </a:pPr>
            <a:r>
              <a:rPr lang="pl-PL" sz="3200" b="0" u="none" strike="noStrike">
                <a:solidFill>
                  <a:schemeClr val="dk1"/>
                </a:solidFill>
                <a:effectLst/>
                <a:uFillTx/>
                <a:latin typeface="Calibri"/>
              </a:rPr>
              <a:t>Third Outline Level</a:t>
            </a:r>
            <a:endParaRPr lang="pl-PL" sz="3200" b="0" u="none" strike="noStrike">
              <a:solidFill>
                <a:schemeClr val="dk1"/>
              </a:solidFill>
              <a:effectLst/>
              <a:uFillTx/>
              <a:latin typeface="Calibri"/>
            </a:endParaRPr>
          </a:p>
          <a:p>
            <a:pPr marL="1728000" lvl="3" indent="-216000">
              <a:lnSpc>
                <a:spcPct val="90000"/>
              </a:lnSpc>
              <a:spcBef>
                <a:spcPts val="567"/>
              </a:spcBef>
              <a:buClr>
                <a:srgbClr val="000000"/>
              </a:buClr>
              <a:buSzPct val="75000"/>
              <a:buFont typeface="Symbol" charset="2"/>
              <a:buChar char=""/>
            </a:pPr>
            <a:r>
              <a:rPr lang="pl-PL" sz="3200" b="0" u="none" strike="noStrike">
                <a:solidFill>
                  <a:schemeClr val="dk1"/>
                </a:solidFill>
                <a:effectLst/>
                <a:uFillTx/>
                <a:latin typeface="Calibri"/>
              </a:rPr>
              <a:t>Fourth Outline Level</a:t>
            </a:r>
            <a:endParaRPr lang="pl-PL" sz="3200" b="0" u="none" strike="noStrike">
              <a:solidFill>
                <a:schemeClr val="dk1"/>
              </a:solidFill>
              <a:effectLst/>
              <a:uFillTx/>
              <a:latin typeface="Calibri"/>
            </a:endParaRPr>
          </a:p>
          <a:p>
            <a:pPr marL="2160000" lvl="4" indent="-216000">
              <a:lnSpc>
                <a:spcPct val="90000"/>
              </a:lnSpc>
              <a:spcBef>
                <a:spcPts val="283"/>
              </a:spcBef>
              <a:buClr>
                <a:srgbClr val="000000"/>
              </a:buClr>
              <a:buSzPct val="45000"/>
              <a:buFont typeface="Wingdings" charset="2"/>
              <a:buChar char=""/>
            </a:pPr>
            <a:r>
              <a:rPr lang="pl-PL" sz="3200" b="0" u="none" strike="noStrike">
                <a:solidFill>
                  <a:schemeClr val="dk1"/>
                </a:solidFill>
                <a:effectLst/>
                <a:uFillTx/>
                <a:latin typeface="Calibri"/>
              </a:rPr>
              <a:t>Fifth Outline Level</a:t>
            </a:r>
            <a:endParaRPr lang="pl-PL" sz="3200" b="0" u="none" strike="noStrike">
              <a:solidFill>
                <a:schemeClr val="dk1"/>
              </a:solidFill>
              <a:effectLst/>
              <a:uFillTx/>
              <a:latin typeface="Calibri"/>
            </a:endParaRPr>
          </a:p>
          <a:p>
            <a:pPr marL="2592000" lvl="5" indent="-216000">
              <a:lnSpc>
                <a:spcPct val="90000"/>
              </a:lnSpc>
              <a:spcBef>
                <a:spcPts val="283"/>
              </a:spcBef>
              <a:buClr>
                <a:srgbClr val="000000"/>
              </a:buClr>
              <a:buSzPct val="45000"/>
              <a:buFont typeface="Wingdings" charset="2"/>
              <a:buChar char=""/>
            </a:pPr>
            <a:r>
              <a:rPr lang="pl-PL" sz="3200" b="0" u="none" strike="noStrike">
                <a:solidFill>
                  <a:schemeClr val="dk1"/>
                </a:solidFill>
                <a:effectLst/>
                <a:uFillTx/>
                <a:latin typeface="Calibri"/>
              </a:rPr>
              <a:t>Sixth Outline Level</a:t>
            </a:r>
            <a:endParaRPr lang="pl-PL" sz="3200" b="0" u="none" strike="noStrike">
              <a:solidFill>
                <a:schemeClr val="dk1"/>
              </a:solidFill>
              <a:effectLst/>
              <a:uFillTx/>
              <a:latin typeface="Calibri"/>
            </a:endParaRPr>
          </a:p>
          <a:p>
            <a:pPr marL="3024000" lvl="6" indent="-216000">
              <a:lnSpc>
                <a:spcPct val="90000"/>
              </a:lnSpc>
              <a:spcBef>
                <a:spcPts val="283"/>
              </a:spcBef>
              <a:buClr>
                <a:srgbClr val="000000"/>
              </a:buClr>
              <a:buSzPct val="45000"/>
              <a:buFont typeface="Wingdings" charset="2"/>
              <a:buChar char=""/>
            </a:pPr>
            <a:r>
              <a:rPr lang="pl-PL" sz="3200" b="0" u="none" strike="noStrike">
                <a:solidFill>
                  <a:schemeClr val="dk1"/>
                </a:solidFill>
                <a:effectLst/>
                <a:uFillTx/>
                <a:latin typeface="Calibri"/>
              </a:rPr>
              <a:t>Seventh Outline Level</a:t>
            </a:r>
            <a:endParaRPr lang="pl-PL" sz="3200" b="0" u="none" strike="noStrike">
              <a:solidFill>
                <a:schemeClr val="dk1"/>
              </a:solidFill>
              <a:effectLst/>
              <a:uFillTx/>
              <a:latin typeface="Calibri"/>
            </a:endParaRPr>
          </a:p>
        </p:txBody>
      </p:sp>
      <p:sp>
        <p:nvSpPr>
          <p:cNvPr id="56"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uk-UA" sz="1600" b="0" u="none" strike="noStrike">
                <a:solidFill>
                  <a:schemeClr val="dk1"/>
                </a:solidFill>
                <a:effectLst/>
                <a:uFillTx/>
                <a:latin typeface="Calibri"/>
              </a:rPr>
              <a:t>Клацніть, щоб відредагувати стилі зразків тексту</a:t>
            </a:r>
            <a:endParaRPr lang="pl-PL" sz="1600" b="0" u="none" strike="noStrike">
              <a:solidFill>
                <a:schemeClr val="dk1"/>
              </a:solidFill>
              <a:effectLst/>
              <a:uFillTx/>
              <a:latin typeface="Calibri"/>
            </a:endParaRPr>
          </a:p>
        </p:txBody>
      </p:sp>
      <p:sp>
        <p:nvSpPr>
          <p:cNvPr id="57" name="PlaceHolder 4"/>
          <p:cNvSpPr>
            <a:spLocks noGrp="1"/>
          </p:cNvSpPr>
          <p:nvPr>
            <p:ph type="dt" idx="3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8" name="PlaceHolder 5"/>
          <p:cNvSpPr>
            <a:spLocks noGrp="1"/>
          </p:cNvSpPr>
          <p:nvPr>
            <p:ph type="ftr" idx="3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9" name="PlaceHolder 6"/>
          <p:cNvSpPr>
            <a:spLocks noGrp="1"/>
          </p:cNvSpPr>
          <p:nvPr>
            <p:ph type="sldNum" idx="3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DFFBC295-FBE0-41E0-BEE6-C8F0B3FA1021}"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4.xml"/>
</Relationships>
</file>

<file path=ppt/slides/_rels/slide2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xml"/>
</Relationships>
</file>

<file path=ppt/slides/_rels/slide2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4.xml"/>
</Relationships>
</file>

<file path=ppt/slides/_rels/slide23.xml.rels><?xml version="1.0" encoding="UTF-8"?>
<Relationships xmlns="http://schemas.openxmlformats.org/package/2006/relationships"><Relationship Id="rId1" Type="http://schemas.openxmlformats.org/officeDocument/2006/relationships/image" Target="../media/image9.wmf"/><Relationship Id="rId2" Type="http://schemas.openxmlformats.org/officeDocument/2006/relationships/slideLayout" Target="../slideLayouts/slideLayout4.xml"/>
</Relationships>
</file>

<file path=ppt/slides/_rels/slide2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4.xml"/>
</Relationships>
</file>

<file path=ppt/slides/_rels/slide25.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
</Relationships>
</file>

<file path=ppt/slides/_rels/slide2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
</Relationships>
</file>

<file path=ppt/slides/_rels/slide2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4.xml"/>
</Relationships>
</file>

<file path=ppt/slides/_rels/slide28.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4.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1578240" y="1011960"/>
            <a:ext cx="7766640" cy="1645920"/>
          </a:xfrm>
          <a:prstGeom prst="rect">
            <a:avLst/>
          </a:prstGeom>
          <a:noFill/>
          <a:ln w="0">
            <a:noFill/>
          </a:ln>
        </p:spPr>
        <p:txBody>
          <a:bodyPr lIns="91440" rIns="91440" tIns="45720" bIns="45720" anchor="b">
            <a:normAutofit fontScale="92500" lnSpcReduction="9999"/>
          </a:bodyPr>
          <a:p>
            <a:pPr indent="0" algn="ctr" defTabSz="914400">
              <a:lnSpc>
                <a:spcPct val="90000"/>
              </a:lnSpc>
              <a:buNone/>
            </a:pPr>
            <a:r>
              <a:rPr lang="ru-RU" sz="6000" b="0" u="none" strike="noStrike">
                <a:solidFill>
                  <a:srgbClr val="00b0f0"/>
                </a:solidFill>
                <a:effectLst/>
                <a:uFillTx/>
                <a:latin typeface="Calibri Light"/>
              </a:rPr>
              <a:t>БАЛАНСОВА МОДЕЛЬ ЛЕОНТЬЄВА</a:t>
            </a:r>
            <a:endParaRPr lang="pl-PL" sz="6000" b="0" u="none" strike="noStrike">
              <a:solidFill>
                <a:schemeClr val="dk1"/>
              </a:solidFill>
              <a:effectLst/>
              <a:uFillTx/>
              <a:latin typeface="Calibri"/>
            </a:endParaRPr>
          </a:p>
        </p:txBody>
      </p:sp>
      <p:sp>
        <p:nvSpPr>
          <p:cNvPr id="61" name="PlaceHolder 2"/>
          <p:cNvSpPr>
            <a:spLocks noGrp="1"/>
          </p:cNvSpPr>
          <p:nvPr>
            <p:ph type="subTitle"/>
          </p:nvPr>
        </p:nvSpPr>
        <p:spPr>
          <a:xfrm>
            <a:off x="1523880" y="3602160"/>
            <a:ext cx="9143640" cy="1655280"/>
          </a:xfrm>
          <a:prstGeom prst="rect">
            <a:avLst/>
          </a:prstGeom>
          <a:noFill/>
          <a:ln w="0">
            <a:noFill/>
          </a:ln>
        </p:spPr>
        <p:txBody>
          <a:bodyPr lIns="91440" rIns="91440" tIns="45720" bIns="45720" anchor="t">
            <a:noAutofit/>
          </a:bodyPr>
          <a:p>
            <a:pPr indent="0" algn="ctr">
              <a:buNone/>
            </a:pPr>
            <a:endParaRPr lang="en-US" sz="2400" b="0" u="none" strike="noStrike">
              <a:solidFill>
                <a:schemeClr val="dk1"/>
              </a:solidFill>
              <a:effectLst/>
              <a:uFillTx/>
              <a:latin typeface="Calibri"/>
            </a:endParaRPr>
          </a:p>
        </p:txBody>
      </p:sp>
      <p:pic>
        <p:nvPicPr>
          <p:cNvPr id="62" name="Рисунок 4"/>
          <p:cNvPicPr/>
          <p:nvPr/>
        </p:nvPicPr>
        <p:blipFill>
          <a:blip r:embed="rId1"/>
          <a:stretch/>
        </p:blipFill>
        <p:spPr>
          <a:xfrm>
            <a:off x="3267000" y="3040920"/>
            <a:ext cx="5040720" cy="361908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p:nvPr>
        </p:nvSpPr>
        <p:spPr>
          <a:xfrm>
            <a:off x="718920" y="896760"/>
            <a:ext cx="10280160" cy="5144400"/>
          </a:xfrm>
          <a:prstGeom prst="rect">
            <a:avLst/>
          </a:prstGeom>
          <a:noFill/>
          <a:ln w="0">
            <a:noFill/>
          </a:ln>
        </p:spPr>
        <p:txBody>
          <a:bodyPr lIns="91440" rIns="91440" tIns="45720" bIns="45720" anchor="t">
            <a:normAutofit/>
          </a:bodyPr>
          <a:p>
            <a:pPr indent="0" algn="just" defTabSz="914400">
              <a:lnSpc>
                <a:spcPct val="150000"/>
              </a:lnSpc>
              <a:spcBef>
                <a:spcPts val="1001"/>
              </a:spcBef>
              <a:buNone/>
              <a:tabLst>
                <a:tab algn="l" pos="0"/>
              </a:tabLst>
            </a:pPr>
            <a:r>
              <a:rPr lang="ru-RU" sz="2400" b="0" u="none" strike="noStrike">
                <a:solidFill>
                  <a:schemeClr val="dk1"/>
                </a:solidFill>
                <a:effectLst/>
                <a:uFillTx/>
                <a:latin typeface="Times New Roman"/>
                <a:ea typeface="Times New Roman"/>
              </a:rPr>
              <a:t>Балансові моделі широко використовуються в менеджменті та маркетингу для оптимального розподілу ресурсів, управління ризиками та планування проектів.</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ru-RU" sz="2400" b="0" u="none" strike="noStrike">
                <a:solidFill>
                  <a:srgbClr val="373d3f"/>
                </a:solidFill>
                <a:effectLst/>
                <a:uFillTx/>
                <a:latin typeface="Times New Roman"/>
                <a:ea typeface="Times New Roman"/>
              </a:rPr>
              <a:t>Автор моделі - американський економіст В. Леонтьєв, нагороджений Нобелівською премією з економіки за розробку методу «витрати-випуск».</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p:nvPr>
        </p:nvSpPr>
        <p:spPr>
          <a:xfrm>
            <a:off x="363960" y="550800"/>
            <a:ext cx="11567160" cy="6062040"/>
          </a:xfrm>
          <a:prstGeom prst="rect">
            <a:avLst/>
          </a:prstGeom>
          <a:noFill/>
          <a:ln w="0">
            <a:noFill/>
          </a:ln>
        </p:spPr>
        <p:txBody>
          <a:bodyPr numCol="1" spcCol="0" lIns="91440" rIns="91440" tIns="45720" bIns="45720" anchor="ctr">
            <a:spAutoFit/>
          </a:bodyPr>
          <a:p>
            <a:pPr indent="0" algn="just" defTabSz="914400">
              <a:lnSpc>
                <a:spcPct val="150000"/>
              </a:lnSpc>
              <a:buNone/>
              <a:tabLst>
                <a:tab algn="l" pos="0"/>
              </a:tabLst>
            </a:pPr>
            <a:r>
              <a:rPr lang="pl-PL" sz="2400" b="0" u="none" strike="noStrike">
                <a:solidFill>
                  <a:srgbClr val="333333"/>
                </a:solidFill>
                <a:effectLst/>
                <a:uFillTx/>
                <a:latin typeface="Times New Roman"/>
              </a:rPr>
              <a:t>Баланс (від. фр. </a:t>
            </a:r>
            <a:r>
              <a:rPr lang="en-US" sz="2400" b="0" i="1" u="none" strike="noStrike">
                <a:solidFill>
                  <a:srgbClr val="333333"/>
                </a:solidFill>
                <a:effectLst/>
                <a:uFillTx/>
                <a:latin typeface="Times New Roman"/>
              </a:rPr>
              <a:t>Balance</a:t>
            </a:r>
            <a:r>
              <a:rPr lang="en-US" sz="2400" b="0" u="none" strike="noStrike">
                <a:solidFill>
                  <a:srgbClr val="333333"/>
                </a:solidFill>
                <a:effectLst/>
                <a:uFillTx/>
                <a:latin typeface="Times New Roman"/>
              </a:rPr>
              <a:t> – терези) – рівновага. </a:t>
            </a:r>
            <a:r>
              <a:rPr lang="ru-RU" sz="2400" b="0" u="none" strike="noStrike">
                <a:solidFill>
                  <a:srgbClr val="333333"/>
                </a:solidFill>
                <a:effectLst/>
                <a:uFillTx/>
                <a:latin typeface="Times New Roman"/>
              </a:rPr>
              <a:t>Балансові моделі широко використовують в економічних (маркетингових) дослідженнях, аналізі, менеджменті, плануванні.</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ru-RU" sz="2400" b="0" u="none" strike="noStrike">
                <a:solidFill>
                  <a:srgbClr val="333333"/>
                </a:solidFill>
                <a:effectLst/>
                <a:uFillTx/>
                <a:latin typeface="Times New Roman"/>
              </a:rPr>
              <a:t> Ці моделі будуються на підставі балансового методу, тобто узгодженні матеріальних, трудових і фінансових ресурсів. Якщо описувати економічну систему загалом, то під балансовою моделлю передбачають систему рівнянь, кожне з яких виражає балансові співвідношення між виробництвом окремими економічними об’єктами обсягів продукції й сукупною потребою в цій продукції. </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ru-RU" sz="2400" b="0" u="none" strike="noStrike">
                <a:solidFill>
                  <a:srgbClr val="333333"/>
                </a:solidFill>
                <a:effectLst/>
                <a:uFillTx/>
                <a:latin typeface="Times New Roman"/>
              </a:rPr>
              <a:t>За такого підходу досліджувана економічна система складається з об’єктів, кожен з яких випускає певний продукт, частина якого споживається ним же та іншими об’єктами системи, а решта виводиться за межі системи як її кінцева продукція.</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p:nvPr>
        </p:nvSpPr>
        <p:spPr>
          <a:xfrm>
            <a:off x="532800" y="489240"/>
            <a:ext cx="10820880" cy="5948640"/>
          </a:xfrm>
          <a:prstGeom prst="rect">
            <a:avLst/>
          </a:prstGeom>
          <a:noFill/>
          <a:ln w="0">
            <a:noFill/>
          </a:ln>
        </p:spPr>
        <p:txBody>
          <a:bodyPr numCol="1" spcCol="0" lIns="91440" rIns="91440" tIns="45720" bIns="45720" anchor="ctr">
            <a:spAutoFit/>
          </a:bodyPr>
          <a:p>
            <a:pPr indent="0" algn="just" defTabSz="914400">
              <a:lnSpc>
                <a:spcPct val="150000"/>
              </a:lnSpc>
              <a:buNone/>
              <a:tabLst>
                <a:tab algn="l" pos="0"/>
              </a:tabLst>
            </a:pPr>
            <a:r>
              <a:rPr lang="ru-RU" sz="2400" b="0" u="none" strike="noStrike">
                <a:solidFill>
                  <a:srgbClr val="333333"/>
                </a:solidFill>
                <a:effectLst/>
                <a:uFillTx/>
                <a:latin typeface="Times New Roman"/>
              </a:rPr>
              <a:t>Якщо замість поняття «продукт» увести загальніше поняття «ресурс», то під балансовою моделлю розуміють систему рівнянь, які задовольняють вимоги відповідності щодо наявності ресурсу та його використання. Можна також розглядати приклади балансової відповідності, наприклад: відповідність наявної робочої сили й кількості робочих місць, платоспроможного попиту населення та продукції (товарів і послуг) тощо.</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ru-RU" sz="2400" b="0" u="none" strike="noStrike">
                <a:solidFill>
                  <a:srgbClr val="333333"/>
                </a:solidFill>
                <a:effectLst/>
                <a:uFillTx/>
                <a:latin typeface="Times New Roman"/>
              </a:rPr>
              <a:t>В економіці складають такі баланси: бухгалтерський; доходів і витрат підприємства; народного господарства країни (до якого належить баланс доходів і витрат населення); національного доходу; суспільного продукту; трудових ресурсів; основних фондів; виробничих потужностей; міжгалузевий та ін.</a:t>
            </a:r>
            <a:endParaRPr lang="pl-PL" sz="2400" b="0" u="none" strike="noStrike">
              <a:solidFill>
                <a:schemeClr val="dk1"/>
              </a:solidFill>
              <a:effectLst/>
              <a:uFillTx/>
              <a:latin typeface="Calibri"/>
            </a:endParaRPr>
          </a:p>
          <a:p>
            <a:pPr indent="0" algn="just" defTabSz="914400">
              <a:lnSpc>
                <a:spcPct val="150000"/>
              </a:lnSpc>
              <a:buNone/>
              <a:tabLst>
                <a:tab algn="l" pos="0"/>
              </a:tabLst>
            </a:pPr>
            <a:endParaRPr lang="pl-PL" sz="20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p:nvPr>
        </p:nvSpPr>
        <p:spPr>
          <a:xfrm>
            <a:off x="532800" y="408240"/>
            <a:ext cx="10820880" cy="5768280"/>
          </a:xfrm>
          <a:prstGeom prst="rect">
            <a:avLst/>
          </a:prstGeom>
          <a:noFill/>
          <a:ln w="0">
            <a:noFill/>
          </a:ln>
        </p:spPr>
        <p:txBody>
          <a:bodyPr lIns="91440" rIns="91440" tIns="45720" bIns="45720" anchor="t">
            <a:normAutofit/>
          </a:bodyPr>
          <a:p>
            <a:pPr indent="0" algn="just" defTabSz="914400">
              <a:lnSpc>
                <a:spcPct val="150000"/>
              </a:lnSpc>
              <a:spcBef>
                <a:spcPts val="1001"/>
              </a:spcBef>
              <a:buNone/>
              <a:tabLst>
                <a:tab algn="l" pos="0"/>
              </a:tabLst>
            </a:pPr>
            <a:r>
              <a:rPr lang="uk-UA" sz="2400" b="0" u="none" strike="noStrike">
                <a:solidFill>
                  <a:srgbClr val="333333"/>
                </a:solidFill>
                <a:effectLst/>
                <a:uFillTx/>
                <a:latin typeface="Times New Roman"/>
              </a:rPr>
              <a:t>Балансовий метод застосовують в аналізі виробничої діяльності та плануванні.</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rgbClr val="333333"/>
                </a:solidFill>
                <a:effectLst/>
                <a:uFillTx/>
                <a:latin typeface="Times New Roman"/>
              </a:rPr>
              <a:t> В аналізі виробничої діяльності – це порівняння взаємопов’язаних показників господарської діяльності в цілях з’ясування та вимірювання їх взаємного впливу і визначення резервів підвищення ефективності виробництва.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rgbClr val="333333"/>
                </a:solidFill>
                <a:effectLst/>
                <a:uFillTx/>
                <a:latin typeface="Times New Roman"/>
              </a:rPr>
              <a:t>Балансовий метод у менеджменті – це узгодження потреб і ресурсів, порівняння затрат і результатів, узгодження та координація всіх завдань і показників плану забезпечення єдності та збалансованості всіх його частин і розділів.</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1047600" y="365040"/>
            <a:ext cx="10305720" cy="531000"/>
          </a:xfrm>
          <a:prstGeom prst="rect">
            <a:avLst/>
          </a:prstGeom>
          <a:noFill/>
          <a:ln w="0">
            <a:noFill/>
          </a:ln>
        </p:spPr>
        <p:txBody>
          <a:bodyPr lIns="91440" rIns="91440" tIns="45720" bIns="45720" anchor="ctr">
            <a:normAutofit/>
          </a:bodyPr>
          <a:p>
            <a:pPr indent="0" algn="ctr" defTabSz="914400">
              <a:lnSpc>
                <a:spcPct val="90000"/>
              </a:lnSpc>
              <a:buNone/>
            </a:pPr>
            <a:r>
              <a:rPr lang="uk-UA" sz="2400" b="1" u="none" strike="noStrike">
                <a:solidFill>
                  <a:srgbClr val="333333"/>
                </a:solidFill>
                <a:effectLst/>
                <a:uFillTx/>
                <a:latin typeface="Times New Roman"/>
              </a:rPr>
              <a:t>Класифікація МГБ (міжгалузевого балансу).</a:t>
            </a:r>
            <a:endParaRPr lang="pl-PL" sz="2400" b="0" u="none" strike="noStrike">
              <a:solidFill>
                <a:schemeClr val="dk1"/>
              </a:solidFill>
              <a:effectLst/>
              <a:uFillTx/>
              <a:latin typeface="Calibri"/>
            </a:endParaRPr>
          </a:p>
        </p:txBody>
      </p:sp>
      <p:sp>
        <p:nvSpPr>
          <p:cNvPr id="68" name="PlaceHolder 2"/>
          <p:cNvSpPr>
            <a:spLocks noGrp="1"/>
          </p:cNvSpPr>
          <p:nvPr>
            <p:ph/>
          </p:nvPr>
        </p:nvSpPr>
        <p:spPr>
          <a:xfrm>
            <a:off x="426240" y="1784880"/>
            <a:ext cx="10564200" cy="3813840"/>
          </a:xfrm>
          <a:prstGeom prst="rect">
            <a:avLst/>
          </a:prstGeom>
          <a:noFill/>
          <a:ln w="0">
            <a:noFill/>
          </a:ln>
        </p:spPr>
        <p:txBody>
          <a:bodyPr numCol="1" spcCol="0" lIns="91440" rIns="91440" tIns="45720" bIns="45720" anchor="ctr">
            <a:spAutoFit/>
          </a:bodyPr>
          <a:p>
            <a:pPr indent="0" algn="just" defTabSz="914400">
              <a:lnSpc>
                <a:spcPct val="150000"/>
              </a:lnSpc>
              <a:buNone/>
              <a:tabLst>
                <a:tab algn="l" pos="0"/>
              </a:tabLst>
            </a:pPr>
            <a:r>
              <a:rPr lang="pl-PL" sz="2400" b="0" u="none" strike="noStrike">
                <a:solidFill>
                  <a:srgbClr val="333333"/>
                </a:solidFill>
                <a:effectLst/>
                <a:uFillTx/>
                <a:latin typeface="Times New Roman"/>
              </a:rPr>
              <a:t>Міжгалузевий баланс (МГБ) класифікують за різними ознаками:</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pl-PL" sz="2400" b="0" u="none" strike="noStrike">
                <a:solidFill>
                  <a:srgbClr val="333333"/>
                </a:solidFill>
                <a:effectLst/>
                <a:uFillTx/>
                <a:latin typeface="Times New Roman"/>
              </a:rPr>
              <a:t>1)  за широтою охоплення економічного процесу:</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pl-PL" sz="2400" b="0" u="none" strike="noStrike">
                <a:solidFill>
                  <a:srgbClr val="333333"/>
                </a:solidFill>
                <a:effectLst/>
                <a:uFillTx/>
                <a:latin typeface="Times New Roman"/>
              </a:rPr>
              <a:t>−    народногосподарські – МГБ виробництва та розподілу продукції народного господарства країни;</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pl-PL" sz="2400" b="0" u="none" strike="noStrike">
                <a:solidFill>
                  <a:srgbClr val="333333"/>
                </a:solidFill>
                <a:effectLst/>
                <a:uFillTx/>
                <a:latin typeface="Times New Roman"/>
              </a:rPr>
              <a:t>−    регіональні – МГБ народного господарства регіону;</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pl-PL" sz="2400" b="0" u="none" strike="noStrike">
                <a:solidFill>
                  <a:srgbClr val="333333"/>
                </a:solidFill>
                <a:effectLst/>
                <a:uFillTx/>
                <a:latin typeface="Times New Roman"/>
              </a:rPr>
              <a:t>−    галузеві – міжпродуктовий баланс виробництва та розподілу продукції окремої галузі;</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1047600" y="338400"/>
            <a:ext cx="10305720" cy="486720"/>
          </a:xfrm>
          <a:prstGeom prst="rect">
            <a:avLst/>
          </a:prstGeom>
          <a:noFill/>
          <a:ln w="0">
            <a:noFill/>
          </a:ln>
        </p:spPr>
        <p:txBody>
          <a:bodyPr lIns="91440" rIns="91440" tIns="45720" bIns="45720" anchor="ctr">
            <a:noAutofit/>
          </a:bodyPr>
          <a:p>
            <a:pPr indent="0" algn="ctr" defTabSz="914400">
              <a:lnSpc>
                <a:spcPct val="90000"/>
              </a:lnSpc>
              <a:buNone/>
            </a:pPr>
            <a:r>
              <a:rPr lang="uk-UA" sz="2400" b="1" u="none" strike="noStrike">
                <a:solidFill>
                  <a:srgbClr val="333333"/>
                </a:solidFill>
                <a:effectLst/>
                <a:uFillTx/>
                <a:latin typeface="Times New Roman"/>
              </a:rPr>
              <a:t>Класифікація МГБ (міжгалузевого балансу).</a:t>
            </a:r>
            <a:endParaRPr lang="pl-PL" sz="2400" b="0" u="none" strike="noStrike">
              <a:solidFill>
                <a:schemeClr val="dk1"/>
              </a:solidFill>
              <a:effectLst/>
              <a:uFillTx/>
              <a:latin typeface="Calibri"/>
            </a:endParaRPr>
          </a:p>
        </p:txBody>
      </p:sp>
      <p:sp>
        <p:nvSpPr>
          <p:cNvPr id="70" name="PlaceHolder 2"/>
          <p:cNvSpPr>
            <a:spLocks noGrp="1"/>
          </p:cNvSpPr>
          <p:nvPr>
            <p:ph/>
          </p:nvPr>
        </p:nvSpPr>
        <p:spPr>
          <a:xfrm>
            <a:off x="692280" y="1109520"/>
            <a:ext cx="10661040" cy="4367880"/>
          </a:xfrm>
          <a:prstGeom prst="rect">
            <a:avLst/>
          </a:prstGeom>
          <a:noFill/>
          <a:ln w="0">
            <a:noFill/>
          </a:ln>
        </p:spPr>
        <p:txBody>
          <a:bodyPr numCol="1" spcCol="0" lIns="91440" rIns="91440" tIns="45720" bIns="45720" anchor="ctr">
            <a:spAutoFit/>
          </a:bodyPr>
          <a:p>
            <a:pPr indent="0" algn="just" defTabSz="914400">
              <a:lnSpc>
                <a:spcPct val="150000"/>
              </a:lnSpc>
              <a:buNone/>
              <a:tabLst>
                <a:tab algn="l" pos="0"/>
              </a:tabLst>
            </a:pPr>
            <a:r>
              <a:rPr lang="pl-PL" sz="2400" b="0" u="none" strike="noStrike">
                <a:solidFill>
                  <a:srgbClr val="333333"/>
                </a:solidFill>
                <a:effectLst/>
                <a:uFillTx/>
                <a:latin typeface="Times New Roman"/>
              </a:rPr>
              <a:t>2)  за застосовуваними одиницями:</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pl-PL" sz="2400" b="0" u="none" strike="noStrike">
                <a:solidFill>
                  <a:srgbClr val="333333"/>
                </a:solidFill>
                <a:effectLst/>
                <a:uFillTx/>
                <a:latin typeface="Times New Roman"/>
              </a:rPr>
              <a:t>−    натуральні, що характеризують матеріально-речові зв’язки у виробництві та споживанні за широкою номенклатурою продукції;</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pl-PL" sz="2400" b="0" u="none" strike="noStrike">
                <a:solidFill>
                  <a:srgbClr val="333333"/>
                </a:solidFill>
                <a:effectLst/>
                <a:uFillTx/>
                <a:latin typeface="Times New Roman"/>
              </a:rPr>
              <a:t>−    у вартісному вираженні, що відображають галузеві зв’язки в процесі виробництва;</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pl-PL" sz="2400" b="0" u="none" strike="noStrike">
                <a:solidFill>
                  <a:srgbClr val="333333"/>
                </a:solidFill>
                <a:effectLst/>
                <a:uFillTx/>
                <a:latin typeface="Times New Roman"/>
              </a:rPr>
              <a:t>−    натурально-вартісні, які в одній схемі відбивають основні міжгалузеві зв’язки та їх вплив на загальноекономічні пропорції і конкретизують пропорції за основними продуктами;</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algn="ctr" defTabSz="914400">
              <a:lnSpc>
                <a:spcPct val="90000"/>
              </a:lnSpc>
              <a:buNone/>
            </a:pPr>
            <a:r>
              <a:rPr lang="uk-UA" sz="2400" b="1" u="none" strike="noStrike">
                <a:solidFill>
                  <a:srgbClr val="333333"/>
                </a:solidFill>
                <a:effectLst/>
                <a:uFillTx/>
                <a:latin typeface="Times New Roman"/>
              </a:rPr>
              <a:t>Класифікація МГБ (міжгалузевого балансу).</a:t>
            </a:r>
            <a:endParaRPr lang="pl-PL" sz="2400" b="0" u="none" strike="noStrike">
              <a:solidFill>
                <a:schemeClr val="dk1"/>
              </a:solidFill>
              <a:effectLst/>
              <a:uFillTx/>
              <a:latin typeface="Calibri"/>
            </a:endParaRPr>
          </a:p>
        </p:txBody>
      </p:sp>
      <p:sp>
        <p:nvSpPr>
          <p:cNvPr id="72" name="PlaceHolder 2"/>
          <p:cNvSpPr>
            <a:spLocks noGrp="1"/>
          </p:cNvSpPr>
          <p:nvPr>
            <p:ph/>
          </p:nvPr>
        </p:nvSpPr>
        <p:spPr>
          <a:xfrm>
            <a:off x="944640" y="2177640"/>
            <a:ext cx="9832320" cy="2705760"/>
          </a:xfrm>
          <a:prstGeom prst="rect">
            <a:avLst/>
          </a:prstGeom>
          <a:noFill/>
          <a:ln w="0">
            <a:noFill/>
          </a:ln>
        </p:spPr>
        <p:txBody>
          <a:bodyPr numCol="1" spcCol="0" lIns="91440" rIns="91440" tIns="45720" bIns="45720" anchor="ctr">
            <a:spAutoFit/>
          </a:bodyPr>
          <a:p>
            <a:pPr indent="0" algn="just" defTabSz="914400">
              <a:lnSpc>
                <a:spcPct val="150000"/>
              </a:lnSpc>
              <a:buNone/>
              <a:tabLst>
                <a:tab algn="l" pos="0"/>
              </a:tabLst>
            </a:pPr>
            <a:r>
              <a:rPr lang="pl-PL" sz="2400" b="0" u="none" strike="noStrike">
                <a:solidFill>
                  <a:srgbClr val="333333"/>
                </a:solidFill>
                <a:effectLst/>
                <a:uFillTx/>
                <a:latin typeface="Times New Roman"/>
              </a:rPr>
              <a:t>3)  за характером відображення процесу відтворення:</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pl-PL" sz="2400" b="0" u="none" strike="noStrike">
                <a:solidFill>
                  <a:srgbClr val="333333"/>
                </a:solidFill>
                <a:effectLst/>
                <a:uFillTx/>
                <a:latin typeface="Times New Roman"/>
              </a:rPr>
              <a:t>−    статичні, що характеризують стан економічного процесу за деякий період, звичайно за рік;</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pl-PL" sz="2400" b="0" u="none" strike="noStrike">
                <a:solidFill>
                  <a:srgbClr val="333333"/>
                </a:solidFill>
                <a:effectLst/>
                <a:uFillTx/>
                <a:latin typeface="Times New Roman"/>
              </a:rPr>
              <a:t>−    динамічні, що характеризують процес відтворення в динаміці, тобто змінному в часі;</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1074240" y="365040"/>
            <a:ext cx="10279080" cy="637560"/>
          </a:xfrm>
          <a:prstGeom prst="rect">
            <a:avLst/>
          </a:prstGeom>
          <a:noFill/>
          <a:ln w="0">
            <a:noFill/>
          </a:ln>
        </p:spPr>
        <p:txBody>
          <a:bodyPr lIns="91440" rIns="91440" tIns="45720" bIns="45720" anchor="ctr">
            <a:noAutofit/>
          </a:bodyPr>
          <a:p>
            <a:pPr indent="0" algn="ctr" defTabSz="914400">
              <a:lnSpc>
                <a:spcPct val="90000"/>
              </a:lnSpc>
              <a:buNone/>
            </a:pPr>
            <a:r>
              <a:rPr lang="uk-UA" sz="2400" b="1" u="none" strike="noStrike">
                <a:solidFill>
                  <a:srgbClr val="333333"/>
                </a:solidFill>
                <a:effectLst/>
                <a:uFillTx/>
                <a:latin typeface="Times New Roman"/>
              </a:rPr>
              <a:t>Класифікація МГБ (міжгалузевого балансу).</a:t>
            </a:r>
            <a:endParaRPr lang="pl-PL" sz="2400" b="0" u="none" strike="noStrike">
              <a:solidFill>
                <a:schemeClr val="dk1"/>
              </a:solidFill>
              <a:effectLst/>
              <a:uFillTx/>
              <a:latin typeface="Calibri"/>
            </a:endParaRPr>
          </a:p>
        </p:txBody>
      </p:sp>
      <p:sp>
        <p:nvSpPr>
          <p:cNvPr id="74" name="PlaceHolder 2"/>
          <p:cNvSpPr>
            <a:spLocks noGrp="1"/>
          </p:cNvSpPr>
          <p:nvPr>
            <p:ph/>
          </p:nvPr>
        </p:nvSpPr>
        <p:spPr>
          <a:xfrm>
            <a:off x="1571400" y="1499400"/>
            <a:ext cx="8366760" cy="1597680"/>
          </a:xfrm>
          <a:prstGeom prst="rect">
            <a:avLst/>
          </a:prstGeom>
          <a:noFill/>
          <a:ln w="0">
            <a:noFill/>
          </a:ln>
        </p:spPr>
        <p:txBody>
          <a:bodyPr numCol="1" spcCol="0" lIns="91440" rIns="91440" tIns="45720" bIns="45720" anchor="ctr">
            <a:spAutoFit/>
          </a:bodyPr>
          <a:p>
            <a:pPr indent="0" algn="just" defTabSz="914400">
              <a:lnSpc>
                <a:spcPct val="150000"/>
              </a:lnSpc>
              <a:buNone/>
              <a:tabLst>
                <a:tab algn="l" pos="0"/>
              </a:tabLst>
            </a:pPr>
            <a:r>
              <a:rPr lang="pl-PL" sz="2400" b="0" u="none" strike="noStrike">
                <a:solidFill>
                  <a:srgbClr val="333333"/>
                </a:solidFill>
                <a:effectLst/>
                <a:uFillTx/>
                <a:latin typeface="Times New Roman"/>
              </a:rPr>
              <a:t>4)  за ступенем деталізації номенклатури продукції:</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pl-PL" sz="2400" b="0" u="none" strike="noStrike">
                <a:solidFill>
                  <a:srgbClr val="333333"/>
                </a:solidFill>
                <a:effectLst/>
                <a:uFillTx/>
                <a:latin typeface="Times New Roman"/>
              </a:rPr>
              <a:t>−    укрупнені – у вартісному вираженні;</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pl-PL" sz="2400" b="0" u="none" strike="noStrike">
                <a:solidFill>
                  <a:srgbClr val="333333"/>
                </a:solidFill>
                <a:effectLst/>
                <a:uFillTx/>
                <a:latin typeface="Times New Roman"/>
              </a:rPr>
              <a:t>−    розгорнуті – натурально-вартісні та між продуктові.</a:t>
            </a:r>
            <a:endParaRPr lang="pl-PL" sz="2400" b="0" u="none" strike="noStrike">
              <a:solidFill>
                <a:schemeClr val="dk1"/>
              </a:solidFill>
              <a:effectLst/>
              <a:uFillTx/>
              <a:latin typeface="Calibri"/>
            </a:endParaRPr>
          </a:p>
        </p:txBody>
      </p:sp>
      <p:sp>
        <p:nvSpPr>
          <p:cNvPr id="75" name="TextBox 5"/>
          <p:cNvSpPr/>
          <p:nvPr/>
        </p:nvSpPr>
        <p:spPr>
          <a:xfrm>
            <a:off x="798840" y="3808440"/>
            <a:ext cx="10093680" cy="11336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r>
              <a:rPr lang="ru-RU" sz="2400" b="0" u="none" strike="noStrike">
                <a:solidFill>
                  <a:srgbClr val="333333"/>
                </a:solidFill>
                <a:effectLst/>
                <a:uFillTx/>
                <a:latin typeface="Times New Roman"/>
              </a:rPr>
              <a:t>Усі названі баланси мають однаковий формальний принцип побудови, єдину систему рахунків, аналогічні показники.</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p:nvPr>
        </p:nvSpPr>
        <p:spPr>
          <a:xfrm>
            <a:off x="434880" y="381600"/>
            <a:ext cx="10652760" cy="6338160"/>
          </a:xfrm>
          <a:prstGeom prst="rect">
            <a:avLst/>
          </a:prstGeom>
          <a:noFill/>
          <a:ln w="0">
            <a:noFill/>
          </a:ln>
        </p:spPr>
        <p:txBody>
          <a:bodyPr lIns="91440" rIns="91440" tIns="45720" bIns="45720" anchor="t">
            <a:normAutofit fontScale="92500" lnSpcReduction="9999"/>
          </a:bodyPr>
          <a:p>
            <a:pPr indent="0" algn="ctr" defTabSz="914400">
              <a:lnSpc>
                <a:spcPct val="150000"/>
              </a:lnSpc>
              <a:spcBef>
                <a:spcPts val="1001"/>
              </a:spcBef>
              <a:buNone/>
              <a:tabLst>
                <a:tab algn="l" pos="0"/>
              </a:tabLst>
            </a:pPr>
            <a:r>
              <a:rPr lang="ru-RU" sz="2200" b="1" u="none" strike="noStrike">
                <a:solidFill>
                  <a:srgbClr val="333333"/>
                </a:solidFill>
                <a:effectLst/>
                <a:uFillTx/>
                <a:latin typeface="Times New Roman"/>
              </a:rPr>
              <a:t>Принципова схема міжгалузевого балансу виробництва та розподілу продукції.</a:t>
            </a:r>
            <a:endParaRPr lang="pl-PL" sz="22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Увесь сектор виробництва товарів чи послуг розбивається на </a:t>
            </a:r>
            <a:r>
              <a:rPr lang="pl-PL" sz="2400" b="0" u="none" strike="noStrike">
                <a:solidFill>
                  <a:schemeClr val="dk1"/>
                </a:solidFill>
                <a:effectLst/>
                <a:uFillTx/>
                <a:latin typeface="Times New Roman"/>
              </a:rPr>
              <a:t>n </a:t>
            </a:r>
            <a:r>
              <a:rPr lang="uk-UA" sz="2400" b="0" u="none" strike="noStrike">
                <a:solidFill>
                  <a:schemeClr val="dk1"/>
                </a:solidFill>
                <a:effectLst/>
                <a:uFillTx/>
                <a:latin typeface="Times New Roman"/>
              </a:rPr>
              <a:t>чистих галузей, кожна з яких виробляє певний товар, різні галузі виробляють різні товари. Введемо наступні позначення: </a:t>
            </a:r>
            <a:r>
              <a:rPr lang="pl-PL" sz="2400" b="0" u="none" strike="noStrike">
                <a:solidFill>
                  <a:schemeClr val="dk1"/>
                </a:solidFill>
                <a:effectLst/>
                <a:uFillTx/>
                <a:latin typeface="Times New Roman"/>
              </a:rPr>
              <a:t>aij – </a:t>
            </a:r>
            <a:r>
              <a:rPr lang="uk-UA" sz="2400" b="0" u="none" strike="noStrike">
                <a:solidFill>
                  <a:schemeClr val="dk1"/>
                </a:solidFill>
                <a:effectLst/>
                <a:uFillTx/>
                <a:latin typeface="Times New Roman"/>
              </a:rPr>
              <a:t>обсяг товарів </a:t>
            </a:r>
            <a:r>
              <a:rPr lang="pl-PL" sz="2400" b="0" u="none" strike="noStrike">
                <a:solidFill>
                  <a:schemeClr val="dk1"/>
                </a:solidFill>
                <a:effectLst/>
                <a:uFillTx/>
                <a:latin typeface="Times New Roman"/>
              </a:rPr>
              <a:t>i – </a:t>
            </a:r>
            <a:r>
              <a:rPr lang="uk-UA" sz="2400" b="0" u="none" strike="noStrike">
                <a:solidFill>
                  <a:schemeClr val="dk1"/>
                </a:solidFill>
                <a:effectLst/>
                <a:uFillTx/>
                <a:latin typeface="Times New Roman"/>
              </a:rPr>
              <a:t>ї галузі, що витрачаються </a:t>
            </a:r>
            <a:r>
              <a:rPr lang="pl-PL" sz="2400" b="0" u="none" strike="noStrike">
                <a:solidFill>
                  <a:schemeClr val="dk1"/>
                </a:solidFill>
                <a:effectLst/>
                <a:uFillTx/>
                <a:latin typeface="Times New Roman"/>
              </a:rPr>
              <a:t>j –</a:t>
            </a:r>
            <a:r>
              <a:rPr lang="uk-UA" sz="2400" b="0" u="none" strike="noStrike">
                <a:solidFill>
                  <a:schemeClr val="dk1"/>
                </a:solidFill>
                <a:effectLst/>
                <a:uFillTx/>
                <a:latin typeface="Times New Roman"/>
              </a:rPr>
              <a:t>тою галуззю на виробництво одиниці </a:t>
            </a:r>
            <a:r>
              <a:rPr lang="pl-PL" sz="2400" b="0" u="none" strike="noStrike">
                <a:solidFill>
                  <a:schemeClr val="dk1"/>
                </a:solidFill>
                <a:effectLst/>
                <a:uFillTx/>
                <a:latin typeface="Times New Roman"/>
              </a:rPr>
              <a:t>j –</a:t>
            </a:r>
            <a:r>
              <a:rPr lang="uk-UA" sz="2400" b="0" u="none" strike="noStrike">
                <a:solidFill>
                  <a:schemeClr val="dk1"/>
                </a:solidFill>
                <a:effectLst/>
                <a:uFillTx/>
                <a:latin typeface="Times New Roman"/>
              </a:rPr>
              <a:t>того товару;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pl-PL" sz="2400" b="0" u="none" strike="noStrike">
                <a:solidFill>
                  <a:schemeClr val="dk1"/>
                </a:solidFill>
                <a:effectLst/>
                <a:uFillTx/>
                <a:latin typeface="Times New Roman"/>
              </a:rPr>
              <a:t>xi – </a:t>
            </a:r>
            <a:r>
              <a:rPr lang="uk-UA" sz="2400" b="0" u="none" strike="noStrike">
                <a:solidFill>
                  <a:schemeClr val="dk1"/>
                </a:solidFill>
                <a:effectLst/>
                <a:uFillTx/>
                <a:latin typeface="Times New Roman"/>
              </a:rPr>
              <a:t>валовий (повний) обсяг виробництва </a:t>
            </a:r>
            <a:r>
              <a:rPr lang="pl-PL" sz="2400" b="0" u="none" strike="noStrike">
                <a:solidFill>
                  <a:schemeClr val="dk1"/>
                </a:solidFill>
                <a:effectLst/>
                <a:uFillTx/>
                <a:latin typeface="Times New Roman"/>
              </a:rPr>
              <a:t>i – </a:t>
            </a:r>
            <a:r>
              <a:rPr lang="uk-UA" sz="2400" b="0" u="none" strike="noStrike">
                <a:solidFill>
                  <a:schemeClr val="dk1"/>
                </a:solidFill>
                <a:effectLst/>
                <a:uFillTx/>
                <a:latin typeface="Times New Roman"/>
              </a:rPr>
              <a:t>тої галузі за певний проміжок часу, (наприклад, плановий рік);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pl-PL" sz="2400" b="0" u="none" strike="noStrike">
                <a:solidFill>
                  <a:schemeClr val="dk1"/>
                </a:solidFill>
                <a:effectLst/>
                <a:uFillTx/>
                <a:latin typeface="Times New Roman"/>
              </a:rPr>
              <a:t>yi - </a:t>
            </a:r>
            <a:r>
              <a:rPr lang="uk-UA" sz="2400" b="0" u="none" strike="noStrike">
                <a:solidFill>
                  <a:schemeClr val="dk1"/>
                </a:solidFill>
                <a:effectLst/>
                <a:uFillTx/>
                <a:latin typeface="Times New Roman"/>
              </a:rPr>
              <a:t>частина товарної продукції </a:t>
            </a:r>
            <a:r>
              <a:rPr lang="pl-PL" sz="2400" b="0" u="none" strike="noStrike">
                <a:solidFill>
                  <a:schemeClr val="dk1"/>
                </a:solidFill>
                <a:effectLst/>
                <a:uFillTx/>
                <a:latin typeface="Times New Roman"/>
              </a:rPr>
              <a:t>i – </a:t>
            </a:r>
            <a:r>
              <a:rPr lang="uk-UA" sz="2400" b="0" u="none" strike="noStrike">
                <a:solidFill>
                  <a:schemeClr val="dk1"/>
                </a:solidFill>
                <a:effectLst/>
                <a:uFillTx/>
                <a:latin typeface="Times New Roman"/>
              </a:rPr>
              <a:t>тої галузі, що споживається поза виробництвом (кінцеве споживання).</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 Матриця А = (а</a:t>
            </a:r>
            <a:r>
              <a:rPr lang="pl-PL" sz="2400" b="0" u="none" strike="noStrike">
                <a:solidFill>
                  <a:schemeClr val="dk1"/>
                </a:solidFill>
                <a:effectLst/>
                <a:uFillTx/>
                <a:latin typeface="Times New Roman"/>
              </a:rPr>
              <a:t>ij) </a:t>
            </a:r>
            <a:r>
              <a:rPr lang="uk-UA" sz="2400" b="0" u="none" strike="noStrike">
                <a:solidFill>
                  <a:schemeClr val="dk1"/>
                </a:solidFill>
                <a:effectLst/>
                <a:uFillTx/>
                <a:latin typeface="Times New Roman"/>
              </a:rPr>
              <a:t>називається матрицею прямих затрат (технологічна матриця), її елементи </a:t>
            </a:r>
            <a:r>
              <a:rPr lang="pl-PL" sz="2400" b="0" u="none" strike="noStrike">
                <a:solidFill>
                  <a:schemeClr val="dk1"/>
                </a:solidFill>
                <a:effectLst/>
                <a:uFillTx/>
                <a:latin typeface="Times New Roman"/>
              </a:rPr>
              <a:t>aij </a:t>
            </a:r>
            <a:r>
              <a:rPr lang="uk-UA" sz="2400" b="0" u="none" strike="noStrike">
                <a:solidFill>
                  <a:schemeClr val="dk1"/>
                </a:solidFill>
                <a:effectLst/>
                <a:uFillTx/>
                <a:latin typeface="Times New Roman"/>
              </a:rPr>
              <a:t>називають ще коефіцієнтами прямих затрат. Власне, на їх відносну постійність протягом тривалого періоду звернув увагу Леонтьєв</a:t>
            </a:r>
            <a:r>
              <a:rPr lang="uk-UA" sz="2800" b="0" u="none" strike="noStrike">
                <a:solidFill>
                  <a:schemeClr val="dk1"/>
                </a:solidFill>
                <a:effectLst/>
                <a:uFillTx/>
                <a:latin typeface="Calibri"/>
              </a:rPr>
              <a:t>. </a:t>
            </a:r>
            <a:endParaRPr lang="pl-PL"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p:nvPr>
        </p:nvSpPr>
        <p:spPr>
          <a:xfrm>
            <a:off x="727920" y="568080"/>
            <a:ext cx="10625400" cy="5608440"/>
          </a:xfrm>
          <a:prstGeom prst="rect">
            <a:avLst/>
          </a:prstGeom>
          <a:noFill/>
          <a:ln w="0">
            <a:noFill/>
          </a:ln>
        </p:spPr>
        <p:txBody>
          <a:bodyPr lIns="91440" rIns="91440" tIns="45720" bIns="45720" anchor="t">
            <a:normAutofit/>
          </a:bodyPr>
          <a:p>
            <a:pPr indent="0" algn="ctr" defTabSz="914400">
              <a:lnSpc>
                <a:spcPct val="90000"/>
              </a:lnSpc>
              <a:spcBef>
                <a:spcPts val="1001"/>
              </a:spcBef>
              <a:buNone/>
              <a:tabLst>
                <a:tab algn="l" pos="0"/>
              </a:tabLst>
            </a:pPr>
            <a:r>
              <a:rPr lang="ru-RU" sz="2400" b="0" u="none" strike="noStrike">
                <a:solidFill>
                  <a:schemeClr val="dk1"/>
                </a:solidFill>
                <a:effectLst/>
                <a:uFillTx/>
                <a:latin typeface="Times New Roman"/>
              </a:rPr>
              <a:t>Маємо основне балансове співвідношення, зміст якого очевидний: </a:t>
            </a:r>
            <a:endParaRPr lang="pl-PL" sz="2400" b="0" u="none" strike="noStrike">
              <a:solidFill>
                <a:schemeClr val="dk1"/>
              </a:solidFill>
              <a:effectLst/>
              <a:uFillTx/>
              <a:latin typeface="Calibri"/>
            </a:endParaRPr>
          </a:p>
          <a:p>
            <a:pPr indent="0" algn="ctr" defTabSz="914400">
              <a:lnSpc>
                <a:spcPct val="90000"/>
              </a:lnSpc>
              <a:spcBef>
                <a:spcPts val="1001"/>
              </a:spcBef>
              <a:buNone/>
              <a:tabLst>
                <a:tab algn="l" pos="0"/>
              </a:tabLst>
            </a:pPr>
            <a:endParaRPr lang="pl-PL" sz="2400" b="0" u="none" strike="noStrike">
              <a:solidFill>
                <a:schemeClr val="dk1"/>
              </a:solidFill>
              <a:effectLst/>
              <a:uFillTx/>
              <a:latin typeface="Calibri"/>
            </a:endParaRPr>
          </a:p>
        </p:txBody>
      </p:sp>
      <p:pic>
        <p:nvPicPr>
          <p:cNvPr id="78" name="Рисунок 4"/>
          <p:cNvPicPr/>
          <p:nvPr/>
        </p:nvPicPr>
        <p:blipFill>
          <a:blip r:embed="rId1"/>
          <a:stretch/>
        </p:blipFill>
        <p:spPr>
          <a:xfrm>
            <a:off x="1662840" y="1278360"/>
            <a:ext cx="8111160" cy="2217600"/>
          </a:xfrm>
          <a:prstGeom prst="rect">
            <a:avLst/>
          </a:prstGeom>
          <a:noFill/>
          <a:ln w="0">
            <a:noFill/>
          </a:ln>
        </p:spPr>
      </p:pic>
      <p:pic>
        <p:nvPicPr>
          <p:cNvPr id="79" name="Рисунок 6"/>
          <p:cNvPicPr/>
          <p:nvPr/>
        </p:nvPicPr>
        <p:blipFill>
          <a:blip r:embed="rId2"/>
          <a:stretch/>
        </p:blipFill>
        <p:spPr>
          <a:xfrm>
            <a:off x="739440" y="3755160"/>
            <a:ext cx="11039040" cy="146448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p:nvPr>
        </p:nvSpPr>
        <p:spPr>
          <a:xfrm>
            <a:off x="807840" y="488160"/>
            <a:ext cx="10545480" cy="5688360"/>
          </a:xfrm>
          <a:prstGeom prst="rect">
            <a:avLst/>
          </a:prstGeom>
          <a:noFill/>
          <a:ln w="0">
            <a:noFill/>
          </a:ln>
        </p:spPr>
        <p:txBody>
          <a:bodyPr lIns="91440" rIns="91440" tIns="45720" bIns="45720" anchor="t">
            <a:noAutofit/>
          </a:bodyPr>
          <a:p>
            <a:pPr marL="402480" indent="0" algn="just" defTabSz="914400">
              <a:lnSpc>
                <a:spcPct val="150000"/>
              </a:lnSpc>
              <a:spcBef>
                <a:spcPts val="811"/>
              </a:spcBef>
              <a:buNone/>
              <a:tabLst>
                <a:tab algn="l" pos="0"/>
              </a:tabLst>
            </a:pPr>
            <a:r>
              <a:rPr lang="uk-UA" sz="2400" b="0" u="none" strike="noStrike">
                <a:solidFill>
                  <a:schemeClr val="dk1"/>
                </a:solidFill>
                <a:effectLst/>
                <a:uFillTx/>
                <a:latin typeface="Times New Roman"/>
                <a:ea typeface="Times New Roman"/>
              </a:rPr>
              <a:t>Власне,</a:t>
            </a:r>
            <a:r>
              <a:rPr lang="uk-UA" sz="2400" b="0" u="none" spc="150" strike="noStrike">
                <a:solidFill>
                  <a:schemeClr val="dk1"/>
                </a:solidFill>
                <a:effectLst/>
                <a:uFillTx/>
                <a:latin typeface="Times New Roman"/>
                <a:ea typeface="Times New Roman"/>
              </a:rPr>
              <a:t> це </a:t>
            </a:r>
            <a:r>
              <a:rPr lang="uk-UA" sz="2400" b="0" u="none" strike="noStrike">
                <a:solidFill>
                  <a:schemeClr val="dk1"/>
                </a:solidFill>
                <a:effectLst/>
                <a:uFillTx/>
                <a:latin typeface="Times New Roman"/>
                <a:ea typeface="Times New Roman"/>
              </a:rPr>
              <a:t>рівняння</a:t>
            </a:r>
            <a:r>
              <a:rPr lang="uk-UA" sz="2400" b="0" u="none" spc="159"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разом</a:t>
            </a:r>
            <a:r>
              <a:rPr lang="uk-UA" sz="2400" b="0" u="none" spc="159"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з</a:t>
            </a:r>
            <a:r>
              <a:rPr lang="uk-UA" sz="2400" b="0" u="none" spc="15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інтерпретаціями</a:t>
            </a:r>
            <a:r>
              <a:rPr lang="uk-UA" sz="2400" b="0" u="none" spc="164"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матриці</a:t>
            </a:r>
            <a:r>
              <a:rPr lang="uk-UA" sz="2400" b="0" u="none" spc="190" strike="noStrike">
                <a:solidFill>
                  <a:schemeClr val="dk1"/>
                </a:solidFill>
                <a:effectLst/>
                <a:uFillTx/>
                <a:latin typeface="Times New Roman"/>
                <a:ea typeface="Times New Roman"/>
              </a:rPr>
              <a:t> </a:t>
            </a:r>
            <a:r>
              <a:rPr lang="uk-UA" sz="2400" b="0" i="1" u="none" strike="noStrike">
                <a:solidFill>
                  <a:schemeClr val="dk1"/>
                </a:solidFill>
                <a:effectLst/>
                <a:uFillTx/>
                <a:latin typeface="Times New Roman"/>
                <a:ea typeface="Times New Roman"/>
              </a:rPr>
              <a:t>А</a:t>
            </a:r>
            <a:r>
              <a:rPr lang="uk-UA" sz="2400" b="0" i="1" u="none" spc="164"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та</a:t>
            </a:r>
            <a:r>
              <a:rPr lang="uk-UA" sz="2400" b="0" u="none" spc="159"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векторів</a:t>
            </a:r>
            <a:r>
              <a:rPr lang="uk-UA" sz="2400" b="0" u="none" spc="159" strike="noStrike">
                <a:solidFill>
                  <a:schemeClr val="dk1"/>
                </a:solidFill>
                <a:effectLst/>
                <a:uFillTx/>
                <a:latin typeface="Times New Roman"/>
                <a:ea typeface="Times New Roman"/>
              </a:rPr>
              <a:t> </a:t>
            </a:r>
            <a:r>
              <a:rPr lang="uk-UA" sz="2400" b="0" i="1" u="none" strike="noStrike">
                <a:solidFill>
                  <a:schemeClr val="dk1"/>
                </a:solidFill>
                <a:effectLst/>
                <a:uFillTx/>
                <a:latin typeface="Times New Roman"/>
                <a:ea typeface="Times New Roman"/>
              </a:rPr>
              <a:t>Х</a:t>
            </a:r>
            <a:r>
              <a:rPr lang="uk-UA" sz="2400" b="0" i="1" u="none" spc="164"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та</a:t>
            </a:r>
            <a:r>
              <a:rPr lang="uk-UA" sz="2400" b="0" u="none" spc="159" strike="noStrike">
                <a:solidFill>
                  <a:schemeClr val="dk1"/>
                </a:solidFill>
                <a:effectLst/>
                <a:uFillTx/>
                <a:latin typeface="Times New Roman"/>
                <a:ea typeface="Times New Roman"/>
              </a:rPr>
              <a:t> </a:t>
            </a:r>
            <a:r>
              <a:rPr lang="uk-UA" sz="2400" b="0" i="1" u="none" spc="-51" strike="noStrike">
                <a:solidFill>
                  <a:schemeClr val="dk1"/>
                </a:solidFill>
                <a:effectLst/>
                <a:uFillTx/>
                <a:latin typeface="Times New Roman"/>
                <a:ea typeface="Times New Roman"/>
              </a:rPr>
              <a:t>Y </a:t>
            </a:r>
            <a:r>
              <a:rPr lang="uk-UA" sz="2400" b="0" u="none" strike="noStrike">
                <a:solidFill>
                  <a:schemeClr val="dk1"/>
                </a:solidFill>
                <a:effectLst/>
                <a:uFillTx/>
                <a:latin typeface="Times New Roman"/>
                <a:ea typeface="Times New Roman"/>
              </a:rPr>
              <a:t>називають</a:t>
            </a:r>
            <a:r>
              <a:rPr lang="uk-UA" sz="2400" b="0" u="none" spc="-34"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моделлю</a:t>
            </a:r>
            <a:r>
              <a:rPr lang="uk-UA" sz="2400" b="0" u="none" spc="-26"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Леонтьєва</a:t>
            </a:r>
            <a:r>
              <a:rPr lang="uk-UA" sz="2400" b="0" u="none" spc="309"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або</a:t>
            </a:r>
            <a:r>
              <a:rPr lang="uk-UA" sz="2400" b="0" u="none" spc="-14"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моделлю</a:t>
            </a:r>
            <a:r>
              <a:rPr lang="uk-UA" sz="2400" b="0" u="none" spc="-26"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„затрати</a:t>
            </a:r>
            <a:r>
              <a:rPr lang="uk-UA" sz="2400" b="0" u="none" spc="-14"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a:t>
            </a:r>
            <a:r>
              <a:rPr lang="uk-UA" sz="2400" b="0" u="none" spc="-14"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випуск”.</a:t>
            </a:r>
            <a:endParaRPr lang="pl-PL" sz="2400" b="0" u="none" strike="noStrike">
              <a:solidFill>
                <a:schemeClr val="dk1"/>
              </a:solidFill>
              <a:effectLst/>
              <a:uFillTx/>
              <a:latin typeface="Calibri"/>
            </a:endParaRPr>
          </a:p>
          <a:p>
            <a:pPr indent="0" defTabSz="914400">
              <a:lnSpc>
                <a:spcPct val="90000"/>
              </a:lnSpc>
              <a:spcBef>
                <a:spcPts val="1001"/>
              </a:spcBef>
              <a:buNone/>
              <a:tabLst>
                <a:tab algn="l" pos="0"/>
              </a:tabLst>
            </a:pPr>
            <a:endParaRPr lang="pl-PL" sz="2800" b="0" u="none" strike="noStrike">
              <a:solidFill>
                <a:schemeClr val="dk1"/>
              </a:solidFill>
              <a:effectLst/>
              <a:uFillTx/>
              <a:latin typeface="Calibri"/>
            </a:endParaRPr>
          </a:p>
        </p:txBody>
      </p:sp>
      <p:pic>
        <p:nvPicPr>
          <p:cNvPr id="81" name="Рисунок 4"/>
          <p:cNvPicPr/>
          <p:nvPr/>
        </p:nvPicPr>
        <p:blipFill>
          <a:blip r:embed="rId1"/>
          <a:stretch/>
        </p:blipFill>
        <p:spPr>
          <a:xfrm>
            <a:off x="713520" y="2142360"/>
            <a:ext cx="10764360" cy="344160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p:nvPr>
        </p:nvSpPr>
        <p:spPr>
          <a:xfrm>
            <a:off x="736920" y="346320"/>
            <a:ext cx="10616760" cy="5830200"/>
          </a:xfrm>
          <a:prstGeom prst="rect">
            <a:avLst/>
          </a:prstGeom>
          <a:noFill/>
          <a:ln w="0">
            <a:noFill/>
          </a:ln>
        </p:spPr>
        <p:txBody>
          <a:bodyPr lIns="91440" rIns="91440" tIns="45720" bIns="45720" anchor="t">
            <a:normAutofit/>
          </a:bodyPr>
          <a:p>
            <a:pPr marL="181440" indent="0" algn="just" defTabSz="914400">
              <a:lnSpc>
                <a:spcPct val="150000"/>
              </a:lnSpc>
              <a:spcBef>
                <a:spcPts val="805"/>
              </a:spcBef>
              <a:buNone/>
              <a:tabLst>
                <a:tab algn="l" pos="0"/>
              </a:tabLst>
            </a:pPr>
            <a:r>
              <a:rPr lang="uk-UA" sz="2400" b="0" u="none" strike="noStrike">
                <a:solidFill>
                  <a:schemeClr val="dk1"/>
                </a:solidFill>
                <a:effectLst/>
                <a:uFillTx/>
                <a:latin typeface="Times New Roman"/>
                <a:ea typeface="Times New Roman"/>
              </a:rPr>
              <a:t>Матриця </a:t>
            </a:r>
            <a:r>
              <a:rPr lang="uk-UA" sz="2400" b="0" i="1" u="none" strike="noStrike">
                <a:solidFill>
                  <a:schemeClr val="dk1"/>
                </a:solidFill>
                <a:effectLst/>
                <a:uFillTx/>
                <a:latin typeface="Times New Roman"/>
                <a:ea typeface="Times New Roman"/>
              </a:rPr>
              <a:t>А ≥ 0 </a:t>
            </a:r>
            <a:r>
              <a:rPr lang="uk-UA" sz="2400" b="0" u="none" strike="noStrike">
                <a:solidFill>
                  <a:schemeClr val="dk1"/>
                </a:solidFill>
                <a:effectLst/>
                <a:uFillTx/>
                <a:latin typeface="Times New Roman"/>
                <a:ea typeface="Times New Roman"/>
              </a:rPr>
              <a:t>називається продуктивною, якщо для будь-якого вектора </a:t>
            </a:r>
            <a:r>
              <a:rPr lang="uk-UA" sz="2400" b="0" i="1" u="none" strike="noStrike">
                <a:solidFill>
                  <a:schemeClr val="dk1"/>
                </a:solidFill>
                <a:effectLst/>
                <a:uFillTx/>
                <a:latin typeface="Times New Roman"/>
                <a:ea typeface="Times New Roman"/>
              </a:rPr>
              <a:t>Y ≥</a:t>
            </a:r>
            <a:r>
              <a:rPr lang="uk-UA" sz="2400" b="0" i="1" u="none" spc="201" strike="noStrike">
                <a:solidFill>
                  <a:schemeClr val="dk1"/>
                </a:solidFill>
                <a:effectLst/>
                <a:uFillTx/>
                <a:latin typeface="Times New Roman"/>
                <a:ea typeface="Times New Roman"/>
              </a:rPr>
              <a:t> </a:t>
            </a:r>
            <a:r>
              <a:rPr lang="uk-UA" sz="2400" b="0" i="1" u="none" strike="noStrike">
                <a:solidFill>
                  <a:schemeClr val="dk1"/>
                </a:solidFill>
                <a:effectLst/>
                <a:uFillTx/>
                <a:latin typeface="Times New Roman"/>
                <a:ea typeface="Times New Roman"/>
              </a:rPr>
              <a:t>0 </a:t>
            </a:r>
            <a:r>
              <a:rPr lang="uk-UA" sz="2400" b="0" u="none" strike="noStrike">
                <a:solidFill>
                  <a:schemeClr val="dk1"/>
                </a:solidFill>
                <a:effectLst/>
                <a:uFillTx/>
                <a:latin typeface="Times New Roman"/>
                <a:ea typeface="Times New Roman"/>
              </a:rPr>
              <a:t>існує розв’язок</a:t>
            </a:r>
            <a:r>
              <a:rPr lang="uk-UA" sz="2400" b="0" u="none" spc="201" strike="noStrike">
                <a:solidFill>
                  <a:schemeClr val="dk1"/>
                </a:solidFill>
                <a:effectLst/>
                <a:uFillTx/>
                <a:latin typeface="Times New Roman"/>
                <a:ea typeface="Times New Roman"/>
              </a:rPr>
              <a:t> </a:t>
            </a:r>
            <a:r>
              <a:rPr lang="uk-UA" sz="2400" b="0" i="1" u="none" strike="noStrike">
                <a:solidFill>
                  <a:schemeClr val="dk1"/>
                </a:solidFill>
                <a:effectLst/>
                <a:uFillTx/>
                <a:latin typeface="Times New Roman"/>
                <a:ea typeface="Times New Roman"/>
              </a:rPr>
              <a:t>Х ≥</a:t>
            </a:r>
            <a:r>
              <a:rPr lang="uk-UA" sz="2400" b="0" i="1" u="none" spc="201" strike="noStrike">
                <a:solidFill>
                  <a:schemeClr val="dk1"/>
                </a:solidFill>
                <a:effectLst/>
                <a:uFillTx/>
                <a:latin typeface="Times New Roman"/>
                <a:ea typeface="Times New Roman"/>
              </a:rPr>
              <a:t> </a:t>
            </a:r>
            <a:r>
              <a:rPr lang="uk-UA" sz="2400" b="0" i="1" u="none" strike="noStrike">
                <a:solidFill>
                  <a:schemeClr val="dk1"/>
                </a:solidFill>
                <a:effectLst/>
                <a:uFillTx/>
                <a:latin typeface="Times New Roman"/>
                <a:ea typeface="Times New Roman"/>
              </a:rPr>
              <a:t>0</a:t>
            </a:r>
            <a:r>
              <a:rPr lang="uk-UA" sz="2400" b="0" i="1"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рівняння (1). У цьому випадку економіка називається </a:t>
            </a:r>
            <a:r>
              <a:rPr lang="uk-UA" sz="2400" b="0" u="none" spc="-11" strike="noStrike">
                <a:solidFill>
                  <a:schemeClr val="dk1"/>
                </a:solidFill>
                <a:effectLst/>
                <a:uFillTx/>
                <a:latin typeface="Times New Roman"/>
                <a:ea typeface="Times New Roman"/>
              </a:rPr>
              <a:t>рентабельною.</a:t>
            </a:r>
            <a:endParaRPr lang="pl-PL" sz="2400" b="0" u="none" strike="noStrike">
              <a:solidFill>
                <a:schemeClr val="dk1"/>
              </a:solidFill>
              <a:effectLst/>
              <a:uFillTx/>
              <a:latin typeface="Calibri"/>
            </a:endParaRPr>
          </a:p>
          <a:p>
            <a:pPr marL="181440" indent="0" algn="just" defTabSz="914400">
              <a:lnSpc>
                <a:spcPct val="150000"/>
              </a:lnSpc>
              <a:spcBef>
                <a:spcPts val="805"/>
              </a:spcBef>
              <a:buNone/>
              <a:tabLst>
                <a:tab algn="l" pos="0"/>
              </a:tabLst>
            </a:pPr>
            <a:r>
              <a:rPr lang="uk-UA" sz="2400" b="0" u="none" strike="noStrike">
                <a:solidFill>
                  <a:schemeClr val="dk1"/>
                </a:solidFill>
                <a:effectLst/>
                <a:uFillTx/>
                <a:latin typeface="Times New Roman"/>
                <a:ea typeface="Times New Roman"/>
              </a:rPr>
              <a:t>У</a:t>
            </a:r>
            <a:r>
              <a:rPr lang="uk-UA" sz="2400" b="0" u="none" spc="-4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матричному</a:t>
            </a:r>
            <a:r>
              <a:rPr lang="uk-UA" sz="2400" b="0" u="none" spc="-2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вигляді</a:t>
            </a:r>
            <a:r>
              <a:rPr lang="uk-UA" sz="2400" b="0" u="none" spc="-26"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досить</a:t>
            </a:r>
            <a:r>
              <a:rPr lang="uk-UA" sz="2400" b="0" u="none" spc="-5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просто</a:t>
            </a:r>
            <a:r>
              <a:rPr lang="uk-UA" sz="2400" b="0" u="none" spc="-2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отримати</a:t>
            </a:r>
            <a:r>
              <a:rPr lang="uk-UA" sz="2400" b="0" u="none" spc="-45"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розв’язок</a:t>
            </a:r>
            <a:r>
              <a:rPr lang="uk-UA" sz="2400" b="0" u="none" spc="-26"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рівняння</a:t>
            </a:r>
            <a:r>
              <a:rPr lang="uk-UA" sz="2400" b="0" u="none" spc="-26" strike="noStrike">
                <a:solidFill>
                  <a:schemeClr val="dk1"/>
                </a:solidFill>
                <a:effectLst/>
                <a:uFillTx/>
                <a:latin typeface="Times New Roman"/>
                <a:ea typeface="Times New Roman"/>
              </a:rPr>
              <a:t> </a:t>
            </a:r>
            <a:endParaRPr lang="pl-PL" sz="2400" b="0" u="none" strike="noStrike">
              <a:solidFill>
                <a:schemeClr val="dk1"/>
              </a:solidFill>
              <a:effectLst/>
              <a:uFillTx/>
              <a:latin typeface="Calibri"/>
            </a:endParaRPr>
          </a:p>
          <a:p>
            <a:pPr marL="181440" indent="0" algn="just" defTabSz="914400">
              <a:lnSpc>
                <a:spcPct val="150000"/>
              </a:lnSpc>
              <a:spcBef>
                <a:spcPts val="805"/>
              </a:spcBef>
              <a:buNone/>
              <a:tabLst>
                <a:tab algn="l" pos="0"/>
              </a:tabLst>
            </a:pPr>
            <a:r>
              <a:rPr lang="uk-UA" sz="2400" b="0" i="1" u="none" strike="noStrike">
                <a:solidFill>
                  <a:schemeClr val="dk1"/>
                </a:solidFill>
                <a:effectLst/>
                <a:highlight>
                  <a:srgbClr val="00ff00"/>
                </a:highlight>
                <a:uFillTx/>
                <a:latin typeface="Times New Roman"/>
                <a:ea typeface="Times New Roman"/>
              </a:rPr>
              <a:t>(Е</a:t>
            </a:r>
            <a:r>
              <a:rPr lang="uk-UA" sz="2400" b="0" i="1" u="none" spc="-6" strike="noStrike">
                <a:solidFill>
                  <a:schemeClr val="dk1"/>
                </a:solidFill>
                <a:effectLst/>
                <a:highlight>
                  <a:srgbClr val="00ff00"/>
                </a:highlight>
                <a:uFillTx/>
                <a:latin typeface="Times New Roman"/>
                <a:ea typeface="Times New Roman"/>
              </a:rPr>
              <a:t> </a:t>
            </a:r>
            <a:r>
              <a:rPr lang="uk-UA" sz="2400" b="0" i="1" u="none" strike="noStrike">
                <a:solidFill>
                  <a:schemeClr val="dk1"/>
                </a:solidFill>
                <a:effectLst/>
                <a:highlight>
                  <a:srgbClr val="00ff00"/>
                </a:highlight>
                <a:uFillTx/>
                <a:latin typeface="Times New Roman"/>
                <a:ea typeface="Times New Roman"/>
              </a:rPr>
              <a:t>–</a:t>
            </a:r>
            <a:r>
              <a:rPr lang="uk-UA" sz="2400" b="0" i="1" u="none" spc="-14" strike="noStrike">
                <a:solidFill>
                  <a:schemeClr val="dk1"/>
                </a:solidFill>
                <a:effectLst/>
                <a:highlight>
                  <a:srgbClr val="00ff00"/>
                </a:highlight>
                <a:uFillTx/>
                <a:latin typeface="Times New Roman"/>
                <a:ea typeface="Times New Roman"/>
              </a:rPr>
              <a:t> </a:t>
            </a:r>
            <a:r>
              <a:rPr lang="uk-UA" sz="2400" b="0" i="1" u="none" strike="noStrike">
                <a:solidFill>
                  <a:schemeClr val="dk1"/>
                </a:solidFill>
                <a:effectLst/>
                <a:highlight>
                  <a:srgbClr val="00ff00"/>
                </a:highlight>
                <a:uFillTx/>
                <a:latin typeface="Times New Roman"/>
                <a:ea typeface="Times New Roman"/>
              </a:rPr>
              <a:t>А)Х =</a:t>
            </a:r>
            <a:r>
              <a:rPr lang="uk-UA" sz="2400" b="0" i="1" u="none" spc="-6" strike="noStrike">
                <a:solidFill>
                  <a:schemeClr val="dk1"/>
                </a:solidFill>
                <a:effectLst/>
                <a:highlight>
                  <a:srgbClr val="00ff00"/>
                </a:highlight>
                <a:uFillTx/>
                <a:latin typeface="Times New Roman"/>
                <a:ea typeface="Times New Roman"/>
              </a:rPr>
              <a:t> </a:t>
            </a:r>
            <a:r>
              <a:rPr lang="uk-UA" sz="2400" b="0" i="1" u="none" spc="-51" strike="noStrike">
                <a:solidFill>
                  <a:schemeClr val="dk1"/>
                </a:solidFill>
                <a:effectLst/>
                <a:highlight>
                  <a:srgbClr val="00ff00"/>
                </a:highlight>
                <a:uFillTx/>
                <a:latin typeface="Times New Roman"/>
                <a:ea typeface="Times New Roman"/>
              </a:rPr>
              <a:t>Y</a:t>
            </a:r>
            <a:r>
              <a:rPr lang="uk-UA" sz="2400" b="0" i="1" u="none" strike="noStrike">
                <a:solidFill>
                  <a:schemeClr val="dk1"/>
                </a:solidFill>
                <a:effectLst/>
                <a:highlight>
                  <a:srgbClr val="00ff00"/>
                </a:highlight>
                <a:uFillTx/>
                <a:latin typeface="Times New Roman"/>
                <a:ea typeface="Times New Roman"/>
              </a:rPr>
              <a:t>	</a:t>
            </a:r>
            <a:r>
              <a:rPr lang="uk-UA" sz="2400" b="0" i="1" u="none" strike="noStrike">
                <a:solidFill>
                  <a:schemeClr val="dk1"/>
                </a:solidFill>
                <a:effectLst/>
                <a:highlight>
                  <a:srgbClr val="00ff00"/>
                </a:highlight>
                <a:uFillTx/>
                <a:latin typeface="Times New Roman"/>
                <a:ea typeface="Times New Roman"/>
              </a:rPr>
              <a:t>   </a:t>
            </a:r>
            <a:r>
              <a:rPr lang="uk-UA" sz="2400" b="0" u="none" spc="-11" strike="noStrike">
                <a:solidFill>
                  <a:schemeClr val="dk1"/>
                </a:solidFill>
                <a:effectLst/>
                <a:uFillTx/>
                <a:latin typeface="Times New Roman"/>
                <a:ea typeface="Times New Roman"/>
              </a:rPr>
              <a:t>(2)</a:t>
            </a:r>
            <a:endParaRPr lang="pl-PL" sz="2400" b="0" u="none" strike="noStrike">
              <a:solidFill>
                <a:schemeClr val="dk1"/>
              </a:solidFill>
              <a:effectLst/>
              <a:uFillTx/>
              <a:latin typeface="Calibri"/>
            </a:endParaRPr>
          </a:p>
          <a:p>
            <a:pPr indent="0" defTabSz="914400">
              <a:lnSpc>
                <a:spcPct val="90000"/>
              </a:lnSpc>
              <a:spcBef>
                <a:spcPts val="1001"/>
              </a:spcBef>
              <a:buNone/>
              <a:tabLst>
                <a:tab algn="l" pos="0"/>
              </a:tabLst>
            </a:pPr>
            <a:r>
              <a:rPr lang="uk-UA" sz="2400" b="0" i="1" u="none" strike="noStrike">
                <a:solidFill>
                  <a:schemeClr val="dk1"/>
                </a:solidFill>
                <a:effectLst/>
                <a:highlight>
                  <a:srgbClr val="00ff00"/>
                </a:highlight>
                <a:uFillTx/>
                <a:latin typeface="Times New Roman"/>
                <a:ea typeface="Times New Roman"/>
              </a:rPr>
              <a:t>Х =</a:t>
            </a:r>
            <a:r>
              <a:rPr lang="uk-UA" sz="2400" b="0" i="1" u="none" spc="-6" strike="noStrike">
                <a:solidFill>
                  <a:schemeClr val="dk1"/>
                </a:solidFill>
                <a:effectLst/>
                <a:highlight>
                  <a:srgbClr val="00ff00"/>
                </a:highlight>
                <a:uFillTx/>
                <a:latin typeface="Times New Roman"/>
                <a:ea typeface="Times New Roman"/>
              </a:rPr>
              <a:t> </a:t>
            </a:r>
            <a:r>
              <a:rPr lang="uk-UA" sz="2400" b="0" i="1" u="none" strike="noStrike">
                <a:solidFill>
                  <a:schemeClr val="dk1"/>
                </a:solidFill>
                <a:effectLst/>
                <a:highlight>
                  <a:srgbClr val="00ff00"/>
                </a:highlight>
                <a:uFillTx/>
                <a:latin typeface="Times New Roman"/>
                <a:ea typeface="Times New Roman"/>
              </a:rPr>
              <a:t>(</a:t>
            </a:r>
            <a:r>
              <a:rPr lang="uk-UA" sz="2400" b="0" i="1" u="none" spc="-6" strike="noStrike">
                <a:solidFill>
                  <a:schemeClr val="dk1"/>
                </a:solidFill>
                <a:effectLst/>
                <a:highlight>
                  <a:srgbClr val="00ff00"/>
                </a:highlight>
                <a:uFillTx/>
                <a:latin typeface="Times New Roman"/>
                <a:ea typeface="Times New Roman"/>
              </a:rPr>
              <a:t> </a:t>
            </a:r>
            <a:r>
              <a:rPr lang="uk-UA" sz="2400" b="0" i="1" u="none" strike="noStrike">
                <a:solidFill>
                  <a:schemeClr val="dk1"/>
                </a:solidFill>
                <a:effectLst/>
                <a:highlight>
                  <a:srgbClr val="00ff00"/>
                </a:highlight>
                <a:uFillTx/>
                <a:latin typeface="Times New Roman"/>
                <a:ea typeface="Times New Roman"/>
              </a:rPr>
              <a:t>Е</a:t>
            </a:r>
            <a:r>
              <a:rPr lang="uk-UA" sz="2400" b="0" i="1" u="none" spc="-11" strike="noStrike">
                <a:solidFill>
                  <a:schemeClr val="dk1"/>
                </a:solidFill>
                <a:effectLst/>
                <a:highlight>
                  <a:srgbClr val="00ff00"/>
                </a:highlight>
                <a:uFillTx/>
                <a:latin typeface="Times New Roman"/>
                <a:ea typeface="Times New Roman"/>
              </a:rPr>
              <a:t> </a:t>
            </a:r>
            <a:r>
              <a:rPr lang="uk-UA" sz="2400" b="0" i="1" u="none" strike="noStrike">
                <a:solidFill>
                  <a:schemeClr val="dk1"/>
                </a:solidFill>
                <a:effectLst/>
                <a:highlight>
                  <a:srgbClr val="00ff00"/>
                </a:highlight>
                <a:uFillTx/>
                <a:latin typeface="Times New Roman"/>
                <a:ea typeface="Times New Roman"/>
              </a:rPr>
              <a:t>– А)</a:t>
            </a:r>
            <a:r>
              <a:rPr lang="uk-UA" sz="2400" b="0" i="1" u="none" strike="noStrike" baseline="30000">
                <a:solidFill>
                  <a:schemeClr val="dk1"/>
                </a:solidFill>
                <a:effectLst/>
                <a:highlight>
                  <a:srgbClr val="00ff00"/>
                </a:highlight>
                <a:uFillTx/>
                <a:latin typeface="Times New Roman"/>
                <a:ea typeface="Times New Roman"/>
              </a:rPr>
              <a:t>-</a:t>
            </a:r>
            <a:r>
              <a:rPr lang="uk-UA" sz="2400" b="0" i="1" u="none" spc="-26" strike="noStrike" baseline="30000">
                <a:solidFill>
                  <a:schemeClr val="dk1"/>
                </a:solidFill>
                <a:effectLst/>
                <a:highlight>
                  <a:srgbClr val="00ff00"/>
                </a:highlight>
                <a:uFillTx/>
                <a:latin typeface="Times New Roman"/>
                <a:ea typeface="Times New Roman"/>
              </a:rPr>
              <a:t>1</a:t>
            </a:r>
            <a:r>
              <a:rPr lang="uk-UA" sz="2400" b="0" i="1" u="none" spc="-26" strike="noStrike">
                <a:solidFill>
                  <a:schemeClr val="dk1"/>
                </a:solidFill>
                <a:effectLst/>
                <a:highlight>
                  <a:srgbClr val="00ff00"/>
                </a:highlight>
                <a:uFillTx/>
                <a:latin typeface="Times New Roman"/>
                <a:ea typeface="Times New Roman"/>
              </a:rPr>
              <a:t>Y      </a:t>
            </a:r>
            <a:r>
              <a:rPr lang="uk-UA" sz="2400" b="0" i="1" u="none" spc="-26" strike="noStrike">
                <a:solidFill>
                  <a:schemeClr val="dk1"/>
                </a:solidFill>
                <a:effectLst/>
                <a:uFillTx/>
                <a:latin typeface="Times New Roman"/>
                <a:ea typeface="Times New Roman"/>
              </a:rPr>
              <a:t>(3)</a:t>
            </a:r>
            <a:endParaRPr lang="pl-PL" sz="2400" b="0" u="none" strike="noStrike">
              <a:solidFill>
                <a:schemeClr val="dk1"/>
              </a:solidFill>
              <a:effectLst/>
              <a:uFillTx/>
              <a:latin typeface="Calibri"/>
            </a:endParaRPr>
          </a:p>
          <a:p>
            <a:pPr marL="181440" indent="0" algn="just" defTabSz="914400">
              <a:lnSpc>
                <a:spcPct val="150000"/>
              </a:lnSpc>
              <a:spcBef>
                <a:spcPts val="816"/>
              </a:spcBef>
              <a:buNone/>
              <a:tabLst>
                <a:tab algn="l" pos="0"/>
              </a:tabLst>
            </a:pPr>
            <a:r>
              <a:rPr lang="uk-UA" sz="2400" b="0" u="none" strike="noStrike">
                <a:solidFill>
                  <a:schemeClr val="dk1"/>
                </a:solidFill>
                <a:effectLst/>
                <a:uFillTx/>
                <a:latin typeface="Times New Roman"/>
                <a:ea typeface="Times New Roman"/>
              </a:rPr>
              <a:t>Матриця </a:t>
            </a:r>
            <a:r>
              <a:rPr lang="uk-UA" sz="2400" b="0" i="1" u="none" strike="noStrike">
                <a:solidFill>
                  <a:schemeClr val="dk1"/>
                </a:solidFill>
                <a:effectLst/>
                <a:uFillTx/>
                <a:latin typeface="Times New Roman"/>
                <a:ea typeface="Times New Roman"/>
              </a:rPr>
              <a:t>( Е – А)</a:t>
            </a:r>
            <a:r>
              <a:rPr lang="uk-UA" sz="2400" b="0" i="1" u="none" strike="noStrike" baseline="30000">
                <a:solidFill>
                  <a:schemeClr val="dk1"/>
                </a:solidFill>
                <a:effectLst/>
                <a:uFillTx/>
                <a:latin typeface="Times New Roman"/>
                <a:ea typeface="Times New Roman"/>
              </a:rPr>
              <a:t>-1</a:t>
            </a:r>
            <a:r>
              <a:rPr lang="uk-UA" sz="2400" b="0" i="1" u="none"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називається матрицею повних затрат, умова що вона існує і невід’ємна є одним з критеріїв продуктивності матриці </a:t>
            </a:r>
            <a:r>
              <a:rPr lang="uk-UA" sz="2400" b="0" i="1" u="none" strike="noStrike">
                <a:solidFill>
                  <a:schemeClr val="dk1"/>
                </a:solidFill>
                <a:effectLst/>
                <a:uFillTx/>
                <a:latin typeface="Times New Roman"/>
                <a:ea typeface="Times New Roman"/>
              </a:rPr>
              <a:t>А</a:t>
            </a:r>
            <a:r>
              <a:rPr lang="uk-UA" sz="2400" b="0" u="none" strike="noStrike">
                <a:solidFill>
                  <a:schemeClr val="dk1"/>
                </a:solidFill>
                <a:effectLst/>
                <a:uFillTx/>
                <a:latin typeface="Times New Roman"/>
                <a:ea typeface="Times New Roman"/>
              </a:rPr>
              <a:t>. Коефіцієнти матриці повних затрат виражають вартість тієї частини валового продукту галузі </a:t>
            </a:r>
            <a:r>
              <a:rPr lang="uk-UA" sz="2400" b="0" i="1" u="none" strike="noStrike">
                <a:solidFill>
                  <a:schemeClr val="dk1"/>
                </a:solidFill>
                <a:effectLst/>
                <a:uFillTx/>
                <a:latin typeface="Times New Roman"/>
                <a:ea typeface="Times New Roman"/>
              </a:rPr>
              <a:t>і</a:t>
            </a:r>
            <a:r>
              <a:rPr lang="uk-UA" sz="2400" b="0" u="none" strike="noStrike">
                <a:solidFill>
                  <a:schemeClr val="dk1"/>
                </a:solidFill>
                <a:effectLst/>
                <a:uFillTx/>
                <a:latin typeface="Times New Roman"/>
                <a:ea typeface="Times New Roman"/>
              </a:rPr>
              <a:t>, яка необхідна для випуску </a:t>
            </a:r>
            <a:r>
              <a:rPr lang="uk-UA" sz="2400" b="0" i="1" u="none" strike="noStrike">
                <a:solidFill>
                  <a:schemeClr val="dk1"/>
                </a:solidFill>
                <a:effectLst/>
                <a:uFillTx/>
                <a:latin typeface="Times New Roman"/>
                <a:ea typeface="Times New Roman"/>
              </a:rPr>
              <a:t>j –</a:t>
            </a:r>
            <a:r>
              <a:rPr lang="uk-UA" sz="2400" b="0" u="none" strike="noStrike">
                <a:solidFill>
                  <a:schemeClr val="dk1"/>
                </a:solidFill>
                <a:effectLst/>
                <a:uFillTx/>
                <a:latin typeface="Times New Roman"/>
                <a:ea typeface="Times New Roman"/>
              </a:rPr>
              <a:t>тою галуззю одиниці кінцевого товару.</a:t>
            </a:r>
            <a:endParaRPr lang="pl-PL" sz="2400" b="0" u="none" strike="noStrike">
              <a:solidFill>
                <a:schemeClr val="dk1"/>
              </a:solidFill>
              <a:effectLst/>
              <a:uFillTx/>
              <a:latin typeface="Calibri"/>
            </a:endParaRPr>
          </a:p>
          <a:p>
            <a:pPr indent="0" defTabSz="914400">
              <a:lnSpc>
                <a:spcPct val="90000"/>
              </a:lnSpc>
              <a:spcBef>
                <a:spcPts val="1001"/>
              </a:spcBef>
              <a:buNone/>
              <a:tabLst>
                <a:tab algn="l" pos="0"/>
              </a:tabLst>
            </a:pP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p:nvPr>
        </p:nvSpPr>
        <p:spPr>
          <a:xfrm>
            <a:off x="790200" y="150840"/>
            <a:ext cx="10563480" cy="6025680"/>
          </a:xfrm>
          <a:prstGeom prst="rect">
            <a:avLst/>
          </a:prstGeom>
          <a:noFill/>
          <a:ln w="0">
            <a:noFill/>
          </a:ln>
        </p:spPr>
        <p:txBody>
          <a:bodyPr lIns="91440" rIns="91440" tIns="45720" bIns="45720" anchor="t">
            <a:noAutofit/>
          </a:bodyPr>
          <a:p>
            <a:pPr marL="181440" indent="0" algn="just" defTabSz="914400">
              <a:lnSpc>
                <a:spcPct val="150000"/>
              </a:lnSpc>
              <a:spcBef>
                <a:spcPts val="371"/>
              </a:spcBef>
              <a:buNone/>
              <a:tabLst>
                <a:tab algn="l" pos="0"/>
              </a:tabLst>
            </a:pPr>
            <a:r>
              <a:rPr lang="uk-UA" sz="2400" b="0" u="none" strike="noStrike">
                <a:solidFill>
                  <a:schemeClr val="dk1"/>
                </a:solidFill>
                <a:effectLst/>
                <a:uFillTx/>
                <a:latin typeface="Times New Roman"/>
                <a:ea typeface="Times New Roman"/>
              </a:rPr>
              <a:t>Вирази (2) та (3) можна трактувати як розв’язки двох основних задач багатогалузевої економіки: а) по заданим обсягам валового випуску визначення обсягів кінцевого споживання та б) по заданим обсягам кінцевого споживання визначення обсягів валової продукції.</a:t>
            </a:r>
            <a:endParaRPr lang="pl-PL" sz="2400" b="0" u="none" strike="noStrike">
              <a:solidFill>
                <a:schemeClr val="dk1"/>
              </a:solidFill>
              <a:effectLst/>
              <a:uFillTx/>
              <a:latin typeface="Calibri"/>
            </a:endParaRPr>
          </a:p>
          <a:p>
            <a:pPr marL="181440" indent="0" algn="just" defTabSz="914400">
              <a:lnSpc>
                <a:spcPct val="150000"/>
              </a:lnSpc>
              <a:spcBef>
                <a:spcPts val="6"/>
              </a:spcBef>
              <a:buNone/>
              <a:tabLst>
                <a:tab algn="l" pos="0"/>
              </a:tabLst>
            </a:pPr>
            <a:r>
              <a:rPr lang="uk-UA" sz="2400" b="0" u="none" strike="noStrike">
                <a:solidFill>
                  <a:schemeClr val="dk1"/>
                </a:solidFill>
                <a:effectLst/>
                <a:uFillTx/>
                <a:latin typeface="Times New Roman"/>
                <a:ea typeface="Times New Roman"/>
              </a:rPr>
              <a:t>Називатимемо невід'ємну матрицю </a:t>
            </a:r>
            <a:r>
              <a:rPr lang="uk-UA" sz="2400" b="0" i="1" u="none" strike="noStrike">
                <a:solidFill>
                  <a:schemeClr val="dk1"/>
                </a:solidFill>
                <a:effectLst/>
                <a:uFillTx/>
                <a:latin typeface="Times New Roman"/>
                <a:ea typeface="Times New Roman"/>
              </a:rPr>
              <a:t>А </a:t>
            </a:r>
            <a:r>
              <a:rPr lang="uk-UA" sz="2400" b="0" u="none" strike="noStrike">
                <a:solidFill>
                  <a:schemeClr val="dk1"/>
                </a:solidFill>
                <a:effectLst/>
                <a:uFillTx/>
                <a:latin typeface="Times New Roman"/>
                <a:ea typeface="Times New Roman"/>
              </a:rPr>
              <a:t>продуктивною, якщо існує такий невід'ємний вектор X, що</a:t>
            </a:r>
            <a:endParaRPr lang="pl-PL" sz="2400" b="0" u="none" strike="noStrike">
              <a:solidFill>
                <a:schemeClr val="dk1"/>
              </a:solidFill>
              <a:effectLst/>
              <a:uFillTx/>
              <a:latin typeface="Calibri"/>
            </a:endParaRPr>
          </a:p>
          <a:p>
            <a:pPr marL="2065680" indent="0" defTabSz="914400">
              <a:lnSpc>
                <a:spcPts val="1585"/>
              </a:lnSpc>
              <a:spcBef>
                <a:spcPts val="1001"/>
              </a:spcBef>
              <a:buNone/>
              <a:tabLst>
                <a:tab algn="l" pos="0"/>
              </a:tabLst>
            </a:pPr>
            <a:r>
              <a:rPr lang="uk-UA" sz="2400" b="0" i="1" u="none" strike="noStrike">
                <a:solidFill>
                  <a:schemeClr val="dk1"/>
                </a:solidFill>
                <a:effectLst/>
                <a:highlight>
                  <a:srgbClr val="00ff00"/>
                </a:highlight>
                <a:uFillTx/>
                <a:latin typeface="Times New Roman"/>
                <a:ea typeface="Times New Roman"/>
              </a:rPr>
              <a:t>Х &gt;</a:t>
            </a:r>
            <a:r>
              <a:rPr lang="uk-UA" sz="2400" b="0" i="1" u="none" spc="-6" strike="noStrike">
                <a:solidFill>
                  <a:schemeClr val="dk1"/>
                </a:solidFill>
                <a:effectLst/>
                <a:highlight>
                  <a:srgbClr val="00ff00"/>
                </a:highlight>
                <a:uFillTx/>
                <a:latin typeface="Times New Roman"/>
                <a:ea typeface="Times New Roman"/>
              </a:rPr>
              <a:t> </a:t>
            </a:r>
            <a:r>
              <a:rPr lang="uk-UA" sz="2400" b="0" i="1" u="none" spc="-26" strike="noStrike">
                <a:solidFill>
                  <a:schemeClr val="dk1"/>
                </a:solidFill>
                <a:effectLst/>
                <a:highlight>
                  <a:srgbClr val="00ff00"/>
                </a:highlight>
                <a:uFillTx/>
                <a:latin typeface="Times New Roman"/>
                <a:ea typeface="Times New Roman"/>
              </a:rPr>
              <a:t>АХ.</a:t>
            </a:r>
            <a:r>
              <a:rPr lang="uk-UA" sz="2400" b="0" i="1" u="none"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(4)</a:t>
            </a:r>
            <a:endParaRPr lang="pl-PL" sz="2400" b="0" u="none" strike="noStrike">
              <a:solidFill>
                <a:schemeClr val="dk1"/>
              </a:solidFill>
              <a:effectLst/>
              <a:uFillTx/>
              <a:latin typeface="Calibri"/>
            </a:endParaRPr>
          </a:p>
          <a:p>
            <a:pPr marL="181440" indent="0" defTabSz="914400">
              <a:lnSpc>
                <a:spcPct val="150000"/>
              </a:lnSpc>
              <a:spcBef>
                <a:spcPts val="799"/>
              </a:spcBef>
              <a:buNone/>
              <a:tabLst>
                <a:tab algn="l" pos="0"/>
              </a:tabLst>
            </a:pPr>
            <a:r>
              <a:rPr lang="uk-UA" sz="2400" b="0" u="none" strike="noStrike">
                <a:solidFill>
                  <a:schemeClr val="dk1"/>
                </a:solidFill>
                <a:effectLst/>
                <a:uFillTx/>
                <a:latin typeface="Times New Roman"/>
                <a:ea typeface="Times New Roman"/>
              </a:rPr>
              <a:t>Очевидно,</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що</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умова</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(4)</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означає</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існування</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невід'ємного</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вектора</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кінцевої продукції </a:t>
            </a:r>
            <a:r>
              <a:rPr lang="uk-UA" sz="2400" b="0" i="1" u="none" strike="noStrike">
                <a:solidFill>
                  <a:schemeClr val="dk1"/>
                </a:solidFill>
                <a:effectLst/>
                <a:uFillTx/>
                <a:latin typeface="Times New Roman"/>
                <a:ea typeface="Times New Roman"/>
              </a:rPr>
              <a:t>Y &gt; </a:t>
            </a:r>
            <a:r>
              <a:rPr lang="uk-UA" sz="2400" b="0" u="none" strike="noStrike">
                <a:solidFill>
                  <a:schemeClr val="dk1"/>
                </a:solidFill>
                <a:effectLst/>
                <a:uFillTx/>
                <a:latin typeface="Times New Roman"/>
                <a:ea typeface="Times New Roman"/>
              </a:rPr>
              <a:t>0 для моделі міжгалузевого балансу (1).</a:t>
            </a:r>
            <a:endParaRPr lang="pl-PL" sz="2400" b="0" u="none" strike="noStrike">
              <a:solidFill>
                <a:schemeClr val="dk1"/>
              </a:solidFill>
              <a:effectLst/>
              <a:uFillTx/>
              <a:latin typeface="Calibri"/>
            </a:endParaRPr>
          </a:p>
          <a:p>
            <a:pPr indent="0" defTabSz="914400">
              <a:lnSpc>
                <a:spcPct val="90000"/>
              </a:lnSpc>
              <a:spcBef>
                <a:spcPts val="1001"/>
              </a:spcBef>
              <a:buNone/>
              <a:tabLst>
                <a:tab algn="l" pos="0"/>
              </a:tabLst>
            </a:pPr>
            <a:endParaRPr lang="pl-PL"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p:nvPr>
        </p:nvSpPr>
        <p:spPr>
          <a:xfrm>
            <a:off x="648000" y="354960"/>
            <a:ext cx="10705320" cy="5821560"/>
          </a:xfrm>
          <a:prstGeom prst="rect">
            <a:avLst/>
          </a:prstGeom>
          <a:noFill/>
          <a:ln w="0">
            <a:noFill/>
          </a:ln>
        </p:spPr>
        <p:txBody>
          <a:bodyPr lIns="91440" rIns="91440" tIns="45720" bIns="45720" anchor="t">
            <a:normAutofit/>
          </a:bodyPr>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Принципова схема міжгалузевого балансу (МГБ) виробництва й розподілу суспільного продукту у вартісному вираженні наведена в таблиці 1.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У підґрунтя цієї схеми покладено поділ сукупного продукту на дві частини: проміжний і кінцевий продукт;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усе народне господарство подане тут як сукупність галузей (чисті галузі).</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 Кожна з цих галузей фігурує в балансі як виробник і як споживач. Розгляньмо схему МГБ в розрізі його блоків, що мають різний економічний зміст, — їх заведено називати квадрантами балансу (на схемі квадранти позначені римськими цифрами).</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5" name="Місце для вмісту 4"/>
          <p:cNvPicPr/>
          <p:nvPr/>
        </p:nvPicPr>
        <p:blipFill>
          <a:blip r:embed="rId1"/>
          <a:stretch/>
        </p:blipFill>
        <p:spPr>
          <a:xfrm>
            <a:off x="1155600" y="290880"/>
            <a:ext cx="10189440" cy="648936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p:nvPr>
        </p:nvSpPr>
        <p:spPr>
          <a:xfrm>
            <a:off x="807840" y="284040"/>
            <a:ext cx="10545480" cy="5892480"/>
          </a:xfrm>
          <a:prstGeom prst="rect">
            <a:avLst/>
          </a:prstGeom>
          <a:noFill/>
          <a:ln w="0">
            <a:noFill/>
          </a:ln>
        </p:spPr>
        <p:txBody>
          <a:bodyPr lIns="91440" rIns="91440" tIns="45720" bIns="45720" anchor="t">
            <a:normAutofit fontScale="92500" lnSpcReduction="9999"/>
          </a:bodyPr>
          <a:p>
            <a:pPr indent="0" algn="just" defTabSz="914400">
              <a:lnSpc>
                <a:spcPct val="150000"/>
              </a:lnSpc>
              <a:spcBef>
                <a:spcPts val="1001"/>
              </a:spcBef>
              <a:buNone/>
              <a:tabLst>
                <a:tab algn="l" pos="0"/>
              </a:tabLst>
            </a:pPr>
            <a:r>
              <a:rPr lang="uk-UA" sz="2400" b="0" i="1" u="none" strike="noStrike">
                <a:solidFill>
                  <a:schemeClr val="dk1"/>
                </a:solidFill>
                <a:effectLst/>
                <a:uFillTx/>
                <a:latin typeface="Times New Roman"/>
                <a:ea typeface="Times New Roman"/>
              </a:rPr>
              <a:t>Перший квадрант МГБ </a:t>
            </a:r>
            <a:r>
              <a:rPr lang="uk-UA" sz="2400" b="0" u="none" strike="noStrike">
                <a:solidFill>
                  <a:schemeClr val="dk1"/>
                </a:solidFill>
                <a:effectLst/>
                <a:uFillTx/>
                <a:latin typeface="Times New Roman"/>
                <a:ea typeface="Times New Roman"/>
              </a:rPr>
              <a:t>— це таблиця міжгалузевих потоків. Показники, що </a:t>
            </a:r>
            <a:r>
              <a:rPr lang="uk-UA" sz="2400" b="0" u="none" spc="-11" strike="noStrike">
                <a:solidFill>
                  <a:schemeClr val="dk1"/>
                </a:solidFill>
                <a:effectLst/>
                <a:uFillTx/>
                <a:latin typeface="Times New Roman"/>
                <a:ea typeface="Times New Roman"/>
              </a:rPr>
              <a:t>містяться</a:t>
            </a:r>
            <a:r>
              <a:rPr lang="uk-UA" sz="2400" b="0" u="none" spc="-65"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на</a:t>
            </a:r>
            <a:r>
              <a:rPr lang="uk-UA" sz="2400" b="0" u="none" spc="-71"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перетині</a:t>
            </a:r>
            <a:r>
              <a:rPr lang="uk-UA" sz="2400" b="0" u="none" spc="-74"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рядків</a:t>
            </a:r>
            <a:r>
              <a:rPr lang="uk-UA" sz="2400" b="0" u="none" spc="-79"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і</a:t>
            </a:r>
            <a:r>
              <a:rPr lang="uk-UA" sz="2400" b="0" u="none" spc="-60"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стовпців,</a:t>
            </a:r>
            <a:r>
              <a:rPr lang="uk-UA" sz="2400" b="0" u="none" spc="-71"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є</a:t>
            </a:r>
            <a:r>
              <a:rPr lang="uk-UA" sz="2400" b="0" u="none" spc="-54"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обсягами</a:t>
            </a:r>
            <a:r>
              <a:rPr lang="uk-UA" sz="2400" b="0" u="none" spc="-65"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міжгалузевих</a:t>
            </a:r>
            <a:r>
              <a:rPr lang="uk-UA" sz="2400" b="0" u="none" spc="-45"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потоків</a:t>
            </a:r>
            <a:r>
              <a:rPr lang="uk-UA" sz="2400" b="0" u="none" spc="-71"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продукції</a:t>
            </a:r>
            <a:r>
              <a:rPr lang="uk-UA" sz="2400" b="0" u="none" spc="-60" strike="noStrike">
                <a:solidFill>
                  <a:schemeClr val="dk1"/>
                </a:solidFill>
                <a:effectLst/>
                <a:uFillTx/>
                <a:latin typeface="Times New Roman"/>
                <a:ea typeface="Times New Roman"/>
              </a:rPr>
              <a:t> </a:t>
            </a:r>
            <a:r>
              <a:rPr lang="uk-UA" sz="2400" b="0" i="1" u="none" spc="-11" strike="noStrike">
                <a:solidFill>
                  <a:schemeClr val="dk1"/>
                </a:solidFill>
                <a:effectLst/>
                <a:uFillTx/>
                <a:latin typeface="Times New Roman"/>
                <a:ea typeface="Times New Roman"/>
              </a:rPr>
              <a:t>x</a:t>
            </a:r>
            <a:r>
              <a:rPr lang="uk-UA" sz="2400" b="0" i="1" u="none" spc="-11" strike="noStrike" baseline="-25000">
                <a:solidFill>
                  <a:schemeClr val="dk1"/>
                </a:solidFill>
                <a:effectLst/>
                <a:uFillTx/>
                <a:latin typeface="Times New Roman"/>
                <a:ea typeface="Times New Roman"/>
              </a:rPr>
              <a:t>ij</a:t>
            </a:r>
            <a:r>
              <a:rPr lang="uk-UA" sz="2400" b="0" u="none" spc="-11" strike="noStrike">
                <a:solidFill>
                  <a:schemeClr val="dk1"/>
                </a:solidFill>
                <a:effectLst/>
                <a:uFillTx/>
                <a:latin typeface="Times New Roman"/>
                <a:ea typeface="Times New Roman"/>
              </a:rPr>
              <a:t>,</a:t>
            </a:r>
            <a:r>
              <a:rPr lang="uk-UA" sz="2400" b="0" u="none" spc="-71" strike="noStrike">
                <a:solidFill>
                  <a:schemeClr val="dk1"/>
                </a:solidFill>
                <a:effectLst/>
                <a:uFillTx/>
                <a:latin typeface="Times New Roman"/>
                <a:ea typeface="Times New Roman"/>
              </a:rPr>
              <a:t> </a:t>
            </a:r>
            <a:r>
              <a:rPr lang="uk-UA" sz="2400" b="0" i="1" u="none" spc="-11" strike="noStrike">
                <a:solidFill>
                  <a:schemeClr val="dk1"/>
                </a:solidFill>
                <a:effectLst/>
                <a:uFillTx/>
                <a:latin typeface="Times New Roman"/>
                <a:ea typeface="Times New Roman"/>
              </a:rPr>
              <a:t>i </a:t>
            </a:r>
            <a:r>
              <a:rPr lang="uk-UA" sz="2400" b="0" u="none" strike="noStrike">
                <a:solidFill>
                  <a:schemeClr val="dk1"/>
                </a:solidFill>
                <a:effectLst/>
                <a:uFillTx/>
                <a:latin typeface="Times New Roman"/>
                <a:ea typeface="Times New Roman"/>
              </a:rPr>
              <a:t>та </a:t>
            </a:r>
            <a:r>
              <a:rPr lang="uk-UA" sz="2400" b="0" i="1" u="none" strike="noStrike">
                <a:solidFill>
                  <a:schemeClr val="dk1"/>
                </a:solidFill>
                <a:effectLst/>
                <a:uFillTx/>
                <a:latin typeface="Times New Roman"/>
                <a:ea typeface="Times New Roman"/>
              </a:rPr>
              <a:t>j </a:t>
            </a:r>
            <a:r>
              <a:rPr lang="uk-UA" sz="2400" b="0" u="none" strike="noStrike">
                <a:solidFill>
                  <a:schemeClr val="dk1"/>
                </a:solidFill>
                <a:effectLst/>
                <a:uFillTx/>
                <a:latin typeface="Times New Roman"/>
                <a:ea typeface="Times New Roman"/>
              </a:rPr>
              <a:t>— відповідно номери галузей виробників і споживачів. Перший квадрант за формою є квадратною матрицею </a:t>
            </a:r>
            <a:r>
              <a:rPr lang="uk-UA" sz="2400" b="0" i="1" u="none" strike="noStrike">
                <a:solidFill>
                  <a:schemeClr val="dk1"/>
                </a:solidFill>
                <a:effectLst/>
                <a:uFillTx/>
                <a:latin typeface="Times New Roman"/>
                <a:ea typeface="Times New Roman"/>
              </a:rPr>
              <a:t>n</a:t>
            </a:r>
            <a:r>
              <a:rPr lang="uk-UA" sz="2400" b="0" u="none" strike="noStrike">
                <a:solidFill>
                  <a:schemeClr val="dk1"/>
                </a:solidFill>
                <a:effectLst/>
                <a:uFillTx/>
                <a:latin typeface="Times New Roman"/>
                <a:ea typeface="Times New Roman"/>
              </a:rPr>
              <a:t>-го порядку, сума всіх елементів якої дорівнює </a:t>
            </a:r>
            <a:r>
              <a:rPr lang="uk-UA" sz="2400" b="0" u="none" spc="-11" strike="noStrike">
                <a:solidFill>
                  <a:schemeClr val="dk1"/>
                </a:solidFill>
                <a:effectLst/>
                <a:uFillTx/>
                <a:latin typeface="Times New Roman"/>
                <a:ea typeface="Times New Roman"/>
              </a:rPr>
              <a:t>річному</a:t>
            </a:r>
            <a:r>
              <a:rPr lang="uk-UA" sz="2400" b="0" u="none" spc="-79"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фонду</a:t>
            </a:r>
            <a:r>
              <a:rPr lang="uk-UA" sz="2400" b="0" u="none" spc="-74"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відтворення</a:t>
            </a:r>
            <a:r>
              <a:rPr lang="uk-UA" sz="2400" b="0" u="none" spc="-74"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амортизації</a:t>
            </a:r>
            <a:r>
              <a:rPr lang="uk-UA" sz="2400" b="0" u="none" spc="-65"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засобів</a:t>
            </a:r>
            <a:r>
              <a:rPr lang="uk-UA" sz="2400" b="0" u="none" spc="-74"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виробництва</a:t>
            </a:r>
            <a:r>
              <a:rPr lang="uk-UA" sz="2400" b="0" u="none" spc="-71"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у</a:t>
            </a:r>
            <a:r>
              <a:rPr lang="uk-UA" sz="2400" b="0" u="none" spc="-79"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матеріальній</a:t>
            </a:r>
            <a:r>
              <a:rPr lang="uk-UA" sz="2400" b="0" u="none" spc="-71"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сфері.</a:t>
            </a:r>
            <a:endParaRPr lang="pl-PL" sz="2400" b="0" u="none" strike="noStrike">
              <a:solidFill>
                <a:schemeClr val="dk1"/>
              </a:solidFill>
              <a:effectLst/>
              <a:uFillTx/>
              <a:latin typeface="Calibri"/>
            </a:endParaRPr>
          </a:p>
          <a:p>
            <a:pPr marL="205920" indent="0" algn="just" defTabSz="914400">
              <a:lnSpc>
                <a:spcPct val="150000"/>
              </a:lnSpc>
              <a:spcBef>
                <a:spcPts val="11"/>
              </a:spcBef>
              <a:buNone/>
              <a:tabLst>
                <a:tab algn="l" pos="0"/>
              </a:tabLst>
            </a:pPr>
            <a:r>
              <a:rPr lang="uk-UA" sz="2400" b="0" i="1" u="none" strike="noStrike">
                <a:solidFill>
                  <a:schemeClr val="dk1"/>
                </a:solidFill>
                <a:effectLst/>
                <a:uFillTx/>
                <a:latin typeface="Times New Roman"/>
                <a:ea typeface="Times New Roman"/>
              </a:rPr>
              <a:t>У другому квадранті </a:t>
            </a:r>
            <a:r>
              <a:rPr lang="uk-UA" sz="2400" b="0" u="none" strike="noStrike">
                <a:solidFill>
                  <a:schemeClr val="dk1"/>
                </a:solidFill>
                <a:effectLst/>
                <a:uFillTx/>
                <a:latin typeface="Times New Roman"/>
                <a:ea typeface="Times New Roman"/>
              </a:rPr>
              <a:t>подана кінцева продукція всіх галузей матеріального виробництва,</a:t>
            </a:r>
            <a:r>
              <a:rPr lang="uk-UA" sz="2400" b="0" u="none" spc="-4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де</a:t>
            </a:r>
            <a:r>
              <a:rPr lang="uk-UA" sz="2400" b="0" u="none" spc="-3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під</a:t>
            </a:r>
            <a:r>
              <a:rPr lang="uk-UA" sz="2400" b="0" u="none" spc="-3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кінцевою</a:t>
            </a:r>
            <a:r>
              <a:rPr lang="uk-UA" sz="2400" b="0" u="none" spc="-45"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продукцією</a:t>
            </a:r>
            <a:r>
              <a:rPr lang="uk-UA" sz="2400" b="0" u="none" spc="-3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мається</a:t>
            </a:r>
            <a:r>
              <a:rPr lang="uk-UA" sz="2400" b="0" u="none" spc="-34"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на</a:t>
            </a:r>
            <a:r>
              <a:rPr lang="uk-UA" sz="2400" b="0" u="none" spc="-3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увазі</a:t>
            </a:r>
            <a:r>
              <a:rPr lang="uk-UA" sz="2400" b="0" u="none" spc="-3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продукція,</a:t>
            </a:r>
            <a:r>
              <a:rPr lang="uk-UA" sz="2400" b="0" u="none" spc="-3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що</a:t>
            </a:r>
            <a:r>
              <a:rPr lang="uk-UA" sz="2400" b="0" u="none" spc="-26"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виходить</a:t>
            </a:r>
            <a:r>
              <a:rPr lang="uk-UA" sz="2400" b="0" u="none" spc="-3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зі сфери</a:t>
            </a:r>
            <a:r>
              <a:rPr lang="uk-UA" sz="2400" b="0" u="none" spc="-1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виробництва</a:t>
            </a:r>
            <a:r>
              <a:rPr lang="uk-UA" sz="2400" b="0" u="none" spc="-2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в</a:t>
            </a:r>
            <a:r>
              <a:rPr lang="uk-UA" sz="2400" b="0" u="none" spc="-1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кінцеве</a:t>
            </a:r>
            <a:r>
              <a:rPr lang="uk-UA" sz="2400" b="0" u="none" spc="6"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використання</a:t>
            </a:r>
            <a:r>
              <a:rPr lang="uk-UA" sz="2400" b="0" u="none" spc="-1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(на</a:t>
            </a:r>
            <a:r>
              <a:rPr lang="uk-UA" sz="2400" b="0" u="none" spc="-1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споживання</a:t>
            </a:r>
            <a:r>
              <a:rPr lang="uk-UA" sz="2400" b="0" u="none" spc="-1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та накопичення).</a:t>
            </a:r>
            <a:r>
              <a:rPr lang="uk-UA" sz="2400" b="0" u="none" spc="-11" strike="noStrike">
                <a:solidFill>
                  <a:schemeClr val="dk1"/>
                </a:solidFill>
                <a:effectLst/>
                <a:uFillTx/>
                <a:latin typeface="Times New Roman"/>
                <a:ea typeface="Times New Roman"/>
              </a:rPr>
              <a:t>  </a:t>
            </a:r>
            <a:endParaRPr lang="pl-PL" sz="2400" b="0" u="none" strike="noStrike">
              <a:solidFill>
                <a:schemeClr val="dk1"/>
              </a:solidFill>
              <a:effectLst/>
              <a:uFillTx/>
              <a:latin typeface="Calibri"/>
            </a:endParaRPr>
          </a:p>
          <a:p>
            <a:pPr marL="205920" indent="0" algn="just" defTabSz="914400">
              <a:lnSpc>
                <a:spcPct val="150000"/>
              </a:lnSpc>
              <a:spcBef>
                <a:spcPts val="11"/>
              </a:spcBef>
              <a:buNone/>
              <a:tabLst>
                <a:tab algn="l" pos="0"/>
              </a:tabLst>
            </a:pPr>
            <a:r>
              <a:rPr lang="uk-UA" sz="2400" b="0" u="none" strike="noStrike">
                <a:solidFill>
                  <a:schemeClr val="dk1"/>
                </a:solidFill>
                <a:effectLst/>
                <a:uFillTx/>
                <a:latin typeface="Times New Roman"/>
                <a:ea typeface="Times New Roman"/>
              </a:rPr>
              <a:t>У </a:t>
            </a:r>
            <a:r>
              <a:rPr lang="uk-UA" sz="2400" b="0" u="none" spc="-11" strike="noStrike">
                <a:solidFill>
                  <a:schemeClr val="dk1"/>
                </a:solidFill>
                <a:effectLst/>
                <a:uFillTx/>
                <a:latin typeface="Times New Roman"/>
                <a:ea typeface="Times New Roman"/>
              </a:rPr>
              <a:t>табл. </a:t>
            </a:r>
            <a:r>
              <a:rPr lang="uk-UA" sz="2400" b="0" u="none" strike="noStrike">
                <a:solidFill>
                  <a:schemeClr val="dk1"/>
                </a:solidFill>
                <a:effectLst/>
                <a:uFillTx/>
                <a:latin typeface="Times New Roman"/>
                <a:ea typeface="Times New Roman"/>
              </a:rPr>
              <a:t>цей розділ подано в узагальненому вигляді як один стовпчик величин </a:t>
            </a:r>
            <a:r>
              <a:rPr lang="uk-UA" sz="2400" b="0" i="1" u="none" strike="noStrike">
                <a:solidFill>
                  <a:schemeClr val="dk1"/>
                </a:solidFill>
                <a:effectLst/>
                <a:uFillTx/>
                <a:latin typeface="Times New Roman"/>
                <a:ea typeface="Times New Roman"/>
              </a:rPr>
              <a:t>У</a:t>
            </a:r>
            <a:r>
              <a:rPr lang="uk-UA" sz="2400" b="0" i="1" u="none" strike="noStrike" baseline="-25000">
                <a:solidFill>
                  <a:schemeClr val="dk1"/>
                </a:solidFill>
                <a:effectLst/>
                <a:uFillTx/>
                <a:latin typeface="Times New Roman"/>
                <a:ea typeface="Times New Roman"/>
              </a:rPr>
              <a:t>i</a:t>
            </a:r>
            <a:r>
              <a:rPr lang="uk-UA" sz="2400" b="0" u="none" strike="noStrike">
                <a:solidFill>
                  <a:schemeClr val="dk1"/>
                </a:solidFill>
                <a:effectLst/>
                <a:uFillTx/>
                <a:latin typeface="Times New Roman"/>
                <a:ea typeface="Times New Roman"/>
              </a:rPr>
              <a:t>; у розгорнутій схемі балансу кінцевий продукт кожної галузі можна подати диференційовано за напрямами використання: на особисте споживання населення, суспільне</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споживання,</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на</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накопичення, покриття збитків, експорт тощо.</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endParaRPr lang="pl-PL" sz="2400" b="0" u="none" strike="noStrike">
              <a:solidFill>
                <a:schemeClr val="dk1"/>
              </a:solidFill>
              <a:effectLst/>
              <a:uFillTx/>
              <a:latin typeface="Calibri"/>
            </a:endParaRPr>
          </a:p>
          <a:p>
            <a:pPr indent="0" defTabSz="914400">
              <a:lnSpc>
                <a:spcPct val="90000"/>
              </a:lnSpc>
              <a:spcBef>
                <a:spcPts val="1001"/>
              </a:spcBef>
              <a:buNone/>
              <a:tabLst>
                <a:tab algn="l" pos="0"/>
              </a:tabLst>
            </a:pPr>
            <a:endParaRPr lang="pl-PL"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p:nvPr>
        </p:nvSpPr>
        <p:spPr>
          <a:xfrm>
            <a:off x="532800" y="426240"/>
            <a:ext cx="10820880" cy="5750640"/>
          </a:xfrm>
          <a:prstGeom prst="rect">
            <a:avLst/>
          </a:prstGeom>
          <a:noFill/>
          <a:ln w="0">
            <a:noFill/>
          </a:ln>
        </p:spPr>
        <p:txBody>
          <a:bodyPr lIns="91440" rIns="91440" tIns="45720" bIns="45720" anchor="t">
            <a:noAutofit/>
          </a:bodyPr>
          <a:p>
            <a:pPr indent="0" algn="just" defTabSz="914400">
              <a:lnSpc>
                <a:spcPct val="150000"/>
              </a:lnSpc>
              <a:spcBef>
                <a:spcPts val="371"/>
              </a:spcBef>
              <a:buNone/>
              <a:tabLst>
                <a:tab algn="l" pos="0"/>
              </a:tabLst>
            </a:pPr>
            <a:r>
              <a:rPr lang="uk-UA" sz="2400" b="0" i="1" u="none" strike="noStrike">
                <a:solidFill>
                  <a:schemeClr val="dk1"/>
                </a:solidFill>
                <a:effectLst/>
                <a:uFillTx/>
                <a:latin typeface="Times New Roman"/>
                <a:ea typeface="Times New Roman"/>
              </a:rPr>
              <a:t>Третій квадрант МГБ</a:t>
            </a:r>
            <a:r>
              <a:rPr lang="uk-UA" sz="2400" b="0" i="1"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також характеризує національний дохід, але з боку</a:t>
            </a:r>
            <a:r>
              <a:rPr lang="uk-UA" sz="2400" b="0" u="none" spc="40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його</a:t>
            </a:r>
            <a:r>
              <a:rPr lang="uk-UA" sz="2400" b="0" u="none" spc="196"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вартісного</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складу</a:t>
            </a:r>
            <a:r>
              <a:rPr lang="uk-UA" sz="2400" b="0" u="none" spc="22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a:t>
            </a:r>
            <a:r>
              <a:rPr lang="uk-UA" sz="2400" b="0" u="none" spc="196"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як</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суму</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чистої</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продукції</a:t>
            </a:r>
            <a:r>
              <a:rPr lang="uk-UA" sz="2400" b="0" u="none" spc="215"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й</a:t>
            </a:r>
            <a:r>
              <a:rPr lang="uk-UA" sz="2400" b="0" u="none" spc="215"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амортизації;</a:t>
            </a:r>
            <a:r>
              <a:rPr lang="uk-UA" sz="2400" b="0" u="none" spc="204"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чисту </a:t>
            </a:r>
            <a:r>
              <a:rPr lang="uk-UA" sz="2400" b="0" u="none" strike="noStrike">
                <a:solidFill>
                  <a:schemeClr val="dk1"/>
                </a:solidFill>
                <a:effectLst/>
                <a:uFillTx/>
                <a:latin typeface="Times New Roman"/>
                <a:ea typeface="Times New Roman"/>
              </a:rPr>
              <a:t>продукцію тлумачать як суму оплати праці та чистого доходу галузей. Обсяг амортизації</a:t>
            </a:r>
            <a:r>
              <a:rPr lang="uk-UA" sz="2400" b="0" u="none" spc="201" strike="noStrike">
                <a:solidFill>
                  <a:schemeClr val="dk1"/>
                </a:solidFill>
                <a:effectLst/>
                <a:uFillTx/>
                <a:latin typeface="Times New Roman"/>
                <a:ea typeface="Times New Roman"/>
              </a:rPr>
              <a:t> </a:t>
            </a:r>
            <a:r>
              <a:rPr lang="uk-UA" sz="2400" b="0" i="1" u="none" strike="noStrike">
                <a:solidFill>
                  <a:schemeClr val="dk1"/>
                </a:solidFill>
                <a:effectLst/>
                <a:uFillTx/>
                <a:latin typeface="Times New Roman"/>
                <a:ea typeface="Times New Roman"/>
              </a:rPr>
              <a:t>(С</a:t>
            </a:r>
            <a:r>
              <a:rPr lang="uk-UA" sz="2400" b="0" i="1" u="none" strike="noStrike" baseline="-25000">
                <a:solidFill>
                  <a:schemeClr val="dk1"/>
                </a:solidFill>
                <a:effectLst/>
                <a:uFillTx/>
                <a:latin typeface="Times New Roman"/>
                <a:ea typeface="Times New Roman"/>
              </a:rPr>
              <a:t>j</a:t>
            </a:r>
            <a:r>
              <a:rPr lang="uk-UA" sz="2400" b="0" u="none" strike="noStrike">
                <a:solidFill>
                  <a:schemeClr val="dk1"/>
                </a:solidFill>
                <a:effectLst/>
                <a:uFillTx/>
                <a:latin typeface="Times New Roman"/>
                <a:ea typeface="Times New Roman"/>
              </a:rPr>
              <a:t>)</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та</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чистої</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продукції</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a:t>
            </a:r>
            <a:r>
              <a:rPr lang="uk-UA" sz="2400" b="0" i="1" u="none" strike="noStrike">
                <a:solidFill>
                  <a:schemeClr val="dk1"/>
                </a:solidFill>
                <a:effectLst/>
                <a:uFillTx/>
                <a:latin typeface="Times New Roman"/>
                <a:ea typeface="Times New Roman"/>
              </a:rPr>
              <a:t>v</a:t>
            </a:r>
            <a:r>
              <a:rPr lang="uk-UA" sz="2400" b="0" i="1" u="none" strike="noStrike" baseline="-25000">
                <a:solidFill>
                  <a:schemeClr val="dk1"/>
                </a:solidFill>
                <a:effectLst/>
                <a:uFillTx/>
                <a:latin typeface="Times New Roman"/>
                <a:ea typeface="Times New Roman"/>
              </a:rPr>
              <a:t>j</a:t>
            </a:r>
            <a:r>
              <a:rPr lang="uk-UA" sz="2400" b="0" i="1"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a:t>
            </a:r>
            <a:r>
              <a:rPr lang="uk-UA" sz="2400" b="0" u="none" spc="201" strike="noStrike">
                <a:solidFill>
                  <a:schemeClr val="dk1"/>
                </a:solidFill>
                <a:effectLst/>
                <a:uFillTx/>
                <a:latin typeface="Times New Roman"/>
                <a:ea typeface="Times New Roman"/>
              </a:rPr>
              <a:t> </a:t>
            </a:r>
            <a:r>
              <a:rPr lang="uk-UA" sz="2400" b="0" i="1" u="none" strike="noStrike">
                <a:solidFill>
                  <a:schemeClr val="dk1"/>
                </a:solidFill>
                <a:effectLst/>
                <a:uFillTx/>
                <a:latin typeface="Times New Roman"/>
                <a:ea typeface="Times New Roman"/>
              </a:rPr>
              <a:t>m</a:t>
            </a:r>
            <a:r>
              <a:rPr lang="uk-UA" sz="2400" b="0" i="1" u="none" strike="noStrike" baseline="-25000">
                <a:solidFill>
                  <a:schemeClr val="dk1"/>
                </a:solidFill>
                <a:effectLst/>
                <a:uFillTx/>
                <a:latin typeface="Times New Roman"/>
                <a:ea typeface="Times New Roman"/>
              </a:rPr>
              <a:t>j</a:t>
            </a:r>
            <a:r>
              <a:rPr lang="uk-UA" sz="2400" b="0" u="none" strike="noStrike">
                <a:solidFill>
                  <a:schemeClr val="dk1"/>
                </a:solidFill>
                <a:effectLst/>
                <a:uFillTx/>
                <a:latin typeface="Times New Roman"/>
                <a:ea typeface="Times New Roman"/>
              </a:rPr>
              <a:t>)</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деякої</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галузі</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називають</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умовно чистою продукцією цієї галузі й позначають у подальшому через</a:t>
            </a:r>
            <a:r>
              <a:rPr lang="uk-UA" sz="2400" b="0" u="none" spc="201" strike="noStrike">
                <a:solidFill>
                  <a:schemeClr val="dk1"/>
                </a:solidFill>
                <a:effectLst/>
                <a:uFillTx/>
                <a:latin typeface="Times New Roman"/>
                <a:ea typeface="Times New Roman"/>
              </a:rPr>
              <a:t> </a:t>
            </a:r>
            <a:r>
              <a:rPr lang="uk-UA" sz="2400" b="0" i="1" u="none" strike="noStrike">
                <a:solidFill>
                  <a:schemeClr val="dk1"/>
                </a:solidFill>
                <a:effectLst/>
                <a:uFillTx/>
                <a:latin typeface="Times New Roman"/>
                <a:ea typeface="Times New Roman"/>
              </a:rPr>
              <a:t>Z</a:t>
            </a:r>
            <a:r>
              <a:rPr lang="uk-UA" sz="2400" b="0" i="1" u="none" strike="noStrike" baseline="-25000">
                <a:solidFill>
                  <a:schemeClr val="dk1"/>
                </a:solidFill>
                <a:effectLst/>
                <a:uFillTx/>
                <a:latin typeface="Times New Roman"/>
                <a:ea typeface="Times New Roman"/>
              </a:rPr>
              <a:t>j</a:t>
            </a:r>
            <a:r>
              <a:rPr lang="uk-UA" sz="2400" b="0" u="none" strike="noStrike">
                <a:solidFill>
                  <a:schemeClr val="dk1"/>
                </a:solidFill>
                <a:effectLst/>
                <a:uFillTx/>
                <a:latin typeface="Times New Roman"/>
                <a:ea typeface="Times New Roman"/>
              </a:rPr>
              <a:t>.</a:t>
            </a:r>
            <a:endParaRPr lang="pl-PL" sz="2400" b="0" u="none" strike="noStrike">
              <a:solidFill>
                <a:schemeClr val="dk1"/>
              </a:solidFill>
              <a:effectLst/>
              <a:uFillTx/>
              <a:latin typeface="Calibri"/>
            </a:endParaRPr>
          </a:p>
          <a:p>
            <a:pPr indent="0" algn="just" defTabSz="914400">
              <a:lnSpc>
                <a:spcPct val="150000"/>
              </a:lnSpc>
              <a:spcBef>
                <a:spcPts val="371"/>
              </a:spcBef>
              <a:buNone/>
              <a:tabLst>
                <a:tab algn="l" pos="0"/>
              </a:tabLst>
            </a:pPr>
            <a:r>
              <a:rPr lang="uk-UA" sz="2400" b="0" i="1" u="none" strike="noStrike">
                <a:solidFill>
                  <a:schemeClr val="dk1"/>
                </a:solidFill>
                <a:effectLst/>
                <a:uFillTx/>
                <a:latin typeface="Times New Roman"/>
                <a:ea typeface="Times New Roman"/>
              </a:rPr>
              <a:t>Четвертий</a:t>
            </a:r>
            <a:r>
              <a:rPr lang="uk-UA" sz="2400" b="0" i="1" u="none" spc="201" strike="noStrike">
                <a:solidFill>
                  <a:schemeClr val="dk1"/>
                </a:solidFill>
                <a:effectLst/>
                <a:uFillTx/>
                <a:latin typeface="Times New Roman"/>
                <a:ea typeface="Times New Roman"/>
              </a:rPr>
              <a:t> </a:t>
            </a:r>
            <a:r>
              <a:rPr lang="uk-UA" sz="2400" b="0" i="1" u="none" strike="noStrike">
                <a:solidFill>
                  <a:schemeClr val="dk1"/>
                </a:solidFill>
                <a:effectLst/>
                <a:uFillTx/>
                <a:latin typeface="Times New Roman"/>
                <a:ea typeface="Times New Roman"/>
              </a:rPr>
              <a:t>квадрант</a:t>
            </a:r>
            <a:r>
              <a:rPr lang="uk-UA" sz="2400" b="0" i="1"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відбиває</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розподіл</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і</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використання</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національного доходу. В результаті перерозподілу створеного національного доходу утворюються скінченні доходи населення, підприємств, держави.</a:t>
            </a:r>
            <a:endParaRPr lang="pl-PL" sz="2400" b="0" u="none" strike="noStrike">
              <a:solidFill>
                <a:schemeClr val="dk1"/>
              </a:solidFill>
              <a:effectLst/>
              <a:uFillTx/>
              <a:latin typeface="Calibri"/>
            </a:endParaRPr>
          </a:p>
          <a:p>
            <a:pPr indent="0" defTabSz="914400">
              <a:lnSpc>
                <a:spcPct val="90000"/>
              </a:lnSpc>
              <a:spcBef>
                <a:spcPts val="1001"/>
              </a:spcBef>
              <a:buNone/>
              <a:tabLst>
                <a:tab algn="l" pos="0"/>
              </a:tabLst>
            </a:pPr>
            <a:endParaRPr lang="pl-PL" sz="1800" b="0" u="none" strike="noStrike">
              <a:solidFill>
                <a:schemeClr val="dk1"/>
              </a:solidFill>
              <a:effectLst/>
              <a:uFillTx/>
              <a:latin typeface="Calibri"/>
            </a:endParaRPr>
          </a:p>
          <a:p>
            <a:pPr indent="0" defTabSz="914400">
              <a:lnSpc>
                <a:spcPct val="90000"/>
              </a:lnSpc>
              <a:spcBef>
                <a:spcPts val="1001"/>
              </a:spcBef>
              <a:buNone/>
              <a:tabLst>
                <a:tab algn="l" pos="0"/>
              </a:tabLst>
            </a:pPr>
            <a:endParaRPr lang="pl-PL"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p:nvPr>
        </p:nvSpPr>
        <p:spPr>
          <a:xfrm>
            <a:off x="754560" y="399600"/>
            <a:ext cx="10598760" cy="5777280"/>
          </a:xfrm>
          <a:prstGeom prst="rect">
            <a:avLst/>
          </a:prstGeom>
          <a:noFill/>
          <a:ln w="0">
            <a:noFill/>
          </a:ln>
        </p:spPr>
        <p:txBody>
          <a:bodyPr lIns="91440" rIns="91440" tIns="45720" bIns="45720" anchor="t">
            <a:noAutofit/>
          </a:bodyPr>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ea typeface="Times New Roman"/>
              </a:rPr>
              <a:t>Дані</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четвертого</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квадранта</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важливі</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для</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відображення</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в</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міжгалузевій</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моделі балансу доходів і витрат населення, джерел фінансування капіталовкладень, поточних витрат невиробничої сфери, для аналізу загальної структури доходів за групами</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споживачів.</a:t>
            </a:r>
            <a:r>
              <a:rPr lang="uk-UA" sz="2400" b="0" u="none" spc="201" strike="noStrike">
                <a:solidFill>
                  <a:schemeClr val="dk1"/>
                </a:solidFill>
                <a:effectLst/>
                <a:uFillTx/>
                <a:latin typeface="Times New Roman"/>
                <a:ea typeface="Times New Roman"/>
              </a:rPr>
              <a:t>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ea typeface="Times New Roman"/>
              </a:rPr>
              <a:t>Загалом</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МГБ</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у</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межах</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єдиної</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моделі</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об'єднує</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баланси галузей матеріального виробництва, баланс сукупного суспільного продукту,</a:t>
            </a:r>
            <a:r>
              <a:rPr lang="uk-UA" sz="2400" b="0" u="none" spc="40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баланс</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національного</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доходу,</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баланс</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доходів</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і</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витрат</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населення.</a:t>
            </a:r>
            <a:endParaRPr lang="pl-PL" sz="2400" b="0" u="none" strike="noStrike">
              <a:solidFill>
                <a:schemeClr val="dk1"/>
              </a:solidFill>
              <a:effectLst/>
              <a:uFillTx/>
              <a:latin typeface="Calibri"/>
            </a:endParaRPr>
          </a:p>
          <a:p>
            <a:pPr indent="0" defTabSz="914400">
              <a:lnSpc>
                <a:spcPct val="90000"/>
              </a:lnSpc>
              <a:spcBef>
                <a:spcPts val="1001"/>
              </a:spcBef>
              <a:buNone/>
              <a:tabLst>
                <a:tab algn="l" pos="0"/>
              </a:tabLst>
            </a:pPr>
            <a:endParaRPr lang="pl-PL"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9" name="Місце для вмісту 4"/>
          <p:cNvPicPr/>
          <p:nvPr/>
        </p:nvPicPr>
        <p:blipFill>
          <a:blip r:embed="rId1"/>
          <a:stretch/>
        </p:blipFill>
        <p:spPr>
          <a:xfrm>
            <a:off x="1131840" y="675000"/>
            <a:ext cx="9316800" cy="5507640"/>
          </a:xfrm>
          <a:prstGeom prst="rect">
            <a:avLst/>
          </a:prstGeom>
          <a:noFill/>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1209240" y="214560"/>
            <a:ext cx="9506880" cy="505800"/>
          </a:xfrm>
          <a:prstGeom prst="rect">
            <a:avLst/>
          </a:prstGeom>
          <a:noFill/>
          <a:ln w="0">
            <a:noFill/>
          </a:ln>
        </p:spPr>
        <p:txBody>
          <a:bodyPr lIns="91440" rIns="91440" tIns="45720" bIns="45720" anchor="ctr">
            <a:normAutofit/>
          </a:bodyPr>
          <a:p>
            <a:pPr indent="0" algn="ctr" defTabSz="914400">
              <a:lnSpc>
                <a:spcPct val="90000"/>
              </a:lnSpc>
              <a:buNone/>
            </a:pPr>
            <a:r>
              <a:rPr lang="uk-UA" sz="2400" b="1" u="none" strike="noStrike">
                <a:solidFill>
                  <a:schemeClr val="dk1"/>
                </a:solidFill>
                <a:effectLst/>
                <a:uFillTx/>
                <a:latin typeface="Times New Roman"/>
              </a:rPr>
              <a:t>Врахування запасів та резервів</a:t>
            </a:r>
            <a:endParaRPr lang="pl-PL" sz="2400" b="0" u="none" strike="noStrike">
              <a:solidFill>
                <a:schemeClr val="dk1"/>
              </a:solidFill>
              <a:effectLst/>
              <a:uFillTx/>
              <a:latin typeface="Calibri"/>
            </a:endParaRPr>
          </a:p>
        </p:txBody>
      </p:sp>
      <p:sp>
        <p:nvSpPr>
          <p:cNvPr id="91" name="PlaceHolder 2"/>
          <p:cNvSpPr>
            <a:spLocks noGrp="1"/>
          </p:cNvSpPr>
          <p:nvPr>
            <p:ph/>
          </p:nvPr>
        </p:nvSpPr>
        <p:spPr>
          <a:xfrm>
            <a:off x="838080" y="798840"/>
            <a:ext cx="10515240" cy="5022360"/>
          </a:xfrm>
          <a:prstGeom prst="rect">
            <a:avLst/>
          </a:prstGeom>
          <a:noFill/>
          <a:ln w="0">
            <a:noFill/>
          </a:ln>
        </p:spPr>
        <p:txBody>
          <a:bodyPr lIns="91440" rIns="91440" tIns="45720" bIns="45720" anchor="t">
            <a:noAutofit/>
          </a:bodyPr>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ea typeface="Times New Roman"/>
              </a:rPr>
              <a:t>У моделях, що визначають</a:t>
            </a:r>
            <a:r>
              <a:rPr lang="uk-UA" sz="2400" b="0" u="none" spc="-6"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обсяги</a:t>
            </a:r>
            <a:r>
              <a:rPr lang="uk-UA" sz="2400" b="0" u="none" spc="-6"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товарної маси,</a:t>
            </a:r>
            <a:r>
              <a:rPr lang="uk-UA" sz="2400" b="0" u="none" spc="-1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яка</a:t>
            </a:r>
            <a:r>
              <a:rPr lang="uk-UA" sz="2400" b="0" u="none" spc="-6"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реально може</a:t>
            </a:r>
            <a:r>
              <a:rPr lang="uk-UA" sz="2400" b="0" u="none" spc="-6"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попасти</a:t>
            </a:r>
            <a:r>
              <a:rPr lang="uk-UA" sz="2400" b="0" u="none" spc="-6"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на  споживчий</a:t>
            </a:r>
            <a:r>
              <a:rPr lang="uk-UA" sz="2400" b="0" u="none" spc="235"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ринок,</a:t>
            </a:r>
            <a:r>
              <a:rPr lang="uk-UA" sz="2400" b="0" u="none" spc="24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враховуються</a:t>
            </a:r>
            <a:r>
              <a:rPr lang="uk-UA" sz="2400" b="0" u="none" spc="249"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також</a:t>
            </a:r>
            <a:r>
              <a:rPr lang="uk-UA" sz="2400" b="0" u="none" spc="244"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обсяги</a:t>
            </a:r>
            <a:r>
              <a:rPr lang="uk-UA" sz="2400" b="0" u="none" spc="249"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продукції,</a:t>
            </a:r>
            <a:r>
              <a:rPr lang="uk-UA" sz="2400" b="0" u="none" spc="244"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спрямованої</a:t>
            </a:r>
            <a:r>
              <a:rPr lang="uk-UA" sz="2400" b="0" u="none" spc="249"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на</a:t>
            </a:r>
            <a:r>
              <a:rPr lang="uk-UA" sz="2400" b="0" u="none" spc="241"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приріст </a:t>
            </a:r>
            <a:r>
              <a:rPr lang="uk-UA" sz="2400" b="0" u="none" strike="noStrike">
                <a:solidFill>
                  <a:schemeClr val="dk1"/>
                </a:solidFill>
                <a:effectLst/>
                <a:uFillTx/>
                <a:latin typeface="Times New Roman"/>
                <a:ea typeface="Times New Roman"/>
              </a:rPr>
              <a:t>запасів</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і</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резервів.</a:t>
            </a:r>
            <a:r>
              <a:rPr lang="uk-UA" sz="2400" b="0" u="none" spc="19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Характеристиками</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таких</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потоків</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є</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коефіцієнти</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запасомісткості, які вводяться по аналогії з коефіцієнтами прямих матеріальних затрат а</a:t>
            </a:r>
            <a:r>
              <a:rPr lang="uk-UA" sz="2400" b="0" u="none" strike="noStrike" baseline="-25000">
                <a:solidFill>
                  <a:schemeClr val="dk1"/>
                </a:solidFill>
                <a:effectLst/>
                <a:uFillTx/>
                <a:latin typeface="Times New Roman"/>
                <a:ea typeface="Times New Roman"/>
              </a:rPr>
              <a:t>ij</a:t>
            </a:r>
            <a:r>
              <a:rPr lang="uk-UA" sz="2400" b="0" u="none" strike="noStrike">
                <a:solidFill>
                  <a:schemeClr val="dk1"/>
                </a:solidFill>
                <a:effectLst/>
                <a:uFillTx/>
                <a:latin typeface="Times New Roman"/>
                <a:ea typeface="Times New Roman"/>
              </a:rPr>
              <a:t>, а саме:</a:t>
            </a:r>
            <a:endParaRPr lang="pl-PL" sz="2400" b="0" u="none" strike="noStrike">
              <a:solidFill>
                <a:schemeClr val="dk1"/>
              </a:solidFill>
              <a:effectLst/>
              <a:uFillTx/>
              <a:latin typeface="Calibri"/>
            </a:endParaRPr>
          </a:p>
          <a:p>
            <a:pPr indent="0" defTabSz="914400">
              <a:lnSpc>
                <a:spcPct val="90000"/>
              </a:lnSpc>
              <a:spcBef>
                <a:spcPts val="1001"/>
              </a:spcBef>
              <a:buNone/>
              <a:tabLst>
                <a:tab algn="l" pos="0"/>
              </a:tabLst>
            </a:pPr>
            <a:endParaRPr lang="pl-PL" sz="1800" b="0" u="none" strike="noStrike">
              <a:solidFill>
                <a:schemeClr val="dk1"/>
              </a:solidFill>
              <a:effectLst/>
              <a:uFillTx/>
              <a:latin typeface="Calibri"/>
            </a:endParaRPr>
          </a:p>
          <a:p>
            <a:pPr indent="0" defTabSz="914400">
              <a:lnSpc>
                <a:spcPct val="90000"/>
              </a:lnSpc>
              <a:spcBef>
                <a:spcPts val="1001"/>
              </a:spcBef>
              <a:buNone/>
              <a:tabLst>
                <a:tab algn="l" pos="0"/>
              </a:tabLst>
            </a:pPr>
            <a:endParaRPr lang="pl-PL" sz="2800" b="0" u="none" strike="noStrike">
              <a:solidFill>
                <a:schemeClr val="dk1"/>
              </a:solidFill>
              <a:effectLst/>
              <a:uFillTx/>
              <a:latin typeface="Calibri"/>
            </a:endParaRPr>
          </a:p>
        </p:txBody>
      </p:sp>
      <p:pic>
        <p:nvPicPr>
          <p:cNvPr id="92" name="Рисунок 4"/>
          <p:cNvPicPr/>
          <p:nvPr/>
        </p:nvPicPr>
        <p:blipFill>
          <a:blip r:embed="rId1"/>
          <a:stretch/>
        </p:blipFill>
        <p:spPr>
          <a:xfrm>
            <a:off x="1443600" y="3514320"/>
            <a:ext cx="9304560" cy="3128760"/>
          </a:xfrm>
          <a:prstGeom prst="rect">
            <a:avLst/>
          </a:prstGeom>
          <a:noFill/>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ru-RU" sz="4400" b="0" u="none" strike="noStrike">
                <a:solidFill>
                  <a:schemeClr val="dk1"/>
                </a:solidFill>
                <a:effectLst/>
                <a:uFillTx/>
                <a:latin typeface="Calibri Light"/>
              </a:rPr>
              <a:t> </a:t>
            </a:r>
            <a:endParaRPr lang="pl-PL" sz="4400" b="0" u="none" strike="noStrike">
              <a:solidFill>
                <a:schemeClr val="dk1"/>
              </a:solidFill>
              <a:effectLst/>
              <a:uFillTx/>
              <a:latin typeface="Calibri"/>
            </a:endParaRPr>
          </a:p>
        </p:txBody>
      </p:sp>
      <p:pic>
        <p:nvPicPr>
          <p:cNvPr id="94" name="Місце для вмісту 4"/>
          <p:cNvPicPr/>
          <p:nvPr/>
        </p:nvPicPr>
        <p:blipFill>
          <a:blip r:embed="rId1"/>
          <a:stretch/>
        </p:blipFill>
        <p:spPr>
          <a:xfrm>
            <a:off x="325800" y="763560"/>
            <a:ext cx="11230200" cy="5135760"/>
          </a:xfrm>
          <a:prstGeom prst="rect">
            <a:avLst/>
          </a:prstGeom>
          <a:noFill/>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5" name="Місце для вмісту 3"/>
          <p:cNvPicPr/>
          <p:nvPr/>
        </p:nvPicPr>
        <p:blipFill>
          <a:blip r:embed="rId1"/>
          <a:stretch/>
        </p:blipFill>
        <p:spPr>
          <a:xfrm>
            <a:off x="851040" y="1183680"/>
            <a:ext cx="10823400" cy="2827440"/>
          </a:xfrm>
          <a:prstGeom prst="rect">
            <a:avLst/>
          </a:prstGeom>
          <a:noFill/>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6" name="Місце для вмісту 9"/>
          <p:cNvPicPr/>
          <p:nvPr/>
        </p:nvPicPr>
        <p:blipFill>
          <a:blip r:embed="rId1"/>
          <a:stretch/>
        </p:blipFill>
        <p:spPr>
          <a:xfrm>
            <a:off x="520920" y="923400"/>
            <a:ext cx="10747440" cy="5140800"/>
          </a:xfrm>
          <a:prstGeom prst="rect">
            <a:avLst/>
          </a:prstGeom>
          <a:noFill/>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7" name="Місце для вмісту 4"/>
          <p:cNvPicPr/>
          <p:nvPr/>
        </p:nvPicPr>
        <p:blipFill>
          <a:blip r:embed="rId1"/>
          <a:stretch/>
        </p:blipFill>
        <p:spPr>
          <a:xfrm>
            <a:off x="1046520" y="541440"/>
            <a:ext cx="9712440" cy="5333400"/>
          </a:xfrm>
          <a:prstGeom prst="rect">
            <a:avLst/>
          </a:prstGeom>
          <a:noFill/>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8" name="Місце для вмісту 4"/>
          <p:cNvPicPr/>
          <p:nvPr/>
        </p:nvPicPr>
        <p:blipFill>
          <a:blip r:embed="rId1"/>
          <a:stretch/>
        </p:blipFill>
        <p:spPr>
          <a:xfrm>
            <a:off x="453960" y="843480"/>
            <a:ext cx="10822680" cy="4173840"/>
          </a:xfrm>
          <a:prstGeom prst="rect">
            <a:avLst/>
          </a:prstGeom>
          <a:noFill/>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9" name="Місце для вмісту 4"/>
          <p:cNvPicPr/>
          <p:nvPr/>
        </p:nvPicPr>
        <p:blipFill>
          <a:blip r:embed="rId1"/>
          <a:stretch/>
        </p:blipFill>
        <p:spPr>
          <a:xfrm>
            <a:off x="785520" y="1047600"/>
            <a:ext cx="10620720" cy="4404240"/>
          </a:xfrm>
          <a:prstGeom prst="rect">
            <a:avLst/>
          </a:prstGeom>
          <a:noFill/>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0" name="Місце для вмісту 4"/>
          <p:cNvPicPr/>
          <p:nvPr/>
        </p:nvPicPr>
        <p:blipFill>
          <a:blip r:embed="rId1"/>
          <a:stretch/>
        </p:blipFill>
        <p:spPr>
          <a:xfrm>
            <a:off x="1722240" y="463680"/>
            <a:ext cx="8140320" cy="5930640"/>
          </a:xfrm>
          <a:prstGeom prst="rect">
            <a:avLst/>
          </a:prstGeom>
          <a:noFill/>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p:nvPr>
        </p:nvSpPr>
        <p:spPr>
          <a:xfrm>
            <a:off x="834480" y="346320"/>
            <a:ext cx="10644120" cy="6320520"/>
          </a:xfrm>
          <a:prstGeom prst="rect">
            <a:avLst/>
          </a:prstGeom>
          <a:noFill/>
          <a:ln w="0">
            <a:noFill/>
          </a:ln>
        </p:spPr>
        <p:txBody>
          <a:bodyPr lIns="91440" rIns="91440" tIns="45720" bIns="45720" anchor="t">
            <a:normAutofit lnSpcReduction="9999"/>
          </a:bodyPr>
          <a:p>
            <a:pPr indent="0" algn="just" defTabSz="914400">
              <a:lnSpc>
                <a:spcPct val="150000"/>
              </a:lnSpc>
              <a:spcBef>
                <a:spcPts val="1001"/>
              </a:spcBef>
              <a:buNone/>
              <a:tabLst>
                <a:tab algn="l" pos="0"/>
              </a:tabLst>
            </a:pPr>
            <a:r>
              <a:rPr lang="ru-RU" sz="2400" b="0" u="none" strike="noStrike">
                <a:solidFill>
                  <a:schemeClr val="dk1"/>
                </a:solidFill>
                <a:effectLst/>
                <a:uFillTx/>
                <a:latin typeface="Times New Roman"/>
                <a:ea typeface="Times New Roman"/>
              </a:rPr>
              <a:t>Балансові моделі допомагають менеджерам програмної інженерії приймати стратегічні рішення, які забезпечують стійкий розвиток продукту, оптимальне використання ресурсів і ефективне планування.</a:t>
            </a:r>
            <a:endParaRPr lang="pl-PL" sz="2400" b="0" u="none" strike="noStrike">
              <a:solidFill>
                <a:schemeClr val="dk1"/>
              </a:solidFill>
              <a:effectLst/>
              <a:uFillTx/>
              <a:latin typeface="Calibri"/>
            </a:endParaRPr>
          </a:p>
          <a:p>
            <a:pPr marL="228600" indent="-228600" defTabSz="914400">
              <a:lnSpc>
                <a:spcPct val="150000"/>
              </a:lnSpc>
              <a:spcBef>
                <a:spcPts val="1001"/>
              </a:spcBef>
              <a:spcAft>
                <a:spcPts val="799"/>
              </a:spcAft>
              <a:buClr>
                <a:srgbClr val="000000"/>
              </a:buClr>
              <a:buFont typeface="Arial"/>
              <a:buChar char="•"/>
              <a:tabLst>
                <a:tab algn="l" pos="0"/>
              </a:tabLst>
            </a:pPr>
            <a:r>
              <a:rPr lang="pl-PL" sz="2800" b="1" u="none" strike="noStrike">
                <a:solidFill>
                  <a:schemeClr val="dk1"/>
                </a:solidFill>
                <a:effectLst/>
                <a:uFillTx/>
                <a:latin typeface="Times New Roman"/>
                <a:ea typeface="Times New Roman"/>
              </a:rPr>
              <a:t>Розподіл ресурсів у проєкті</a:t>
            </a:r>
            <a:endParaRPr lang="pl-PL" sz="2800" b="0" u="none" strike="noStrike">
              <a:solidFill>
                <a:schemeClr val="dk1"/>
              </a:solidFill>
              <a:effectLst/>
              <a:uFillTx/>
              <a:latin typeface="Calibri"/>
            </a:endParaRPr>
          </a:p>
          <a:p>
            <a:pPr marL="343080" indent="-343080" defTabSz="914400">
              <a:lnSpc>
                <a:spcPct val="150000"/>
              </a:lnSpc>
              <a:spcBef>
                <a:spcPts val="1001"/>
              </a:spcBef>
              <a:spcAft>
                <a:spcPts val="799"/>
              </a:spcAft>
              <a:buClr>
                <a:srgbClr val="000000"/>
              </a:buClr>
              <a:buFont typeface="Symbol" charset="2"/>
              <a:buChar char=""/>
              <a:tabLst>
                <a:tab algn="l" pos="457200"/>
              </a:tabLst>
            </a:pPr>
            <a:r>
              <a:rPr lang="ru-RU" sz="2400" b="0" u="none" strike="noStrike">
                <a:solidFill>
                  <a:schemeClr val="dk1"/>
                </a:solidFill>
                <a:effectLst/>
                <a:uFillTx/>
                <a:latin typeface="Times New Roman"/>
                <a:ea typeface="Times New Roman"/>
              </a:rPr>
              <a:t>Балансова модель допомагає визначити оптимальне співвідношення між розробниками, тестувальниками, </a:t>
            </a:r>
            <a:r>
              <a:rPr lang="pl-PL" sz="2400" b="0" u="none" strike="noStrike">
                <a:solidFill>
                  <a:schemeClr val="dk1"/>
                </a:solidFill>
                <a:effectLst/>
                <a:uFillTx/>
                <a:latin typeface="Times New Roman"/>
                <a:ea typeface="Times New Roman"/>
              </a:rPr>
              <a:t>DevOps</a:t>
            </a:r>
            <a:r>
              <a:rPr lang="ru-RU" sz="2400" b="0" u="none" strike="noStrike">
                <a:solidFill>
                  <a:schemeClr val="dk1"/>
                </a:solidFill>
                <a:effectLst/>
                <a:uFillTx/>
                <a:latin typeface="Times New Roman"/>
                <a:ea typeface="Times New Roman"/>
              </a:rPr>
              <a:t>-інженерами та іншими учасниками команди для ефективної роботи.</a:t>
            </a:r>
            <a:endParaRPr lang="pl-PL" sz="2400" b="0" u="none" strike="noStrike">
              <a:solidFill>
                <a:schemeClr val="dk1"/>
              </a:solidFill>
              <a:effectLst/>
              <a:uFillTx/>
              <a:latin typeface="Calibri"/>
            </a:endParaRPr>
          </a:p>
          <a:p>
            <a:pPr marL="343080" indent="-343080" defTabSz="914400">
              <a:lnSpc>
                <a:spcPct val="150000"/>
              </a:lnSpc>
              <a:spcBef>
                <a:spcPts val="1001"/>
              </a:spcBef>
              <a:spcAft>
                <a:spcPts val="799"/>
              </a:spcAft>
              <a:buClr>
                <a:srgbClr val="000000"/>
              </a:buClr>
              <a:buFont typeface="Symbol" charset="2"/>
              <a:buChar char=""/>
              <a:tabLst>
                <a:tab algn="l" pos="457200"/>
              </a:tabLst>
            </a:pPr>
            <a:r>
              <a:rPr lang="ru-RU" sz="2400" b="0" u="none" strike="noStrike">
                <a:solidFill>
                  <a:schemeClr val="dk1"/>
                </a:solidFill>
                <a:effectLst/>
                <a:uFillTx/>
                <a:latin typeface="Times New Roman"/>
                <a:ea typeface="Times New Roman"/>
              </a:rPr>
              <a:t>Наприклад, якщо в проєкті потрібно збільшити швидкість випуску нових функцій, модель може підказати, скільки розробників варто додати без шкоди для якості.</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endParaRPr lang="pl-PL" sz="2400" b="0" u="none" strike="noStrike">
              <a:solidFill>
                <a:schemeClr val="dk1"/>
              </a:solidFill>
              <a:effectLst/>
              <a:uFillTx/>
              <a:latin typeface="Calibri"/>
            </a:endParaRPr>
          </a:p>
          <a:p>
            <a:pPr indent="0" defTabSz="914400">
              <a:lnSpc>
                <a:spcPct val="90000"/>
              </a:lnSpc>
              <a:spcBef>
                <a:spcPts val="1001"/>
              </a:spcBef>
              <a:buNone/>
              <a:tabLst>
                <a:tab algn="l" pos="0"/>
              </a:tabLst>
            </a:pPr>
            <a:endParaRPr lang="pl-PL"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p:nvPr>
        </p:nvSpPr>
        <p:spPr>
          <a:xfrm>
            <a:off x="816840" y="399600"/>
            <a:ext cx="10536840" cy="5777280"/>
          </a:xfrm>
          <a:prstGeom prst="rect">
            <a:avLst/>
          </a:prstGeom>
          <a:noFill/>
          <a:ln w="0">
            <a:noFill/>
          </a:ln>
        </p:spPr>
        <p:txBody>
          <a:bodyPr lIns="91440" rIns="91440" tIns="45720" bIns="45720" anchor="t">
            <a:normAutofit fontScale="92500" lnSpcReduction="9999"/>
          </a:bodyPr>
          <a:p>
            <a:pPr marL="228600" indent="-228600" algn="just" defTabSz="914400">
              <a:lnSpc>
                <a:spcPct val="150000"/>
              </a:lnSpc>
              <a:spcBef>
                <a:spcPts val="1001"/>
              </a:spcBef>
              <a:spcAft>
                <a:spcPts val="799"/>
              </a:spcAft>
              <a:buClr>
                <a:srgbClr val="000000"/>
              </a:buClr>
              <a:buFont typeface="Arial"/>
              <a:buChar char="•"/>
            </a:pPr>
            <a:r>
              <a:rPr lang="ru-RU" sz="2400" b="1" u="none" strike="noStrike">
                <a:solidFill>
                  <a:schemeClr val="dk1"/>
                </a:solidFill>
                <a:effectLst/>
                <a:uFillTx/>
                <a:latin typeface="Times New Roman"/>
                <a:ea typeface="Times New Roman"/>
              </a:rPr>
              <a:t>Баланс між якістю та швидкістю розробки</a:t>
            </a:r>
            <a:endParaRPr lang="pl-PL" sz="2400" b="0" u="none" strike="noStrike">
              <a:solidFill>
                <a:schemeClr val="dk1"/>
              </a:solidFill>
              <a:effectLst/>
              <a:uFillTx/>
              <a:latin typeface="Calibri"/>
            </a:endParaRPr>
          </a:p>
          <a:p>
            <a:pPr marL="343080" indent="-343080" algn="just" defTabSz="914400">
              <a:lnSpc>
                <a:spcPct val="150000"/>
              </a:lnSpc>
              <a:spcBef>
                <a:spcPts val="1001"/>
              </a:spcBef>
              <a:spcAft>
                <a:spcPts val="799"/>
              </a:spcAft>
              <a:buClr>
                <a:srgbClr val="000000"/>
              </a:buClr>
              <a:buFont typeface="Symbol" charset="2"/>
              <a:buChar char=""/>
              <a:tabLst>
                <a:tab algn="l" pos="457200"/>
              </a:tabLst>
            </a:pPr>
            <a:r>
              <a:rPr lang="ru-RU" sz="2400" b="0" u="none" strike="noStrike">
                <a:solidFill>
                  <a:schemeClr val="dk1"/>
                </a:solidFill>
                <a:effectLst/>
                <a:uFillTx/>
                <a:latin typeface="Times New Roman"/>
                <a:ea typeface="Times New Roman"/>
              </a:rPr>
              <a:t>У програмній інженерії доводиться знаходити компроміс між швидкістю розробки (</a:t>
            </a:r>
            <a:r>
              <a:rPr lang="pl-PL" sz="2400" b="0" u="none" strike="noStrike">
                <a:solidFill>
                  <a:schemeClr val="dk1"/>
                </a:solidFill>
                <a:effectLst/>
                <a:uFillTx/>
                <a:latin typeface="Times New Roman"/>
                <a:ea typeface="Times New Roman"/>
              </a:rPr>
              <a:t>time</a:t>
            </a:r>
            <a:r>
              <a:rPr lang="ru-RU" sz="2400" b="0" u="none" strike="noStrike">
                <a:solidFill>
                  <a:schemeClr val="dk1"/>
                </a:solidFill>
                <a:effectLst/>
                <a:uFillTx/>
                <a:latin typeface="Times New Roman"/>
                <a:ea typeface="Times New Roman"/>
              </a:rPr>
              <a:t>-</a:t>
            </a:r>
            <a:r>
              <a:rPr lang="pl-PL" sz="2400" b="0" u="none" strike="noStrike">
                <a:solidFill>
                  <a:schemeClr val="dk1"/>
                </a:solidFill>
                <a:effectLst/>
                <a:uFillTx/>
                <a:latin typeface="Times New Roman"/>
                <a:ea typeface="Times New Roman"/>
              </a:rPr>
              <a:t>to</a:t>
            </a:r>
            <a:r>
              <a:rPr lang="ru-RU" sz="2400" b="0" u="none" strike="noStrike">
                <a:solidFill>
                  <a:schemeClr val="dk1"/>
                </a:solidFill>
                <a:effectLst/>
                <a:uFillTx/>
                <a:latin typeface="Times New Roman"/>
                <a:ea typeface="Times New Roman"/>
              </a:rPr>
              <a:t>-</a:t>
            </a:r>
            <a:r>
              <a:rPr lang="pl-PL" sz="2400" b="0" u="none" strike="noStrike">
                <a:solidFill>
                  <a:schemeClr val="dk1"/>
                </a:solidFill>
                <a:effectLst/>
                <a:uFillTx/>
                <a:latin typeface="Times New Roman"/>
                <a:ea typeface="Times New Roman"/>
              </a:rPr>
              <a:t>market</a:t>
            </a:r>
            <a:r>
              <a:rPr lang="ru-RU" sz="2400" b="0" u="none" strike="noStrike">
                <a:solidFill>
                  <a:schemeClr val="dk1"/>
                </a:solidFill>
                <a:effectLst/>
                <a:uFillTx/>
                <a:latin typeface="Times New Roman"/>
                <a:ea typeface="Times New Roman"/>
              </a:rPr>
              <a:t>) і якістю </a:t>
            </a:r>
            <a:r>
              <a:rPr lang="pl-PL" sz="2400" b="0" u="none" strike="noStrike">
                <a:solidFill>
                  <a:schemeClr val="dk1"/>
                </a:solidFill>
                <a:effectLst/>
                <a:uFillTx/>
                <a:latin typeface="Times New Roman"/>
                <a:ea typeface="Times New Roman"/>
              </a:rPr>
              <a:t>(тестування, код-рев’ю, документація).</a:t>
            </a:r>
            <a:endParaRPr lang="pl-PL" sz="2400" b="0" u="none" strike="noStrike">
              <a:solidFill>
                <a:schemeClr val="dk1"/>
              </a:solidFill>
              <a:effectLst/>
              <a:uFillTx/>
              <a:latin typeface="Calibri"/>
            </a:endParaRPr>
          </a:p>
          <a:p>
            <a:pPr marL="343080" indent="-343080" algn="just" defTabSz="914400">
              <a:lnSpc>
                <a:spcPct val="150000"/>
              </a:lnSpc>
              <a:spcBef>
                <a:spcPts val="1001"/>
              </a:spcBef>
              <a:spcAft>
                <a:spcPts val="799"/>
              </a:spcAft>
              <a:buClr>
                <a:srgbClr val="000000"/>
              </a:buClr>
              <a:buFont typeface="Symbol" charset="2"/>
              <a:buChar char=""/>
              <a:tabLst>
                <a:tab algn="l" pos="457200"/>
              </a:tabLst>
            </a:pPr>
            <a:r>
              <a:rPr lang="ru-RU" sz="2400" b="0" u="none" strike="noStrike">
                <a:solidFill>
                  <a:schemeClr val="dk1"/>
                </a:solidFill>
                <a:effectLst/>
                <a:uFillTx/>
                <a:latin typeface="Times New Roman"/>
                <a:ea typeface="Times New Roman"/>
              </a:rPr>
              <a:t>Балансова модель дозволяє визначити, скільки часу та ресурсів потрібно виділити на тестування, щоб знизити ризик помилок, не сповільнюючи розробку.</a:t>
            </a:r>
            <a:endParaRPr lang="pl-PL" sz="2400" b="0" u="none" strike="noStrike">
              <a:solidFill>
                <a:schemeClr val="dk1"/>
              </a:solidFill>
              <a:effectLst/>
              <a:uFillTx/>
              <a:latin typeface="Calibri"/>
            </a:endParaRPr>
          </a:p>
          <a:p>
            <a:pPr marL="228600" indent="-228600" algn="just" defTabSz="914400">
              <a:lnSpc>
                <a:spcPct val="150000"/>
              </a:lnSpc>
              <a:spcBef>
                <a:spcPts val="1001"/>
              </a:spcBef>
              <a:spcAft>
                <a:spcPts val="799"/>
              </a:spcAft>
              <a:buClr>
                <a:srgbClr val="000000"/>
              </a:buClr>
              <a:buFont typeface="Arial"/>
              <a:buChar char="•"/>
              <a:tabLst>
                <a:tab algn="l" pos="457200"/>
              </a:tabLst>
            </a:pPr>
            <a:r>
              <a:rPr lang="pl-PL" sz="2400" b="1" u="none" strike="noStrike">
                <a:solidFill>
                  <a:schemeClr val="dk1"/>
                </a:solidFill>
                <a:effectLst/>
                <a:uFillTx/>
                <a:latin typeface="Times New Roman"/>
                <a:ea typeface="Times New Roman"/>
              </a:rPr>
              <a:t>Балансування навантаження команди</a:t>
            </a:r>
            <a:endParaRPr lang="pl-PL" sz="2400" b="0" u="none" strike="noStrike">
              <a:solidFill>
                <a:schemeClr val="dk1"/>
              </a:solidFill>
              <a:effectLst/>
              <a:uFillTx/>
              <a:latin typeface="Calibri"/>
            </a:endParaRPr>
          </a:p>
          <a:p>
            <a:pPr marL="343080" indent="-343080" algn="just" defTabSz="914400">
              <a:lnSpc>
                <a:spcPct val="150000"/>
              </a:lnSpc>
              <a:spcBef>
                <a:spcPts val="1001"/>
              </a:spcBef>
              <a:spcAft>
                <a:spcPts val="799"/>
              </a:spcAft>
              <a:buClr>
                <a:srgbClr val="000000"/>
              </a:buClr>
              <a:buFont typeface="Symbol" charset="2"/>
              <a:buChar char=""/>
              <a:tabLst>
                <a:tab algn="l" pos="457200"/>
              </a:tabLst>
            </a:pPr>
            <a:r>
              <a:rPr lang="ru-RU" sz="2400" b="0" u="none" strike="noStrike">
                <a:solidFill>
                  <a:schemeClr val="dk1"/>
                </a:solidFill>
                <a:effectLst/>
                <a:uFillTx/>
                <a:latin typeface="Times New Roman"/>
                <a:ea typeface="Times New Roman"/>
              </a:rPr>
              <a:t>Важливо рівномірно розподіляти завдання між членами команди, щоб уникнути вигорання та перевантаження.</a:t>
            </a:r>
            <a:endParaRPr lang="pl-PL" sz="2400" b="0" u="none" strike="noStrike">
              <a:solidFill>
                <a:schemeClr val="dk1"/>
              </a:solidFill>
              <a:effectLst/>
              <a:uFillTx/>
              <a:latin typeface="Calibri"/>
            </a:endParaRPr>
          </a:p>
          <a:p>
            <a:pPr marL="343080" indent="-343080" algn="just" defTabSz="914400">
              <a:lnSpc>
                <a:spcPct val="150000"/>
              </a:lnSpc>
              <a:spcBef>
                <a:spcPts val="1001"/>
              </a:spcBef>
              <a:spcAft>
                <a:spcPts val="799"/>
              </a:spcAft>
              <a:buClr>
                <a:srgbClr val="000000"/>
              </a:buClr>
              <a:buFont typeface="Symbol" charset="2"/>
              <a:buChar char=""/>
              <a:tabLst>
                <a:tab algn="l" pos="457200"/>
              </a:tabLst>
            </a:pPr>
            <a:r>
              <a:rPr lang="ru-RU" sz="2400" b="0" u="none" strike="noStrike">
                <a:solidFill>
                  <a:schemeClr val="dk1"/>
                </a:solidFill>
                <a:effectLst/>
                <a:uFillTx/>
                <a:latin typeface="Times New Roman"/>
                <a:ea typeface="Times New Roman"/>
              </a:rPr>
              <a:t>Балансова модель допомагає розрахувати оптимальну кількість задач на кожного розробника, враховуючи їхній досвід і складність завдань.</a:t>
            </a:r>
            <a:endParaRPr lang="pl-PL" sz="2400" b="0" u="none" strike="noStrike">
              <a:solidFill>
                <a:schemeClr val="dk1"/>
              </a:solidFill>
              <a:effectLst/>
              <a:uFillTx/>
              <a:latin typeface="Calibri"/>
            </a:endParaRPr>
          </a:p>
          <a:p>
            <a:pPr indent="0" defTabSz="914400">
              <a:lnSpc>
                <a:spcPct val="107000"/>
              </a:lnSpc>
              <a:spcBef>
                <a:spcPts val="1001"/>
              </a:spcBef>
              <a:spcAft>
                <a:spcPts val="799"/>
              </a:spcAft>
              <a:buNone/>
              <a:tabLst>
                <a:tab algn="l" pos="457200"/>
              </a:tabLst>
            </a:pPr>
            <a:endParaRPr lang="pl-PL" sz="1800" b="0" u="none" strike="noStrike">
              <a:solidFill>
                <a:schemeClr val="dk1"/>
              </a:solidFill>
              <a:effectLst/>
              <a:uFillTx/>
              <a:latin typeface="Calibri"/>
            </a:endParaRPr>
          </a:p>
          <a:p>
            <a:pPr indent="0" defTabSz="914400">
              <a:lnSpc>
                <a:spcPct val="90000"/>
              </a:lnSpc>
              <a:spcBef>
                <a:spcPts val="1001"/>
              </a:spcBef>
              <a:buNone/>
              <a:tabLst>
                <a:tab algn="l" pos="457200"/>
              </a:tabLst>
            </a:pPr>
            <a:endParaRPr lang="pl-PL"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Тема Office">
  <a:themeElements>
    <a:clrScheme name="Офіс">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Офіс">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223</TotalTime>
  <Application>LibreOffice/25.8.4.2$Linux_X86_64 LibreOffice_project/580$Build-2</Application>
  <AppVersion>15.0000</AppVersion>
  <Words>1520</Words>
  <Paragraphs>72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2025-03-01T19:28:56Z</dcterms:created>
  <dc:creator>Olena Korchynska</dc:creator>
  <dc:description/>
  <dc:language>en-US</dc:language>
  <cp:lastModifiedBy>Admin</cp:lastModifiedBy>
  <dcterms:modified xsi:type="dcterms:W3CDTF">2025-06-13T10:15:54Z</dcterms:modified>
  <cp:revision>40</cp:revision>
  <dc:subject/>
  <dc:title>БАЛАНСОВА МОДЕЛЬ ЛЕОНТЬЄВА</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Широкий екран</vt:lpwstr>
  </property>
  <property fmtid="{D5CDD505-2E9C-101B-9397-08002B2CF9AE}" pid="3" name="Slides">
    <vt:r8>30</vt:r8>
  </property>
</Properties>
</file>