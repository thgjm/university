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31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34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6.xml" ContentType="application/vnd.openxmlformats-officedocument.presentationml.slide+xml"/>
  <Override PartName="/ppt/slides/slide18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37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ED93A0C-FAE6-4BEA-A964-CB1A450E65C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A0D3496-5863-4838-8EB9-DC7F016846A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F6714D3-C325-4CD4-A4C9-06F9905BEFB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16F9C7A-02D2-4AC4-9889-51EB2EC418F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F97188E-6B80-4379-B1AF-848940C2EB6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8AA93F2-F05C-4F96-8671-AD3F75F6D1B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08C99F7-7320-4D45-9D73-7693CAE7BC3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3E85A6D-9B37-47BD-A8DD-C840A4DE1ED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A610D1F-B66B-4825-892D-C7E95EB7693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F31716F-9207-42FB-9963-B4C159AD88E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BB5EEB2-63FF-4789-8D73-2CB95B017F1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85800" y="86724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Ключові метрики розробки ПЗ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371600" y="224604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uk-UA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ЛЕКЦІЯ 10</a:t>
            </a:r>
            <a:endParaRPr lang="en-US" sz="3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4"/>
          <p:cNvSpPr/>
          <p:nvPr/>
        </p:nvSpPr>
        <p:spPr>
          <a:xfrm>
            <a:off x="471240" y="198000"/>
            <a:ext cx="8573400" cy="419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just" defTabSz="457200">
              <a:lnSpc>
                <a:spcPct val="150000"/>
              </a:lnSpc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Наскільки продуктивно працює команда розробників? Коли планувати реліз? Чи буде продукт справді корисним для користувачів? Щоб відповіді на ці питання існують метрики розробки програмного забезпечення.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50000"/>
              </a:lnSpc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на різних етапах важливо контролювати відповідні метрики.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216000" algn="just" defTabSz="4572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Під час розробки — </a:t>
            </a:r>
            <a:r>
              <a:rPr lang="uk-UA" sz="1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менеджерські метрики</a:t>
            </a: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216000" algn="just" defTabSz="4572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Перед релізом — </a:t>
            </a:r>
            <a:r>
              <a:rPr lang="uk-UA" sz="1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технічні метрики</a:t>
            </a: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216000" algn="just" defTabSz="4572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Після релізу — </a:t>
            </a:r>
            <a:r>
              <a:rPr lang="uk-UA" sz="1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користувацькі метрики</a:t>
            </a: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, щоб зрозуміти, як аудиторія взаємодіє з продуктом.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50000"/>
              </a:lnSpc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Існують сотні різних метрик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457200">
              <a:lnSpc>
                <a:spcPct val="15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Розглянемо ключові показники (метрики)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МЕНЕДЖЕРСЬК</a:t>
            </a:r>
            <a:r>
              <a:rPr lang="uk-UA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І МЕТРИКИ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just" defTabSz="457200">
              <a:lnSpc>
                <a:spcPct val="15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Успіх усього проєкту залежить від ефективності процесу розробки. Бюджет, терміни, пріоритетні завдання — усе це слід обирати та коригувати на основі конкретних цифр. Менеджерські метрики допомагають компаніям з розробки програмного забезпечення оцінювати роботу команди.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p>
            <a:pPr indent="0" algn="ctr" defTabSz="457200">
              <a:lnSpc>
                <a:spcPct val="100000"/>
              </a:lnSpc>
              <a:buNone/>
            </a:pPr>
            <a:br>
              <a:rPr sz="4400"/>
            </a:b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Velocity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Швидкість команди у виконанні завдань за спринт.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Допомагає прогнозувати терміни релізів і планувати навантаження.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Дозволяє планувати обсяги майбутніх спринтів.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/>
          </p:nvPr>
        </p:nvSpPr>
        <p:spPr>
          <a:xfrm>
            <a:off x="380880" y="373320"/>
            <a:ext cx="8305560" cy="5752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p>
            <a:pPr indent="0" algn="just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uk-UA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Ця метрика розробки програмного забезпечення показує, який обсяг роботи команда здатна виконати за спринт. Для обчислення показника продуктивності в продуктових командах використовують сторі-поїнти (</a:t>
            </a: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story points) — </a:t>
            </a:r>
            <a:r>
              <a:rPr lang="uk-UA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за їх допомогою кожному завданню в беклозі призначають вагу залежно від складності, замість сторі-поїнтів оцінювання може відбувається в годинах. Сума всіх сторі-поїнтів або всіх годин за спринт — це і є продуктивність.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🎯 </a:t>
            </a:r>
            <a:r>
              <a:rPr lang="uk-UA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Метрику використовують для того, щоб: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uk-UA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зрозуміти, чи команда справляється з темпами проєкту, або ж потрібно наймати додаткових працівників;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uk-UA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планувати кількість завдань у наступних спринтах;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uk-UA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відстежувати, як ті чи інші зміни в робочому процесі впливають на продуктивність;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uk-UA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планувати час релізу продукту, виходячи з реальних можливостей розробки.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pl-PL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Burn Rate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525960" y="952560"/>
            <a:ext cx="8160840" cy="517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55000" lnSpcReduction="19999"/>
          </a:bodyPr>
          <a:p>
            <a:pPr indent="0" algn="l" defTabSz="457200">
              <a:lnSpc>
                <a:spcPct val="100000"/>
              </a:lnSpc>
              <a:spcBef>
                <a:spcPts val="760"/>
              </a:spcBef>
              <a:buNone/>
              <a:tabLst>
                <a:tab pos="0" algn="l"/>
              </a:tabLst>
            </a:pPr>
            <a:br>
              <a:rPr sz="3200"/>
            </a:br>
            <a:r>
              <a:rPr lang="uk-UA" sz="3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Це одна з найважливіших менеджерських метрик у розробці програмного забезпечення: діаграма «згоряння» завдань показує, скільки роботи вже виконано, а скільки ще залишилося. Метрику можна переглянути за:</a:t>
            </a:r>
            <a:endParaRPr lang="en-US" sz="3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457200">
              <a:lnSpc>
                <a:spcPct val="100000"/>
              </a:lnSpc>
              <a:spcBef>
                <a:spcPts val="760"/>
              </a:spcBef>
              <a:buNone/>
              <a:tabLst>
                <a:tab pos="0" algn="l"/>
              </a:tabLst>
            </a:pPr>
            <a:r>
              <a:rPr lang="uk-UA" sz="3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конкретний спринт — це називається </a:t>
            </a:r>
            <a:r>
              <a:rPr lang="pl-PL" sz="3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sprint burndown chart</a:t>
            </a:r>
            <a:r>
              <a:rPr lang="pl-PL" sz="3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uk-UA" sz="3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або діаграма згоряння завдань за спринт;</a:t>
            </a:r>
            <a:endParaRPr lang="en-US" sz="3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457200">
              <a:lnSpc>
                <a:spcPct val="100000"/>
              </a:lnSpc>
              <a:spcBef>
                <a:spcPts val="760"/>
              </a:spcBef>
              <a:buNone/>
              <a:tabLst>
                <a:tab pos="0" algn="l"/>
              </a:tabLst>
            </a:pPr>
            <a:r>
              <a:rPr lang="uk-UA" sz="3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увесь проєкт — це називається </a:t>
            </a:r>
            <a:r>
              <a:rPr lang="pl-PL" sz="3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release burndown chart</a:t>
            </a:r>
            <a:r>
              <a:rPr lang="pl-PL" sz="3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uk-UA" sz="3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або діаграма згоряння завдань до релізу.</a:t>
            </a:r>
            <a:endParaRPr lang="en-US" sz="3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457200">
              <a:lnSpc>
                <a:spcPct val="100000"/>
              </a:lnSpc>
              <a:spcBef>
                <a:spcPts val="760"/>
              </a:spcBef>
              <a:buNone/>
              <a:tabLst>
                <a:tab pos="0" algn="l"/>
              </a:tabLst>
            </a:pPr>
            <a:r>
              <a:rPr lang="uk-UA" sz="3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Графік виглядає як криві, що спускаються вниз: вони відображають динаміку виконання завдань.</a:t>
            </a:r>
            <a:br>
              <a:rPr sz="3800"/>
            </a:br>
            <a:r>
              <a:rPr lang="uk-UA" sz="3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По осі </a:t>
            </a:r>
            <a:r>
              <a:rPr lang="pl-PL" sz="3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X </a:t>
            </a:r>
            <a:r>
              <a:rPr lang="uk-UA" sz="3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позначають кількість днів до завершення спринту або релізу.</a:t>
            </a:r>
            <a:br>
              <a:rPr sz="3800"/>
            </a:br>
            <a:r>
              <a:rPr lang="uk-UA" sz="3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По осі </a:t>
            </a:r>
            <a:r>
              <a:rPr lang="pl-PL" sz="3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Y — </a:t>
            </a:r>
            <a:r>
              <a:rPr lang="uk-UA" sz="3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кількість завдань.</a:t>
            </a:r>
            <a:br>
              <a:rPr sz="3800"/>
            </a:br>
            <a:r>
              <a:rPr lang="uk-UA" sz="3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Одна з ліній графіка показує, з якою швидкістю планувалося виконання роботи. Друга лінія — як робота виконується насправді.</a:t>
            </a:r>
            <a:endParaRPr lang="en-US" sz="3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Місце для вмісту 4"/>
          <p:cNvPicPr/>
          <p:nvPr/>
        </p:nvPicPr>
        <p:blipFill>
          <a:blip r:embed="rId1"/>
          <a:stretch/>
        </p:blipFill>
        <p:spPr>
          <a:xfrm>
            <a:off x="1120320" y="971280"/>
            <a:ext cx="6324120" cy="3314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/>
          </p:nvPr>
        </p:nvSpPr>
        <p:spPr>
          <a:xfrm>
            <a:off x="83880" y="343080"/>
            <a:ext cx="8975880" cy="583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62500" lnSpcReduction="19999"/>
          </a:bodyPr>
          <a:p>
            <a:pPr indent="0" algn="just" defTabSz="457200">
              <a:lnSpc>
                <a:spcPct val="120000"/>
              </a:lnSpc>
              <a:spcBef>
                <a:spcPts val="760"/>
              </a:spcBef>
              <a:buNone/>
              <a:tabLst>
                <a:tab pos="0" algn="l"/>
              </a:tabLst>
            </a:pPr>
            <a:r>
              <a:rPr lang="ru-RU" sz="3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Якщо діагональ, що відображає реальну роботу, має крутіший нахил, це означає, що робота виконується швидше, ніж планувалося. Якщо ж вона більш полога — справа просувається повільніше. Також графік фактичної роботи може бути сильно викривленим. Наприклад, спочатку йти горизонтально (коли завдання не виконуються взагалі), а потім різко опускатися вниз (якщо команда, що надає послуги з розробки ПЗ, працює в ударному темпі).</a:t>
            </a:r>
            <a:endParaRPr lang="en-US" sz="3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457200">
              <a:lnSpc>
                <a:spcPct val="120000"/>
              </a:lnSpc>
              <a:spcBef>
                <a:spcPts val="7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3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🎯 За діаграмою згоряння завдань можна визначити:</a:t>
            </a:r>
            <a:endParaRPr lang="en-US" sz="3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457200">
              <a:lnSpc>
                <a:spcPct val="120000"/>
              </a:lnSpc>
              <a:spcBef>
                <a:spcPts val="7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3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чи реально закрити всі завдання за спринт;</a:t>
            </a:r>
            <a:endParaRPr lang="en-US" sz="3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457200">
              <a:lnSpc>
                <a:spcPct val="120000"/>
              </a:lnSpc>
              <a:spcBef>
                <a:spcPts val="7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3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чи встигне команда зробити реліз у заплановані строки;</a:t>
            </a:r>
            <a:endParaRPr lang="en-US" sz="3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457200">
              <a:lnSpc>
                <a:spcPct val="120000"/>
              </a:lnSpc>
              <a:spcBef>
                <a:spcPts val="7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3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на якому етапі знаходиться проєкт зараз;</a:t>
            </a:r>
            <a:endParaRPr lang="en-US" sz="3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457200">
              <a:lnSpc>
                <a:spcPct val="120000"/>
              </a:lnSpc>
              <a:spcBef>
                <a:spcPts val="7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3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наскільки планомірно працює команда;</a:t>
            </a:r>
            <a:endParaRPr lang="en-US" sz="3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457200">
              <a:lnSpc>
                <a:spcPct val="120000"/>
              </a:lnSpc>
              <a:spcBef>
                <a:spcPts val="7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3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наскільки правильно розраховується час на виконання завдань.</a:t>
            </a:r>
            <a:endParaRPr lang="en-US" sz="3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Місце для вмісту 4"/>
          <p:cNvPicPr/>
          <p:nvPr/>
        </p:nvPicPr>
        <p:blipFill>
          <a:blip r:embed="rId1"/>
          <a:stretch/>
        </p:blipFill>
        <p:spPr>
          <a:xfrm>
            <a:off x="594360" y="762120"/>
            <a:ext cx="8573040" cy="4373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19999"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pl-PL" sz="4400" b="1" u="none" strike="noStrike">
                <a:solidFill>
                  <a:srgbClr val="000000"/>
                </a:solidFill>
                <a:effectLst/>
                <a:uFillTx/>
                <a:latin typeface="Gilroy"/>
              </a:rPr>
              <a:t>Flow Efficiency </a:t>
            </a:r>
            <a:br>
              <a:rPr sz="4400"/>
            </a:b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952560"/>
            <a:ext cx="8229240" cy="517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just" defTabSz="457200">
              <a:lnSpc>
                <a:spcPct val="15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У розробці програмного забезпечення на замовлення існують періоди активної роботи та час очікування: коли для того, щоб розпочати завдання, не вистачає інформації або ресурсів. Мінімізувати простої — одне із завдань менеджера. Співвідношення часу активної роботи до загального часу, включаючи простої, називають </a:t>
            </a: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ефективністю потоку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/>
          </p:nvPr>
        </p:nvSpPr>
        <p:spPr>
          <a:xfrm>
            <a:off x="289440" y="182880"/>
            <a:ext cx="8397000" cy="594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457200">
              <a:lnSpc>
                <a:spcPct val="15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Наприклад, якщо над завданням працювали 3 дні, а ще 2 воно «висіло» в очікуванні, коли розробник звільниться для нього, формула ефективності потоку буде: 3/(2+3) *100%.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457200">
              <a:lnSpc>
                <a:spcPct val="15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🎯 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Ця метрика розробки програмного забезпечення слугує для того, щоб: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5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оцінити, як довго простоюють завдання і чи є це проблемою для проєкту;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5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оптимізувати аутсорсинг розробки програмного забезпечення та контролювати час роботи.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114480"/>
            <a:ext cx="8229240" cy="34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62500" lnSpcReduction="19999"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Lead Time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85680" y="624960"/>
            <a:ext cx="8962560" cy="611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32500" lnSpcReduction="19999"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457200">
              <a:lnSpc>
                <a:spcPct val="100000"/>
              </a:lnSpc>
              <a:spcBef>
                <a:spcPts val="1239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lang="en-US" sz="6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Час від створення задачі до її виконання</a:t>
            </a:r>
            <a:endParaRPr lang="en-US" sz="6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457200">
              <a:lnSpc>
                <a:spcPct val="100000"/>
              </a:lnSpc>
              <a:spcBef>
                <a:spcPts val="1239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lang="ru-RU" sz="6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Метрика</a:t>
            </a:r>
            <a:r>
              <a:rPr lang="uk-UA" sz="6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вимірює час, який проходить від початку роботи над завданням (або запитом) до його завершення. Вона відображає, скільки часу знадобилося для того, щоб завдання було виконано, починаючи з моменту, коли воно було поставлене в роботу, до моменту, коли воно готове до використання.</a:t>
            </a:r>
            <a:endParaRPr lang="en-US" sz="6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457200">
              <a:lnSpc>
                <a:spcPct val="100000"/>
              </a:lnSpc>
              <a:spcBef>
                <a:spcPts val="1239"/>
              </a:spcBef>
              <a:buClr>
                <a:srgbClr val="000000"/>
              </a:buClr>
              <a:buFont typeface="Calibri"/>
              <a:buAutoNum type="arabicPeriod"/>
            </a:pPr>
            <a:r>
              <a:rPr lang="uk-UA" sz="6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Вимірює ефективність процесу</a:t>
            </a:r>
            <a:r>
              <a:rPr lang="uk-UA" sz="6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— показує, наскільки швидко команда здатна завершити завдання.</a:t>
            </a:r>
            <a:endParaRPr lang="en-US" sz="6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457200">
              <a:lnSpc>
                <a:spcPct val="100000"/>
              </a:lnSpc>
              <a:spcBef>
                <a:spcPts val="1239"/>
              </a:spcBef>
              <a:buClr>
                <a:srgbClr val="000000"/>
              </a:buClr>
              <a:buFont typeface="Calibri"/>
              <a:buAutoNum type="arabicPeriod"/>
            </a:pPr>
            <a:r>
              <a:rPr lang="uk-UA" sz="6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Знижує час очікування</a:t>
            </a:r>
            <a:r>
              <a:rPr lang="uk-UA" sz="6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— допомагає виявити затримки або проблеми, що виникають в процесі розробки.</a:t>
            </a:r>
            <a:endParaRPr lang="en-US" sz="6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457200">
              <a:lnSpc>
                <a:spcPct val="100000"/>
              </a:lnSpc>
              <a:spcBef>
                <a:spcPts val="1239"/>
              </a:spcBef>
              <a:buClr>
                <a:srgbClr val="000000"/>
              </a:buClr>
              <a:buFont typeface="Calibri"/>
              <a:buAutoNum type="arabicPeriod"/>
            </a:pPr>
            <a:r>
              <a:rPr lang="uk-UA" sz="6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Покращує прогнозування</a:t>
            </a:r>
            <a:r>
              <a:rPr lang="uk-UA" sz="6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— дає змогу краще прогнозувати терміни виконання завдань.</a:t>
            </a:r>
            <a:endParaRPr lang="en-US" sz="6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00000"/>
              </a:lnSpc>
              <a:spcBef>
                <a:spcPts val="1239"/>
              </a:spcBef>
              <a:buNone/>
              <a:tabLst>
                <a:tab pos="0" algn="l"/>
              </a:tabLst>
            </a:pPr>
            <a:endParaRPr lang="en-US" sz="6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00000"/>
              </a:lnSpc>
              <a:spcBef>
                <a:spcPts val="1239"/>
              </a:spcBef>
              <a:buNone/>
              <a:tabLst>
                <a:tab pos="0" algn="l"/>
              </a:tabLst>
            </a:pPr>
            <a:r>
              <a:rPr lang="pl-PL" sz="6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Lead Time </a:t>
            </a:r>
            <a:r>
              <a:rPr lang="uk-UA" sz="6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можна розрахувати як різницю між часом початку роботи над завданням та часом його завершення.</a:t>
            </a:r>
            <a:endParaRPr lang="en-US" sz="6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457200">
              <a:lnSpc>
                <a:spcPct val="100000"/>
              </a:lnSpc>
              <a:spcBef>
                <a:spcPts val="400"/>
              </a:spcBef>
              <a:spcAft>
                <a:spcPts val="799"/>
              </a:spcAft>
              <a:buNone/>
              <a:tabLst>
                <a:tab pos="0" algn="l"/>
              </a:tabLst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Cycle Time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57200" y="752400"/>
            <a:ext cx="8524440" cy="5971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00000"/>
              </a:lnSpc>
              <a:spcBef>
                <a:spcPts val="1599"/>
              </a:spcBef>
              <a:buNone/>
              <a:tabLst>
                <a:tab pos="0" algn="l"/>
              </a:tabLst>
            </a:pPr>
            <a:r>
              <a:rPr lang="uk-UA" sz="8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Це показник, який вимірює час, що проходить від початку роботи над завданням (наприклад, від початку розробки функції або від прийняття завдання в роботу) до його завершення (коли завдання готове, прийняте або поставлене в продакшн</a:t>
            </a:r>
            <a:endParaRPr lang="en-US" sz="8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00000"/>
              </a:lnSpc>
              <a:spcBef>
                <a:spcPts val="1599"/>
              </a:spcBef>
              <a:buNone/>
              <a:tabLst>
                <a:tab pos="0" algn="l"/>
              </a:tabLst>
            </a:pPr>
            <a:r>
              <a:rPr lang="uk-UA" sz="80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Як розраховується </a:t>
            </a:r>
            <a:r>
              <a:rPr lang="pl-PL" sz="80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Cycle Time:</a:t>
            </a:r>
            <a:endParaRPr lang="en-US" sz="8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457200">
              <a:lnSpc>
                <a:spcPct val="100000"/>
              </a:lnSpc>
              <a:spcBef>
                <a:spcPts val="1599"/>
              </a:spcBef>
              <a:buClr>
                <a:srgbClr val="000000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uk-UA" sz="80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Початок</a:t>
            </a:r>
            <a:r>
              <a:rPr lang="uk-UA" sz="8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: Точка часу, коли завдання (або робота) було розпочато, прийнято в роботу або іншим чином почала рухатись.</a:t>
            </a:r>
            <a:endParaRPr lang="en-US" sz="8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457200">
              <a:lnSpc>
                <a:spcPct val="100000"/>
              </a:lnSpc>
              <a:spcBef>
                <a:spcPts val="1599"/>
              </a:spcBef>
              <a:buClr>
                <a:srgbClr val="000000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uk-UA" sz="80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Кінець</a:t>
            </a:r>
            <a:r>
              <a:rPr lang="uk-UA" sz="8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: Коли завдання завершено, прийняте або знаходиться на необхідному етапі, наприклад, в продакшн.</a:t>
            </a:r>
            <a:endParaRPr lang="en-US" sz="8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00000"/>
              </a:lnSpc>
              <a:spcBef>
                <a:spcPts val="1599"/>
              </a:spcBef>
              <a:buNone/>
              <a:tabLst>
                <a:tab pos="0" algn="l"/>
              </a:tabLst>
            </a:pPr>
            <a:r>
              <a:rPr lang="uk-UA" sz="80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Застосування:</a:t>
            </a:r>
            <a:endParaRPr lang="en-US" sz="8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457200">
              <a:lnSpc>
                <a:spcPct val="100000"/>
              </a:lnSpc>
              <a:spcBef>
                <a:spcPts val="15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uk-UA" sz="80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Продуктивність команди</a:t>
            </a:r>
            <a:r>
              <a:rPr lang="uk-UA" sz="8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: Аналізуючи </a:t>
            </a:r>
            <a:r>
              <a:rPr lang="pl-PL" sz="8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Cycle Time, </a:t>
            </a:r>
            <a:r>
              <a:rPr lang="uk-UA" sz="8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можна зрозуміти, скільки часу команда витрачає на виконання завдань. Це допомагає виявити вузькі місця в процесі.</a:t>
            </a:r>
            <a:endParaRPr lang="en-US" sz="8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457200">
              <a:lnSpc>
                <a:spcPct val="100000"/>
              </a:lnSpc>
              <a:spcBef>
                <a:spcPts val="15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uk-UA" sz="80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Прогнозованість</a:t>
            </a:r>
            <a:r>
              <a:rPr lang="uk-UA" sz="8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: Зниження часу циклу дозволяє покращити прогнозованість завершення завдань, що допомагає команді краще планувати свої дії.</a:t>
            </a:r>
            <a:endParaRPr lang="en-US" sz="8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457200">
              <a:lnSpc>
                <a:spcPct val="100000"/>
              </a:lnSpc>
              <a:spcBef>
                <a:spcPts val="15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uk-UA" sz="80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Оцінка ефективності процесу</a:t>
            </a:r>
            <a:r>
              <a:rPr lang="uk-UA" sz="8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: За допомогою </a:t>
            </a:r>
            <a:r>
              <a:rPr lang="pl-PL" sz="8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Cycle Time </a:t>
            </a:r>
            <a:r>
              <a:rPr lang="uk-UA" sz="8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можна аналізувати, як різні етапи роботи впливають на загальний процес. Це може допомогти в прийнятті рішень щодо покращення робочого процесу.</a:t>
            </a:r>
            <a:endParaRPr lang="en-US" sz="8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457200">
              <a:lnSpc>
                <a:spcPct val="100000"/>
              </a:lnSpc>
              <a:spcBef>
                <a:spcPts val="400"/>
              </a:spcBef>
              <a:spcAft>
                <a:spcPts val="799"/>
              </a:spcAft>
              <a:buNone/>
              <a:tabLst>
                <a:tab pos="0" algn="l"/>
              </a:tabLst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526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Deployment Frequency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457200" y="782280"/>
            <a:ext cx="8229240" cy="5126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Частота розгортання змін у продуктивне середовище.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Часті релізи підвищують гнучкість і швидкість бізнесу.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00000"/>
              </a:lnSpc>
              <a:spcBef>
                <a:spcPts val="479"/>
              </a:spcBef>
              <a:spcAft>
                <a:spcPts val="799"/>
              </a:spcAft>
              <a:buNone/>
              <a:tabLst>
                <a:tab pos="0" algn="l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Вона вимірює, як часто команда виконує розгортання змін у продакшн або доставляє їх користувачам.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00000"/>
              </a:lnSpc>
              <a:spcBef>
                <a:spcPts val="479"/>
              </a:spcBef>
              <a:spcAft>
                <a:spcPts val="799"/>
              </a:spcAft>
              <a:buNone/>
              <a:tabLst>
                <a:tab pos="0" algn="l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📏 Що вимірює метрика: Кількість розгортань (деплоїв) у продакшн за певний період часу (наприклад, за день, тиждень або місяць).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00000"/>
              </a:lnSpc>
              <a:spcBef>
                <a:spcPts val="479"/>
              </a:spcBef>
              <a:spcAft>
                <a:spcPts val="799"/>
              </a:spcAft>
              <a:buNone/>
              <a:tabLst>
                <a:tab pos="0" algn="l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🎯 Мета: Оцінити, наскільки швидко і регулярно команда доставляє корисні зміни користувачам — нові функції, виправлення помилок, покращення продуктивності тощо.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457200">
              <a:lnSpc>
                <a:spcPct val="100000"/>
              </a:lnSpc>
              <a:spcBef>
                <a:spcPts val="400"/>
              </a:spcBef>
              <a:spcAft>
                <a:spcPts val="799"/>
              </a:spcAft>
              <a:buNone/>
              <a:tabLst>
                <a:tab pos="0" algn="l"/>
              </a:tabLst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/>
          </p:nvPr>
        </p:nvSpPr>
        <p:spPr>
          <a:xfrm>
            <a:off x="457200" y="329760"/>
            <a:ext cx="8229240" cy="579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457200">
              <a:lnSpc>
                <a:spcPct val="15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l-PL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Work in Progress (WIP — </a:t>
            </a: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Задачі в роботі)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5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Що вимірює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: кількість задач, які виконуються одночасно.</a:t>
            </a:r>
            <a:br>
              <a:rPr sz="2400"/>
            </a:b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Для чого потрібна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5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Виявлення перевантаження команди.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5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Забезпечення фокусу на завершенні задач, а не на багатозадачності.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/>
          </p:nvPr>
        </p:nvSpPr>
        <p:spPr>
          <a:xfrm>
            <a:off x="329760" y="254520"/>
            <a:ext cx="8356680" cy="5871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pl-PL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mployee Satisfaction (</a:t>
            </a:r>
            <a:r>
              <a:rPr lang="uk-UA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Задоволення команди)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457200">
              <a:lnSpc>
                <a:spcPct val="100000"/>
              </a:lnSpc>
              <a:spcBef>
                <a:spcPts val="519"/>
              </a:spcBef>
              <a:buNone/>
              <a:tabLst>
                <a:tab pos="0" algn="l"/>
              </a:tabLst>
            </a:pPr>
            <a:r>
              <a:rPr lang="uk-UA" sz="26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Що вимірює</a:t>
            </a:r>
            <a:r>
              <a:rPr lang="uk-UA" sz="2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: рівень задоволення роботою, атмосферою, процесами в команді.</a:t>
            </a:r>
            <a:br>
              <a:rPr sz="2600"/>
            </a:br>
            <a:r>
              <a:rPr lang="uk-UA" sz="26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Як оцінити</a:t>
            </a:r>
            <a:r>
              <a:rPr lang="uk-UA" sz="2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: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457200">
              <a:lnSpc>
                <a:spcPct val="100000"/>
              </a:lnSpc>
              <a:spcBef>
                <a:spcPts val="519"/>
              </a:spcBef>
              <a:buNone/>
              <a:tabLst>
                <a:tab pos="0" algn="l"/>
              </a:tabLst>
            </a:pPr>
            <a:r>
              <a:rPr lang="uk-UA" sz="2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Анонімні опитування.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457200">
              <a:lnSpc>
                <a:spcPct val="100000"/>
              </a:lnSpc>
              <a:spcBef>
                <a:spcPts val="519"/>
              </a:spcBef>
              <a:buNone/>
              <a:tabLst>
                <a:tab pos="0" algn="l"/>
              </a:tabLst>
            </a:pPr>
            <a:r>
              <a:rPr lang="uk-UA" sz="2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Регулярні </a:t>
            </a:r>
            <a:r>
              <a:rPr lang="pl-PL" sz="2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one-on-one </a:t>
            </a:r>
            <a:r>
              <a:rPr lang="uk-UA" sz="2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зустрічі.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457200">
              <a:lnSpc>
                <a:spcPct val="100000"/>
              </a:lnSpc>
              <a:spcBef>
                <a:spcPts val="519"/>
              </a:spcBef>
              <a:buNone/>
              <a:tabLst>
                <a:tab pos="0" algn="l"/>
              </a:tabLst>
            </a:pPr>
            <a:r>
              <a:rPr lang="uk-UA" sz="2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Індекси </a:t>
            </a:r>
            <a:r>
              <a:rPr lang="pl-PL" sz="2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eNPS (Employee Net Promoter Score).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457200">
              <a:lnSpc>
                <a:spcPct val="100000"/>
              </a:lnSpc>
              <a:spcBef>
                <a:spcPts val="519"/>
              </a:spcBef>
              <a:buNone/>
              <a:tabLst>
                <a:tab pos="0" algn="l"/>
              </a:tabLst>
            </a:pPr>
            <a:br>
              <a:rPr sz="2600"/>
            </a:br>
            <a:r>
              <a:rPr lang="uk-UA" sz="26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Для чого потрібна</a:t>
            </a:r>
            <a:r>
              <a:rPr lang="uk-UA" sz="2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: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uk-UA" sz="2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Зниження плинності кадрів.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uk-UA" sz="2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Побудова здорової культури в команді.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uk-UA" sz="2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Виявлення потенційного вигорання або конфліктів.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/>
          </p:nvPr>
        </p:nvSpPr>
        <p:spPr>
          <a:xfrm>
            <a:off x="457200" y="329760"/>
            <a:ext cx="8229240" cy="579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457200">
              <a:lnSpc>
                <a:spcPct val="100000"/>
              </a:lnSpc>
              <a:spcBef>
                <a:spcPts val="519"/>
              </a:spcBef>
              <a:buNone/>
              <a:tabLst>
                <a:tab pos="0" algn="l"/>
              </a:tabLst>
            </a:pPr>
            <a:r>
              <a:rPr lang="pl-PL" sz="26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Budget Adherence (</a:t>
            </a:r>
            <a:r>
              <a:rPr lang="uk-UA" sz="26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Дотримання бюджету)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457200">
              <a:lnSpc>
                <a:spcPct val="100000"/>
              </a:lnSpc>
              <a:spcBef>
                <a:spcPts val="519"/>
              </a:spcBef>
              <a:buNone/>
              <a:tabLst>
                <a:tab pos="0" algn="l"/>
              </a:tabLst>
            </a:pP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457200">
              <a:lnSpc>
                <a:spcPct val="100000"/>
              </a:lnSpc>
              <a:spcBef>
                <a:spcPts val="519"/>
              </a:spcBef>
              <a:buNone/>
              <a:tabLst>
                <a:tab pos="0" algn="l"/>
              </a:tabLst>
            </a:pPr>
            <a:r>
              <a:rPr lang="uk-UA" sz="26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Що вимірює</a:t>
            </a:r>
            <a:r>
              <a:rPr lang="uk-UA" sz="2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: наскільки фактичні витрати збігаються з запланованим бюджетом.</a:t>
            </a:r>
            <a:br>
              <a:rPr sz="2600"/>
            </a:br>
            <a:r>
              <a:rPr lang="uk-UA" sz="26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Для чого потрібна</a:t>
            </a:r>
            <a:r>
              <a:rPr lang="uk-UA" sz="2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: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uk-UA" sz="2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Контроль витрат на проєкт.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uk-UA" sz="2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Виявлення перевитрат або неефективності.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457200">
              <a:lnSpc>
                <a:spcPct val="100000"/>
              </a:lnSpc>
              <a:spcBef>
                <a:spcPts val="519"/>
              </a:spcBef>
              <a:buNone/>
              <a:tabLst>
                <a:tab pos="0" algn="l"/>
              </a:tabLst>
            </a:pPr>
            <a:r>
              <a:rPr lang="uk-UA" sz="26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Як використовувати</a:t>
            </a:r>
            <a:r>
              <a:rPr lang="uk-UA" sz="2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: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uk-UA" sz="2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Регулярно порівнювати плановий і фактичний бюджет.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uk-UA" sz="2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Аналізувати причини відхилення — зокрема перевитрати на зміну вимог або затримки.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uk-UA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Технічні метрики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just" defTabSz="457200">
              <a:lnSpc>
                <a:spcPct val="15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Показники, які використовуються для </a:t>
            </a:r>
            <a:r>
              <a:rPr lang="ru-RU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оцінки якості, ефективності та стабільності програмного коду</a:t>
            </a: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, а також для підтримки високого технічного рівня проєкту.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70000" lnSpcReduction="19999"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1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Bug Rate</a:t>
            </a:r>
            <a:br>
              <a:rPr sz="3100"/>
            </a:br>
            <a:r>
              <a:rPr lang="ru-RU" sz="31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Середня кількість багів за спринт</a:t>
            </a:r>
            <a:br>
              <a:rPr sz="4400"/>
            </a:br>
            <a:endParaRPr lang="en-US" sz="3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342720" y="990720"/>
            <a:ext cx="8448480" cy="551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457200">
              <a:lnSpc>
                <a:spcPct val="100000"/>
              </a:lnSpc>
              <a:spcBef>
                <a:spcPts val="621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lang="en-US" sz="31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Кількість знайдених помилок на певний обсяг роботи.</a:t>
            </a:r>
            <a:endParaRPr lang="en-US" sz="3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457200">
              <a:lnSpc>
                <a:spcPct val="100000"/>
              </a:lnSpc>
              <a:spcBef>
                <a:spcPts val="621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lang="en-US" sz="31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Показник якості розробки та тестування.</a:t>
            </a:r>
            <a:endParaRPr lang="en-US" sz="3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457200">
              <a:lnSpc>
                <a:spcPct val="100000"/>
              </a:lnSpc>
              <a:spcBef>
                <a:spcPts val="62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1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Баги при розробці ПЗ виникають неминуче. Щоб їх контролювати, можна підраховувати кількість у кожному спринті. На прикладі кількох спринтів можна визначити нормальний показник для конкретного проєкту і в подальшому орієнтуватися на нього. А суттєві відхилення від середнього числа — привід задуматися.</a:t>
            </a:r>
            <a:endParaRPr lang="en-US" sz="3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457200">
              <a:lnSpc>
                <a:spcPct val="100000"/>
              </a:lnSpc>
              <a:spcBef>
                <a:spcPts val="62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1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🎯 Ось що можна побачити за кількістю багів за спринт:</a:t>
            </a:r>
            <a:endParaRPr lang="en-US" sz="3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457200">
              <a:lnSpc>
                <a:spcPct val="100000"/>
              </a:lnSpc>
              <a:spcBef>
                <a:spcPts val="62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1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Якщо багів занадто багато, значить, у розробці щось пішло не так: потрібно виявити причину систематичних помилок.</a:t>
            </a:r>
            <a:endParaRPr lang="en-US" sz="3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457200">
              <a:lnSpc>
                <a:spcPct val="100000"/>
              </a:lnSpc>
              <a:spcBef>
                <a:spcPts val="62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1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Якщо багів занадто мало, це теж привід насторожитися — можливо, тестування було недостатньо ретельним.</a:t>
            </a:r>
            <a:endParaRPr lang="en-US" sz="3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457200">
              <a:lnSpc>
                <a:spcPct val="100000"/>
              </a:lnSpc>
              <a:spcBef>
                <a:spcPts val="400"/>
              </a:spcBef>
              <a:spcAft>
                <a:spcPts val="799"/>
              </a:spcAft>
              <a:buNone/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-22500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pl-PL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Test Coverage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839160"/>
            <a:ext cx="8229240" cy="5286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just" defTabSz="457200">
              <a:lnSpc>
                <a:spcPct val="15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Щільність покриття програмного коду тестами — це відсоток коду, який було перевірено під час тестування. Наприклад, якщо цей показник становить 78%, це означає, що 78% усього написаного програмістами коду було охоплено тестами.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5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🎯 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Для спеціалістів компаній, що займаються розробкою ПЗ, ця метрика допомагає зрозуміти: чи достатньо тестів було проведено; наскільки великий ризик, що в програмі залишилися непомічені баги, які можуть потрапити у реліз.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Code Churn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367560" y="461880"/>
            <a:ext cx="8615880" cy="631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47500" lnSpcReduction="19999"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457200">
              <a:lnSpc>
                <a:spcPct val="170000"/>
              </a:lnSpc>
              <a:spcBef>
                <a:spcPts val="760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lang="en-US" sz="3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Процент коду, що змінюється або видаляється після першого коміту.</a:t>
            </a:r>
            <a:endParaRPr lang="en-US" sz="3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457200">
              <a:lnSpc>
                <a:spcPct val="170000"/>
              </a:lnSpc>
              <a:spcBef>
                <a:spcPts val="760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lang="uk-UA" sz="3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Вона показує, як часто й інтенсивно редагується код після початкового коміту.</a:t>
            </a:r>
            <a:endParaRPr lang="en-US" sz="3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457200">
              <a:lnSpc>
                <a:spcPct val="170000"/>
              </a:lnSpc>
              <a:spcBef>
                <a:spcPts val="760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lang="pl-PL" sz="3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📏 </a:t>
            </a:r>
            <a:r>
              <a:rPr lang="uk-UA" sz="3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Що вимірює:</a:t>
            </a:r>
            <a:r>
              <a:rPr lang="pl-PL" sz="3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Code Churn </a:t>
            </a:r>
            <a:r>
              <a:rPr lang="uk-UA" sz="3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відображає: скільки коду було змінено або видалено після додавання; частоту та обсяг змін у файлах або модулях;стабільність та впевненість розробників у внесених змінах.</a:t>
            </a:r>
            <a:endParaRPr lang="en-US" sz="3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457200">
              <a:lnSpc>
                <a:spcPct val="170000"/>
              </a:lnSpc>
              <a:spcBef>
                <a:spcPts val="760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lang="pl-PL" sz="3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uk-UA" sz="3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Приклад:Розробник додає 100 рядків коду. Через 2 дні змінює 60 з них.</a:t>
            </a:r>
            <a:r>
              <a:rPr lang="pl-PL" sz="3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Code Churn = 60%, </a:t>
            </a:r>
            <a:r>
              <a:rPr lang="uk-UA" sz="3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тобто 60% доданого коду було змінено майже одразу.</a:t>
            </a:r>
            <a:endParaRPr lang="en-US" sz="3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457200">
              <a:lnSpc>
                <a:spcPct val="170000"/>
              </a:lnSpc>
              <a:spcBef>
                <a:spcPts val="760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lang="pl-PL" sz="3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🎯 </a:t>
            </a:r>
            <a:r>
              <a:rPr lang="uk-UA" sz="3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Для чого використовується:Виявляти нестабільні ділянки коду, які часто змінюються.Аналізувати ефективність планування: часті переписування можуть вказувати на неясні вимоги.Визначати ризики перед релізом — велика "турбулентність" сигналізує про потенційні помилки.</a:t>
            </a:r>
            <a:r>
              <a:rPr lang="pl-PL" sz="3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ru-RU" sz="3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Високий показник може свідчити про нестабільність.</a:t>
            </a:r>
            <a:endParaRPr lang="en-US" sz="3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457200">
              <a:lnSpc>
                <a:spcPct val="100000"/>
              </a:lnSpc>
              <a:spcBef>
                <a:spcPts val="581"/>
              </a:spcBef>
              <a:spcAft>
                <a:spcPts val="799"/>
              </a:spcAft>
              <a:buNone/>
            </a:pPr>
            <a:endParaRPr lang="en-US" sz="29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526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Escaped Defects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546840" y="801360"/>
            <a:ext cx="8408520" cy="596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Ця метрика </a:t>
            </a: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показує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кількість багів (помилок), які не були виявлені на етапі тестування і потрапили у продакшн, тобто стали видимими для кінцевих користувачів.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Що вимірює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: Ця метрика показує, наскільки ефективно працює внутрішнє тестування (</a:t>
            </a: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QA):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Скільки дефектів не було знайдено вчасно;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Яка частка помилок доходить до користувача;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Наскільки надійний і якісний процес контролю якості.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Приклад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:За місяць було виявлено 100 багів. 20 з них повідомили користувачі після релізу.</a:t>
            </a: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Escaped Defects = 20, 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або 20% — це ті, що «втекли» з процесу тестування.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🎯 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Навіщо потрібна: Виявляти слабкі місця в </a:t>
            </a: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QA-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процесі; Покращувати автоматизоване та ручне тестування; Оцінювати ризики для користувача досвіду.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725760" y="274680"/>
            <a:ext cx="7960680" cy="328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Technical Debt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376920" y="603360"/>
            <a:ext cx="8578080" cy="6108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62500" lnSpcReduction="19999"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Обсяг неоптимізованого коду або рішень.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50000"/>
              </a:lnSpc>
              <a:buNone/>
              <a:tabLst>
                <a:tab pos="0" algn="l"/>
              </a:tabLst>
            </a:pPr>
            <a:r>
              <a:rPr lang="uk-UA" sz="3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Це метрика, яка відображає обсяг тимчасових рішень, компромісів або недоліків у коді, які виникають у процесі розробки і потребують виправлення в майбутньому.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50000"/>
              </a:lnSpc>
              <a:buNone/>
              <a:tabLst>
                <a:tab pos="0" algn="l"/>
              </a:tabLst>
            </a:pPr>
            <a:r>
              <a:rPr lang="uk-UA" sz="3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Цей термін нагадує фінансову заборгованість: що довше її ігнорувати, то дорожче «відсотки» — підтримка, баги, складність змін.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50000"/>
              </a:lnSpc>
              <a:buNone/>
              <a:tabLst>
                <a:tab pos="0" algn="l"/>
              </a:tabLst>
            </a:pPr>
            <a:r>
              <a:rPr lang="uk-UA" sz="3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🎯 Навіщо потрібна ця метрика: - </a:t>
            </a:r>
            <a:r>
              <a:rPr lang="ru-RU" sz="3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Впливає на швидкість розробки в майбутньому.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50000"/>
              </a:lnSpc>
              <a:buNone/>
              <a:tabLst>
                <a:tab pos="0" algn="l"/>
              </a:tabLst>
            </a:pPr>
            <a:r>
              <a:rPr lang="uk-UA" sz="3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Оцінити довгострокові ризики для підтримки та розвитку продукту;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50000"/>
              </a:lnSpc>
              <a:buNone/>
              <a:tabLst>
                <a:tab pos="0" algn="l"/>
              </a:tabLst>
            </a:pPr>
            <a:r>
              <a:rPr lang="uk-UA" sz="3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Планувати час на рефакторинг і «погашення» боргу;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50000"/>
              </a:lnSpc>
              <a:buNone/>
              <a:tabLst>
                <a:tab pos="0" algn="l"/>
              </a:tabLst>
            </a:pPr>
            <a:r>
              <a:rPr lang="uk-UA" sz="3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Встановлювати баланс між швидкою доставкою та якістю;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50000"/>
              </a:lnSpc>
              <a:buNone/>
              <a:tabLst>
                <a:tab pos="0" algn="l"/>
              </a:tabLst>
            </a:pPr>
            <a:r>
              <a:rPr lang="uk-UA" sz="3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Пояснювати бізнесу, чому іноді не варто поспішати з новими фічами.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50000"/>
              </a:lnSpc>
              <a:spcBef>
                <a:spcPts val="479"/>
              </a:spcBef>
              <a:spcAft>
                <a:spcPts val="799"/>
              </a:spcAft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457200">
              <a:lnSpc>
                <a:spcPct val="100000"/>
              </a:lnSpc>
              <a:spcBef>
                <a:spcPts val="400"/>
              </a:spcBef>
              <a:spcAft>
                <a:spcPts val="799"/>
              </a:spcAft>
              <a:buNone/>
              <a:tabLst>
                <a:tab pos="0" algn="l"/>
              </a:tabLst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/>
          </p:nvPr>
        </p:nvSpPr>
        <p:spPr>
          <a:xfrm>
            <a:off x="245160" y="0"/>
            <a:ext cx="8747640" cy="6702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indent="0" algn="ctr" defTabSz="457200">
              <a:lnSpc>
                <a:spcPct val="15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Перевірка дублювання коду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5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Цей показник є важливим для контролю під час розробки програмного забезпечення на замовлення. Код, який містить велику кількість повторюваних фрагментів, вважається низькоякісним: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5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він займає більше рядків;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5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вимагає більше часу на обробку;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5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уповільнює роботу програмного забезпечення.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5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Іноді код дублюють свідомо — щоб спростити процес розробки, але частіше це випадкові й небажані повтори.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5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🎯 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Навіщо це вимірювати: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5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Виявляти неоптимальні ділянки коду;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5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Зменшити розмір і складність проєкту;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5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Підвищити продуктивність програми;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5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Спростити тестування, підтримку та рефакторинг.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uk-UA" sz="4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Користувацькі метрики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just" defTabSz="457200">
              <a:lnSpc>
                <a:spcPct val="15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показники, які допомагають оцінити </a:t>
            </a: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взаємодію користувачів з продуктом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, рівень їхньої </a:t>
            </a: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задоволеності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, </a:t>
            </a: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залученості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та </a:t>
            </a: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цінність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продукту з точки зору кінцевого споживача.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CSAT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0" y="348840"/>
            <a:ext cx="9143640" cy="641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just" defTabSz="45720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uk-UA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Оцінка задоволеності користувача </a:t>
            </a:r>
            <a:r>
              <a:rPr lang="pl-PL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CSAT (Customer Satisfaction Score) </a:t>
            </a:r>
            <a:r>
              <a:rPr lang="uk-UA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дозволяє оцінити якість конкретної взаємодії користувача з сервісом. Оцінюється за допомогою опитування. Наприклад, просять оцінити зручність навігації, відстеження доставки або зрозумілість програми лояльності — обираючи один із варіантів: «добре», «погано» або «нейтрально».</a:t>
            </a:r>
            <a:r>
              <a:rPr lang="pl-PL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🔸 </a:t>
            </a:r>
            <a:r>
              <a:rPr lang="uk-UA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Результат опитування не завжди відображає загальну лояльність користувача, адже йому могла сподобатися лише одна конкретна послуга, а решта — ні. Проте </a:t>
            </a:r>
            <a:r>
              <a:rPr lang="pl-PL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CSAT </a:t>
            </a:r>
            <a:r>
              <a:rPr lang="uk-UA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дозволяє швидко оцінювати окремі складові сервісу, з якими взаємодіяли користувачі.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🎯 CSAT </a:t>
            </a:r>
            <a:r>
              <a:rPr lang="uk-UA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важливий для: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uk-UA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Оцінки ключової функціональності застосунку. Наприклад, для інтернет-магазину важливо знати, чи задоволені користувачі каталогом товарів або системою оплати. 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uk-UA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Аналізу «вразливих» або нових елементів. Якщо йдеться про інноваційні рішення або незвичні функції для конкретної аудиторії.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uk-UA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Перевірки ефективності редизайнуЩоб зрозуміти, чи вдалося покращити конкретні елементи інтерфейсу чи взаємодії з сервісом.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62500" lnSpcReduction="19999"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NPS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0" y="667440"/>
            <a:ext cx="9039960" cy="603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just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pl-PL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Net Promoter Score (NPS) — </a:t>
            </a:r>
            <a:r>
              <a:rPr lang="uk-UA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Індекс споживчої лояльності.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uk-UA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Метрика </a:t>
            </a:r>
            <a:r>
              <a:rPr lang="pl-PL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NPS </a:t>
            </a:r>
            <a:r>
              <a:rPr lang="uk-UA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розраховується на основі відповіді на запитання:«Наскільки ймовірно, що ви порекомендуєте наш сервіс друзям чи знайомим?»Зазвичай пропонується оцінити ймовірність за десятибальною шкалою — від 0 до 10.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pl-PL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🔸 </a:t>
            </a:r>
            <a:r>
              <a:rPr lang="uk-UA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На відміну від </a:t>
            </a:r>
            <a:r>
              <a:rPr lang="pl-PL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CSAT, </a:t>
            </a:r>
            <a:r>
              <a:rPr lang="uk-UA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яка показує задоволення від конкретної взаємодії в певний момент, </a:t>
            </a:r>
            <a:r>
              <a:rPr lang="pl-PL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NPS </a:t>
            </a:r>
            <a:r>
              <a:rPr lang="uk-UA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відображає загальну лояльність до продукту за весь період його використання.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pl-PL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🎯 </a:t>
            </a:r>
            <a:r>
              <a:rPr lang="uk-UA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Що показує </a:t>
            </a:r>
            <a:r>
              <a:rPr lang="pl-PL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NPS:</a:t>
            </a:r>
            <a:r>
              <a:rPr lang="uk-UA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Скільки користувачів — активні прихильники продукту та готові його рекомендувати;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uk-UA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Скільки — нейтральні, ще не визначилися з враженнями;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uk-UA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Скільки — незадоволені користувачі, які мають негативний досвід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l-PL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🔢 </a:t>
            </a:r>
            <a:r>
              <a:rPr lang="uk-UA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Групи користувачів за шкалою </a:t>
            </a:r>
            <a:r>
              <a:rPr lang="pl-PL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NPS:9–10 </a:t>
            </a:r>
            <a:r>
              <a:rPr lang="uk-UA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балів — Промоутери (лояльні, рекомендуючі);7–8 балів — Нейтрали (задоволені, але не в захваті);0–6 балів — Критики 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(незадоволені, можуть відмовитися від продукту або залишити негативні відгуки).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36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Feature Adoption Rate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329760" y="725760"/>
            <a:ext cx="8709840" cy="59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indent="0" algn="just" defTabSz="457200">
              <a:lnSpc>
                <a:spcPct val="15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Feature Adoption Rate — 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Рівень впровадження функціональності.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5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Feature Adoption Rate — 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це метрика, яка показує, який відсоток користувачів почали активно використовувати певну функцію після її запуску або оновлення. Вона допомагає зрозуміти, наскільки нова або ключова функціональність є корисною, помітною і зручною для аудиторії.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5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🎯 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Навіщо відстежувати: Визначити, чи дійсно нова функція вирішує проблему користувача;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5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Порівнювати ефективність різних релізів чи А/Б-тестів;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5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Планувати оновлення, навчання або повідомлення в інтерфейсі для покращення впровадження.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/>
          </p:nvPr>
        </p:nvSpPr>
        <p:spPr>
          <a:xfrm>
            <a:off x="329760" y="358200"/>
            <a:ext cx="8813880" cy="6268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indent="0" algn="ctr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User R</a:t>
            </a:r>
            <a:r>
              <a:rPr lang="pl-PL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etention Rate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Коефіцієнт утримання користувачів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. 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Програми створюються для того, щоб ними користувалися регулярно, тому показник повернення користувачів є важливим для бізнесу. Цей показник дає уявлення про те, наскільки ефективно продукт утримує свою аудиторію після першого використання.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📏 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Як розраховується: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Коефіцієнт утримання вимірюється як відсоток користувачів, які повернулися до продукту через певний період після першого використання (наприклад, через 7, 30 або 90 днів).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🎯 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Навіщо відстежувати: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Оцінка задоволеності: високе значення </a:t>
            </a: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Retention Rate 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свідчить про те, що користувачі задоволені продуктом і готові ним користуватися регулярно.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Виявлення проблем з продуктом: низький коефіцієнт утримання може вказувати на проблеми у взаємодії з користувачами, на відсутність цінності продукту.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Планування вдосконалень: допомагає зрозуміти, що потрібно покращити, щоб користувачі поверталися.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/>
          </p:nvPr>
        </p:nvSpPr>
        <p:spPr>
          <a:xfrm>
            <a:off x="254520" y="122400"/>
            <a:ext cx="8634600" cy="641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p>
            <a:pPr marL="3657600" indent="0" algn="l" defTabSz="457200">
              <a:lnSpc>
                <a:spcPct val="100000"/>
              </a:lnSpc>
              <a:spcBef>
                <a:spcPts val="400"/>
              </a:spcBef>
              <a:spcAft>
                <a:spcPts val="799"/>
              </a:spcAft>
              <a:buNone/>
              <a:tabLst>
                <a:tab pos="0" algn="l"/>
              </a:tabLst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40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Conversion Rate 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31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uk-UA" sz="31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Коефіцієнт конверсії</a:t>
            </a:r>
            <a:r>
              <a:rPr lang="en-US" sz="31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uk-UA" sz="31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Метрика </a:t>
            </a:r>
            <a:r>
              <a:rPr lang="pl-PL" sz="31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Conversion Rate </a:t>
            </a:r>
            <a:r>
              <a:rPr lang="uk-UA" sz="31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показує, скільки людей серед відвідувачів додатка або вебсайту виконали цільову дію. Це може бути підписка, покупка, клік на потрібну кнопку тощо. Цільову дію можна визначити відповідно до мети конкретного аналізу.</a:t>
            </a:r>
            <a:r>
              <a:rPr lang="en-US" sz="31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uk-UA" sz="31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Наприклад, якщо за день на сторінці було 200 осіб, а 20 з них клікнули на потрібну кнопку, то коефіцієнт конверсії складе 10%.</a:t>
            </a:r>
            <a:endParaRPr lang="en-US" sz="3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00000"/>
              </a:lnSpc>
              <a:buNone/>
              <a:tabLst>
                <a:tab pos="0" algn="l"/>
              </a:tabLst>
            </a:pPr>
            <a:endParaRPr lang="en-US" sz="3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31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🎯 </a:t>
            </a:r>
            <a:r>
              <a:rPr lang="uk-UA" sz="31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Мета цієї метрики:</a:t>
            </a:r>
            <a:r>
              <a:rPr lang="pl-PL" sz="31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Conversion Rate </a:t>
            </a:r>
            <a:r>
              <a:rPr lang="uk-UA" sz="31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допомагає зрозуміти, наскільки ефективними є заклики до дії</a:t>
            </a:r>
            <a:r>
              <a:rPr lang="pl-PL" sz="31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) </a:t>
            </a:r>
            <a:r>
              <a:rPr lang="uk-UA" sz="31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для вашої аудиторії.</a:t>
            </a:r>
            <a:r>
              <a:rPr lang="pl-PL" sz="31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uk-UA" sz="31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Якщо коефіцієнт конверсії низький, це може вказувати на:</a:t>
            </a:r>
            <a:endParaRPr lang="en-US" sz="3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uk-UA" sz="31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Проблеми в маркетингу:</a:t>
            </a:r>
            <a:endParaRPr lang="en-US" sz="3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uk-UA" sz="31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Ціна товару або послуги занадто висока.</a:t>
            </a:r>
            <a:endParaRPr lang="en-US" sz="3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uk-UA" sz="31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Низька якість товару або відсутність позитивних відгуків.</a:t>
            </a:r>
            <a:endParaRPr lang="en-US" sz="3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uk-UA" sz="31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Нецікавість або байдужість аудиторії до продукту, послуги чи контенту.</a:t>
            </a:r>
            <a:endParaRPr lang="en-US" sz="3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uk-UA" sz="31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Проблеми в роботі сайту:Сторінка оплати завантажується занадто довго, і через це користувачі не доходять до кінця покупки.</a:t>
            </a:r>
            <a:endParaRPr lang="en-US" sz="3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uk-UA" sz="31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Проблеми в дизайні:Кнопка або елемент для кліку можуть бути непомітні або не привертати увагу.</a:t>
            </a:r>
            <a:endParaRPr lang="en-US" sz="3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56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MTTR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083960"/>
            <a:ext cx="8229240" cy="504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MTTR (Mean Time to Recovery / Repair) — 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це метрика, яка показує середній час, необхідний для відновлення роботи системи або виправлення інциденту після його виникнення.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📌 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Що означає </a:t>
            </a: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MTTR?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MTTR = Mean Time to Recovery 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або </a:t>
            </a: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Mean Time to Repair — 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середній час, за який команда усуває збій або проблему та повертає систему до нормального стану.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/>
          </p:nvPr>
        </p:nvSpPr>
        <p:spPr>
          <a:xfrm>
            <a:off x="457200" y="122400"/>
            <a:ext cx="8229240" cy="600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indent="0" algn="just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uk-UA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Приклад: За тиждень було 4 інциденти. Витрачено 8 годин на відновлення всіх інцидентів.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pl-PL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MTTR = 8 </a:t>
            </a: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годин / 4 інциденти = 2 години.Це означає, що в середньому потрібно 2 години, щоб відновити систему після кожного збою.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pl-PL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🎯 </a:t>
            </a: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Навіщо вимірювати </a:t>
            </a:r>
            <a:r>
              <a:rPr lang="pl-PL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MTTR?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Оцінити ефективність роботи технічної підтримки або </a:t>
            </a:r>
            <a:r>
              <a:rPr lang="pl-PL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DevOps-</a:t>
            </a: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команди.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Визначити, наскільки швидко система повертається в роботу після збоїв.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Виявити вузькі місця в процесі реагування на проблеми.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4572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Підвищити довіру користувачів і якість обслуговування, зменшуючи тривалість простоїв.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uk-UA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Бізнес-метрики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just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uk-UA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використовуються для вимірювання результативності бізнесу в цілому. Вони дозволяють визначити, наскільки ефективно працює компанія в досягненні своїх стратегічних цілей. Зазвичай бізнес-метрики спрямовані на оцінку фінансових результатів, залучення та утримання клієнтів, а також ефективності операційних процесів.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281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55000" lnSpcReduction="19999"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Time to Market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207360" y="556200"/>
            <a:ext cx="8578080" cy="589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indent="0" algn="l" defTabSz="457200">
              <a:lnSpc>
                <a:spcPct val="100000"/>
              </a:lnSpc>
              <a:spcBef>
                <a:spcPts val="400"/>
              </a:spcBef>
              <a:spcAft>
                <a:spcPts val="799"/>
              </a:spcAft>
              <a:buNone/>
            </a:pP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457200">
              <a:lnSpc>
                <a:spcPct val="100000"/>
              </a:lnSpc>
              <a:spcBef>
                <a:spcPts val="479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Time to Market (TTM) — 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це метрика, яка вимірює час, необхідний для розробки продукту або функціональності від ідеї до її виведення на ринок.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457200">
              <a:lnSpc>
                <a:spcPct val="100000"/>
              </a:lnSpc>
              <a:spcBef>
                <a:spcPts val="479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Вона важлива для оцінки ефективності процесу розробки, а також для розуміння, скільки часу займає розробка і запуск нового продукту або функції.</a:t>
            </a: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Чим менший час — тим конкурентніший продукт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457200">
              <a:lnSpc>
                <a:spcPct val="100000"/>
              </a:lnSpc>
              <a:spcBef>
                <a:spcPts val="479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Time to Market 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вимірюється як час між двома ключовими подіями: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Початок розробки — це момент, коли команда починає працювати над продуктом або функцією, тобто розпочинається розробка.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Запуск на ринок — момент, коли продукт або нова функція стають доступними для користувачів (наприклад, публікація додатка в магазині додатків або випуск оновлення).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/>
          </p:nvPr>
        </p:nvSpPr>
        <p:spPr>
          <a:xfrm>
            <a:off x="292320" y="198000"/>
            <a:ext cx="8672400" cy="6551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just" defTabSz="457200">
              <a:lnSpc>
                <a:spcPct val="15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l-PL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🎯 </a:t>
            </a: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Чому це важливо?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457200">
              <a:lnSpc>
                <a:spcPct val="15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Конкурентоспроможність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: Виведення продукту на ринок швидше дозволяє компанії швидше реагувати на зміни попиту або нові можливості на ринку, а також зайняти лідируючі позиції.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457200">
              <a:lnSpc>
                <a:spcPct val="15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Покращення планування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: Це дозволяє компанії оцінити, скільки часу займають розробка нових продуктів і як можна оптимізувати цей процес.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just" defTabSz="457200">
              <a:lnSpc>
                <a:spcPct val="15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Адаптація до змін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: У деяких випадках на ринку можуть швидко змінюватися потреби або умови, тому швидкий </a:t>
            </a:r>
            <a:r>
              <a:rPr lang="pl-PL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Time to Market</a:t>
            </a: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дозволяє компанії залишатися актуальною.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Місце для вмісту 4"/>
          <p:cNvPicPr/>
          <p:nvPr/>
        </p:nvPicPr>
        <p:blipFill>
          <a:blip r:embed="rId1"/>
          <a:stretch/>
        </p:blipFill>
        <p:spPr>
          <a:xfrm>
            <a:off x="41040" y="405360"/>
            <a:ext cx="9061920" cy="5380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Місце для вмісту 4"/>
          <p:cNvPicPr/>
          <p:nvPr/>
        </p:nvPicPr>
        <p:blipFill>
          <a:blip r:embed="rId1"/>
          <a:stretch/>
        </p:blipFill>
        <p:spPr>
          <a:xfrm>
            <a:off x="49680" y="688320"/>
            <a:ext cx="9001800" cy="5069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2">
                    <a:lumMod val="60000"/>
                    <a:lumOff val="40000"/>
                  </a:schemeClr>
                </a:solidFill>
                <a:effectLst/>
                <a:uFillTx/>
                <a:latin typeface="Calibri"/>
              </a:rPr>
              <a:t>Висновок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Контроль метрик допомагає не лише створити продукт, а й забезпечити його успіх на ринку.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Регулярний моніторинг дозволяє приймати обґрунтовані рішення на кожному етапі </a:t>
            </a: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розробки програмного продукту.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203</TotalTime>
  <Application>LibreOffice/26.2.3.2$Linux_X86_64 LibreOffice_project/620$Build-2</Application>
  <AppVersion>15.0000</AppVersion>
  <Words>3007</Words>
  <Paragraphs>205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ASUS</dc:creator>
  <dc:description>generated using python-pptx</dc:description>
  <dc:language>en-US</dc:language>
  <cp:lastModifiedBy>Olena Korchynska</cp:lastModifiedBy>
  <dcterms:modified xsi:type="dcterms:W3CDTF">2025-05-03T16:39:56Z</dcterms:modified>
  <cp:revision>47</cp:revision>
  <dc:subject/>
  <dc:title>Ключові метрики розробки ПЗ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Екран (4:3)</vt:lpwstr>
  </property>
  <property fmtid="{D5CDD505-2E9C-101B-9397-08002B2CF9AE}" pid="3" name="Slides">
    <vt:r8>38</vt:r8>
  </property>
</Properties>
</file>