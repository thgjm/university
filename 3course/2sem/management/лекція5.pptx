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Титульний слайд">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33405F13-F8FC-4114-A61B-BC5255FA57F0}"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Заголовок і вертикальний текст">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18080812-93E1-42DB-8AD0-2180D91C419B}"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Вертикальний заголовок і текст">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4EC41CF5-2FE7-4DE8-BDB3-EA82FF46B505}"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Назва та вміст">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A3D34FBB-E6BB-42E8-BF20-651C1382F7EF}"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Назва розділу">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2400" b="0" u="none" strike="noStrike">
                <a:solidFill>
                  <a:schemeClr val="dk1">
                    <a:tint val="75000"/>
                  </a:schemeClr>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E5EF0749-49E8-477D-A801-3CEDA55F21CA}"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Два об’єкти">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48F1B9F8-7D1B-4A1A-95BF-3B80AD1A28B9}"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орівняння">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D10EE1A8-3B7D-42F1-BC68-FD905C367E64}"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Лише заголовок">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2DC48B0C-6140-41A0-AB7E-95DEA444E05B}"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устий слайд">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5A573E9C-96AF-4490-A442-9D991BBC2196}"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Вміст і підпис">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3200" b="0" u="none" strike="noStrike">
                <a:solidFill>
                  <a:schemeClr val="dk1"/>
                </a:solidFill>
                <a:effectLst/>
                <a:uFillTx/>
                <a:latin typeface="Calibri"/>
              </a:rPr>
              <a:t>Клацніть, щоб відредагувати стилі зразків тексту</a:t>
            </a:r>
            <a:endParaRPr lang="pl-PL"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800" b="0" u="none" strike="noStrike">
                <a:solidFill>
                  <a:schemeClr val="dk1"/>
                </a:solidFill>
                <a:effectLst/>
                <a:uFillTx/>
                <a:latin typeface="Calibri"/>
              </a:rPr>
              <a:t>Другий рівень</a:t>
            </a:r>
            <a:endParaRPr lang="pl-PL"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Третій рівень</a:t>
            </a:r>
            <a:endParaRPr lang="pl-PL"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Четвертий рівень</a:t>
            </a:r>
            <a:endParaRPr lang="pl-PL"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П’ятий рівень</a:t>
            </a:r>
            <a:endParaRPr lang="pl-PL" sz="2000" b="0" u="none" strike="noStrike">
              <a:solidFill>
                <a:schemeClr val="dk1"/>
              </a:solidFill>
              <a:effectLst/>
              <a:uFillTx/>
              <a:latin typeface="Calibri"/>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2CB00AE8-4FFA-4B1E-91A1-0EEF0829BF3F}"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Рисунок і підпис">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54"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pl-PL" sz="3200" b="0" u="none" strike="noStrike">
                <a:solidFill>
                  <a:schemeClr val="dk1"/>
                </a:solidFill>
                <a:effectLst/>
                <a:uFillTx/>
                <a:latin typeface="Calibri"/>
              </a:rPr>
              <a:t>Click to edit the outline text format</a:t>
            </a:r>
            <a:endParaRPr lang="pl-PL" sz="32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pl-PL" sz="3200" b="0" u="none" strike="noStrike">
                <a:solidFill>
                  <a:schemeClr val="dk1"/>
                </a:solidFill>
                <a:effectLst/>
                <a:uFillTx/>
                <a:latin typeface="Calibri"/>
              </a:rPr>
              <a:t>Second Outline Level</a:t>
            </a:r>
            <a:endParaRPr lang="pl-PL" sz="32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pl-PL" sz="3200" b="0" u="none" strike="noStrike">
                <a:solidFill>
                  <a:schemeClr val="dk1"/>
                </a:solidFill>
                <a:effectLst/>
                <a:uFillTx/>
                <a:latin typeface="Calibri"/>
              </a:rPr>
              <a:t>Third Outline Level</a:t>
            </a:r>
            <a:endParaRPr lang="pl-PL" sz="32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pl-PL" sz="3200" b="0" u="none" strike="noStrike">
                <a:solidFill>
                  <a:schemeClr val="dk1"/>
                </a:solidFill>
                <a:effectLst/>
                <a:uFillTx/>
                <a:latin typeface="Calibri"/>
              </a:rPr>
              <a:t>Fourth Outline Level</a:t>
            </a:r>
            <a:endParaRPr lang="pl-PL" sz="32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Fifth Outline Level</a:t>
            </a:r>
            <a:endParaRPr lang="pl-PL" sz="32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Sixth Outline Level</a:t>
            </a:r>
            <a:endParaRPr lang="pl-PL" sz="32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Seventh Outline Level</a:t>
            </a:r>
            <a:endParaRPr lang="pl-PL" sz="3200" b="0" u="none" strike="noStrike">
              <a:solidFill>
                <a:schemeClr val="dk1"/>
              </a:solidFill>
              <a:effectLst/>
              <a:uFillTx/>
              <a:latin typeface="Calibri"/>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48EC0323-97A7-49C0-8539-DF5FAA781F9F}"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lgn="ctr" defTabSz="914400">
              <a:lnSpc>
                <a:spcPct val="90000"/>
              </a:lnSpc>
              <a:buNone/>
            </a:pPr>
            <a:r>
              <a:rPr lang="uk-UA" sz="3200" b="1" u="none" strike="noStrike">
                <a:solidFill>
                  <a:schemeClr val="dk1"/>
                </a:solidFill>
                <a:effectLst/>
                <a:uFillTx/>
                <a:latin typeface="Times New Roman"/>
              </a:rPr>
              <a:t> Основні методи сегментування ринку </a:t>
            </a:r>
            <a:br>
              <a:rPr sz="3200"/>
            </a:br>
            <a:r>
              <a:rPr lang="uk-UA" sz="3200" b="1" u="none" strike="noStrike">
                <a:solidFill>
                  <a:schemeClr val="dk1"/>
                </a:solidFill>
                <a:effectLst/>
                <a:uFillTx/>
                <a:latin typeface="Times New Roman"/>
              </a:rPr>
              <a:t>Кластерні процедури</a:t>
            </a:r>
            <a:endParaRPr lang="pl-PL" sz="3200" b="0" u="none" strike="noStrike">
              <a:solidFill>
                <a:schemeClr val="dk1"/>
              </a:solidFill>
              <a:effectLst/>
              <a:uFillTx/>
              <a:latin typeface="Calibri"/>
            </a:endParaRPr>
          </a:p>
        </p:txBody>
      </p:sp>
      <p:pic>
        <p:nvPicPr>
          <p:cNvPr id="60" name="Місце для вмісту 4"/>
          <p:cNvPicPr/>
          <p:nvPr/>
        </p:nvPicPr>
        <p:blipFill>
          <a:blip r:embed="rId1"/>
          <a:stretch/>
        </p:blipFill>
        <p:spPr>
          <a:xfrm>
            <a:off x="3568680" y="2563920"/>
            <a:ext cx="4262040" cy="35593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p:nvPr>
        </p:nvSpPr>
        <p:spPr>
          <a:xfrm>
            <a:off x="692280" y="408240"/>
            <a:ext cx="10661040" cy="576828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Під </a:t>
            </a:r>
            <a:r>
              <a:rPr lang="uk-UA" sz="2400" b="1" u="none" strike="noStrike">
                <a:solidFill>
                  <a:schemeClr val="dk1"/>
                </a:solidFill>
                <a:effectLst/>
                <a:uFillTx/>
                <a:latin typeface="Times New Roman"/>
              </a:rPr>
              <a:t>сегментуванням </a:t>
            </a:r>
            <a:r>
              <a:rPr lang="uk-UA" sz="2400" b="0" u="none" strike="noStrike">
                <a:solidFill>
                  <a:schemeClr val="dk1"/>
                </a:solidFill>
                <a:effectLst/>
                <a:uFillTx/>
                <a:latin typeface="Times New Roman"/>
              </a:rPr>
              <a:t>ринку розуміють розподіл споживачів на певні групи (сегменти), для кожної з яких потрібні різні способи задоволення попиту та потреб.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Сегмент</a:t>
            </a:r>
            <a:r>
              <a:rPr lang="uk-UA" sz="2400" b="0" u="none" strike="noStrike">
                <a:solidFill>
                  <a:schemeClr val="dk1"/>
                </a:solidFill>
                <a:effectLst/>
                <a:uFillTx/>
                <a:latin typeface="Times New Roman"/>
              </a:rPr>
              <a:t> — це об'єднана, попередньо виявлена кількість споріднених споживачів товару чи послуги за певними ознаками. Головною метою сегментування ринку є забезпечення адресності продукту, тому що він не може відповідати запитам одразу всіх споживачів. У цьому разі підприємство чи організація не розосереджує, а концентрує свої зусилля на «напрямі головного удару». Цим досягається підвищення ефективності ринкової діяльності фірми.</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p:nvPr>
        </p:nvSpPr>
        <p:spPr>
          <a:xfrm>
            <a:off x="692280" y="550440"/>
            <a:ext cx="10661040" cy="562608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Таким чином, </a:t>
            </a:r>
            <a:r>
              <a:rPr lang="uk-UA" sz="2400" b="1" u="none" strike="noStrike">
                <a:solidFill>
                  <a:schemeClr val="dk1"/>
                </a:solidFill>
                <a:effectLst/>
                <a:uFillTx/>
                <a:latin typeface="Times New Roman"/>
              </a:rPr>
              <a:t>сегментування</a:t>
            </a:r>
            <a:r>
              <a:rPr lang="uk-UA" sz="2400" b="0" u="none" strike="noStrike">
                <a:solidFill>
                  <a:schemeClr val="dk1"/>
                </a:solidFill>
                <a:effectLst/>
                <a:uFillTx/>
                <a:latin typeface="Times New Roman"/>
              </a:rPr>
              <a:t> є, з одного боку, прийомом для знаходження сегмента ринку та визначення об'єктів (передусім споживачів), на які буде зорієнтована </a:t>
            </a:r>
            <a:r>
              <a:rPr lang="uk-UA" sz="2400" b="1" u="none" strike="noStrike">
                <a:solidFill>
                  <a:schemeClr val="dk1"/>
                </a:solidFill>
                <a:effectLst/>
                <a:uFillTx/>
                <a:latin typeface="Times New Roman"/>
              </a:rPr>
              <a:t>маркетингова</a:t>
            </a:r>
            <a:r>
              <a:rPr lang="uk-UA" sz="2400" b="0" u="none" strike="noStrike">
                <a:solidFill>
                  <a:schemeClr val="dk1"/>
                </a:solidFill>
                <a:effectLst/>
                <a:uFillTx/>
                <a:latin typeface="Times New Roman"/>
              </a:rPr>
              <a:t> діяльність підприємства.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З іншого боку — </a:t>
            </a:r>
            <a:r>
              <a:rPr lang="uk-UA" sz="2400" b="1" u="none" strike="noStrike">
                <a:solidFill>
                  <a:schemeClr val="dk1"/>
                </a:solidFill>
                <a:effectLst/>
                <a:uFillTx/>
                <a:latin typeface="Times New Roman"/>
              </a:rPr>
              <a:t>менеджмент</a:t>
            </a:r>
            <a:r>
              <a:rPr lang="uk-UA" sz="2400" b="0" u="none" strike="noStrike">
                <a:solidFill>
                  <a:schemeClr val="dk1"/>
                </a:solidFill>
                <a:effectLst/>
                <a:uFillTx/>
                <a:latin typeface="Times New Roman"/>
              </a:rPr>
              <a:t>, оскільки передбачає управлінський підхід до процесу ухвалення рішень і основа для вибору оптимального напрямку діяльності фірми.</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p:nvPr>
        </p:nvSpPr>
        <p:spPr>
          <a:xfrm>
            <a:off x="718920" y="284040"/>
            <a:ext cx="10812600" cy="6462720"/>
          </a:xfrm>
          <a:prstGeom prst="rect">
            <a:avLst/>
          </a:prstGeom>
          <a:noFill/>
          <a:ln w="0">
            <a:noFill/>
          </a:ln>
        </p:spPr>
        <p:txBody>
          <a:bodyPr lIns="91440" rIns="91440" tIns="45720" bIns="45720" anchor="t">
            <a:normAutofit lnSpcReduction="9999"/>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Сегментація передбачає створення товару, який має свої відмінності і орієнтований на певний сегмент ринку. Вона є найважливішим напрямком досліджень при розробці стратегії і тактики розвитку підприємства</a:t>
            </a:r>
            <a:r>
              <a:rPr lang="en-US"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чи фірми.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Дослідження показують, що порівняно невелика частина населення набуває більшу частину всіх товарів певного виду. Іноді співвідношення між відносною часткою покупців і відносною часткою придбаних ними товарів досягає 20 і 80% (тобто п'ята частина покупців набуває 4/5 товарів), тому таке явище називають правилом 80-20", або </a:t>
            </a:r>
            <a:r>
              <a:rPr lang="uk-UA" sz="2400" b="1" u="none" strike="noStrike">
                <a:solidFill>
                  <a:schemeClr val="dk1"/>
                </a:solidFill>
                <a:effectLst/>
                <a:uFillTx/>
                <a:latin typeface="Times New Roman"/>
              </a:rPr>
              <a:t>законом Парето</a:t>
            </a:r>
            <a:r>
              <a:rPr lang="uk-UA" sz="2400" b="0" u="none" strike="noStrike">
                <a:solidFill>
                  <a:schemeClr val="dk1"/>
                </a:solidFill>
                <a:effectLst/>
                <a:uFillTx/>
                <a:latin typeface="Times New Roman"/>
              </a:rPr>
              <a:t>. Дана закономірність дозволяє підприємству істотно знизити витрати на проведення маркетингових досліджень з вивчення купівельного попиту населення, більш раціонально використовувати свої грошові кошти для вдосконалення товарного асортименту та організації продажу товарів (послуг).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p:nvPr>
        </p:nvSpPr>
        <p:spPr>
          <a:xfrm>
            <a:off x="550440" y="168840"/>
            <a:ext cx="11274120" cy="6586920"/>
          </a:xfrm>
          <a:prstGeom prst="rect">
            <a:avLst/>
          </a:prstGeom>
          <a:noFill/>
          <a:ln w="0">
            <a:noFill/>
          </a:ln>
        </p:spPr>
        <p:txBody>
          <a:bodyPr lIns="91440" rIns="91440" tIns="45720" bIns="45720" anchor="t">
            <a:normAutofit lnSpcReduction="9999"/>
          </a:bodyPr>
          <a:p>
            <a:pPr marL="402480"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Практика</a:t>
            </a:r>
            <a:r>
              <a:rPr lang="uk-UA" sz="2400" b="0" u="none" spc="-40" strike="noStrike">
                <a:solidFill>
                  <a:schemeClr val="dk1"/>
                </a:solidFill>
                <a:effectLst/>
                <a:uFillTx/>
                <a:latin typeface="Times New Roman"/>
                <a:ea typeface="Times New Roman"/>
              </a:rPr>
              <a:t> ринкової діяльності </a:t>
            </a:r>
            <a:r>
              <a:rPr lang="uk-UA" sz="2400" b="0" u="none" strike="noStrike">
                <a:solidFill>
                  <a:schemeClr val="dk1"/>
                </a:solidFill>
                <a:effectLst/>
                <a:uFillTx/>
                <a:latin typeface="Times New Roman"/>
                <a:ea typeface="Times New Roman"/>
              </a:rPr>
              <a:t>свідчить,</a:t>
            </a:r>
            <a:r>
              <a:rPr lang="uk-UA" sz="2400" b="0" u="none" spc="-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що</a:t>
            </a:r>
            <a:r>
              <a:rPr lang="uk-UA" sz="2400" b="0" u="none" spc="-34" strike="noStrike">
                <a:solidFill>
                  <a:schemeClr val="dk1"/>
                </a:solidFill>
                <a:effectLst/>
                <a:uFillTx/>
                <a:latin typeface="Times New Roman"/>
                <a:ea typeface="Times New Roman"/>
              </a:rPr>
              <a:t> </a:t>
            </a:r>
            <a:r>
              <a:rPr lang="uk-UA" sz="2400" b="1" u="none" strike="noStrike">
                <a:solidFill>
                  <a:schemeClr val="dk1"/>
                </a:solidFill>
                <a:effectLst/>
                <a:uFillTx/>
                <a:latin typeface="Times New Roman"/>
                <a:ea typeface="Times New Roman"/>
              </a:rPr>
              <a:t>сегментування</a:t>
            </a:r>
            <a:r>
              <a:rPr lang="uk-UA" sz="2400" b="0" u="none" spc="-51"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ринку:</a:t>
            </a:r>
            <a:endParaRPr lang="pl-PL" sz="2400" b="0" u="none" strike="noStrike">
              <a:solidFill>
                <a:schemeClr val="dk1"/>
              </a:solidFill>
              <a:effectLst/>
              <a:uFillTx/>
              <a:latin typeface="Calibri"/>
            </a:endParaRPr>
          </a:p>
          <a:p>
            <a:pPr marL="343080" indent="-343080" algn="just" defTabSz="914400">
              <a:lnSpc>
                <a:spcPct val="150000"/>
              </a:lnSpc>
              <a:spcBef>
                <a:spcPts val="811"/>
              </a:spcBef>
              <a:buClr>
                <a:srgbClr val="000000"/>
              </a:buClr>
              <a:buFont typeface="Times New Roman"/>
              <a:buChar char="—"/>
              <a:tabLst>
                <a:tab algn="l" pos="859320"/>
              </a:tabLst>
            </a:pPr>
            <a:r>
              <a:rPr lang="uk-UA" sz="2400" b="0" u="none" strike="noStrike">
                <a:solidFill>
                  <a:schemeClr val="dk1"/>
                </a:solidFill>
                <a:effectLst/>
                <a:uFillTx/>
                <a:latin typeface="Times New Roman"/>
                <a:ea typeface="Times New Roman"/>
              </a:rPr>
              <a:t>є</a:t>
            </a:r>
            <a:r>
              <a:rPr lang="uk-UA" sz="2400" b="0" u="none" spc="-5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засобом</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вибору</a:t>
            </a:r>
            <a:r>
              <a:rPr lang="uk-UA" sz="2400" b="0" u="none" spc="-5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найбільш</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перспективного</a:t>
            </a:r>
            <a:r>
              <a:rPr lang="uk-UA" sz="2400" b="0" u="none" spc="-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цільового</a:t>
            </a:r>
            <a:r>
              <a:rPr lang="uk-UA" sz="2400" b="0" u="none" spc="-45"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ринку;</a:t>
            </a:r>
            <a:endParaRPr lang="pl-PL" sz="2400" b="0" u="none" strike="noStrike">
              <a:solidFill>
                <a:schemeClr val="dk1"/>
              </a:solidFill>
              <a:effectLst/>
              <a:uFillTx/>
              <a:latin typeface="Calibri"/>
            </a:endParaRPr>
          </a:p>
          <a:p>
            <a:pPr marL="343080" indent="-343080" algn="just" defTabSz="914400">
              <a:lnSpc>
                <a:spcPct val="150000"/>
              </a:lnSpc>
              <a:spcBef>
                <a:spcPts val="805"/>
              </a:spcBef>
              <a:buClr>
                <a:srgbClr val="000000"/>
              </a:buClr>
              <a:buFont typeface="Times New Roman"/>
              <a:buChar char="—"/>
              <a:tabLst>
                <a:tab algn="l" pos="852840"/>
              </a:tabLst>
            </a:pPr>
            <a:r>
              <a:rPr lang="uk-UA" sz="2400" b="0" u="none" strike="noStrike">
                <a:solidFill>
                  <a:schemeClr val="dk1"/>
                </a:solidFill>
                <a:effectLst/>
                <a:uFillTx/>
                <a:latin typeface="Times New Roman"/>
                <a:ea typeface="Times New Roman"/>
              </a:rPr>
              <a:t>дає</a:t>
            </a:r>
            <a:r>
              <a:rPr lang="uk-UA" sz="2400" b="0" u="none" spc="-4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змогу</a:t>
            </a:r>
            <a:r>
              <a:rPr lang="uk-UA" sz="2400" b="0" u="none" spc="-3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максимальному</a:t>
            </a:r>
            <a:r>
              <a:rPr lang="uk-UA" sz="2400" b="0" u="none" spc="-2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рівні</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задовольнити</a:t>
            </a:r>
            <a:r>
              <a:rPr lang="uk-UA" sz="2400" b="0" u="none" spc="-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потреби</a:t>
            </a:r>
            <a:r>
              <a:rPr lang="uk-UA" sz="2400" b="0" u="none" spc="-34"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клієнтів;</a:t>
            </a:r>
            <a:endParaRPr lang="pl-PL" sz="2400" b="0" u="none" strike="noStrike">
              <a:solidFill>
                <a:schemeClr val="dk1"/>
              </a:solidFill>
              <a:effectLst/>
              <a:uFillTx/>
              <a:latin typeface="Calibri"/>
            </a:endParaRPr>
          </a:p>
          <a:p>
            <a:pPr marL="343080" indent="-343080" algn="just" defTabSz="914400">
              <a:lnSpc>
                <a:spcPct val="150000"/>
              </a:lnSpc>
              <a:spcBef>
                <a:spcPts val="805"/>
              </a:spcBef>
              <a:buClr>
                <a:srgbClr val="000000"/>
              </a:buClr>
              <a:buFont typeface="Times New Roman"/>
              <a:buChar char="—"/>
              <a:tabLst>
                <a:tab algn="l" pos="859320"/>
              </a:tabLst>
            </a:pPr>
            <a:r>
              <a:rPr lang="uk-UA" sz="2400" b="0" u="none" strike="noStrike">
                <a:solidFill>
                  <a:schemeClr val="dk1"/>
                </a:solidFill>
                <a:effectLst/>
                <a:uFillTx/>
                <a:latin typeface="Times New Roman"/>
                <a:ea typeface="Times New Roman"/>
              </a:rPr>
              <a:t>допомагає</a:t>
            </a:r>
            <a:r>
              <a:rPr lang="uk-UA" sz="2400" b="0" u="none" spc="-5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вибрати</a:t>
            </a:r>
            <a:r>
              <a:rPr lang="uk-UA" sz="2400" b="0" u="none" spc="-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оптимальну</a:t>
            </a:r>
            <a:r>
              <a:rPr lang="uk-UA" sz="2400" b="0" u="none" spc="-40" strike="noStrike">
                <a:solidFill>
                  <a:schemeClr val="dk1"/>
                </a:solidFill>
                <a:effectLst/>
                <a:uFillTx/>
                <a:latin typeface="Times New Roman"/>
                <a:ea typeface="Times New Roman"/>
              </a:rPr>
              <a:t> ринкову </a:t>
            </a:r>
            <a:r>
              <a:rPr lang="uk-UA" sz="2400" b="0" u="none" spc="-11" strike="noStrike">
                <a:solidFill>
                  <a:schemeClr val="dk1"/>
                </a:solidFill>
                <a:effectLst/>
                <a:uFillTx/>
                <a:latin typeface="Times New Roman"/>
                <a:ea typeface="Times New Roman"/>
              </a:rPr>
              <a:t>стратегію;</a:t>
            </a:r>
            <a:endParaRPr lang="pl-PL" sz="2400" b="0" u="none" strike="noStrike">
              <a:solidFill>
                <a:schemeClr val="dk1"/>
              </a:solidFill>
              <a:effectLst/>
              <a:uFillTx/>
              <a:latin typeface="Calibri"/>
            </a:endParaRPr>
          </a:p>
          <a:p>
            <a:pPr marL="343080" indent="-343080" algn="just" defTabSz="914400">
              <a:lnSpc>
                <a:spcPct val="150000"/>
              </a:lnSpc>
              <a:spcBef>
                <a:spcPts val="799"/>
              </a:spcBef>
              <a:buClr>
                <a:srgbClr val="000000"/>
              </a:buClr>
              <a:buFont typeface="Times New Roman"/>
              <a:buChar char="—"/>
              <a:tabLst>
                <a:tab algn="l" pos="859320"/>
              </a:tabLst>
            </a:pPr>
            <a:r>
              <a:rPr lang="uk-UA" sz="2400" b="0" u="none" strike="noStrike">
                <a:solidFill>
                  <a:schemeClr val="dk1"/>
                </a:solidFill>
                <a:effectLst/>
                <a:uFillTx/>
                <a:latin typeface="Times New Roman"/>
                <a:ea typeface="Times New Roman"/>
              </a:rPr>
              <a:t>сприяє</a:t>
            </a:r>
            <a:r>
              <a:rPr lang="uk-UA" sz="2400" b="0" u="none" spc="-5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постановці</a:t>
            </a:r>
            <a:r>
              <a:rPr lang="uk-UA" sz="2400" b="0" u="none" spc="-5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реальних</a:t>
            </a:r>
            <a:r>
              <a:rPr lang="uk-UA" sz="2400" b="0" u="none" spc="-31"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цілей;</a:t>
            </a:r>
            <a:endParaRPr lang="pl-PL" sz="2400" b="0" u="none" strike="noStrike">
              <a:solidFill>
                <a:schemeClr val="dk1"/>
              </a:solidFill>
              <a:effectLst/>
              <a:uFillTx/>
              <a:latin typeface="Calibri"/>
            </a:endParaRPr>
          </a:p>
          <a:p>
            <a:pPr marL="343080" indent="-343080" algn="just" defTabSz="914400">
              <a:lnSpc>
                <a:spcPct val="150000"/>
              </a:lnSpc>
              <a:spcBef>
                <a:spcPts val="816"/>
              </a:spcBef>
              <a:buClr>
                <a:srgbClr val="000000"/>
              </a:buClr>
              <a:buFont typeface="Times New Roman"/>
              <a:buChar char="—"/>
              <a:tabLst>
                <a:tab algn="l" pos="859320"/>
              </a:tabLst>
            </a:pPr>
            <a:r>
              <a:rPr lang="uk-UA" sz="2400" b="0" u="none" strike="noStrike">
                <a:solidFill>
                  <a:schemeClr val="dk1"/>
                </a:solidFill>
                <a:effectLst/>
                <a:uFillTx/>
                <a:latin typeface="Times New Roman"/>
                <a:ea typeface="Times New Roman"/>
              </a:rPr>
              <a:t>уможливлює</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підвищення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рівня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обґрунтованості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рішень,</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які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приймають,</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забезпечуючи їх інформацією про поведінку споживачів на ринку;</a:t>
            </a:r>
            <a:endParaRPr lang="pl-PL" sz="2400" b="0" u="none" strike="noStrike">
              <a:solidFill>
                <a:schemeClr val="dk1"/>
              </a:solidFill>
              <a:effectLst/>
              <a:uFillTx/>
              <a:latin typeface="Calibri"/>
            </a:endParaRPr>
          </a:p>
          <a:p>
            <a:pPr marL="343080" indent="-343080" algn="just" defTabSz="914400">
              <a:lnSpc>
                <a:spcPct val="150000"/>
              </a:lnSpc>
              <a:spcBef>
                <a:spcPts val="371"/>
              </a:spcBef>
              <a:buClr>
                <a:srgbClr val="000000"/>
              </a:buClr>
              <a:buFont typeface="Times New Roman"/>
              <a:buChar char="—"/>
              <a:tabLst>
                <a:tab algn="l" pos="859320"/>
              </a:tabLst>
            </a:pPr>
            <a:r>
              <a:rPr lang="uk-UA" sz="2400" b="0" u="none" strike="noStrike">
                <a:solidFill>
                  <a:schemeClr val="dk1"/>
                </a:solidFill>
                <a:effectLst/>
                <a:uFillTx/>
                <a:latin typeface="Times New Roman"/>
                <a:ea typeface="Times New Roman"/>
              </a:rPr>
              <a:t>забезпечує підвищення конкурентоспроможності як пропонованих товарів чи послуг, так і підприємства загалом;</a:t>
            </a:r>
            <a:endParaRPr lang="pl-PL" sz="2400" b="0" u="none" strike="noStrike">
              <a:solidFill>
                <a:schemeClr val="dk1"/>
              </a:solidFill>
              <a:effectLst/>
              <a:uFillTx/>
              <a:latin typeface="Calibri"/>
            </a:endParaRPr>
          </a:p>
          <a:p>
            <a:pPr marL="343080" indent="-343080" algn="just" defTabSz="914400">
              <a:lnSpc>
                <a:spcPts val="1585"/>
              </a:lnSpc>
              <a:spcBef>
                <a:spcPts val="1001"/>
              </a:spcBef>
              <a:buClr>
                <a:srgbClr val="000000"/>
              </a:buClr>
              <a:buFont typeface="Times New Roman"/>
              <a:buChar char="—"/>
              <a:tabLst>
                <a:tab algn="l" pos="859320"/>
              </a:tabLst>
            </a:pPr>
            <a:r>
              <a:rPr lang="uk-UA" sz="2400" b="0" u="none" strike="noStrike">
                <a:solidFill>
                  <a:schemeClr val="dk1"/>
                </a:solidFill>
                <a:effectLst/>
                <a:uFillTx/>
                <a:latin typeface="Times New Roman"/>
                <a:ea typeface="Times New Roman"/>
              </a:rPr>
              <a:t>сприяє</a:t>
            </a:r>
            <a:r>
              <a:rPr lang="uk-UA" sz="2400" b="0" u="none" spc="-5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оптимізації</a:t>
            </a:r>
            <a:r>
              <a:rPr lang="uk-UA" sz="2400" b="0" u="none" spc="-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затрат</a:t>
            </a:r>
            <a:r>
              <a:rPr lang="uk-UA" sz="2400" b="0" u="none" spc="-31"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підприємства;</a:t>
            </a:r>
            <a:endParaRPr lang="pl-PL" sz="2400" b="0" u="none" strike="noStrike">
              <a:solidFill>
                <a:schemeClr val="dk1"/>
              </a:solidFill>
              <a:effectLst/>
              <a:uFillTx/>
              <a:latin typeface="Calibri"/>
            </a:endParaRPr>
          </a:p>
          <a:p>
            <a:pPr marL="343080" indent="-343080" algn="just" defTabSz="914400">
              <a:lnSpc>
                <a:spcPct val="150000"/>
              </a:lnSpc>
              <a:spcBef>
                <a:spcPts val="805"/>
              </a:spcBef>
              <a:buClr>
                <a:srgbClr val="000000"/>
              </a:buClr>
              <a:buFont typeface="Times New Roman"/>
              <a:buChar char="—"/>
              <a:tabLst>
                <a:tab algn="l" pos="891000"/>
              </a:tabLst>
            </a:pPr>
            <a:r>
              <a:rPr lang="uk-UA" sz="2400" b="0" u="none" strike="noStrike">
                <a:solidFill>
                  <a:schemeClr val="dk1"/>
                </a:solidFill>
                <a:effectLst/>
                <a:uFillTx/>
                <a:latin typeface="Times New Roman"/>
                <a:ea typeface="Times New Roman"/>
              </a:rPr>
              <a:t>дає змогу ухилитися від конкурентної боротьби або знизити її гостроту шляхом освоєння вільного сегмента.</a:t>
            </a:r>
            <a:endParaRPr lang="pl-PL" sz="2400" b="0" u="none" strike="noStrike">
              <a:solidFill>
                <a:schemeClr val="dk1"/>
              </a:solidFill>
              <a:effectLst/>
              <a:uFillTx/>
              <a:latin typeface="Calibri"/>
            </a:endParaRPr>
          </a:p>
          <a:p>
            <a:pPr indent="0" algn="just" defTabSz="914400">
              <a:lnSpc>
                <a:spcPct val="150000"/>
              </a:lnSpc>
              <a:spcBef>
                <a:spcPts val="816"/>
              </a:spcBef>
              <a:buNone/>
              <a:tabLst>
                <a:tab algn="l" pos="859320"/>
              </a:tabLst>
            </a:pPr>
            <a:endParaRPr lang="pl-PL" sz="2400" b="0" u="none" strike="noStrike">
              <a:solidFill>
                <a:schemeClr val="dk1"/>
              </a:solidFill>
              <a:effectLst/>
              <a:uFillTx/>
              <a:latin typeface="Calibri"/>
            </a:endParaRPr>
          </a:p>
          <a:p>
            <a:pPr indent="0" defTabSz="914400">
              <a:lnSpc>
                <a:spcPct val="90000"/>
              </a:lnSpc>
              <a:spcBef>
                <a:spcPts val="1001"/>
              </a:spcBef>
              <a:buNone/>
              <a:tabLst>
                <a:tab algn="l" pos="85932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p:nvPr>
        </p:nvSpPr>
        <p:spPr>
          <a:xfrm>
            <a:off x="586080" y="275040"/>
            <a:ext cx="11220840" cy="6418080"/>
          </a:xfrm>
          <a:prstGeom prst="rect">
            <a:avLst/>
          </a:prstGeom>
          <a:noFill/>
          <a:ln w="0">
            <a:noFill/>
          </a:ln>
        </p:spPr>
        <p:txBody>
          <a:bodyPr lIns="91440" rIns="91440" tIns="45720" bIns="45720" anchor="t">
            <a:normAutofit/>
          </a:bodyPr>
          <a:p>
            <a:pPr marL="181440" indent="449640" algn="just" defTabSz="914400">
              <a:lnSpc>
                <a:spcPct val="170000"/>
              </a:lnSpc>
              <a:spcBef>
                <a:spcPts val="1001"/>
              </a:spcBef>
              <a:buClr>
                <a:srgbClr val="000000"/>
              </a:buClr>
              <a:buFont typeface="Arial"/>
              <a:buChar char="•"/>
            </a:pPr>
            <a:r>
              <a:rPr lang="uk-UA" sz="2400" b="0" u="none" strike="noStrike">
                <a:solidFill>
                  <a:schemeClr val="dk1"/>
                </a:solidFill>
                <a:effectLst/>
                <a:uFillTx/>
                <a:latin typeface="Times New Roman"/>
                <a:ea typeface="Times New Roman"/>
              </a:rPr>
              <a:t>Сегментацію ринку </a:t>
            </a:r>
            <a:r>
              <a:rPr lang="uk-UA" sz="2400" b="1" u="none" strike="noStrike">
                <a:solidFill>
                  <a:schemeClr val="dk1"/>
                </a:solidFill>
                <a:effectLst/>
                <a:uFillTx/>
                <a:latin typeface="Times New Roman"/>
                <a:ea typeface="Times New Roman"/>
              </a:rPr>
              <a:t>товарів промислового призначення </a:t>
            </a:r>
            <a:r>
              <a:rPr lang="uk-UA" sz="2400" b="0" u="none" strike="noStrike">
                <a:solidFill>
                  <a:schemeClr val="dk1"/>
                </a:solidFill>
                <a:effectLst/>
                <a:uFillTx/>
                <a:latin typeface="Times New Roman"/>
                <a:ea typeface="Times New Roman"/>
              </a:rPr>
              <a:t>(ТПП) можна проводити за такими принципами:</a:t>
            </a:r>
            <a:endParaRPr lang="pl-PL" sz="2400" b="0" u="none" strike="noStrike">
              <a:solidFill>
                <a:schemeClr val="dk1"/>
              </a:solidFill>
              <a:effectLst/>
              <a:uFillTx/>
              <a:latin typeface="Calibri"/>
            </a:endParaRPr>
          </a:p>
          <a:p>
            <a:pPr marL="343080" indent="-343080" algn="just" defTabSz="914400">
              <a:lnSpc>
                <a:spcPct val="170000"/>
              </a:lnSpc>
              <a:spcBef>
                <a:spcPts val="1001"/>
              </a:spcBef>
              <a:buClr>
                <a:srgbClr val="000000"/>
              </a:buClr>
              <a:buFont typeface="Times New Roman"/>
              <a:buChar char="-"/>
              <a:tabLst>
                <a:tab algn="l" pos="845280"/>
              </a:tabLst>
            </a:pPr>
            <a:r>
              <a:rPr lang="uk-UA" sz="2400" b="0" u="none" strike="noStrike">
                <a:solidFill>
                  <a:schemeClr val="dk1"/>
                </a:solidFill>
                <a:effectLst/>
                <a:uFillTx/>
                <a:latin typeface="Times New Roman"/>
                <a:ea typeface="Times New Roman"/>
              </a:rPr>
              <a:t>сегментація за географічним принципом (аналогічно до сегментації споживчого ринку);</a:t>
            </a:r>
            <a:endParaRPr lang="pl-PL" sz="2400" b="0" u="none" strike="noStrike">
              <a:solidFill>
                <a:schemeClr val="dk1"/>
              </a:solidFill>
              <a:effectLst/>
              <a:uFillTx/>
              <a:latin typeface="Calibri"/>
            </a:endParaRPr>
          </a:p>
          <a:p>
            <a:pPr marL="343080" indent="-343080" algn="just" defTabSz="914400">
              <a:lnSpc>
                <a:spcPct val="170000"/>
              </a:lnSpc>
              <a:spcBef>
                <a:spcPts val="1001"/>
              </a:spcBef>
              <a:buClr>
                <a:srgbClr val="000000"/>
              </a:buClr>
              <a:buFont typeface="Times New Roman"/>
              <a:buChar char="-"/>
              <a:tabLst>
                <a:tab algn="l" pos="779760"/>
              </a:tabLst>
            </a:pPr>
            <a:r>
              <a:rPr lang="uk-UA" sz="2400" b="0" u="none" strike="noStrike">
                <a:solidFill>
                  <a:schemeClr val="dk1"/>
                </a:solidFill>
                <a:effectLst/>
                <a:uFillTx/>
                <a:latin typeface="Times New Roman"/>
                <a:ea typeface="Times New Roman"/>
              </a:rPr>
              <a:t>сегментація за галузевим принципом. Особливо поширена серед малих і середніх фірм. Дає змогу розширити й вигідно сформувати асортимент;</a:t>
            </a:r>
            <a:endParaRPr lang="pl-PL" sz="2400" b="0" u="none" strike="noStrike">
              <a:solidFill>
                <a:schemeClr val="dk1"/>
              </a:solidFill>
              <a:effectLst/>
              <a:uFillTx/>
              <a:latin typeface="Calibri"/>
            </a:endParaRPr>
          </a:p>
          <a:p>
            <a:pPr marL="343080" indent="-343080" algn="just" defTabSz="914400">
              <a:lnSpc>
                <a:spcPct val="170000"/>
              </a:lnSpc>
              <a:spcBef>
                <a:spcPts val="1001"/>
              </a:spcBef>
              <a:buClr>
                <a:srgbClr val="000000"/>
              </a:buClr>
              <a:buFont typeface="Times New Roman"/>
              <a:buChar char="-"/>
              <a:tabLst>
                <a:tab algn="l" pos="799560"/>
              </a:tabLst>
            </a:pPr>
            <a:r>
              <a:rPr lang="uk-UA" sz="2400" b="0" u="none" strike="noStrike">
                <a:solidFill>
                  <a:schemeClr val="dk1"/>
                </a:solidFill>
                <a:effectLst/>
                <a:uFillTx/>
                <a:latin typeface="Times New Roman"/>
                <a:ea typeface="Times New Roman"/>
              </a:rPr>
              <a:t>сегментація за функціональним призначенням продукції ґрунтується на класифікації функцій виробів даного виду.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p:nvPr>
        </p:nvSpPr>
        <p:spPr>
          <a:xfrm>
            <a:off x="586080" y="399600"/>
            <a:ext cx="10767600" cy="5777280"/>
          </a:xfrm>
          <a:prstGeom prst="rect">
            <a:avLst/>
          </a:prstGeom>
          <a:noFill/>
          <a:ln w="0">
            <a:noFill/>
          </a:ln>
        </p:spPr>
        <p:txBody>
          <a:bodyPr lIns="91440" rIns="91440" tIns="45720" bIns="45720" anchor="t">
            <a:normAutofit fontScale="92500" lnSpcReduction="9999"/>
          </a:bodyPr>
          <a:p>
            <a:pPr indent="0" algn="just" defTabSz="914400">
              <a:lnSpc>
                <a:spcPct val="150000"/>
              </a:lnSpc>
              <a:spcBef>
                <a:spcPts val="371"/>
              </a:spcBef>
              <a:buNone/>
              <a:tabLst>
                <a:tab algn="l" pos="0"/>
              </a:tabLst>
            </a:pPr>
            <a:r>
              <a:rPr lang="uk-UA" sz="2400" b="0" u="none" strike="noStrike">
                <a:solidFill>
                  <a:schemeClr val="dk1"/>
                </a:solidFill>
                <a:effectLst/>
                <a:uFillTx/>
                <a:latin typeface="Times New Roman"/>
                <a:ea typeface="Times New Roman"/>
              </a:rPr>
              <a:t>- сегментація</a:t>
            </a:r>
            <a:r>
              <a:rPr lang="uk-UA" sz="2400" b="0" u="none" spc="-1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вагомістю</a:t>
            </a:r>
            <a:r>
              <a:rPr lang="uk-UA" sz="2400" b="0" u="none" spc="-2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споживачів</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передбачає</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розподіл</a:t>
            </a:r>
            <a:r>
              <a:rPr lang="uk-UA" sz="2400" b="0" u="none" spc="-2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ринку</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a:t>
            </a:r>
            <a:r>
              <a:rPr lang="uk-UA" sz="2400" b="0" u="none" spc="-2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сегменти, де</a:t>
            </a:r>
            <a:r>
              <a:rPr lang="uk-UA" sz="2400" b="0" u="none" spc="30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здійснюються</a:t>
            </a:r>
            <a:r>
              <a:rPr lang="uk-UA" sz="2400" b="0" u="none" spc="29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великі</a:t>
            </a:r>
            <a:r>
              <a:rPr lang="uk-UA" sz="2400" b="0" u="none" spc="3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торговельні</a:t>
            </a:r>
            <a:r>
              <a:rPr lang="uk-UA" sz="2400" b="0" u="none" spc="30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операції,</a:t>
            </a:r>
            <a:r>
              <a:rPr lang="uk-UA" sz="2400" b="0" u="none" spc="28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a:t>
            </a:r>
            <a:r>
              <a:rPr lang="uk-UA" sz="2400" b="0" u="none" spc="29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a:t>
            </a:r>
            <a:r>
              <a:rPr lang="uk-UA" sz="2400" b="0" u="none" spc="30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сегменти</a:t>
            </a:r>
            <a:r>
              <a:rPr lang="uk-UA" sz="2400" b="0" u="none" spc="30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a:t>
            </a:r>
            <a:r>
              <a:rPr lang="uk-UA" sz="2400" b="0" u="none" spc="289"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дрібними</a:t>
            </a:r>
            <a:r>
              <a:rPr lang="uk-UA" sz="2400" b="0" u="none" spc="30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й</a:t>
            </a:r>
            <a:r>
              <a:rPr lang="uk-UA" sz="2400" b="0" u="none" spc="29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навіть одиничними покупками товарів. Останні не варто ігнорувати, оскільки на таких сегментах, як звичайно, нижчий рівень конкуренції;</a:t>
            </a:r>
            <a:endParaRPr lang="pl-PL" sz="2400" b="0" u="none" strike="noStrike">
              <a:solidFill>
                <a:schemeClr val="dk1"/>
              </a:solidFill>
              <a:effectLst/>
              <a:uFillTx/>
              <a:latin typeface="Calibri"/>
            </a:endParaRPr>
          </a:p>
          <a:p>
            <a:pPr marL="343080" indent="-343080" algn="just" defTabSz="914400">
              <a:lnSpc>
                <a:spcPct val="150000"/>
              </a:lnSpc>
              <a:spcBef>
                <a:spcPts val="1001"/>
              </a:spcBef>
              <a:buClr>
                <a:srgbClr val="000000"/>
              </a:buClr>
              <a:buFont typeface="Times New Roman"/>
              <a:buChar char="-"/>
              <a:tabLst>
                <a:tab algn="l" pos="752400"/>
              </a:tabLst>
            </a:pPr>
            <a:r>
              <a:rPr lang="uk-UA" sz="2400" b="0" u="none" strike="noStrike">
                <a:solidFill>
                  <a:schemeClr val="dk1"/>
                </a:solidFill>
                <a:effectLst/>
                <a:uFillTx/>
                <a:latin typeface="Times New Roman"/>
                <a:ea typeface="Times New Roman"/>
              </a:rPr>
              <a:t>сегментація за формою власності враховує специфіку роботи з державними та приватними фірмами.</a:t>
            </a:r>
            <a:endParaRPr lang="pl-PL" sz="2400" b="0" u="none" strike="noStrike">
              <a:solidFill>
                <a:schemeClr val="dk1"/>
              </a:solidFill>
              <a:effectLst/>
              <a:uFillTx/>
              <a:latin typeface="Calibri"/>
            </a:endParaRPr>
          </a:p>
          <a:p>
            <a:pPr marL="402480"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Можна</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використовувати</a:t>
            </a:r>
            <a:r>
              <a:rPr lang="uk-UA" sz="2400" b="0" u="none" spc="-3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й</a:t>
            </a:r>
            <a:r>
              <a:rPr lang="uk-UA" sz="2400" b="0" u="none" spc="-45"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інші</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принципи</a:t>
            </a:r>
            <a:r>
              <a:rPr lang="uk-UA" sz="2400" b="0" u="none" spc="-1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сегментації</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ринку</a:t>
            </a:r>
            <a:r>
              <a:rPr lang="uk-UA" sz="2400" b="0" u="none" spc="-34" strike="noStrike">
                <a:solidFill>
                  <a:schemeClr val="dk1"/>
                </a:solidFill>
                <a:effectLst/>
                <a:uFillTx/>
                <a:latin typeface="Times New Roman"/>
                <a:ea typeface="Times New Roman"/>
              </a:rPr>
              <a:t> </a:t>
            </a:r>
            <a:r>
              <a:rPr lang="uk-UA" sz="2400" b="0" u="none" spc="-20" strike="noStrike">
                <a:solidFill>
                  <a:schemeClr val="dk1"/>
                </a:solidFill>
                <a:effectLst/>
                <a:uFillTx/>
                <a:latin typeface="Times New Roman"/>
                <a:ea typeface="Times New Roman"/>
              </a:rPr>
              <a:t>ТПП.</a:t>
            </a:r>
            <a:endParaRPr lang="pl-PL" sz="2400" b="0" u="none" strike="noStrike">
              <a:solidFill>
                <a:schemeClr val="dk1"/>
              </a:solidFill>
              <a:effectLst/>
              <a:uFillTx/>
              <a:latin typeface="Calibri"/>
            </a:endParaRPr>
          </a:p>
          <a:p>
            <a:pPr marL="402480" indent="0" algn="just" defTabSz="914400">
              <a:lnSpc>
                <a:spcPct val="160000"/>
              </a:lnSpc>
              <a:spcBef>
                <a:spcPts val="1001"/>
              </a:spcBef>
              <a:buNone/>
              <a:tabLst>
                <a:tab algn="l" pos="0"/>
              </a:tabLst>
            </a:pPr>
            <a:r>
              <a:rPr lang="uk-UA" sz="2400" b="0" u="none" strike="noStrike">
                <a:solidFill>
                  <a:schemeClr val="dk1"/>
                </a:solidFill>
                <a:effectLst/>
                <a:uFillTx/>
                <a:latin typeface="Times New Roman"/>
                <a:ea typeface="Times New Roman"/>
              </a:rPr>
              <a:t>Для </a:t>
            </a:r>
            <a:r>
              <a:rPr lang="uk-UA" sz="2400" b="1" u="none" strike="noStrike">
                <a:solidFill>
                  <a:schemeClr val="dk1"/>
                </a:solidFill>
                <a:effectLst/>
                <a:uFillTx/>
                <a:latin typeface="Times New Roman"/>
                <a:ea typeface="Times New Roman"/>
              </a:rPr>
              <a:t>споживчих ринків </a:t>
            </a:r>
            <a:r>
              <a:rPr lang="uk-UA" sz="2400" b="0" u="none" strike="noStrike">
                <a:solidFill>
                  <a:schemeClr val="dk1"/>
                </a:solidFill>
                <a:effectLst/>
                <a:uFillTx/>
                <a:latin typeface="Times New Roman"/>
                <a:ea typeface="Times New Roman"/>
              </a:rPr>
              <a:t>їх групують по чотирьох категоріях: демографічні, географічні, психографічні і поведінкові змінні. Деякі автори додають також економічні (майнові), соціальні і культурні змінні, а також сегментацію ринку по параметрах продукції і основних конкурентах </a:t>
            </a:r>
            <a:endParaRPr lang="pl-PL" sz="2400" b="0" u="none" strike="noStrike">
              <a:solidFill>
                <a:schemeClr val="dk1"/>
              </a:solidFill>
              <a:effectLst/>
              <a:uFillTx/>
              <a:latin typeface="Calibri"/>
            </a:endParaRPr>
          </a:p>
          <a:p>
            <a:pPr marL="402480" indent="0" algn="just" defTabSz="914400">
              <a:lnSpc>
                <a:spcPct val="150000"/>
              </a:lnSpc>
              <a:spcBef>
                <a:spcPts val="1001"/>
              </a:spcBef>
              <a:buNone/>
              <a:tabLst>
                <a:tab algn="l" pos="0"/>
              </a:tabLst>
            </a:pP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Місце для вмісту 4"/>
          <p:cNvPicPr/>
          <p:nvPr/>
        </p:nvPicPr>
        <p:blipFill>
          <a:blip r:embed="rId1"/>
          <a:stretch/>
        </p:blipFill>
        <p:spPr>
          <a:xfrm>
            <a:off x="2210400" y="0"/>
            <a:ext cx="7251480" cy="4275000"/>
          </a:xfrm>
          <a:prstGeom prst="rect">
            <a:avLst/>
          </a:prstGeom>
          <a:noFill/>
          <a:ln w="0">
            <a:noFill/>
          </a:ln>
        </p:spPr>
      </p:pic>
      <p:pic>
        <p:nvPicPr>
          <p:cNvPr id="68" name="Рисунок 8"/>
          <p:cNvPicPr/>
          <p:nvPr/>
        </p:nvPicPr>
        <p:blipFill>
          <a:blip r:embed="rId2"/>
          <a:stretch/>
        </p:blipFill>
        <p:spPr>
          <a:xfrm>
            <a:off x="2310480" y="4128120"/>
            <a:ext cx="7051680" cy="24325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198440" y="149400"/>
            <a:ext cx="10199520" cy="531000"/>
          </a:xfrm>
          <a:prstGeom prst="rect">
            <a:avLst/>
          </a:prstGeom>
          <a:noFill/>
          <a:ln w="0">
            <a:noFill/>
          </a:ln>
        </p:spPr>
        <p:txBody>
          <a:bodyPr lIns="91440" rIns="91440" tIns="45720" bIns="45720" anchor="ctr">
            <a:normAutofit/>
          </a:bodyPr>
          <a:p>
            <a:pPr indent="0" algn="ctr" defTabSz="914400">
              <a:lnSpc>
                <a:spcPct val="90000"/>
              </a:lnSpc>
              <a:buNone/>
            </a:pPr>
            <a:r>
              <a:rPr lang="uk-UA" sz="2400" b="1" u="none" strike="noStrike">
                <a:solidFill>
                  <a:schemeClr val="dk1"/>
                </a:solidFill>
                <a:effectLst/>
                <a:uFillTx/>
                <a:latin typeface="Times New Roman"/>
              </a:rPr>
              <a:t>Критерії ефективного сегментації </a:t>
            </a:r>
            <a:endParaRPr lang="pl-PL" sz="2400" b="0" u="none" strike="noStrike">
              <a:solidFill>
                <a:schemeClr val="dk1"/>
              </a:solidFill>
              <a:effectLst/>
              <a:uFillTx/>
              <a:latin typeface="Calibri"/>
            </a:endParaRPr>
          </a:p>
        </p:txBody>
      </p:sp>
      <p:sp>
        <p:nvSpPr>
          <p:cNvPr id="70" name="PlaceHolder 2"/>
          <p:cNvSpPr>
            <a:spLocks noGrp="1"/>
          </p:cNvSpPr>
          <p:nvPr>
            <p:ph/>
          </p:nvPr>
        </p:nvSpPr>
        <p:spPr>
          <a:xfrm>
            <a:off x="115560" y="479520"/>
            <a:ext cx="11869200" cy="6228720"/>
          </a:xfrm>
          <a:prstGeom prst="rect">
            <a:avLst/>
          </a:prstGeom>
          <a:noFill/>
          <a:ln w="0">
            <a:noFill/>
          </a:ln>
        </p:spPr>
        <p:txBody>
          <a:bodyPr lIns="91440" rIns="91440" tIns="45720" bIns="45720" anchor="t">
            <a:no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Ефективність сегментації ринку залежить від наступних умов (сформульовані З. Маджаро). </a:t>
            </a:r>
            <a:endParaRPr lang="pl-PL" sz="2400" b="0" u="none" strike="noStrike">
              <a:solidFill>
                <a:schemeClr val="dk1"/>
              </a:solidFill>
              <a:effectLst/>
              <a:uFillTx/>
              <a:latin typeface="Calibri"/>
            </a:endParaRPr>
          </a:p>
          <a:p>
            <a:pPr marL="457200" indent="-457200" algn="just" defTabSz="914400">
              <a:lnSpc>
                <a:spcPct val="150000"/>
              </a:lnSpc>
              <a:spcBef>
                <a:spcPts val="1001"/>
              </a:spcBef>
              <a:buClr>
                <a:srgbClr val="000000"/>
              </a:buClr>
              <a:buFont typeface="Arial"/>
              <a:buAutoNum type="arabicPeriod"/>
              <a:tabLst>
                <a:tab algn="l" pos="0"/>
              </a:tabLst>
            </a:pPr>
            <a:r>
              <a:rPr lang="uk-UA" sz="2400" b="0" u="none" strike="noStrike">
                <a:solidFill>
                  <a:schemeClr val="dk1"/>
                </a:solidFill>
                <a:effectLst/>
                <a:uFillTx/>
                <a:latin typeface="Times New Roman"/>
              </a:rPr>
              <a:t>Потреби покупців повинні бути гетерогенними, різними, інакше не буде необхідності сегментувати ринок, а основною стратегією стане масовий маркетинг.</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2. У кожному сегменті повинен бути достатня схожість в потребах покупців, щоб можна було розробити один комплекс маркетингу для всього сегменту.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3. Сегменти повинні піддаватися кількісному аналізу, бути вимірними. Тільки в цьому випадку можна усвідомлено вибрати цільовий сегмент, оцінивши для нього купівельну здатність споживачів, потенційний обсяг продажів, витрати і прибутки фірми.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p:nvPr>
        </p:nvSpPr>
        <p:spPr>
          <a:xfrm>
            <a:off x="834480" y="612720"/>
            <a:ext cx="10518840" cy="556416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4.Принаймні один з сегментів ринку повинен мати достатній потенціал прибутковості, під який розроблятиметься спеціальний комплекс маркетингу. Бажано також, щоб це був сегмент з новим, перспективним попитом.</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5. Розміри сегменту повинні бути достатньо великими, щоб фірма, діюча на диференційованій ділянці ринку, змогла забезпечити необхідний обсяг продажів і окупити свої витрати.</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6. Споживачі в сегментах повинні бути легко досяжними для продавців.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p:nvPr>
        </p:nvSpPr>
        <p:spPr>
          <a:xfrm>
            <a:off x="506160" y="266400"/>
            <a:ext cx="11318760" cy="637380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Приймаючи рішення щодо виходу на ринок, можливостей його сегментації, фірма може застосувати три стратегії охоплення ринку: </a:t>
            </a:r>
            <a:r>
              <a:rPr lang="uk-UA" sz="2400" b="1" u="none" strike="noStrike">
                <a:solidFill>
                  <a:schemeClr val="dk1"/>
                </a:solidFill>
                <a:effectLst/>
                <a:uFillTx/>
                <a:latin typeface="Times New Roman"/>
              </a:rPr>
              <a:t>масовий маркетинг</a:t>
            </a: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цільовий маркетинг</a:t>
            </a:r>
            <a:r>
              <a:rPr lang="uk-UA" sz="2400" b="0" u="none" strike="noStrike">
                <a:solidFill>
                  <a:schemeClr val="dk1"/>
                </a:solidFill>
                <a:effectLst/>
                <a:uFillTx/>
                <a:latin typeface="Times New Roman"/>
              </a:rPr>
              <a:t> та </a:t>
            </a:r>
            <a:r>
              <a:rPr lang="uk-UA" sz="2400" b="1" u="none" strike="noStrike">
                <a:solidFill>
                  <a:schemeClr val="dk1"/>
                </a:solidFill>
                <a:effectLst/>
                <a:uFillTx/>
                <a:latin typeface="Times New Roman"/>
              </a:rPr>
              <a:t>диференційований маркетинг</a:t>
            </a:r>
            <a:r>
              <a:rPr lang="uk-UA" sz="2400" b="0" u="none" strike="noStrike">
                <a:solidFill>
                  <a:schemeClr val="dk1"/>
                </a:solidFill>
                <a:effectLst/>
                <a:uFillTx/>
                <a:latin typeface="Times New Roman"/>
              </a:rPr>
              <a:t>.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Масовий маркетинг </a:t>
            </a:r>
            <a:r>
              <a:rPr lang="uk-UA" sz="2400" b="0" u="none" strike="noStrike">
                <a:solidFill>
                  <a:schemeClr val="dk1"/>
                </a:solidFill>
                <a:effectLst/>
                <a:uFillTx/>
                <a:latin typeface="Times New Roman"/>
              </a:rPr>
              <a:t>орієнтується на широкий споживчий ринок з використанням одного базового плану маркетингу, сегментацію ринку не проводять. Цю стратегію доцільно застосовувати на однорідному ринку, де всі споживачі виявляють інтерес до одного товару й однаково реагують на запропоновані маркетингові заходи. Головна мета масового маркетингу – максимізувати збут, завдяки чому суттєво зменшяться питомі втрати на виробництво і збут одиниці продукції. Це дає змогу фірмі знижувати ціну на товар і гнучко вести цінову конкуренцію. Але потреби деяких сегментів ринку при тому можуть залишитись незадоволеними.</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p:nvPr>
        </p:nvSpPr>
        <p:spPr>
          <a:xfrm>
            <a:off x="648000" y="346320"/>
            <a:ext cx="10705320" cy="6240600"/>
          </a:xfrm>
          <a:prstGeom prst="rect">
            <a:avLst/>
          </a:prstGeom>
          <a:noFill/>
          <a:ln w="0">
            <a:noFill/>
          </a:ln>
        </p:spPr>
        <p:txBody>
          <a:bodyPr lIns="91440" rIns="91440" tIns="45720" bIns="45720" anchor="t">
            <a:normAutofit fontScale="85000" lnSpcReduction="9999"/>
          </a:bodyPr>
          <a:p>
            <a:pPr indent="0" algn="just" defTabSz="914400">
              <a:lnSpc>
                <a:spcPct val="150000"/>
              </a:lnSpc>
              <a:spcBef>
                <a:spcPts val="1001"/>
              </a:spcBef>
              <a:buNone/>
              <a:tabLst>
                <a:tab algn="l" pos="0"/>
              </a:tabLst>
            </a:pPr>
            <a:r>
              <a:rPr lang="uk-UA" sz="2800" b="1" u="none" strike="noStrike">
                <a:solidFill>
                  <a:schemeClr val="dk1"/>
                </a:solidFill>
                <a:effectLst/>
                <a:uFillTx/>
                <a:latin typeface="Times New Roman"/>
              </a:rPr>
              <a:t>Цільовий, чи концентрований </a:t>
            </a:r>
            <a:r>
              <a:rPr lang="uk-UA" sz="2800" b="0" u="none" strike="noStrike">
                <a:solidFill>
                  <a:schemeClr val="dk1"/>
                </a:solidFill>
                <a:effectLst/>
                <a:uFillTx/>
                <a:latin typeface="Times New Roman"/>
              </a:rPr>
              <a:t>маркетинг орієнтований на вузьку специфічну групу споживачів (сегмент ринку) через спеціалізований комплекс маркетингу, спрямований на задоволення потреб саме цього сегмента. Стратегія цільового маркетингу ефективна насамперед для невеликих чи спеціалізованих підприємств, які виробляють продукцію конкретного призначення в обмеженій кількості. </a:t>
            </a:r>
            <a:endParaRPr lang="pl-PL" sz="28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Для досягнення ринкового успіху важливо, щоб фірма краще, ніж конкуренти, задовольняла потреби обраного сегмента ринку. Водночас ця стратегія пов'язана з підвищеним рівнем ризику. Якщо обраний сегмент не виправдає надій, компанія зазнає збитків. Тому багато фірм надає перевагу диверсифікації виробництва і орієнтації на декілька сегментів, тобто використовують третю стратегію.</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p:nvPr>
        </p:nvSpPr>
        <p:spPr>
          <a:xfrm>
            <a:off x="745560" y="372960"/>
            <a:ext cx="11132280" cy="621396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Диференційований </a:t>
            </a:r>
            <a:r>
              <a:rPr lang="uk-UA" sz="2400" b="0" u="none" strike="noStrike">
                <a:solidFill>
                  <a:schemeClr val="dk1"/>
                </a:solidFill>
                <a:effectLst/>
                <a:uFillTx/>
                <a:latin typeface="Times New Roman"/>
              </a:rPr>
              <a:t>маркетинг передбачає охоплення декількох сегментів ринку і розроблення для кожного з них окремого комплексу маркетингу. Це зменшує для фірми рівень ризику і негативні економічні наслідки в разі невдачі на якомусь сегменті. Диференційований маркетинг потребує ретельного аналізу. Ресурси і можливості фірми мають бути достатні для виробництва та маркетингу двох чи більше марок або товарів. Компанія повинна ретельно підкреслювати відмінності товарів на кожному сегменті й підтримувати їх образ. Це потребує додаткових витрат на створення модифікацій виробів та освоєння виробництва нових товарів, реалізацію їх численними каналами збуту, рекламу різних марок та моделей продукції. Підприємство повинно зіставляти додаткові витрати й додаткові доходи від реалізації продукції на різних сегментах ринку.</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76240" y="151920"/>
            <a:ext cx="10438920" cy="522360"/>
          </a:xfrm>
          <a:prstGeom prst="rect">
            <a:avLst/>
          </a:prstGeom>
          <a:noFill/>
          <a:ln w="0">
            <a:noFill/>
          </a:ln>
        </p:spPr>
        <p:txBody>
          <a:bodyPr lIns="91440" rIns="91440" tIns="45720" bIns="45720" anchor="ctr">
            <a:normAutofit/>
          </a:bodyPr>
          <a:p>
            <a:pPr indent="0" algn="ctr" defTabSz="914400">
              <a:lnSpc>
                <a:spcPct val="90000"/>
              </a:lnSpc>
              <a:buNone/>
            </a:pPr>
            <a:r>
              <a:rPr lang="uk-UA" sz="2400" b="1" u="none" strike="noStrike">
                <a:solidFill>
                  <a:schemeClr val="dk1"/>
                </a:solidFill>
                <a:effectLst/>
                <a:uFillTx/>
                <a:latin typeface="Times New Roman"/>
              </a:rPr>
              <a:t>Фактори, які необхідно враховувати при виборі стратегії охоплення ри</a:t>
            </a:r>
            <a:r>
              <a:rPr lang="uk-UA" sz="2400" b="0" u="none" strike="noStrike">
                <a:solidFill>
                  <a:schemeClr val="dk1"/>
                </a:solidFill>
                <a:effectLst/>
                <a:uFillTx/>
                <a:latin typeface="Times New Roman"/>
              </a:rPr>
              <a:t>нку </a:t>
            </a:r>
            <a:endParaRPr lang="pl-PL" sz="2400" b="0" u="none" strike="noStrike">
              <a:solidFill>
                <a:schemeClr val="dk1"/>
              </a:solidFill>
              <a:effectLst/>
              <a:uFillTx/>
              <a:latin typeface="Calibri"/>
            </a:endParaRPr>
          </a:p>
        </p:txBody>
      </p:sp>
      <p:sp>
        <p:nvSpPr>
          <p:cNvPr id="76" name="PlaceHolder 2"/>
          <p:cNvSpPr>
            <a:spLocks noGrp="1"/>
          </p:cNvSpPr>
          <p:nvPr>
            <p:ph/>
          </p:nvPr>
        </p:nvSpPr>
        <p:spPr>
          <a:xfrm>
            <a:off x="266400" y="568080"/>
            <a:ext cx="11780280" cy="6137280"/>
          </a:xfrm>
          <a:prstGeom prst="rect">
            <a:avLst/>
          </a:prstGeom>
          <a:noFill/>
          <a:ln w="0">
            <a:noFill/>
          </a:ln>
        </p:spPr>
        <p:txBody>
          <a:bodyPr lIns="91440" rIns="91440" tIns="45720" bIns="45720" anchor="t">
            <a:noAutofit/>
          </a:bodyPr>
          <a:p>
            <a:pPr marL="228600" indent="-228600" algn="just" defTabSz="914400">
              <a:lnSpc>
                <a:spcPct val="150000"/>
              </a:lnSpc>
              <a:buClr>
                <a:srgbClr val="000000"/>
              </a:buClr>
              <a:buFont typeface="OpenSymbol"/>
              <a:buChar char="-"/>
            </a:pPr>
            <a:r>
              <a:rPr lang="uk-UA" sz="2000" b="0" u="none" strike="noStrike">
                <a:solidFill>
                  <a:schemeClr val="dk1"/>
                </a:solidFill>
                <a:effectLst/>
                <a:uFillTx/>
                <a:latin typeface="Times New Roman"/>
              </a:rPr>
              <a:t>Наявність ресурсів. При обмежених ресурсах найдоцільнішою є стратегія цільового маркетингу.</a:t>
            </a:r>
            <a:endParaRPr lang="pl-PL" sz="2000" b="0" u="none" strike="noStrike">
              <a:solidFill>
                <a:schemeClr val="dk1"/>
              </a:solidFill>
              <a:effectLst/>
              <a:uFillTx/>
              <a:latin typeface="Calibri"/>
            </a:endParaRPr>
          </a:p>
          <a:p>
            <a:pPr marL="228600" indent="-228600" algn="just" defTabSz="914400">
              <a:lnSpc>
                <a:spcPct val="150000"/>
              </a:lnSpc>
              <a:buClr>
                <a:srgbClr val="000000"/>
              </a:buClr>
              <a:buFont typeface="OpenSymbol"/>
              <a:buChar char="-"/>
            </a:pPr>
            <a:r>
              <a:rPr lang="uk-UA" sz="2000" b="0" u="none" strike="noStrike">
                <a:solidFill>
                  <a:schemeClr val="dk1"/>
                </a:solidFill>
                <a:effectLst/>
                <a:uFillTx/>
                <a:latin typeface="Times New Roman"/>
              </a:rPr>
              <a:t>  Ступінь однорідності продукції. Для однорідного товару більше підходить масовий маркетинг, для товарів широкого асортименту прийнятніша стратегія диференційованого чи концентрованого маркетингу.</a:t>
            </a:r>
            <a:endParaRPr lang="pl-PL" sz="2000" b="0" u="none" strike="noStrike">
              <a:solidFill>
                <a:schemeClr val="dk1"/>
              </a:solidFill>
              <a:effectLst/>
              <a:uFillTx/>
              <a:latin typeface="Calibri"/>
            </a:endParaRPr>
          </a:p>
          <a:p>
            <a:pPr marL="228600" indent="-228600" algn="just" defTabSz="914400">
              <a:lnSpc>
                <a:spcPct val="150000"/>
              </a:lnSpc>
              <a:buClr>
                <a:srgbClr val="000000"/>
              </a:buClr>
              <a:buFont typeface="OpenSymbol"/>
              <a:buChar char="-"/>
            </a:pPr>
            <a:r>
              <a:rPr lang="uk-UA" sz="2000" b="0" u="none" strike="noStrike">
                <a:solidFill>
                  <a:schemeClr val="dk1"/>
                </a:solidFill>
                <a:effectLst/>
                <a:uFillTx/>
                <a:latin typeface="Times New Roman"/>
              </a:rPr>
              <a:t> Етап життєвого циклу товару. При виході фірми на ринок із новим товаром доцільно пропонувати лише один варіант новинки. При тому краще використовувати стратегії цільового чи масового маркетингу. </a:t>
            </a:r>
            <a:endParaRPr lang="pl-PL" sz="2000" b="0" u="none" strike="noStrike">
              <a:solidFill>
                <a:schemeClr val="dk1"/>
              </a:solidFill>
              <a:effectLst/>
              <a:uFillTx/>
              <a:latin typeface="Calibri"/>
            </a:endParaRPr>
          </a:p>
          <a:p>
            <a:pPr marL="228600" indent="-228600" algn="just" defTabSz="914400">
              <a:lnSpc>
                <a:spcPct val="150000"/>
              </a:lnSpc>
              <a:buClr>
                <a:srgbClr val="000000"/>
              </a:buClr>
              <a:buFont typeface="OpenSymbol"/>
              <a:buChar char="-"/>
            </a:pPr>
            <a:r>
              <a:rPr lang="uk-UA" sz="2000" b="0" u="none" strike="noStrike">
                <a:solidFill>
                  <a:schemeClr val="dk1"/>
                </a:solidFill>
                <a:effectLst/>
                <a:uFillTx/>
                <a:latin typeface="Times New Roman"/>
              </a:rPr>
              <a:t> Ступінь однорідності ринку. Якщо споживачі мають схожі смаки, бажання, купують майже однакову кількість товарів за певні періоди й однаково реагують на певні маркетингові стимули, то, безперечно, треба орієнтуватися на масовий маркетинг. </a:t>
            </a:r>
            <a:endParaRPr lang="pl-PL" sz="2000" b="0" u="none" strike="noStrike">
              <a:solidFill>
                <a:schemeClr val="dk1"/>
              </a:solidFill>
              <a:effectLst/>
              <a:uFillTx/>
              <a:latin typeface="Calibri"/>
            </a:endParaRPr>
          </a:p>
          <a:p>
            <a:pPr marL="228600" indent="-228600" algn="just" defTabSz="914400">
              <a:lnSpc>
                <a:spcPct val="150000"/>
              </a:lnSpc>
              <a:buClr>
                <a:srgbClr val="000000"/>
              </a:buClr>
              <a:buFont typeface="OpenSymbol"/>
              <a:buChar char="-"/>
            </a:pPr>
            <a:r>
              <a:rPr lang="uk-UA" sz="2000" b="0" u="none" strike="noStrike">
                <a:solidFill>
                  <a:schemeClr val="dk1"/>
                </a:solidFill>
                <a:effectLst/>
                <a:uFillTx/>
                <a:latin typeface="Times New Roman"/>
              </a:rPr>
              <a:t>Маркетингові стратегії конкурентів. Якщо конкуренти сегментують ринок, застосування стратегії масового маркетингу може бути згубне. Якщо конкуренти орієнтуються на масового споживача, фірма може виграти від використання диференційованого або цільового маркетингу. </a:t>
            </a:r>
            <a:endParaRPr lang="pl-PL" sz="20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p:nvPr>
        </p:nvSpPr>
        <p:spPr>
          <a:xfrm>
            <a:off x="550440" y="346320"/>
            <a:ext cx="10802880" cy="5830200"/>
          </a:xfrm>
          <a:prstGeom prst="rect">
            <a:avLst/>
          </a:prstGeom>
          <a:noFill/>
          <a:ln w="0">
            <a:noFill/>
          </a:ln>
        </p:spPr>
        <p:txBody>
          <a:bodyPr lIns="91440" rIns="91440" tIns="45720" bIns="45720" anchor="t">
            <a:normAutofit fontScale="85000" lnSpcReduction="19999"/>
          </a:bodyPr>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Обравши стратегію диференційованого чи цільового маркетингу і здійснивши сегментацію ринку, фірма повинна визначити, які сегменти є найпривабливіші. При тому доцільно врахувати сильні сторони підприємства, рівень конкуренції, розмір ринків, стосунки з посередниками, „імідж" фірми. </a:t>
            </a:r>
            <a:endParaRPr lang="pl-PL" sz="28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Найвигідніші сегменти повинні мати високий рівень поточного збуту, високі темпи зростання, високу норму прибутку, слабку конкуренцію. Як звичайно, жоден із сегментів не відповідає бажаною мірою усім цим характеристикам, тому доводиться йти на компроміси. </a:t>
            </a:r>
            <a:endParaRPr lang="pl-PL" sz="28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Після виявлення об'єктивно привабливих сегментів фірма повинна поставити перед собою запитання, який з них найповніше відповідає її сильним діловим сторонам. Тобто слід відібрати ті сегменти, для успішної роботи на яких підприємство має усі необхідні ділові передумови.</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p:nvPr>
        </p:nvSpPr>
        <p:spPr>
          <a:xfrm>
            <a:off x="213120" y="213120"/>
            <a:ext cx="11753640" cy="6471360"/>
          </a:xfrm>
          <a:prstGeom prst="rect">
            <a:avLst/>
          </a:prstGeom>
          <a:noFill/>
          <a:ln w="0">
            <a:noFill/>
          </a:ln>
        </p:spPr>
        <p:txBody>
          <a:bodyPr lIns="91440" rIns="91440" tIns="45720" bIns="45720" anchor="t">
            <a:no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Обравши конкретний сегмент, фірма повинна визначити для себе, як проникнути на нього і здобути конкурентні переваги. Для того належить дослідити позиції усіх наявних на ринку конкурентів і визначити своє місце.</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Процедура сегментування ринку починається з вибору факторів (ознак, змінних) сегментування. Необхідно підкреслити, що ці фактори в залежності від виду ринку (споживчого або товарів промислового призначення) можуть значно відрізнятися.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Так, для споживчого ринку найважливіше значення мають фактори: географічний, демографічний, психографічний, поведінковий. В той же час при сегментуванні ринку товарів промислового призначення велике значення, крім географічної ознаки мають такі фактори, як розмір фірми, вид діяльності, форма власності.</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p:nvPr>
        </p:nvSpPr>
        <p:spPr>
          <a:xfrm>
            <a:off x="577080" y="461520"/>
            <a:ext cx="11203200" cy="6063120"/>
          </a:xfrm>
          <a:prstGeom prst="rect">
            <a:avLst/>
          </a:prstGeom>
          <a:noFill/>
          <a:ln w="0">
            <a:noFill/>
          </a:ln>
        </p:spPr>
        <p:txBody>
          <a:bodyPr lIns="91440" rIns="91440" tIns="45720" bIns="45720" anchor="t">
            <a:normAutofit lnSpcReduction="9999"/>
          </a:bodyPr>
          <a:p>
            <a:pPr indent="0" defTabSz="914400">
              <a:lnSpc>
                <a:spcPct val="150000"/>
              </a:lnSpc>
              <a:buNone/>
              <a:tabLst>
                <a:tab algn="l" pos="0"/>
              </a:tabLst>
            </a:pPr>
            <a:r>
              <a:rPr lang="uk-UA" sz="2400" b="0" u="none" strike="noStrike">
                <a:solidFill>
                  <a:schemeClr val="dk1"/>
                </a:solidFill>
                <a:effectLst/>
                <a:uFillTx/>
                <a:latin typeface="Times New Roman"/>
              </a:rPr>
              <a:t>Процедура сегментування ринку як правило здійснюється за такою послідовністю: </a:t>
            </a:r>
            <a:endParaRPr lang="pl-PL" sz="2400" b="0" u="none" strike="noStrike">
              <a:solidFill>
                <a:schemeClr val="dk1"/>
              </a:solidFill>
              <a:effectLst/>
              <a:uFillTx/>
              <a:latin typeface="Calibri"/>
            </a:endParaRPr>
          </a:p>
          <a:p>
            <a:pPr marL="514440" indent="-514440" defTabSz="914400">
              <a:lnSpc>
                <a:spcPct val="150000"/>
              </a:lnSpc>
              <a:buClr>
                <a:srgbClr val="000000"/>
              </a:buClr>
              <a:buFont typeface="Arial"/>
              <a:buAutoNum type="arabicPeriod"/>
              <a:tabLst>
                <a:tab algn="l" pos="0"/>
              </a:tabLst>
            </a:pPr>
            <a:r>
              <a:rPr lang="uk-UA" sz="2400" b="0" u="none" strike="noStrike">
                <a:solidFill>
                  <a:schemeClr val="dk1"/>
                </a:solidFill>
                <a:effectLst/>
                <a:uFillTx/>
                <a:latin typeface="Times New Roman"/>
              </a:rPr>
              <a:t>Визначення факторів (ознак) сегментування ринку. </a:t>
            </a:r>
            <a:endParaRPr lang="pl-PL" sz="2400" b="0" u="none" strike="noStrike">
              <a:solidFill>
                <a:schemeClr val="dk1"/>
              </a:solidFill>
              <a:effectLst/>
              <a:uFillTx/>
              <a:latin typeface="Calibri"/>
            </a:endParaRPr>
          </a:p>
          <a:p>
            <a:pPr marL="514440" indent="-514440" defTabSz="914400">
              <a:lnSpc>
                <a:spcPct val="150000"/>
              </a:lnSpc>
              <a:buClr>
                <a:srgbClr val="000000"/>
              </a:buClr>
              <a:buFont typeface="Arial"/>
              <a:buAutoNum type="arabicPeriod"/>
              <a:tabLst>
                <a:tab algn="l" pos="0"/>
              </a:tabLst>
            </a:pPr>
            <a:r>
              <a:rPr lang="uk-UA" sz="2400" b="0" u="none" strike="noStrike">
                <a:solidFill>
                  <a:schemeClr val="dk1"/>
                </a:solidFill>
                <a:effectLst/>
                <a:uFillTx/>
                <a:latin typeface="Times New Roman"/>
              </a:rPr>
              <a:t>Вибір методу сегментування та його реалізація. </a:t>
            </a:r>
            <a:endParaRPr lang="pl-PL" sz="2400" b="0" u="none" strike="noStrike">
              <a:solidFill>
                <a:schemeClr val="dk1"/>
              </a:solidFill>
              <a:effectLst/>
              <a:uFillTx/>
              <a:latin typeface="Calibri"/>
            </a:endParaRPr>
          </a:p>
          <a:p>
            <a:pPr marL="514440" indent="-514440" defTabSz="914400">
              <a:lnSpc>
                <a:spcPct val="150000"/>
              </a:lnSpc>
              <a:buClr>
                <a:srgbClr val="000000"/>
              </a:buClr>
              <a:buFont typeface="Arial"/>
              <a:buAutoNum type="arabicPeriod"/>
              <a:tabLst>
                <a:tab algn="l" pos="0"/>
              </a:tabLst>
            </a:pPr>
            <a:r>
              <a:rPr lang="uk-UA" sz="2400" b="0" u="none" strike="noStrike">
                <a:solidFill>
                  <a:schemeClr val="dk1"/>
                </a:solidFill>
                <a:effectLst/>
                <a:uFillTx/>
                <a:latin typeface="Times New Roman"/>
              </a:rPr>
              <a:t> Інтерпретація отриманих результатів та складання профілю ринку. </a:t>
            </a:r>
            <a:endParaRPr lang="pl-PL" sz="2400" b="0" u="none" strike="noStrike">
              <a:solidFill>
                <a:schemeClr val="dk1"/>
              </a:solidFill>
              <a:effectLst/>
              <a:uFillTx/>
              <a:latin typeface="Calibri"/>
            </a:endParaRPr>
          </a:p>
          <a:p>
            <a:pPr indent="0" defTabSz="914400">
              <a:lnSpc>
                <a:spcPct val="150000"/>
              </a:lnSpc>
              <a:buNone/>
              <a:tabLst>
                <a:tab algn="l" pos="0"/>
              </a:tabLst>
            </a:pPr>
            <a:r>
              <a:rPr lang="uk-UA" sz="2400" b="0" u="none" strike="noStrike">
                <a:solidFill>
                  <a:schemeClr val="dk1"/>
                </a:solidFill>
                <a:effectLst/>
                <a:uFillTx/>
                <a:latin typeface="Times New Roman"/>
              </a:rPr>
              <a:t>4. Оцінювання отриманих сегментів з точки зору їх привабливості та можливостей фірми. </a:t>
            </a:r>
            <a:endParaRPr lang="pl-PL" sz="2400" b="0" u="none" strike="noStrike">
              <a:solidFill>
                <a:schemeClr val="dk1"/>
              </a:solidFill>
              <a:effectLst/>
              <a:uFillTx/>
              <a:latin typeface="Calibri"/>
            </a:endParaRPr>
          </a:p>
          <a:p>
            <a:pPr indent="0" defTabSz="914400">
              <a:lnSpc>
                <a:spcPct val="150000"/>
              </a:lnSpc>
              <a:buNone/>
              <a:tabLst>
                <a:tab algn="l" pos="0"/>
              </a:tabLst>
            </a:pPr>
            <a:r>
              <a:rPr lang="uk-UA" sz="2400" b="0" u="none" strike="noStrike">
                <a:solidFill>
                  <a:schemeClr val="dk1"/>
                </a:solidFill>
                <a:effectLst/>
                <a:uFillTx/>
                <a:latin typeface="Times New Roman"/>
              </a:rPr>
              <a:t>5. Вибір сегментів ринку (цільового сегменту) для освоєння.</a:t>
            </a:r>
            <a:endParaRPr lang="pl-PL" sz="2400" b="0" u="none" strike="noStrike">
              <a:solidFill>
                <a:schemeClr val="dk1"/>
              </a:solidFill>
              <a:effectLst/>
              <a:uFillTx/>
              <a:latin typeface="Calibri"/>
            </a:endParaRPr>
          </a:p>
          <a:p>
            <a:pPr indent="0" defTabSz="914400">
              <a:lnSpc>
                <a:spcPct val="150000"/>
              </a:lnSpc>
              <a:buNone/>
              <a:tabLst>
                <a:tab algn="l" pos="0"/>
              </a:tabLst>
            </a:pPr>
            <a:r>
              <a:rPr lang="uk-UA" sz="2400" b="0" u="none" strike="noStrike">
                <a:solidFill>
                  <a:schemeClr val="dk1"/>
                </a:solidFill>
                <a:effectLst/>
                <a:uFillTx/>
                <a:latin typeface="Times New Roman"/>
              </a:rPr>
              <a:t> 6. Позиціювання (представлення) товару на ринку та його сегменті. </a:t>
            </a:r>
            <a:endParaRPr lang="pl-PL" sz="2400" b="0" u="none" strike="noStrike">
              <a:solidFill>
                <a:schemeClr val="dk1"/>
              </a:solidFill>
              <a:effectLst/>
              <a:uFillTx/>
              <a:latin typeface="Calibri"/>
            </a:endParaRPr>
          </a:p>
          <a:p>
            <a:pPr indent="0" defTabSz="914400">
              <a:lnSpc>
                <a:spcPct val="150000"/>
              </a:lnSpc>
              <a:buNone/>
              <a:tabLst>
                <a:tab algn="l" pos="0"/>
              </a:tabLst>
            </a:pPr>
            <a:r>
              <a:rPr lang="uk-UA" sz="2400" b="0" u="none" strike="noStrike">
                <a:solidFill>
                  <a:schemeClr val="dk1"/>
                </a:solidFill>
                <a:effectLst/>
                <a:uFillTx/>
                <a:latin typeface="Times New Roman"/>
              </a:rPr>
              <a:t>7. Розробка плану маркетингової діяльності. </a:t>
            </a:r>
            <a:endParaRPr lang="pl-PL" sz="2400" b="0" u="none" strike="noStrike">
              <a:solidFill>
                <a:schemeClr val="dk1"/>
              </a:solidFill>
              <a:effectLst/>
              <a:uFillTx/>
              <a:latin typeface="Calibri"/>
            </a:endParaRPr>
          </a:p>
          <a:p>
            <a:pPr indent="0" defTabSz="914400">
              <a:lnSpc>
                <a:spcPct val="150000"/>
              </a:lnSpc>
              <a:buNone/>
              <a:tabLst>
                <a:tab algn="l" pos="0"/>
              </a:tabLst>
            </a:pPr>
            <a:r>
              <a:rPr lang="uk-UA" sz="2400" b="0" u="none" strike="noStrike">
                <a:solidFill>
                  <a:schemeClr val="dk1"/>
                </a:solidFill>
                <a:effectLst/>
                <a:uFillTx/>
                <a:latin typeface="Times New Roman"/>
              </a:rPr>
              <a:t>8. Контроль за здійсненням реалізації комплексу маркетингу і позиціонуванням товару на ринку</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1180800" y="365040"/>
            <a:ext cx="10172880" cy="513360"/>
          </a:xfrm>
          <a:prstGeom prst="rect">
            <a:avLst/>
          </a:prstGeom>
          <a:noFill/>
          <a:ln w="0">
            <a:noFill/>
          </a:ln>
        </p:spPr>
        <p:txBody>
          <a:bodyPr lIns="91440" rIns="91440" tIns="45720" bIns="45720" anchor="ctr">
            <a:normAutofit/>
          </a:bodyPr>
          <a:p>
            <a:pPr indent="0" algn="ctr" defTabSz="914400">
              <a:lnSpc>
                <a:spcPct val="90000"/>
              </a:lnSpc>
              <a:buNone/>
            </a:pPr>
            <a:r>
              <a:rPr lang="uk-UA" sz="2400" b="1" u="none" strike="noStrike">
                <a:solidFill>
                  <a:schemeClr val="dk1"/>
                </a:solidFill>
                <a:effectLst/>
                <a:uFillTx/>
                <a:latin typeface="Times New Roman"/>
              </a:rPr>
              <a:t>Основні методи сегментування ринку </a:t>
            </a:r>
            <a:endParaRPr lang="pl-PL" sz="2400" b="0" u="none" strike="noStrike">
              <a:solidFill>
                <a:schemeClr val="dk1"/>
              </a:solidFill>
              <a:effectLst/>
              <a:uFillTx/>
              <a:latin typeface="Calibri"/>
            </a:endParaRPr>
          </a:p>
        </p:txBody>
      </p:sp>
      <p:sp>
        <p:nvSpPr>
          <p:cNvPr id="81" name="PlaceHolder 2"/>
          <p:cNvSpPr>
            <a:spLocks noGrp="1"/>
          </p:cNvSpPr>
          <p:nvPr>
            <p:ph/>
          </p:nvPr>
        </p:nvSpPr>
        <p:spPr>
          <a:xfrm>
            <a:off x="621360" y="816840"/>
            <a:ext cx="10731960" cy="5359680"/>
          </a:xfrm>
          <a:prstGeom prst="rect">
            <a:avLst/>
          </a:prstGeom>
          <a:noFill/>
          <a:ln w="0">
            <a:noFill/>
          </a:ln>
        </p:spPr>
        <p:txBody>
          <a:bodyPr lIns="91440" rIns="91440" tIns="45720" bIns="45720" anchor="t">
            <a:normAutofit lnSpcReduction="9999"/>
          </a:bodyPr>
          <a:p>
            <a:pPr marL="457200" indent="0" algn="ctr" defTabSz="914400">
              <a:lnSpc>
                <a:spcPct val="150000"/>
              </a:lnSpc>
              <a:spcBef>
                <a:spcPts val="6"/>
              </a:spcBef>
              <a:buNone/>
              <a:tabLst>
                <a:tab algn="l" pos="0"/>
              </a:tabLst>
            </a:pPr>
            <a:r>
              <a:rPr lang="uk-UA" sz="2400" b="1" u="none" strike="noStrike">
                <a:solidFill>
                  <a:schemeClr val="dk1"/>
                </a:solidFill>
                <a:effectLst/>
                <a:uFillTx/>
                <a:latin typeface="Times New Roman"/>
                <a:ea typeface="Times New Roman"/>
              </a:rPr>
              <a:t>Метод побудови сітки сегментування.</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Для визначення базових ринків обирається кілька змінних, що у сукупності визначають сегменти, умовно назвемо їх функції, технології, споживачі.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Цей метод більш доцільно використовувати при сегментуванні ринку товарів промислового</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призначення,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оскільки</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при</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використанні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більш</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ніж</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чотирьох</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ознак (найчастіше</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така</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необхідність</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виникає</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при</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сегментуванні</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споживчого</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ринку)</a:t>
            </a:r>
            <a:r>
              <a:rPr lang="uk-UA" sz="2400" b="0" u="none" spc="40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втрачається</a:t>
            </a:r>
            <a:r>
              <a:rPr lang="uk-UA" sz="2400" b="0" u="none" spc="23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його</a:t>
            </a:r>
            <a:r>
              <a:rPr lang="uk-UA" sz="2400" b="0" u="none" spc="23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наочність,</a:t>
            </a:r>
            <a:r>
              <a:rPr lang="uk-UA" sz="2400" b="0" u="none" spc="22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яка</a:t>
            </a:r>
            <a:r>
              <a:rPr lang="uk-UA" sz="2400" b="0" u="none" spc="23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необхідна</a:t>
            </a:r>
            <a:r>
              <a:rPr lang="uk-UA" sz="2400" b="0" u="none" spc="22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у</a:t>
            </a:r>
            <a:r>
              <a:rPr lang="uk-UA" sz="2400" b="0" u="none" spc="23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разі</a:t>
            </a:r>
            <a:r>
              <a:rPr lang="uk-UA" sz="2400" b="0" u="none" spc="23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практичного</a:t>
            </a:r>
            <a:r>
              <a:rPr lang="uk-UA" sz="2400" b="0" u="none" spc="23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застосування</a:t>
            </a:r>
            <a:r>
              <a:rPr lang="uk-UA" sz="2400" b="0" u="none" spc="23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a:t>
            </a:r>
            <a:r>
              <a:rPr lang="uk-UA" sz="2400" b="0" u="none" spc="235" strike="noStrike">
                <a:solidFill>
                  <a:schemeClr val="dk1"/>
                </a:solidFill>
                <a:effectLst/>
                <a:uFillTx/>
                <a:latin typeface="Times New Roman"/>
                <a:ea typeface="Times New Roman"/>
              </a:rPr>
              <a:t> </a:t>
            </a:r>
            <a:r>
              <a:rPr lang="uk-UA" sz="2400" b="0" u="none" spc="-51" strike="noStrike">
                <a:solidFill>
                  <a:schemeClr val="dk1"/>
                </a:solidFill>
                <a:effectLst/>
                <a:uFillTx/>
                <a:latin typeface="Times New Roman"/>
                <a:ea typeface="Times New Roman"/>
              </a:rPr>
              <a:t>є </a:t>
            </a:r>
            <a:r>
              <a:rPr lang="uk-UA" sz="2400" b="0" u="none" strike="noStrike">
                <a:solidFill>
                  <a:schemeClr val="dk1"/>
                </a:solidFill>
                <a:effectLst/>
                <a:uFillTx/>
                <a:latin typeface="Times New Roman"/>
                <a:ea typeface="Times New Roman"/>
              </a:rPr>
              <a:t>перевагою</a:t>
            </a:r>
            <a:r>
              <a:rPr lang="uk-UA" sz="2400" b="0" u="none" spc="-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даного</a:t>
            </a:r>
            <a:r>
              <a:rPr lang="uk-UA" sz="2400" b="0" u="none" spc="-26"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методу.</a:t>
            </a:r>
            <a:endParaRPr lang="pl-PL" sz="2400" b="0" u="none" strike="noStrike">
              <a:solidFill>
                <a:schemeClr val="dk1"/>
              </a:solidFill>
              <a:effectLst/>
              <a:uFillTx/>
              <a:latin typeface="Calibri"/>
            </a:endParaRPr>
          </a:p>
          <a:p>
            <a:pPr indent="0" defTabSz="914400">
              <a:lnSpc>
                <a:spcPct val="150000"/>
              </a:lnSpc>
              <a:spcBef>
                <a:spcPts val="1001"/>
              </a:spcBef>
              <a:buNone/>
              <a:tabLst>
                <a:tab algn="l" pos="0"/>
              </a:tabLst>
            </a:pP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Місце для вмісту 46"/>
          <p:cNvPicPr/>
          <p:nvPr/>
        </p:nvPicPr>
        <p:blipFill>
          <a:blip r:embed="rId1"/>
          <a:stretch/>
        </p:blipFill>
        <p:spPr>
          <a:xfrm>
            <a:off x="2275560" y="2472120"/>
            <a:ext cx="7219440" cy="3895200"/>
          </a:xfrm>
          <a:prstGeom prst="rect">
            <a:avLst/>
          </a:prstGeom>
          <a:noFill/>
          <a:ln w="0">
            <a:noFill/>
          </a:ln>
        </p:spPr>
      </p:pic>
      <p:sp>
        <p:nvSpPr>
          <p:cNvPr id="83" name="Rectangle 49"/>
          <p:cNvSpPr/>
          <p:nvPr/>
        </p:nvSpPr>
        <p:spPr>
          <a:xfrm>
            <a:off x="213120" y="662040"/>
            <a:ext cx="3648960" cy="738360"/>
          </a:xfrm>
          <a:prstGeom prst="rect">
            <a:avLst/>
          </a:prstGeom>
          <a:noFill/>
          <a:ln w="0">
            <a:noFill/>
          </a:ln>
        </p:spPr>
        <p:style>
          <a:lnRef idx="0"/>
          <a:fillRef idx="0"/>
          <a:effectRef idx="0"/>
          <a:fontRef idx="minor"/>
        </p:style>
        <p:txBody>
          <a:bodyPr numCol="1" spcCol="0" wrap="none" lIns="631800" anchor="ctr">
            <a:spAutoFit/>
          </a:bodyPr>
          <a:p>
            <a:pPr defTabSz="914400">
              <a:lnSpc>
                <a:spcPct val="100000"/>
              </a:lnSpc>
              <a:tabLst>
                <a:tab algn="l" pos="0"/>
              </a:tabLst>
            </a:pPr>
            <a:r>
              <a:rPr lang="uk-UA" sz="2400" b="1" u="none" strike="noStrike">
                <a:solidFill>
                  <a:schemeClr val="dk1"/>
                </a:solidFill>
                <a:effectLst/>
                <a:uFillTx/>
                <a:latin typeface="Times New Roman"/>
                <a:ea typeface="Times New Roman"/>
              </a:rPr>
              <a:t>Метод групувань</a:t>
            </a:r>
            <a:r>
              <a:rPr lang="uk-UA" sz="2000" b="1" u="none" strike="noStrike">
                <a:solidFill>
                  <a:schemeClr val="dk1"/>
                </a:solidFill>
                <a:effectLst/>
                <a:uFillTx/>
                <a:latin typeface="Times New Roman"/>
                <a:ea typeface="Times New Roman"/>
              </a:rPr>
              <a:t>.</a:t>
            </a:r>
            <a:endParaRPr lang="en-US" sz="2000" b="0" u="none" strike="noStrike">
              <a:solidFill>
                <a:srgbClr val="000000"/>
              </a:solidFill>
              <a:effectLst/>
              <a:uFillTx/>
              <a:latin typeface="Arial"/>
            </a:endParaRPr>
          </a:p>
          <a:p>
            <a:pPr defTabSz="914400">
              <a:lnSpc>
                <a:spcPct val="100000"/>
              </a:lnSpc>
              <a:tabLst>
                <a:tab algn="l" pos="0"/>
              </a:tabLst>
            </a:pPr>
            <a:endParaRPr lang="en-US" sz="1800" b="0" u="none" strike="noStrike">
              <a:solidFill>
                <a:srgbClr val="000000"/>
              </a:solidFill>
              <a:effectLst/>
              <a:uFillTx/>
              <a:latin typeface="Arial"/>
            </a:endParaRPr>
          </a:p>
        </p:txBody>
      </p:sp>
      <p:sp>
        <p:nvSpPr>
          <p:cNvPr id="84" name="Rectangle 55"/>
          <p:cNvSpPr/>
          <p:nvPr/>
        </p:nvSpPr>
        <p:spPr>
          <a:xfrm>
            <a:off x="932040" y="838080"/>
            <a:ext cx="8983800" cy="1784880"/>
          </a:xfrm>
          <a:prstGeom prst="rect">
            <a:avLst/>
          </a:prstGeom>
          <a:noFill/>
          <a:ln w="0">
            <a:noFill/>
          </a:ln>
        </p:spPr>
        <p:style>
          <a:lnRef idx="0"/>
          <a:fillRef idx="0"/>
          <a:effectRef idx="0"/>
          <a:fontRef idx="minor"/>
        </p:style>
        <p:txBody>
          <a:bodyPr numCol="1" spcCol="0" anchor="ctr">
            <a:spAutoFit/>
          </a:bodyPr>
          <a:p>
            <a:pPr algn="just" defTabSz="914400">
              <a:lnSpc>
                <a:spcPct val="100000"/>
              </a:lnSpc>
              <a:tabLst>
                <a:tab algn="l" pos="0"/>
              </a:tabLst>
            </a:pPr>
            <a:endParaRPr lang="en-US" sz="1400" b="0" u="none" strike="noStrike">
              <a:solidFill>
                <a:srgbClr val="000000"/>
              </a:solidFill>
              <a:effectLst/>
              <a:uFillTx/>
              <a:latin typeface="Arial"/>
            </a:endParaRPr>
          </a:p>
          <a:p>
            <a:pPr algn="just" defTabSz="914400">
              <a:lnSpc>
                <a:spcPct val="100000"/>
              </a:lnSpc>
              <a:tabLst>
                <a:tab algn="l" pos="0"/>
              </a:tabLst>
            </a:pPr>
            <a:r>
              <a:rPr lang="uk-UA" sz="2400" b="0" u="none" strike="noStrike">
                <a:solidFill>
                  <a:schemeClr val="dk1"/>
                </a:solidFill>
                <a:effectLst/>
                <a:uFillTx/>
                <a:latin typeface="Times New Roman"/>
                <a:ea typeface="Times New Roman"/>
              </a:rPr>
              <a:t>Полягає у послідовній розбивці всієї сукупності споживачів на підгрупи за різними ознаками.</a:t>
            </a:r>
            <a:endParaRPr lang="en-US" sz="2400" b="0" u="none" strike="noStrike">
              <a:solidFill>
                <a:srgbClr val="000000"/>
              </a:solidFill>
              <a:effectLst/>
              <a:uFillTx/>
              <a:latin typeface="Arial"/>
            </a:endParaRPr>
          </a:p>
          <a:p>
            <a:pPr algn="just" defTabSz="914400">
              <a:lnSpc>
                <a:spcPct val="100000"/>
              </a:lnSpc>
              <a:tabLst>
                <a:tab algn="l" pos="0"/>
              </a:tabLst>
            </a:pPr>
            <a:r>
              <a:rPr lang="uk-UA" sz="2400" b="0" u="none" strike="noStrike">
                <a:solidFill>
                  <a:schemeClr val="dk1"/>
                </a:solidFill>
                <a:effectLst/>
                <a:uFillTx/>
                <a:latin typeface="Times New Roman"/>
                <a:ea typeface="Times New Roman"/>
              </a:rPr>
              <a:t> Наприклад, у випадку ринку споживачів морозива міста Дніпро  умовно це може виглядати так:</a:t>
            </a:r>
            <a:endParaRPr lang="en-US" sz="2400" b="0" u="none" strike="noStrike">
              <a:solidFill>
                <a:srgbClr val="000000"/>
              </a:solidFill>
              <a:effectLst/>
              <a:uFillTx/>
              <a:latin typeface="Arial"/>
            </a:endParaRPr>
          </a:p>
        </p:txBody>
      </p:sp>
      <p:sp>
        <p:nvSpPr>
          <p:cNvPr id="85" name="Прямокутник 48"/>
          <p:cNvSpPr/>
          <p:nvPr/>
        </p:nvSpPr>
        <p:spPr>
          <a:xfrm>
            <a:off x="6019200" y="2707560"/>
            <a:ext cx="940680" cy="257040"/>
          </a:xfrm>
          <a:prstGeom prst="rect">
            <a:avLst/>
          </a:prstGeom>
          <a:solidFill>
            <a:srgbClr val="ffffff"/>
          </a:solidFill>
          <a:ln>
            <a:solidFill>
              <a:srgbClr val="70ad47"/>
            </a:solidFill>
          </a:ln>
        </p:spPr>
        <p:style>
          <a:lnRef idx="2">
            <a:schemeClr val="accent6"/>
          </a:lnRef>
          <a:fillRef idx="1">
            <a:schemeClr val="lt1"/>
          </a:fillRef>
          <a:effectRef idx="0">
            <a:schemeClr val="accent6"/>
          </a:effectRef>
          <a:fontRef idx="minor"/>
        </p:style>
        <p:txBody>
          <a:bodyPr lIns="90000" rIns="90000" tIns="45000" bIns="45000" anchor="ctr">
            <a:noAutofit/>
          </a:bodyPr>
          <a:p>
            <a:pPr algn="ctr" defTabSz="914400">
              <a:lnSpc>
                <a:spcPct val="100000"/>
              </a:lnSpc>
            </a:pPr>
            <a:endParaRPr lang="pl-PL" sz="1800" b="0" u="none" strike="noStrike">
              <a:solidFill>
                <a:schemeClr val="dk1"/>
              </a:solidFill>
              <a:effectLst/>
              <a:uFillTx/>
              <a:latin typeface="Calibri"/>
            </a:endParaRPr>
          </a:p>
        </p:txBody>
      </p:sp>
      <p:sp>
        <p:nvSpPr>
          <p:cNvPr id="86" name="TextBox 47"/>
          <p:cNvSpPr/>
          <p:nvPr/>
        </p:nvSpPr>
        <p:spPr>
          <a:xfrm flipH="1">
            <a:off x="6018840" y="2648160"/>
            <a:ext cx="9406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uk-UA" sz="1800" b="0" u="none" strike="noStrike">
                <a:solidFill>
                  <a:schemeClr val="dk1"/>
                </a:solidFill>
                <a:effectLst/>
                <a:uFillTx/>
                <a:latin typeface="Calibri"/>
              </a:rPr>
              <a:t>Дніпро</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p:nvPr>
        </p:nvSpPr>
        <p:spPr>
          <a:xfrm>
            <a:off x="648000" y="692280"/>
            <a:ext cx="10705320" cy="5484240"/>
          </a:xfrm>
          <a:prstGeom prst="rect">
            <a:avLst/>
          </a:prstGeom>
          <a:noFill/>
          <a:ln w="0">
            <a:noFill/>
          </a:ln>
        </p:spPr>
        <p:txBody>
          <a:bodyPr lIns="91440" rIns="91440" tIns="45720" bIns="45720" anchor="t">
            <a:noAutofit/>
          </a:bodyPr>
          <a:p>
            <a:pPr marL="181440"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Тут використані такі змінні сегментування: стать, вік, інтенсивність </a:t>
            </a:r>
            <a:r>
              <a:rPr lang="uk-UA" sz="2400" b="0" u="none" spc="-11" strike="noStrike">
                <a:solidFill>
                  <a:schemeClr val="dk1"/>
                </a:solidFill>
                <a:effectLst/>
                <a:uFillTx/>
                <a:latin typeface="Times New Roman"/>
                <a:ea typeface="Times New Roman"/>
              </a:rPr>
              <a:t>споживання.</a:t>
            </a:r>
            <a:endParaRPr lang="pl-PL" sz="2400" b="0" u="none" strike="noStrike">
              <a:solidFill>
                <a:schemeClr val="dk1"/>
              </a:solidFill>
              <a:effectLst/>
              <a:uFillTx/>
              <a:latin typeface="Calibri"/>
            </a:endParaRPr>
          </a:p>
          <a:p>
            <a:pPr marL="181440"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Цей метод можна використовувати для будь-якого ринку, проте, попри його наочність,</a:t>
            </a:r>
            <a:r>
              <a:rPr lang="uk-UA" sz="2400" b="0" u="none" spc="33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він</a:t>
            </a:r>
            <a:r>
              <a:rPr lang="uk-UA" sz="2400" b="0" u="none" spc="34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виглядає</a:t>
            </a:r>
            <a:r>
              <a:rPr lang="uk-UA" sz="2400" b="0" u="none" spc="33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дещо</a:t>
            </a:r>
            <a:r>
              <a:rPr lang="uk-UA" sz="2400" b="0" u="none" spc="35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громіздким</a:t>
            </a:r>
            <a:r>
              <a:rPr lang="uk-UA" sz="2400" b="0" u="none" spc="33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a:t>
            </a:r>
            <a:r>
              <a:rPr lang="uk-UA" sz="2400" b="0" u="none" spc="3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не</a:t>
            </a:r>
            <a:r>
              <a:rPr lang="uk-UA" sz="2400" b="0" u="none" spc="33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дає</a:t>
            </a:r>
            <a:r>
              <a:rPr lang="uk-UA" sz="2400" b="0" u="none" spc="33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a:t>
            </a:r>
            <a:r>
              <a:rPr lang="uk-UA" sz="2400" b="0" u="none" spc="33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повній</a:t>
            </a:r>
            <a:r>
              <a:rPr lang="uk-UA" sz="2400" b="0" u="none" spc="3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мірі</a:t>
            </a:r>
            <a:r>
              <a:rPr lang="uk-UA" sz="2400" b="0" u="none" spc="34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використати математичний апарат, його, як і метод сітки сегментування, не можна у повній мірі вважати методом економіко-математичного моделювання.</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1677960" y="321840"/>
            <a:ext cx="9249480" cy="358560"/>
          </a:xfrm>
          <a:prstGeom prst="rect">
            <a:avLst/>
          </a:prstGeom>
          <a:noFill/>
          <a:ln w="0">
            <a:noFill/>
          </a:ln>
        </p:spPr>
        <p:txBody>
          <a:bodyPr lIns="91440" rIns="91440" tIns="45720" bIns="45720" anchor="ctr">
            <a:normAutofit fontScale="85000" lnSpcReduction="9999"/>
          </a:bodyPr>
          <a:p>
            <a:pPr indent="0" algn="ctr" defTabSz="914400">
              <a:lnSpc>
                <a:spcPct val="90000"/>
              </a:lnSpc>
              <a:buNone/>
            </a:pPr>
            <a:r>
              <a:rPr lang="uk-UA" sz="2400" b="1" u="none" strike="noStrike">
                <a:solidFill>
                  <a:schemeClr val="dk1"/>
                </a:solidFill>
                <a:effectLst/>
                <a:uFillTx/>
                <a:latin typeface="Times New Roman"/>
              </a:rPr>
              <a:t>Кластерні процедури сегментування ринку </a:t>
            </a:r>
            <a:endParaRPr lang="pl-PL" sz="2400" b="0" u="none" strike="noStrike">
              <a:solidFill>
                <a:schemeClr val="dk1"/>
              </a:solidFill>
              <a:effectLst/>
              <a:uFillTx/>
              <a:latin typeface="Calibri"/>
            </a:endParaRPr>
          </a:p>
        </p:txBody>
      </p:sp>
      <p:sp>
        <p:nvSpPr>
          <p:cNvPr id="89" name="PlaceHolder 2"/>
          <p:cNvSpPr>
            <a:spLocks noGrp="1"/>
          </p:cNvSpPr>
          <p:nvPr>
            <p:ph/>
          </p:nvPr>
        </p:nvSpPr>
        <p:spPr>
          <a:xfrm>
            <a:off x="838080" y="1207440"/>
            <a:ext cx="10515240" cy="496908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Кластерний підхід передбачає використання методів багатомірного статистичного аналізу для формування груп або класів однорідних одиниць, заданої сукупності об’єктів за певною кількістю ознак. Ці ознаки можуть бути кількісними, ранговими або якісними – їх вибір є ключовим моментом кластерного аналізу. Однорідність сукупності задається правилом обчислення деякої метрики, що характеризує ступінь подібності. Найбільш поширеними є такі метрики:</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Місце для вмісту 4"/>
          <p:cNvPicPr/>
          <p:nvPr/>
        </p:nvPicPr>
        <p:blipFill>
          <a:blip r:embed="rId1"/>
          <a:stretch/>
        </p:blipFill>
        <p:spPr>
          <a:xfrm>
            <a:off x="1435320" y="144720"/>
            <a:ext cx="9321120" cy="5337000"/>
          </a:xfrm>
          <a:prstGeom prst="rect">
            <a:avLst/>
          </a:prstGeom>
          <a:noFill/>
          <a:ln w="0">
            <a:noFill/>
          </a:ln>
        </p:spPr>
      </p:pic>
      <p:pic>
        <p:nvPicPr>
          <p:cNvPr id="91" name="Рисунок 6"/>
          <p:cNvPicPr/>
          <p:nvPr/>
        </p:nvPicPr>
        <p:blipFill>
          <a:blip r:embed="rId2"/>
          <a:stretch/>
        </p:blipFill>
        <p:spPr>
          <a:xfrm>
            <a:off x="1238400" y="5408280"/>
            <a:ext cx="9715320" cy="130464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p:nvPr>
        </p:nvSpPr>
        <p:spPr>
          <a:xfrm>
            <a:off x="390600" y="150840"/>
            <a:ext cx="11611800" cy="6480360"/>
          </a:xfrm>
          <a:prstGeom prst="rect">
            <a:avLst/>
          </a:prstGeom>
          <a:noFill/>
          <a:ln w="0">
            <a:noFill/>
          </a:ln>
        </p:spPr>
        <p:txBody>
          <a:bodyPr lIns="91440" rIns="91440" tIns="45720" bIns="45720" anchor="t">
            <a:noAutofit/>
          </a:bodyPr>
          <a:p>
            <a:pPr indent="0" algn="just" defTabSz="914400">
              <a:lnSpc>
                <a:spcPct val="160000"/>
              </a:lnSpc>
              <a:spcBef>
                <a:spcPts val="1001"/>
              </a:spcBef>
              <a:buNone/>
              <a:tabLst>
                <a:tab algn="l" pos="0"/>
              </a:tabLst>
            </a:pPr>
            <a:r>
              <a:rPr lang="uk-UA" sz="2400" b="0" u="none" strike="noStrike">
                <a:solidFill>
                  <a:schemeClr val="dk1"/>
                </a:solidFill>
                <a:effectLst/>
                <a:uFillTx/>
                <a:latin typeface="Times New Roman"/>
              </a:rPr>
              <a:t>Перед проведенням кластеризації необхідно визначати множину об’єктів та множину ознак, за якими ця процедура буде проводитись. У випадку, коли задані кількісні характеристики ознак, здебільшого переходять до їх нормованих значень, хоча ця процедура інколи може привести до ускладнення процесу поділу на класи. Далі будується матриця відстаней між об’єктами за вибраною формулою, яка має розмірність n×n, містить нулі по головній діагоналі та симетрична відносно останньої (Cjk – елементи матриці). Після цього, власне, починається процедура кластеризації у той чи інший спосіб. Наведемо алгоритм ієрархічної конгломеративної процедури, що є найбільш вживаною. На першому кроці всі об’єкти сукупності розглядаються як окремі кластери, повна кластеризація відбувається за n-1 кроків.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Місце для вмісту 4"/>
          <p:cNvPicPr/>
          <p:nvPr/>
        </p:nvPicPr>
        <p:blipFill>
          <a:blip r:embed="rId1"/>
          <a:stretch/>
        </p:blipFill>
        <p:spPr>
          <a:xfrm>
            <a:off x="302400" y="541440"/>
            <a:ext cx="11903760" cy="577908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 name="Місце для вмісту 8"/>
          <p:cNvPicPr/>
          <p:nvPr/>
        </p:nvPicPr>
        <p:blipFill>
          <a:blip r:embed="rId1"/>
          <a:stretch/>
        </p:blipFill>
        <p:spPr>
          <a:xfrm>
            <a:off x="168840" y="1720440"/>
            <a:ext cx="12022920" cy="312624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p:nvPr>
        </p:nvSpPr>
        <p:spPr>
          <a:xfrm>
            <a:off x="514800" y="532800"/>
            <a:ext cx="11025720" cy="5911560"/>
          </a:xfrm>
          <a:prstGeom prst="rect">
            <a:avLst/>
          </a:prstGeom>
          <a:noFill/>
          <a:ln w="0">
            <a:noFill/>
          </a:ln>
        </p:spPr>
        <p:txBody>
          <a:bodyPr lIns="91440" rIns="91440" tIns="45720" bIns="45720" anchor="t">
            <a:no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ea typeface="Times New Roman"/>
              </a:rPr>
              <a:t>Коли потрібно провести кластеризацію об’єктів</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 якісними ознаками, відмінності будуть лише при формуванні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елементів</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матриці відстаней. У цьому випадку</a:t>
            </a:r>
            <a:r>
              <a:rPr lang="uk-UA" sz="2400" b="0" u="none" spc="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значення ознаки</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можна</a:t>
            </a:r>
            <a:r>
              <a:rPr lang="uk-UA" sz="2400" b="0" u="none" spc="19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представити</a:t>
            </a:r>
            <a:r>
              <a:rPr lang="uk-UA" sz="2400" b="0" u="none" spc="37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двійковим</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кодом</a:t>
            </a:r>
            <a:r>
              <a:rPr lang="uk-UA" sz="2400" b="0" u="none" spc="37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(наприклад,</a:t>
            </a:r>
            <a:r>
              <a:rPr lang="uk-UA" sz="2400" b="0" u="none" spc="6"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об’єкт </a:t>
            </a:r>
            <a:r>
              <a:rPr lang="uk-UA" sz="2400" b="0" u="none" strike="noStrike">
                <a:solidFill>
                  <a:schemeClr val="dk1"/>
                </a:solidFill>
                <a:effectLst/>
                <a:uFillTx/>
                <a:latin typeface="Times New Roman"/>
                <a:ea typeface="Times New Roman"/>
              </a:rPr>
              <a:t>відповідає певному стандарту – значення 1, не відповідає–0). Тоді для формування коефіцієнта подібності між об’єктами </a:t>
            </a:r>
            <a:r>
              <a:rPr lang="uk-UA" sz="2400" b="0" i="1" u="none" strike="noStrike">
                <a:solidFill>
                  <a:schemeClr val="dk1"/>
                </a:solidFill>
                <a:effectLst/>
                <a:uFillTx/>
                <a:latin typeface="Times New Roman"/>
                <a:ea typeface="Times New Roman"/>
              </a:rPr>
              <a:t>j </a:t>
            </a:r>
            <a:r>
              <a:rPr lang="uk-UA" sz="2400" b="0" u="none" strike="noStrike">
                <a:solidFill>
                  <a:schemeClr val="dk1"/>
                </a:solidFill>
                <a:effectLst/>
                <a:uFillTx/>
                <a:latin typeface="Times New Roman"/>
                <a:ea typeface="Times New Roman"/>
              </a:rPr>
              <a:t>та </a:t>
            </a:r>
            <a:r>
              <a:rPr lang="uk-UA" sz="2400" b="0" i="1" u="none" strike="noStrike">
                <a:solidFill>
                  <a:schemeClr val="dk1"/>
                </a:solidFill>
                <a:effectLst/>
                <a:uFillTx/>
                <a:latin typeface="Times New Roman"/>
                <a:ea typeface="Times New Roman"/>
              </a:rPr>
              <a:t>k </a:t>
            </a:r>
            <a:r>
              <a:rPr lang="uk-UA" sz="2400" b="0" u="none" strike="noStrike">
                <a:solidFill>
                  <a:schemeClr val="dk1"/>
                </a:solidFill>
                <a:effectLst/>
                <a:uFillTx/>
                <a:latin typeface="Times New Roman"/>
                <a:ea typeface="Times New Roman"/>
              </a:rPr>
              <a:t>проводимо</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їх співставлення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за параметрами якості, наприклад:</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18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pic>
        <p:nvPicPr>
          <p:cNvPr id="96" name="Рисунок 4"/>
          <p:cNvPicPr/>
          <p:nvPr/>
        </p:nvPicPr>
        <p:blipFill>
          <a:blip r:embed="rId1"/>
          <a:stretch/>
        </p:blipFill>
        <p:spPr>
          <a:xfrm>
            <a:off x="2685960" y="3911040"/>
            <a:ext cx="6819480" cy="253332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7" name="Місце для вмісту 4"/>
          <p:cNvPicPr/>
          <p:nvPr/>
        </p:nvPicPr>
        <p:blipFill>
          <a:blip r:embed="rId1"/>
          <a:stretch/>
        </p:blipFill>
        <p:spPr>
          <a:xfrm>
            <a:off x="980280" y="754560"/>
            <a:ext cx="10754640" cy="514872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Місце для вмісту 4"/>
          <p:cNvPicPr/>
          <p:nvPr/>
        </p:nvPicPr>
        <p:blipFill>
          <a:blip r:embed="rId1"/>
          <a:stretch/>
        </p:blipFill>
        <p:spPr>
          <a:xfrm>
            <a:off x="158760" y="1535760"/>
            <a:ext cx="11716920" cy="266328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p:nvPr>
        </p:nvSpPr>
        <p:spPr>
          <a:xfrm>
            <a:off x="594720" y="357840"/>
            <a:ext cx="11185560" cy="636228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Розглянемо приклад реалізації алгоритму кластеризації. Нехай отримано матрицю відстаней між п’ятьома об’єктами:</a:t>
            </a:r>
            <a:endParaRPr lang="pl-PL" sz="2400" b="0" u="none" strike="noStrike">
              <a:solidFill>
                <a:schemeClr val="dk1"/>
              </a:solidFill>
              <a:effectLst/>
              <a:uFillTx/>
              <a:latin typeface="Calibri"/>
            </a:endParaRPr>
          </a:p>
        </p:txBody>
      </p:sp>
      <p:pic>
        <p:nvPicPr>
          <p:cNvPr id="100" name="Рисунок 4"/>
          <p:cNvPicPr/>
          <p:nvPr/>
        </p:nvPicPr>
        <p:blipFill>
          <a:blip r:embed="rId1"/>
          <a:stretch/>
        </p:blipFill>
        <p:spPr>
          <a:xfrm>
            <a:off x="1633320" y="1446120"/>
            <a:ext cx="8841960" cy="531720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 name="Місце для вмісту 4"/>
          <p:cNvPicPr/>
          <p:nvPr/>
        </p:nvPicPr>
        <p:blipFill>
          <a:blip r:embed="rId1"/>
          <a:stretch/>
        </p:blipFill>
        <p:spPr>
          <a:xfrm>
            <a:off x="253080" y="666000"/>
            <a:ext cx="10967040" cy="551088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Місце для вмісту 4"/>
          <p:cNvPicPr/>
          <p:nvPr/>
        </p:nvPicPr>
        <p:blipFill>
          <a:blip r:embed="rId1"/>
          <a:stretch/>
        </p:blipFill>
        <p:spPr>
          <a:xfrm>
            <a:off x="1809360" y="483120"/>
            <a:ext cx="7934040" cy="1904760"/>
          </a:xfrm>
          <a:prstGeom prst="rect">
            <a:avLst/>
          </a:prstGeom>
          <a:noFill/>
          <a:ln w="0">
            <a:noFill/>
          </a:ln>
        </p:spPr>
      </p:pic>
      <p:pic>
        <p:nvPicPr>
          <p:cNvPr id="103" name="Рисунок 6"/>
          <p:cNvPicPr/>
          <p:nvPr/>
        </p:nvPicPr>
        <p:blipFill>
          <a:blip r:embed="rId2"/>
          <a:stretch/>
        </p:blipFill>
        <p:spPr>
          <a:xfrm>
            <a:off x="1296360" y="2522880"/>
            <a:ext cx="9438840" cy="289512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Місце для вмісту 4"/>
          <p:cNvPicPr/>
          <p:nvPr/>
        </p:nvPicPr>
        <p:blipFill>
          <a:blip r:embed="rId1"/>
          <a:stretch/>
        </p:blipFill>
        <p:spPr>
          <a:xfrm>
            <a:off x="186120" y="776520"/>
            <a:ext cx="11819160" cy="5304240"/>
          </a:xfrm>
          <a:prstGeom prst="rect">
            <a:avLst/>
          </a:prstGeom>
          <a:noFill/>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Місце для вмісту 4"/>
          <p:cNvPicPr/>
          <p:nvPr/>
        </p:nvPicPr>
        <p:blipFill>
          <a:blip r:embed="rId1"/>
          <a:stretch/>
        </p:blipFill>
        <p:spPr>
          <a:xfrm>
            <a:off x="984240" y="718920"/>
            <a:ext cx="8655840" cy="4309920"/>
          </a:xfrm>
          <a:prstGeom prst="rect">
            <a:avLst/>
          </a:prstGeom>
          <a:noFill/>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buNone/>
            </a:pPr>
            <a:endParaRPr lang="pl-PL" sz="4400" b="0" u="none" strike="noStrike">
              <a:solidFill>
                <a:schemeClr val="dk1"/>
              </a:solidFill>
              <a:effectLst/>
              <a:uFillTx/>
              <a:latin typeface="Calibri Light"/>
            </a:endParaRPr>
          </a:p>
        </p:txBody>
      </p:sp>
      <p:sp>
        <p:nvSpPr>
          <p:cNvPr id="10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lang="uk-UA" sz="2800" b="0" u="none" strike="noStrike">
                <a:solidFill>
                  <a:srgbClr val="ff0000"/>
                </a:solidFill>
                <a:effectLst/>
                <a:uFillTx/>
                <a:latin typeface="Calibri"/>
              </a:rPr>
              <a:t>ДЯКУЮ</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Тема Office">
  <a:themeElements>
    <a:clrScheme name="Офіс">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274</TotalTime>
  <Application>LibreOffice/25.8.4.2$Linux_X86_64 LibreOffice_project/580$Build-2</Application>
  <AppVersion>15.0000</AppVersion>
  <Words>1954</Words>
  <Paragraphs>76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2025-03-02T12:11:40Z</dcterms:created>
  <dc:creator>Olena Korchynska</dc:creator>
  <dc:description/>
  <dc:language>en-US</dc:language>
  <cp:lastModifiedBy>Olena Korchynska</cp:lastModifiedBy>
  <dcterms:modified xsi:type="dcterms:W3CDTF">2026-03-31T19:19:40Z</dcterms:modified>
  <cp:revision>55</cp:revision>
  <dc:subject/>
  <dc:title>Кластерні процедури сегментування ринку</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Широкий екран</vt:lpwstr>
  </property>
  <property fmtid="{D5CDD505-2E9C-101B-9397-08002B2CF9AE}" pid="3" name="Slides">
    <vt:r8>34</vt:r8>
  </property>
</Properties>
</file>