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42282C-439F-4050-A990-48358B3FB2F5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F84A67-1B4A-4E5E-A992-D6824A0825EB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3DC6DF-FEC1-41A3-AC98-A44388A7A32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70046E-5F8B-41D5-86A8-A124CAEC0BC7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93A15F-1FF0-4DF5-B9B0-80645B8FA236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C77D9-93E9-44F2-A4E2-FFDC21EEDA70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B802D0-1FE8-45A3-8B41-E50FB438DFD8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066F8-3BB8-4338-805A-B39377501C2D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B599F9-5129-4A9B-8358-988C397B688D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9C4908-B72B-4062-9606-4D63A7641704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55D48-FF72-4840-85E6-C942BB0308B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ПРАКТИЧНА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4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 1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Місце для вмісту 4"/>
          <p:cNvPicPr/>
          <p:nvPr/>
        </p:nvPicPr>
        <p:blipFill>
          <a:blip r:embed="rId1"/>
          <a:stretch/>
        </p:blipFill>
        <p:spPr>
          <a:xfrm>
            <a:off x="604800" y="1784520"/>
            <a:ext cx="10515240" cy="346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Місце для вмісту 4"/>
          <p:cNvPicPr/>
          <p:nvPr/>
        </p:nvPicPr>
        <p:blipFill>
          <a:blip r:embed="rId1"/>
          <a:stretch/>
        </p:blipFill>
        <p:spPr>
          <a:xfrm>
            <a:off x="986400" y="639360"/>
            <a:ext cx="9670680" cy="130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Рисунок 5"/>
          <p:cNvPicPr/>
          <p:nvPr/>
        </p:nvPicPr>
        <p:blipFill>
          <a:blip r:embed="rId2"/>
          <a:stretch/>
        </p:blipFill>
        <p:spPr>
          <a:xfrm>
            <a:off x="1419120" y="1943280"/>
            <a:ext cx="9122400" cy="444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Місце для вмісту 4"/>
          <p:cNvPicPr/>
          <p:nvPr/>
        </p:nvPicPr>
        <p:blipFill>
          <a:blip r:embed="rId1"/>
          <a:stretch/>
        </p:blipFill>
        <p:spPr>
          <a:xfrm>
            <a:off x="641880" y="827640"/>
            <a:ext cx="10233000" cy="125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Рисунок 6"/>
          <p:cNvPicPr/>
          <p:nvPr/>
        </p:nvPicPr>
        <p:blipFill>
          <a:blip r:embed="rId2"/>
          <a:stretch/>
        </p:blipFill>
        <p:spPr>
          <a:xfrm>
            <a:off x="325800" y="2198160"/>
            <a:ext cx="11540160" cy="399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Місце для вмісту 3"/>
          <p:cNvPicPr/>
          <p:nvPr/>
        </p:nvPicPr>
        <p:blipFill>
          <a:blip r:embed="rId1"/>
          <a:stretch/>
        </p:blipFill>
        <p:spPr>
          <a:xfrm>
            <a:off x="337320" y="718920"/>
            <a:ext cx="11283120" cy="513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Місце для вмісту 4"/>
          <p:cNvPicPr/>
          <p:nvPr/>
        </p:nvPicPr>
        <p:blipFill>
          <a:blip r:embed="rId1"/>
          <a:stretch/>
        </p:blipFill>
        <p:spPr>
          <a:xfrm>
            <a:off x="1846440" y="435240"/>
            <a:ext cx="7876440" cy="149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Рисунок 6"/>
          <p:cNvPicPr/>
          <p:nvPr/>
        </p:nvPicPr>
        <p:blipFill>
          <a:blip r:embed="rId2"/>
          <a:stretch/>
        </p:blipFill>
        <p:spPr>
          <a:xfrm>
            <a:off x="1770120" y="2082240"/>
            <a:ext cx="8029080" cy="462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Місце для вмісту 4"/>
          <p:cNvPicPr/>
          <p:nvPr/>
        </p:nvPicPr>
        <p:blipFill>
          <a:blip r:embed="rId1"/>
          <a:stretch/>
        </p:blipFill>
        <p:spPr>
          <a:xfrm>
            <a:off x="613440" y="301680"/>
            <a:ext cx="10101600" cy="58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Місце для вмісту 4"/>
          <p:cNvPicPr/>
          <p:nvPr/>
        </p:nvPicPr>
        <p:blipFill>
          <a:blip r:embed="rId1"/>
          <a:stretch/>
        </p:blipFill>
        <p:spPr>
          <a:xfrm>
            <a:off x="1073520" y="475560"/>
            <a:ext cx="9872280" cy="570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Місце для вмісту 4"/>
          <p:cNvPicPr/>
          <p:nvPr/>
        </p:nvPicPr>
        <p:blipFill>
          <a:blip r:embed="rId1"/>
          <a:stretch/>
        </p:blipFill>
        <p:spPr>
          <a:xfrm>
            <a:off x="469080" y="1138680"/>
            <a:ext cx="8267400" cy="27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Рисунок 6"/>
          <p:cNvPicPr/>
          <p:nvPr/>
        </p:nvPicPr>
        <p:blipFill>
          <a:blip r:embed="rId2"/>
          <a:stretch/>
        </p:blipFill>
        <p:spPr>
          <a:xfrm>
            <a:off x="8736480" y="1138680"/>
            <a:ext cx="9806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4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038600"/>
            <a:ext cx="10515240" cy="51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Компанія, що займається розробкою програмного забезпечення, планує вийти на нові ринки та оптимізувати свою маркетингову стратегію. Для цього потрібно сегментувати ринок програмного забезпечення за основними характеристиками споживачів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наступн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ій 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таблиці наведено дані про 8 компаній, які використовують програмне забезпечення, за такими параметрами: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16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Річний бюджет на програмне забезпечення (тис. дол.)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16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Кількість співробітників, які працюють з програмним забезпеченням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16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Середня вартість ліцензії на одного користувача (дол.)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16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Частка витрат на програмне забезпечення від загального ІТ-бюджету (%)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Місце для вмісту 8"/>
          <p:cNvPicPr/>
          <p:nvPr/>
        </p:nvPicPr>
        <p:blipFill>
          <a:blip r:embed="rId1"/>
          <a:stretch/>
        </p:blipFill>
        <p:spPr>
          <a:xfrm>
            <a:off x="325440" y="417240"/>
            <a:ext cx="11416320" cy="517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Провести кластеризацію компаній за допомогою методу ієрархічного кластерного аналізу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Зробити висновки про типові групи компаній на основі отриманих кластерів.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Який висновок можна зробити щодо ринкових сегментів, що утворилися?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LibreOffice/25.8.4.2$Linux_X86_64 LibreOffice_project/580$Build-2</Application>
  <AppVersion>15.0000</AppVersion>
  <Words>123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2025-03-28T12:58:25Z</dcterms:created>
  <dc:creator>Olena Korchynska</dc:creator>
  <dc:description/>
  <dc:language>en-US</dc:language>
  <cp:lastModifiedBy>Olena Korchynska</cp:lastModifiedBy>
  <dcterms:modified xsi:type="dcterms:W3CDTF">2025-04-01T17:41:10Z</dcterms:modified>
  <cp:revision>16</cp:revision>
  <dc:subject/>
  <dc:title>ПРАКТИЧНА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13</vt:r8>
  </property>
</Properties>
</file>